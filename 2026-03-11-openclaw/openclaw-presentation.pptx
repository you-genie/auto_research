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FF4500">
              <a:alpha val="15000"/>
            </a:srgbClr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FFD700">
              <a:alpha val="1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" cy="25603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완전 정복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하나로 나만의 AI 비서를 24시간 구동하는 오픈소스 에이전트 플랫폼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1920240" cy="347472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302K+ GitHub Stars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3749040"/>
            <a:ext cx="1920240" cy="347472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오픈소스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3749040"/>
            <a:ext cx="1920240" cy="347472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20+ 메신저 지원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95160" y="3749040"/>
            <a:ext cx="1920240" cy="347472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3,200+ 스킬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2026-03-11  |  Auto Research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 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0881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OpenClaw이란?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380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정의부터 핵심 개념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67528" y="10881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탄생 스토리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1380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6만 스타의 전설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56232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56232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56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18928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3번 변경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2185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Clawdbot → Moltbot → OpenClaw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856232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856232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56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7528" y="18928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2185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20+ 메신저, 브라우저, 스케줄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660904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609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29900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· Pi Agent · MCP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0904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660904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6609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67528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사례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29900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개발자, 비즈니스, 개인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65576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465576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655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8408" y="35021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확장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8408" y="3794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ClawHub · nanobot · ClawWork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465576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465576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4655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67528" y="35021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주의사항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67528" y="3794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CVE-2026-25253 &amp; 악성 스킬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270248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4270248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2702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8408" y="43068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장단점 분석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78408" y="4599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비교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4270248"/>
            <a:ext cx="41148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4270248"/>
            <a:ext cx="457200" cy="65836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2702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67528" y="43068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67528" y="4599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Peter → OpenAI &amp; 오픈소스 재단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OpenClaw이란?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22960"/>
            <a:ext cx="795528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"눈과 손을 가진 AI"  </a:t>
            </a:r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웹 브라우징, 파일 읽기/쓰기, 쉘 명령어를 24시간 자율 실행하는 오픈소스 개인 AI 에이전트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01168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없이도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작동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920240"/>
            <a:ext cx="201168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920240"/>
            <a:ext cx="201168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연동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Telegram·Discord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20+ 지원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201168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20240"/>
            <a:ext cx="201168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기기에서 동작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외부 유출 없음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920240"/>
            <a:ext cx="201168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920240"/>
            <a:ext cx="201168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라이선스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무료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20116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302K+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Stars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3520440"/>
            <a:ext cx="20116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57K+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606040" y="4187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520440"/>
            <a:ext cx="20116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18K+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754880" y="4187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520440"/>
            <a:ext cx="20116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903720" y="4187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플랫폼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vs OpenClaw — 무엇이 다른가?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438912"/>
          </a:xfrm>
          <a:prstGeom prst="rect">
            <a:avLst/>
          </a:prstGeom>
          <a:solidFill>
            <a:srgbClr val="FF4500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868680"/>
            <a:ext cx="2834640" cy="438912"/>
          </a:xfrm>
          <a:prstGeom prst="rect">
            <a:avLst/>
          </a:prstGeom>
          <a:solidFill>
            <a:srgbClr val="FF4500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8686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868680"/>
            <a:ext cx="2834640" cy="438912"/>
          </a:xfrm>
          <a:prstGeom prst="rect">
            <a:avLst/>
          </a:prstGeom>
          <a:solidFill>
            <a:srgbClr val="FF4500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8686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07592"/>
            <a:ext cx="256032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075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주체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307592"/>
            <a:ext cx="28346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3075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질문 → AI 답변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307592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3075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자율적으로 작업 실행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46504"/>
            <a:ext cx="2560320" cy="438912"/>
          </a:xfrm>
          <a:prstGeom prst="rect">
            <a:avLst/>
          </a:prstGeom>
          <a:solidFill>
            <a:srgbClr val="21262D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465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1746504"/>
            <a:ext cx="2834640" cy="438912"/>
          </a:xfrm>
          <a:prstGeom prst="rect">
            <a:avLst/>
          </a:prstGeom>
          <a:solidFill>
            <a:srgbClr val="21262D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7465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종료 시 소멸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746504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7465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지속 운영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185416"/>
            <a:ext cx="256032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8541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접근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2185416"/>
            <a:ext cx="28346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1854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필요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2185416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1854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파일 직접 읽기/쓰기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24328"/>
            <a:ext cx="2560320" cy="438912"/>
          </a:xfrm>
          <a:prstGeom prst="rect">
            <a:avLst/>
          </a:prstGeom>
          <a:solidFill>
            <a:srgbClr val="21262D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243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2624328"/>
            <a:ext cx="2834640" cy="438912"/>
          </a:xfrm>
          <a:prstGeom prst="rect">
            <a:avLst/>
          </a:prstGeom>
          <a:solidFill>
            <a:srgbClr val="21262D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26243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플러그인 제한적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2624328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6243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완전 제어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063240"/>
            <a:ext cx="256032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063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3063240"/>
            <a:ext cx="28346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063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구독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52160" y="3063240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063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(API 비용만)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502152"/>
            <a:ext cx="2560320" cy="438912"/>
          </a:xfrm>
          <a:prstGeom prst="rect">
            <a:avLst/>
          </a:prstGeom>
          <a:solidFill>
            <a:srgbClr val="21262D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021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실행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17520" y="3502152"/>
            <a:ext cx="2834640" cy="438912"/>
          </a:xfrm>
          <a:prstGeom prst="rect">
            <a:avLst/>
          </a:prstGeom>
          <a:solidFill>
            <a:srgbClr val="21262D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35021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인터프리터 제한적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3502152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5021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쉘 명령어 완전 실행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941064"/>
            <a:ext cx="256032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410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연동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3941064"/>
            <a:ext cx="28346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9410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52160" y="3941064"/>
            <a:ext cx="2834640" cy="438912"/>
          </a:xfrm>
          <a:prstGeom prst="rect">
            <a:avLst/>
          </a:prstGeom>
          <a:solidFill>
            <a:srgbClr val="152A1A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39410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20+ 메신저 플랫폼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OpenClaw은 ChatGPT의 대체재가 아니라, 자동화 워크플로우를 위한 에이전트 플랫폼입니다.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탄생 스토리 — 72시간에 6만 스타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3931920" cy="105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Peter Steinberger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2161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🇦🇹 오스트리아 출신 개발자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PSPDFKit 창업자 · 주말 프로젝트로 시작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3931920" cy="105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폭발적 성장 기록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내 60,000+ Stars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 만에 302,000+ Stars 돌파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201168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2084832"/>
            <a:ext cx="731520" cy="73152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8895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하반기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시대의 갈증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06040" y="1993392"/>
            <a:ext cx="201168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084832"/>
            <a:ext cx="731520" cy="73152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28895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무료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218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Operator·Manus 대비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201168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2084832"/>
            <a:ext cx="731520" cy="73152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8895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기기에서 실행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218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주권 확보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 보호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1993392"/>
            <a:ext cx="201168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2084832"/>
            <a:ext cx="731520" cy="73152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28895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메신저 활용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3218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앱 없이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진입장벽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862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후 72시간 내에 GitHub에서 60,000개 이상의 별을 획득했다.</a:t>
            </a:r>
            <a:pPr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94360" y="4407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DigitalOcean, What is OpenClaw? (2026)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이름이 세 번 바뀐 이유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676656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70432" y="1719072"/>
            <a:ext cx="402336" cy="402336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267712"/>
            <a:ext cx="2286000" cy="2468880"/>
          </a:xfrm>
          <a:prstGeom prst="rect">
            <a:avLst/>
          </a:prstGeom>
          <a:solidFill>
            <a:srgbClr val="21262D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Clawdbot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" y="2834640"/>
            <a:ext cx="2286000" cy="228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출시명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'Clawd(AI 비서)' 계보에서 명명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512" y="1719072"/>
            <a:ext cx="402336" cy="402336"/>
          </a:xfrm>
          <a:prstGeom prst="ellipse">
            <a:avLst/>
          </a:prstGeom>
          <a:solidFill>
            <a:srgbClr val="FF450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2026. 01. 27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267712"/>
            <a:ext cx="2286000" cy="24688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Moltbot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154680" y="2834640"/>
            <a:ext cx="2286000" cy="228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상표권 경고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로브스터 탈피(molt) 테마로 변경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22592" y="1719072"/>
            <a:ext cx="402336" cy="402336"/>
          </a:xfrm>
          <a:prstGeom prst="ellipse">
            <a:avLst/>
          </a:prstGeom>
          <a:solidFill>
            <a:srgbClr val="FFD70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2026. 01. 30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267712"/>
            <a:ext cx="2286000" cy="24688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80760" y="2834640"/>
            <a:ext cx="2286000" cy="228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이름 변경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정체성 + claw 모티프 결합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변경 과정이 오히려 더 많은 관심을 불러일으키며 바이럴 효과로 작용했습니다.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핵심 기능 ①  —  멀티채널 &amp; 브라우저 자동화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3931920" cy="4069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20+ 메신저 플랫폼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Telegram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14600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WhatsApp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Discord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Slack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Signal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iMessage (BlueBubbles)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Microsoft Teams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Google Chat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706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2706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Mattermost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0540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Matrix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30540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Nostr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IRC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3401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Twitch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Feishu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Zalo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3931920" cy="192024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브라우저 자동화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Chrome/Chromium 제어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접근성 트리(Accessibility Tree) 방식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웹 폼 자동 작성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업로드/다운로드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스냅샷 &amp; 액션 실행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52928"/>
            <a:ext cx="3931920" cy="201168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 파일 &amp; 쉘 실행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355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읽기/쓰기/삭제/이동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630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쉘 명령어 실행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샌드박스 모드 / 전체 권한 선택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178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Gmail Pub/Sub 이메일 트리거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453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Cron 스케줄 자동 실행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핵심 기능 ②  —  장기 메모리 &amp; 스케줄 자동화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21945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 장기 메모리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문서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기억을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선호도 · 이전 결정 · 작업 스타일을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학습해 다음 작업에 자동 반영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3840480" cy="21945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 Cron 스케줄 자동화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316736"/>
            <a:ext cx="54864" cy="2743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316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09:00 → 뉴스 요약 수신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719072"/>
            <a:ext cx="54864" cy="2743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7190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주마다 → 경쟁사 모니터링 보고서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121408"/>
            <a:ext cx="54864" cy="2743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121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수신 시 → 즉시 분류 &amp; 답장 초안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523744"/>
            <a:ext cx="54864" cy="2743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5237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웹훅 → 이벤트 기반 실행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0467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186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 지원 AI 모델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508760" cy="1051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03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GPT-4o, GPT-4.5, o3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0280" y="3657600"/>
            <a:ext cx="1508760" cy="1051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703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4023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3.7 Sonnet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3657600"/>
            <a:ext cx="1508760" cy="1051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703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4023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2.0/2.5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3657600"/>
            <a:ext cx="1508760" cy="1051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703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DeepSeek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4023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V3, R1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3657600"/>
            <a:ext cx="1508760" cy="1051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703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로컬(Ollama)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4023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모델 운영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기술 아키텍처 — 내부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778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Discord 등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0" y="1508760"/>
            <a:ext cx="22860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822960"/>
            <a:ext cx="192024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8778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ws://127.0.0.1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:18789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22860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22960"/>
            <a:ext cx="192024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778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엔진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RPC 스트리밍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0" y="1508760"/>
            <a:ext cx="22860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822960"/>
            <a:ext cx="1920240" cy="13716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8778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/ Claude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/DeepSeek 등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2651760" cy="24231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487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71216"/>
            <a:ext cx="2651760" cy="228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로컬 WebSocket 제어 평면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채널 메시지 수신/라우팅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세션 관리 &amp; 권한 제어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포트: 18789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423160"/>
            <a:ext cx="2651760" cy="24231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2487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/ MCP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2871216"/>
            <a:ext cx="2651760" cy="228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스킬 = MCP 서버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핫-리로드 (재시작 불필요)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3767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ClawHub 3,200+ 스킬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플러그인 방식 확장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2423160"/>
            <a:ext cx="2651760" cy="242316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2487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2871216"/>
            <a:ext cx="2651760" cy="228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~/.openclaw/openclaw.json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채널·모델·플러그인 통합 설정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3767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Node.js 22+ 필요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npm / pnpm / bun 지원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실전 활용 — 개발자 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"Claude Code 세션을 자동 실행,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진행, 오류 해결, PR 오픈까지 — 모두 자동으로."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OpenClaw 실제 사용자 후기 (openclaw.ai)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28803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98424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리팩토링 자동화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2651760" cy="228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2450592"/>
            <a:ext cx="2505456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68880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"API v2를 v3로 업그레이드하고,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통과 후 PR 만들어줘"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3337560"/>
            <a:ext cx="2505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코드 수백 파일 자동 스캔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리팩토링 → 테스트 검증 → PR 오픈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651760" cy="28803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0712" y="198424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모니터링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395728"/>
            <a:ext cx="2651760" cy="228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2450592"/>
            <a:ext cx="2505456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468880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아침 서버 상태 체크하고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있으면 알려줘"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10712" y="3337560"/>
            <a:ext cx="2505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설정 → 주기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설정·로그 분석·상태 보고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651760" cy="288036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198424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CI/CD 자동화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395728"/>
            <a:ext cx="2651760" cy="228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2450592"/>
            <a:ext cx="2505456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468880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"빌드 실패하면 원인 분석하고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핫픽스 만들어줘"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91072" y="3337560"/>
            <a:ext cx="2505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 트리거 → 실패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원인 분석 → 패치 PR 자동 생성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실전 활용 — 비즈니스 &amp; 개인 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6517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2651760" cy="5029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50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모니터링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914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자동 스크래핑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가격·제품 변화 감지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보고서 생성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896112"/>
            <a:ext cx="26517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896112"/>
            <a:ext cx="2651760" cy="5029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50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콘텐츠 자동화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914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29000" y="18653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RSS 연결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X·LinkedIn 맞춤 포스트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10시간 절약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896112"/>
            <a:ext cx="26517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896112"/>
            <a:ext cx="265176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950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정리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914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09360" y="18653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 수신거부 자동화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긴급도별 분류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초안 자동 작성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53512"/>
            <a:ext cx="26517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53512"/>
            <a:ext cx="265176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083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노트 자동화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2971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3922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→ 요약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아이템 추출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이메일 발송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2953512"/>
            <a:ext cx="26517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2953512"/>
            <a:ext cx="265176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0083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375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스마트홈 제어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2971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9000" y="3922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Assistant 연동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명령으로 제어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조명·온도·보안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953512"/>
            <a:ext cx="26517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953512"/>
            <a:ext cx="2651760" cy="5029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0083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1792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Reddit 마이닝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2971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09360" y="3922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페인포인트 수집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기회 발굴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분석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ClawHub — 스킬 마켓플레이스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77724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0467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3,200+  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제작 스킬  ·  모든 스킬 = MCP 서버  ·  핫-리로드 지원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웹 &amp; 검색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web-search, browser, scraper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코딩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code-runner, git, github-actions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파일 &amp; 문서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9632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file-manager, pdf-reader, ocr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898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생산성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calendar, email-drafter, notion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64992" y="2898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자동화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http-request, cron, webhook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283464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9632" y="2898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📢 소셜미디어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twitter, linkedin, reddit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3995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분석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ga4, analytics, sheets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393192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64992" y="3995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스마트홈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home-assistant, hue, tuya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3931920"/>
            <a:ext cx="260604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3995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이미지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9632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image-gen, screenshot, vision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파생 생태계 — nanobot &amp; 'Claw 패밀리'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212080" cy="233172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961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🐈 nanobot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홍콩대(HKUDS) 연구팀 제작  ·  Ultra-Lightweight OpenClaw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약 4,000줄 Python 코드 (OpenClaw 대비 99% 간결)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MCP 통합 · 멀티채널 지원 유지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로컬 LLM (vLLM) 지원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2026-02 출시 → 1개월 만에 9K+ GitHub 스타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학습용·연구용으로 최적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822960"/>
            <a:ext cx="2834640" cy="10972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886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💼 ClawWork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1261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코워커 플랫폼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$15K / 11시간 달성 사례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프리랜서 작업 AI 대행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029968"/>
            <a:ext cx="2834640" cy="11155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🦞 Claw 패밀리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25054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ZeroClaw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26700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PicoClaw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9320" y="2834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IronClaw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9320" y="29992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NullClaw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558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비교: OpenClaw vs nanobot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730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3730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9320" y="3730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nanobot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규모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줄 (Node.js)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~4,000줄 (Python)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133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4133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4133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 (학습용 최적)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334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지원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4334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4334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45354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용도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5354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에이전트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89320" y="45354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학습·실험·경량 배포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보안 주의사항 — 반드시 알아야 할 것들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914400" cy="9144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치명적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9144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ClawJacked (CVE-2026-25253)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웹사이트가 Control UI의 gatewayUrl 파라미터를 통해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OpenClaw에 무단 접속 → 설정 변경 → 임의 명령 실행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822960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65376"/>
            <a:ext cx="914400" cy="914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6537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193852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스킬 (ClawHavoc)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08760" y="230428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ClawHub 스킬 중 341개(약 12%)가 악성 코드 포함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크립토 트레이딩 봇·생산성 도구로 위장한 인포스틸러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9504"/>
            <a:ext cx="914400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96265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인스턴스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08760" y="332841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설정 그대로 외부 포트 오픈 인스턴스 40,000개 이상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외부에서 접근 가능한 상태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22960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13632"/>
            <a:ext cx="914400" cy="9144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136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98678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소셜 엔지니어링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08760" y="435254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기반 인터페이스 → AI 에이전트 직접 공격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계정 탈취·AI 행세 공격이 현실적 위협으로 부상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822960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0749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dmPolicy="pairing" 유지  ·  openclaw doctor 정기 실행  ·  스킬 설치 전 GitHub 저장소 반드시 확인  ·  최신 패치 항상 적용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장단점 솔직 분석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3840480" cy="4389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장 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오픈소스 완전 무료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라이선스, 상업 사용 가능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모델 선택 자유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OpenAI·Claude·DeepSeek·로컬 모두 지원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프라이버시 보호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실행, 데이터 외부 유출 없음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20+ 메신저 지원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워크플로우에 자연스럽게 통합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3,200+ 스킬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코딩 없이 확장 가능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활발한 커뮤니티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626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18K+ 커밋, 5K+ PR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841248"/>
            <a:ext cx="3840480" cy="43891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841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 점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63440" y="1316736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초기 설정 복잡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609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 시 2~6시간 소요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920240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API 비용 발생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2128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월 $5~50+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523744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보안 리스크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2816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CVE-2026-25253, 악성 스킬 12%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127248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쉘 권한 위험성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4198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명령이 시스템에 영향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730752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창업자 OpenAI 이직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40233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방향성 일부 불확실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334256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서버 관리 필요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626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운영 책임이 사용자에게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창업자 Peter → OpenAI 합류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258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5039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"Peter Steinberger is joining OpenAI to drive the next generation of personal agents. </a:t>
            </a:r>
            <a:pPr indent="0" marL="0">
              <a:buNone/>
            </a:pPr>
            <a:r>
              <a:rPr lang="en-US" sz="1100" i="1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 is a genius with a lot of amazing ideas about the future of very smart agents interacting with each other to do very useful things for people."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Sam Altman, X (Twitter), 2026-02-14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8229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0428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"OpenClaw을 거대한 회사로 키울 수 있었겠지만, 그게 나한테는 별로 흥미롭지 않아요. </a:t>
            </a:r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OpenAI와 함께하는 것이 이걸 모든 사람에게 가장 빠르게 가져다 주는 방법이에요."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723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Peter Steinberger, steipete.me (2026-02)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547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계획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OpenClaw은 오픈소스 재단으로 이관 → 독립적으로 계속 발전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2336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OpenAI가 "OpenClaw는 오픈소스로 살아남는다"고 공식 발표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5354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Peter는 OpenAI에서 차세대 개인용 에이전트 개발 주도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 시작하기 — 3단계 퀵 스타트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24712"/>
            <a:ext cx="685800" cy="68580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설치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1325880"/>
            <a:ext cx="41148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3441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openclaw@latest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1325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22+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/ pnpm / bun 모두 지원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96312"/>
            <a:ext cx="685800" cy="68580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3317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설정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25880" y="2697480"/>
            <a:ext cx="41148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7157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~/.openclaw/openclaw.json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"channels": { "telegram": { "token": "..."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{ "provider": "anthropic" }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697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봇 토큰 + LLM API 키 설정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설정 dmPolicy 확인 필수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867912"/>
            <a:ext cx="685800" cy="68580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67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7033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25880" y="4069080"/>
            <a:ext cx="41148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0873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Telegram DM 페어링 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자연어로 명령하면 끝!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"어제 이메일 요약해줘"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터널로 대시보드 접근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doctor로 보안 점검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983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기술 지식이 부족하다면: OpenClaw Launch (openclawlaunch.com) 관리형 호스팅 — 10초 배포, 월 $3부터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누구에게 추천하나?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2651760" cy="425196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265176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대상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코드 리팩토링·테스트·배포 자동화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CI/CD 파이프라인 자동 관리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반복 작업에 지친 백엔드·풀스택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529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단순 AI 챗봇만 원하는 경우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841248"/>
            <a:ext cx="2651760" cy="4251960"/>
          </a:xfrm>
          <a:prstGeom prst="rect">
            <a:avLst/>
          </a:prstGeom>
          <a:solidFill>
            <a:srgbClr val="21262D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841248"/>
            <a:ext cx="265176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비즈니스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대상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경쟁사 모니터링 자동화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SNS 콘텐츠 자동 생성·배포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뉴스레터·리포트 생성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529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보안 관리에 리소스 없는 소규모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841248"/>
            <a:ext cx="2651760" cy="4251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41248"/>
            <a:ext cx="265176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🧑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개인 사용자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대상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이메일 정리·회의 노트 자동화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스마트홈 자연어 제어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자동화 &amp; AI에 관심 있는 얼리어답터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529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기술 지식 전혀 없는 비개발자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 — 5가지 포인트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777240" cy="74980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9144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이상의 존재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2252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OpenClaw은 챗봇이 아니에요. '눈과 손'을 가진 자율 에이전트. 브라우저·파일·쉘을 24시간 직접 제어합니다.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82296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82496"/>
            <a:ext cx="777240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82496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755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오픈소스 &amp; 무료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066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라이선스. Manus·Operator처럼 비싼 구독료 없어요. LLM API 비용만 내면 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77724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596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메신저가 UI다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9077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이상의 메신저 지원. 새 앱 없이 Telegram·Discord로 자연어 명령 → AI가 실행합니다.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82296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64992"/>
            <a:ext cx="777240" cy="7498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64992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4381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보안은 직접 책임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749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CVE-2026-25253, 악성 스킬 341개, 40K+ 노출 인스턴스. 반드시 설정 점검 &amp; 최신 패치 적용이 필요합니다.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06240"/>
            <a:ext cx="777240" cy="7498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2793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재단으로 지속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590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창업자가 OpenAI로 떠났지만 프로젝트는 재단으로 이관. 30만+ 스타 커뮤니티가 계속 발전시킵니다.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F4500">
              <a:alpha val="12000"/>
            </a:srgbClr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FFD700">
              <a:alpha val="1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09728" cy="3200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'눈과 손을 가진 AI'  —  이제 직접 경험해보세요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379476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 →  github.com/openclaw/openclaw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2514600"/>
            <a:ext cx="379476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514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  →  openclaw.ai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379476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ClawHub  →  openclawlaunch.com/guides/openclaw-clawhub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3108960"/>
            <a:ext cx="379476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가이드  →  microsoft.com/security/blog - OpenClaw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5800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Research Pipeline  |  2026-03-11  |  claude-sonnet-4-6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완전 정복</dc:title>
  <dc:subject>PptxGenJS Presentation</dc:subject>
  <dc:creator>Auto Research</dc:creator>
  <cp:lastModifiedBy>Auto Research</cp:lastModifiedBy>
  <cp:revision>1</cp:revision>
  <dcterms:created xsi:type="dcterms:W3CDTF">2026-03-11T13:00:53Z</dcterms:created>
  <dcterms:modified xsi:type="dcterms:W3CDTF">2026-03-11T13:00:53Z</dcterms:modified>
</cp:coreProperties>
</file>