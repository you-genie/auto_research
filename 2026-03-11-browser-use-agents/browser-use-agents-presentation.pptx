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1371600"/>
            <a:ext cx="4114800" cy="4114800"/>
          </a:xfrm>
          <a:prstGeom prst="ellipse">
            <a:avLst/>
          </a:prstGeom>
          <a:solidFill>
            <a:srgbClr val="0D6F9E">
              <a:alpha val="40000"/>
            </a:srgbClr>
          </a:solidFill>
          <a:ln w="12700">
            <a:solidFill>
              <a:srgbClr val="0D6F9E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743200"/>
            <a:ext cx="2743200" cy="2743200"/>
          </a:xfrm>
          <a:prstGeom prst="ellipse">
            <a:avLst/>
          </a:prstGeom>
          <a:solidFill>
            <a:srgbClr val="00C49F">
              <a:alpha val="25000"/>
            </a:srgbClr>
          </a:solidFill>
          <a:ln w="12700">
            <a:solidFill>
              <a:srgbClr val="00C49F">
                <a:alpha val="2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AI 에이전트 동향 리서치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Use &amp;</a:t>
            </a:r>
            <a:endParaRPr lang="en-US" sz="4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Use 에이전트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301752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브라우저·OS 자동화 도구 생태계 완전 정복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B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오픈소스부터 빅테크 상용 제품까지 —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4663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목차 (Agenda)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43000"/>
            <a:ext cx="320040" cy="822960"/>
          </a:xfrm>
          <a:prstGeom prst="rect">
            <a:avLst/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44168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119786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지금 이 기술인가?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1581912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시장 성장 배경 &amp; 기존 RPA의 한계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14300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143000"/>
            <a:ext cx="320040" cy="822960"/>
          </a:xfrm>
          <a:prstGeom prst="rect">
            <a:avLst/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344168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166360" y="119786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 인식 방식 3가지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166360" y="1581912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스크린샷 vs DOM vs 접근성 트리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14884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148840"/>
            <a:ext cx="320040" cy="822960"/>
          </a:xfrm>
          <a:prstGeom prst="rect">
            <a:avLst/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350008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220370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브라우저 자동화 에이전트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2587752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Use · Computer Use · Operator · Mariner 등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214884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148840"/>
            <a:ext cx="320040" cy="822960"/>
          </a:xfrm>
          <a:prstGeom prst="rect">
            <a:avLst/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2350008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166360" y="220370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전체 제어 에이전트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166360" y="2587752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· Open Interpreter · Manus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15468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154680"/>
            <a:ext cx="320040" cy="822960"/>
          </a:xfrm>
          <a:prstGeom prst="rect">
            <a:avLst/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355848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77240" y="320954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제품 종합 비교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77240" y="3593592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 vs 상용 · 가격 · 기술 스택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315468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154680"/>
            <a:ext cx="320040" cy="822960"/>
          </a:xfrm>
          <a:prstGeom prst="rect">
            <a:avLst/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3355848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166360" y="320954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벤치마크 &amp; 성능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166360" y="3593592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WebVoyager · OSWorld · GAIA 결과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" y="416052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65760" y="4160520"/>
            <a:ext cx="320040" cy="822960"/>
          </a:xfrm>
          <a:prstGeom prst="rect">
            <a:avLst/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361688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77240" y="421538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시장 트렌드 &amp; 전망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77240" y="4599432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2025-2026 주요 발전 &amp; 미래 방향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1A8BA8">
              <a:alpha val="35000"/>
            </a:srgbClr>
          </a:solidFill>
          <a:ln w="12700">
            <a:solidFill>
              <a:srgbClr val="1A8BA8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63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0C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지금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기술인가?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352044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RPA의 한계 → AI 에이전트의 등장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RPA의 한계 → AI 에이전트가 해결하는 것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3931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3931920" cy="411480"/>
          </a:xfrm>
          <a:prstGeom prst="rect">
            <a:avLst/>
          </a:prstGeom>
          <a:solidFill>
            <a:srgbClr val="E55353"/>
          </a:solidFill>
          <a:ln w="12700">
            <a:solidFill>
              <a:srgbClr val="E553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4183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전통 RPA (UiPath / AA)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463040"/>
            <a:ext cx="201168" cy="201168"/>
          </a:xfrm>
          <a:prstGeom prst="ellipse">
            <a:avLst/>
          </a:prstGeom>
          <a:solidFill>
            <a:srgbClr val="E55353"/>
          </a:solidFill>
          <a:ln w="12700">
            <a:solidFill>
              <a:srgbClr val="E5535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44475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좌표 기반 스크립트 → UI 변경 시 전면 재작업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1956816"/>
            <a:ext cx="201168" cy="201168"/>
          </a:xfrm>
          <a:prstGeom prst="ellipse">
            <a:avLst/>
          </a:prstGeom>
          <a:solidFill>
            <a:srgbClr val="E55353"/>
          </a:solidFill>
          <a:ln w="12700">
            <a:solidFill>
              <a:srgbClr val="E5535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9385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유지보수 비용 매우 높음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2450592"/>
            <a:ext cx="201168" cy="201168"/>
          </a:xfrm>
          <a:prstGeom prst="ellipse">
            <a:avLst/>
          </a:prstGeom>
          <a:solidFill>
            <a:srgbClr val="E55353"/>
          </a:solidFill>
          <a:ln w="12700">
            <a:solidFill>
              <a:srgbClr val="E5535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43230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자연어 명령 불가 — 전용 IDE 필요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2944368"/>
            <a:ext cx="201168" cy="201168"/>
          </a:xfrm>
          <a:prstGeom prst="ellipse">
            <a:avLst/>
          </a:prstGeom>
          <a:solidFill>
            <a:srgbClr val="E55353"/>
          </a:solidFill>
          <a:ln w="12700">
            <a:solidFill>
              <a:srgbClr val="E5535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9260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복잡한 판단·추론 어려움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3438144"/>
            <a:ext cx="201168" cy="201168"/>
          </a:xfrm>
          <a:prstGeom prst="ellipse">
            <a:avLst/>
          </a:prstGeom>
          <a:solidFill>
            <a:srgbClr val="E55353"/>
          </a:solidFill>
          <a:ln w="12700">
            <a:solidFill>
              <a:srgbClr val="E5535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41985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Gartner 2025 RPA 리더 6년 연속 (UiPath)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43400" y="2560320"/>
            <a:ext cx="502920" cy="0"/>
          </a:xfrm>
          <a:prstGeom prst="line">
            <a:avLst/>
          </a:prstGeom>
          <a:noFill/>
          <a:ln w="38100">
            <a:solidFill>
              <a:srgbClr val="00C49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34256" y="235915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4937760" y="914400"/>
            <a:ext cx="3931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37760" y="914400"/>
            <a:ext cx="3931920" cy="411480"/>
          </a:xfrm>
          <a:prstGeom prst="rect">
            <a:avLst/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94183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에이전트 (Browser Use 계열)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74920" y="1463040"/>
            <a:ext cx="201168" cy="201168"/>
          </a:xfrm>
          <a:prstGeom prst="ellipse">
            <a:avLst/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49240" y="144475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 '이해' → 버튼 위치 스스로 탐색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74920" y="1956816"/>
            <a:ext cx="201168" cy="201168"/>
          </a:xfrm>
          <a:prstGeom prst="ellipse">
            <a:avLst/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49240" y="19385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Self-healing: UI 변경 시 자가 적응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74920" y="2450592"/>
            <a:ext cx="201168" cy="201168"/>
          </a:xfrm>
          <a:prstGeom prst="ellipse">
            <a:avLst/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49240" y="243230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자연어 지시만으로 동작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74920" y="2944368"/>
            <a:ext cx="201168" cy="201168"/>
          </a:xfrm>
          <a:prstGeom prst="ellipse">
            <a:avLst/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49240" y="29260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추론으로 복잡한 판단 가능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74920" y="3438144"/>
            <a:ext cx="201168" cy="201168"/>
          </a:xfrm>
          <a:prstGeom prst="ellipse">
            <a:avLst/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49240" y="341985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 중심 빠른 생태계 성장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7432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Gartner 2025 Magic Quadrant for RPA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에이전트 시장 — 폭발적 성장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651760" cy="1737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2377440"/>
            <a:ext cx="2651760" cy="274320"/>
          </a:xfrm>
          <a:prstGeom prst="rect">
            <a:avLst/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C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$7.84B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2025년 시장 규모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42316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에이전트 전체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0" y="914400"/>
            <a:ext cx="2651760" cy="1737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2377440"/>
            <a:ext cx="2651760" cy="274320"/>
          </a:xfrm>
          <a:prstGeom prst="rect">
            <a:avLst/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00584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C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46.3%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291840" y="18288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연간 성장률 (CAGR)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91840" y="242316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2025~2030 예측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35040" y="914400"/>
            <a:ext cx="2651760" cy="1737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2377440"/>
            <a:ext cx="2651760" cy="274320"/>
          </a:xfrm>
          <a:prstGeom prst="rect">
            <a:avLst/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00584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C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$52.6B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6126480" y="18288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2030년 전망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26480" y="242316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5년 내 6.7배 성장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288036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7200" y="2953512"/>
            <a:ext cx="1005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1508760" y="2971800"/>
            <a:ext cx="0" cy="594360"/>
          </a:xfrm>
          <a:prstGeom prst="line">
            <a:avLst/>
          </a:prstGeom>
          <a:noFill/>
          <a:ln w="19050">
            <a:solidFill>
              <a:srgbClr val="D1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645920" y="2990088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조직이 AI 에이전트를 이미 광범위하게 활용 중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288036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46320" y="2953512"/>
            <a:ext cx="1005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5897880" y="2971800"/>
            <a:ext cx="0" cy="594360"/>
          </a:xfrm>
          <a:prstGeom prst="line">
            <a:avLst/>
          </a:prstGeom>
          <a:noFill/>
          <a:ln w="19050">
            <a:solidFill>
              <a:srgbClr val="D1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35040" y="2990088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기업이 AI 에이전트 실험을 진행 중 (2025)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84048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57200" y="3913632"/>
            <a:ext cx="1005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1508760" y="3931920"/>
            <a:ext cx="0" cy="594360"/>
          </a:xfrm>
          <a:prstGeom prst="line">
            <a:avLst/>
          </a:prstGeom>
          <a:noFill/>
          <a:ln w="19050">
            <a:solidFill>
              <a:srgbClr val="D1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645920" y="3950208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Gartner: 2026년까지 엔터프라이즈 앱에 에이전트 내장 전망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384048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846320" y="3913632"/>
            <a:ext cx="1005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1,445%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5897880" y="3931920"/>
            <a:ext cx="0" cy="594360"/>
          </a:xfrm>
          <a:prstGeom prst="line">
            <a:avLst/>
          </a:prstGeom>
          <a:noFill/>
          <a:ln w="19050">
            <a:solidFill>
              <a:srgbClr val="D1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35040" y="3950208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멀티 에이전트 시스템 문의 급증 (Q1 2024 → Q2 2025)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74320" y="48006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Index.dev AI 에이전트 통계 2025, Gartner 2025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200400"/>
            <a:ext cx="4572000" cy="4572000"/>
          </a:xfrm>
          <a:prstGeom prst="ellipse">
            <a:avLst/>
          </a:prstGeom>
          <a:solidFill>
            <a:srgbClr val="0D6F9E">
              <a:alpha val="35000"/>
            </a:srgbClr>
          </a:solidFill>
          <a:ln w="12700">
            <a:solidFill>
              <a:srgbClr val="0D6F9E">
                <a:alpha val="3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463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0C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7772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화면을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어떻게 '보나요'?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35661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인식 방식 3가지: 스크린샷 · DOM · 접근성 트리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에이전트가 화면을 인식하는 3가지 방식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2743200" cy="4572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98755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스크린샷 기반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4447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/ Vision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7830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장점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0848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어떤 화면이든 동작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4048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데스크톱 앱 지원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28346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5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단점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31363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느림 (이미지 처리)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34564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좌표 오류 발생 가능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3822192"/>
            <a:ext cx="2651760" cy="822960"/>
          </a:xfrm>
          <a:prstGeom prst="rect">
            <a:avLst/>
          </a:prstGeom>
          <a:solidFill>
            <a:srgbClr val="F0F7FA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858768"/>
            <a:ext cx="2468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대표 제품: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1480" y="40690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Computer Use, Manus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182112" y="914400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182112" y="914400"/>
            <a:ext cx="274320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73552" y="96012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639312" y="98755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/ HTML 파싱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273552" y="14447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Parsing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73552" y="17830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장점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19272" y="20848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정확한 요소 탐색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19272" y="24048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빠른 처리 속도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73552" y="28346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5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단점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319272" y="31363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동적 콘텐츠 취약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19272" y="34564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SPA 대응 복잡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27832" y="3822192"/>
            <a:ext cx="2651760" cy="822960"/>
          </a:xfrm>
          <a:prstGeom prst="rect">
            <a:avLst/>
          </a:prstGeom>
          <a:solidFill>
            <a:srgbClr val="F0F7FA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19272" y="3858768"/>
            <a:ext cx="2468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대표 제품: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319272" y="40690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초기 Browser Use, Skyvern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089904" y="914400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089904" y="914400"/>
            <a:ext cx="2743200" cy="457200"/>
          </a:xfrm>
          <a:prstGeom prst="rect">
            <a:avLst/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81344" y="96012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547104" y="98755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접근성 트리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181344" y="14447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Tree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181344" y="17830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장점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227064" y="20848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빠르고 신뢰성 높음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227064" y="24048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시맨틱 정보 활용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181344" y="28346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5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단점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227064" y="31363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접근성 미지원 사이트 실패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227064" y="34564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구현 복잡도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135624" y="3822192"/>
            <a:ext cx="2651760" cy="822960"/>
          </a:xfrm>
          <a:prstGeom prst="rect">
            <a:avLst/>
          </a:prstGeom>
          <a:solidFill>
            <a:srgbClr val="F0F7FA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27064" y="3858768"/>
            <a:ext cx="2468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대표 제품: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227064" y="40690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MCP, OpenAI CUA, Project Mariner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1A8BA8">
              <a:alpha val="40000"/>
            </a:srgbClr>
          </a:solidFill>
          <a:ln w="12700">
            <a:solidFill>
              <a:srgbClr val="1A8BA8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371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0C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772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브라우저 자동화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에이전트 생태계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3566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Use · Computer Use · Operator · Mariner · Playwright MCP · Skyvern · Stagehand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Use — 오픈소스 챔피언 (★80K+)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53035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058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정보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5212080" cy="384048"/>
          </a:xfrm>
          <a:prstGeom prst="rect">
            <a:avLst/>
          </a:prstGeom>
          <a:solidFill>
            <a:srgbClr val="F0F7FA"/>
          </a:solidFill>
          <a:ln w="12700">
            <a:solidFill>
              <a:srgbClr val="F0F7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173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스타: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331720" y="14173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80,300+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83794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최신 버전: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331720" y="183794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v0.12.1 (2026-03-03)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212848"/>
            <a:ext cx="5212080" cy="384048"/>
          </a:xfrm>
          <a:prstGeom prst="rect">
            <a:avLst/>
          </a:prstGeom>
          <a:solidFill>
            <a:srgbClr val="F0F7FA"/>
          </a:solidFill>
          <a:ln w="12700">
            <a:solidFill>
              <a:srgbClr val="F0F7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기여자 수: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331720" y="225856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296명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26791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라이선스: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331720" y="267919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(무료)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054096"/>
            <a:ext cx="5212080" cy="384048"/>
          </a:xfrm>
          <a:prstGeom prst="rect">
            <a:avLst/>
          </a:prstGeom>
          <a:solidFill>
            <a:srgbClr val="F0F7FA"/>
          </a:solidFill>
          <a:ln w="12700">
            <a:solidFill>
              <a:srgbClr val="F0F7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09981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언어: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331720" y="309981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(98.3%)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5204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기반 기술: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331720" y="352044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+ LangChain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3895344"/>
            <a:ext cx="5212080" cy="384048"/>
          </a:xfrm>
          <a:prstGeom prst="rect">
            <a:avLst/>
          </a:prstGeom>
          <a:solidFill>
            <a:srgbClr val="F0F7FA"/>
          </a:solidFill>
          <a:ln w="12700">
            <a:solidFill>
              <a:srgbClr val="F0F7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94106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지원 LLM: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331720" y="394106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GPT-4o, Claude, Gemini, Llama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36168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가격: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331720" y="436168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무료 / Cloud $0.05/step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760720" y="914400"/>
            <a:ext cx="3108960" cy="3931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897880" y="10058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WebVoyager 성능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897880" y="13716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C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89.1%</a:t>
            </a:r>
            <a:endParaRPr lang="en-US" sz="3800" dirty="0"/>
          </a:p>
        </p:txBody>
      </p:sp>
      <p:sp>
        <p:nvSpPr>
          <p:cNvPr id="29" name="Text 27"/>
          <p:cNvSpPr/>
          <p:nvPr/>
        </p:nvSpPr>
        <p:spPr>
          <a:xfrm>
            <a:off x="5897880" y="20116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성공률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897880" y="24231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543800" y="24231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C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897880" y="2697480"/>
            <a:ext cx="1920240" cy="54864"/>
          </a:xfrm>
          <a:prstGeom prst="rect">
            <a:avLst/>
          </a:prstGeom>
          <a:solidFill>
            <a:srgbClr val="1A4A6E"/>
          </a:solidFill>
          <a:ln w="12700">
            <a:solidFill>
              <a:srgbClr val="1A4A6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897880" y="2697480"/>
            <a:ext cx="1920240" cy="54864"/>
          </a:xfrm>
          <a:prstGeom prst="rect">
            <a:avLst/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28072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Flights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543800" y="28072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C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897880" y="3081528"/>
            <a:ext cx="1920240" cy="54864"/>
          </a:xfrm>
          <a:prstGeom prst="rect">
            <a:avLst/>
          </a:prstGeom>
          <a:solidFill>
            <a:srgbClr val="1A4A6E"/>
          </a:solidFill>
          <a:ln w="12700">
            <a:solidFill>
              <a:srgbClr val="1A4A6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897880" y="3081528"/>
            <a:ext cx="1824228" cy="54864"/>
          </a:xfrm>
          <a:prstGeom prst="rect">
            <a:avLst/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97880" y="319125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543800" y="31912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C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897880" y="3465576"/>
            <a:ext cx="1920240" cy="54864"/>
          </a:xfrm>
          <a:prstGeom prst="rect">
            <a:avLst/>
          </a:prstGeom>
          <a:solidFill>
            <a:srgbClr val="1A4A6E"/>
          </a:solidFill>
          <a:ln w="12700">
            <a:solidFill>
              <a:srgbClr val="1A4A6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897880" y="3465576"/>
            <a:ext cx="1766621" cy="54864"/>
          </a:xfrm>
          <a:prstGeom prst="rect">
            <a:avLst/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97880" y="35753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543800" y="357530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C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897880" y="3849624"/>
            <a:ext cx="1920240" cy="54864"/>
          </a:xfrm>
          <a:prstGeom prst="rect">
            <a:avLst/>
          </a:prstGeom>
          <a:solidFill>
            <a:srgbClr val="1A4A6E"/>
          </a:solidFill>
          <a:ln w="12700">
            <a:solidFill>
              <a:srgbClr val="1A4A6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897880" y="3849624"/>
            <a:ext cx="1766621" cy="54864"/>
          </a:xfrm>
          <a:prstGeom prst="rect">
            <a:avLst/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897880" y="39593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543800" y="395935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C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897880" y="4233672"/>
            <a:ext cx="1920240" cy="54864"/>
          </a:xfrm>
          <a:prstGeom prst="rect">
            <a:avLst/>
          </a:prstGeom>
          <a:solidFill>
            <a:srgbClr val="1A4A6E"/>
          </a:solidFill>
          <a:ln w="12700">
            <a:solidFill>
              <a:srgbClr val="1A4A6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897880" y="4233672"/>
            <a:ext cx="1747418" cy="54864"/>
          </a:xfrm>
          <a:prstGeom prst="rect">
            <a:avLst/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897880" y="43434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Booking.com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543800" y="43434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C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5897880" y="4617720"/>
            <a:ext cx="1920240" cy="54864"/>
          </a:xfrm>
          <a:prstGeom prst="rect">
            <a:avLst/>
          </a:prstGeom>
          <a:solidFill>
            <a:srgbClr val="1A4A6E"/>
          </a:solidFill>
          <a:ln w="12700">
            <a:solidFill>
              <a:srgbClr val="1A4A6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897880" y="4617720"/>
            <a:ext cx="1536192" cy="54864"/>
          </a:xfrm>
          <a:prstGeom prst="rect">
            <a:avLst/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74320" y="48006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browser-use.com/posts/sota-technical-report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Computer Use — OS 레벨 전체 제어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작동 방식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261872"/>
            <a:ext cx="1920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87552" y="1298448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335024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187452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스크린샷 캡처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21284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주기적으로 화면을 캡처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12848" y="160020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423160" y="1261872"/>
            <a:ext cx="1920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36392" y="1298448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36392" y="1335024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514600" y="187452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좌표 그리드 변환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14600" y="221284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픽셀 위치로 UI 요소 탐색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361688" y="160020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572000" y="1261872"/>
            <a:ext cx="1920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285232" y="1298448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85232" y="1335024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663440" y="187452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분석·결정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663440" y="221284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액션 추론 및 계획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510528" y="160020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720840" y="1261872"/>
            <a:ext cx="1920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434072" y="1298448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34072" y="1335024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12280" y="187452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가상 입력 실행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12280" y="221284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마우스 클릭 / 키보드 입력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2697480"/>
            <a:ext cx="27432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2697480"/>
            <a:ext cx="2743200" cy="347472"/>
          </a:xfrm>
          <a:prstGeom prst="rect">
            <a:avLst/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271576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성능 진전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11480" y="3127248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2024년 OSWorld: ~15%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11480" y="3630168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2025년 후반 (Claude 4/Sonnet 4.5): 80% 후반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11480" y="4133088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표준 오피스 업무 기준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182112" y="2697480"/>
            <a:ext cx="27432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182112" y="2697480"/>
            <a:ext cx="2743200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73552" y="271576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파트너 기업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319272" y="3127248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Asana, Canva, Cognition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319272" y="3630168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DoorDash, Replit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319272" y="4133088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Browser Company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089904" y="2697480"/>
            <a:ext cx="27432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089904" y="2697480"/>
            <a:ext cx="2743200" cy="3474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81344" y="271576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상태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227064" y="3127248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Public Beta (Claude API)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227064" y="3630168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ZDR(영구 데이터 삭제) 미지원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227064" y="4133088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Claude Opus 4.5에서 최고 성능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274320" y="48006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anthropic.com/news/3-5-models-and-computer-use, financialcontent.com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Operator (종료) &amp; Google Project Mariner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1148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4114800" cy="438912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961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Operator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38988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출시일: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28800" y="138988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2025년 1월 23일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종료일: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28800" y="18288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2025년 8월 31일 (ChatGPT 에이전트로 대체)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26771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28800" y="226771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 (Computer-Using Agent)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70662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가격: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828800" y="2706624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Pro $200/월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314553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OSWorld: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828800" y="3145536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38.1%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35844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WebArena: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828800" y="358444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58.1%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40233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특징: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828800" y="40233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독립 브라우저 세션에서 작동, 강화학습 기반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868680"/>
            <a:ext cx="41148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868680"/>
            <a:ext cx="4114800" cy="438912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8961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Project Mariner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892040" y="138988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발표일: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63640" y="13898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2024년 12월 (Google DeepMind)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92040" y="18288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정식 출시: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63640" y="18288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I/O 2025 (2025년 5월)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92040" y="226771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기반 모델: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63640" y="226771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Pro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92040" y="270662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동시 처리: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63640" y="270662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최대 10개 작업 (클라우드 VM)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92040" y="314553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인터페이스: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63640" y="314553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확장 프로그램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92040" y="35844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통합: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63640" y="35844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Search AI Mode 연동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92040" y="40233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가용성: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263640" y="40233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미국 AI Ultra 구독자 한정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74320" y="48006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openai.com/operator, techcrunch.com, deepmind.google/project-mariner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MCP · Skyvern · Stagehand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868680"/>
            <a:ext cx="27432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868680"/>
            <a:ext cx="2743200" cy="43891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96112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MCP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37160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6642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★: 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325880" y="166420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 (공식)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199339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출시: 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325880" y="199339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2025년 3월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232257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방식: 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325880" y="2322576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접근성 트리 기반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5760" y="265176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언어: 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325880" y="265176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5760" y="2980944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가격: 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325880" y="2980944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무료 (오픈소스 MIT)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3337560"/>
            <a:ext cx="2523744" cy="0"/>
          </a:xfrm>
          <a:prstGeom prst="line">
            <a:avLst/>
          </a:prstGeom>
          <a:noFill/>
          <a:ln w="12700">
            <a:solidFill>
              <a:srgbClr val="D1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3192" y="340156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스크린샷 없이 접근성 트리만 사용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93192" y="373075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GitHub Copilot 코딩 에이전트 통합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93192" y="405993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E2E 테스트·폼 자동화 최적화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93192" y="438912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MCP 표준 서버로 LLM과 연결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154680" y="868680"/>
            <a:ext cx="27432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154680" y="868680"/>
            <a:ext cx="2743200" cy="43891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64408" y="896112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Skyvern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264408" y="137160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Skyvern AI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264408" y="16642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★: 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224528" y="166420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20,000+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264408" y="199339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출시: 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224528" y="199339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2024년 (Skyvern 2.0: 2025)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264408" y="232257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방식: 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224528" y="2322576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+ Computer Vision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264408" y="265176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언어: 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224528" y="265176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264408" y="2980944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가격: 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224528" y="2980944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 / 상용 플랜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264408" y="3337560"/>
            <a:ext cx="2523744" cy="0"/>
          </a:xfrm>
          <a:prstGeom prst="line">
            <a:avLst/>
          </a:prstGeom>
          <a:noFill/>
          <a:ln w="12700">
            <a:solidFill>
              <a:srgbClr val="D1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91840" y="340156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Planner + Actor + Validator 3-에이전트 구조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291840" y="373075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Route Memorization → Playwright 스크립트 컴파일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291840" y="405993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사이트 변경 시 Self-healing 경로 재생성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291840" y="438912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$2.7M 시드 투자 유치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053328" y="868680"/>
            <a:ext cx="27432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053328" y="868680"/>
            <a:ext cx="2743200" cy="438912"/>
          </a:xfrm>
          <a:prstGeom prst="rect">
            <a:avLst/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63056" y="896112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Stagehand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163056" y="137160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Browserbase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163056" y="16642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★: 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7123176" y="166420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공개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163056" y="199339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출시: 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7123176" y="199339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v3: 2025년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163056" y="232257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방식: 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7123176" y="2322576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네이티브 + CDP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163056" y="265176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언어: 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7123176" y="265176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6163056" y="2980944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가격: 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7123176" y="2980944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오픈소스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6163056" y="3337560"/>
            <a:ext cx="2523744" cy="0"/>
          </a:xfrm>
          <a:prstGeom prst="line">
            <a:avLst/>
          </a:prstGeom>
          <a:noFill/>
          <a:ln w="12700">
            <a:solidFill>
              <a:srgbClr val="D1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190488" y="340156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v3: 44% 속도 향상, CDP 네이티브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6190488" y="373075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발견 요소 자동 캐싱 (LLM 비용 절감)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6190488" y="405993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Browserbase Cloud 인프라 연동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6190488" y="438912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Open Operator 템플릿 제공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4572000" cy="4572000"/>
          </a:xfrm>
          <a:prstGeom prst="ellipse">
            <a:avLst/>
          </a:prstGeom>
          <a:solidFill>
            <a:srgbClr val="0D6F9E">
              <a:alpha val="40000"/>
            </a:srgbClr>
          </a:solidFill>
          <a:ln w="12700">
            <a:solidFill>
              <a:srgbClr val="0D6F9E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371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0C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772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전체를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제어하는 에이전트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35661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· Open Interpreter · Manus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&amp; Open Interpreter — 로컬 OS 제어의 두 주역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1148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4114800" cy="438912"/>
          </a:xfrm>
          <a:prstGeom prst="rect">
            <a:avLst/>
          </a:prstGeom>
          <a:solidFill>
            <a:srgbClr val="E55353"/>
          </a:solidFill>
          <a:ln w="12700">
            <a:solidFill>
              <a:srgbClr val="E553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961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5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190,000+ GitHub Stars (90일 만에)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8105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개발자: Peter Steinberger (오스트리아)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2219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시작: 2025년 11월 주말 프로젝트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6334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원명: Clawdbot → 상표 문제로 OpenClaw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0449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인터페이스: Signal, Telegram, Discord, WhatsApp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4564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LLM: Claude, DeepSeek, GPT 연결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8679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로컬 실행, 이메일·캘린더·파일 접근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4251960"/>
            <a:ext cx="3931920" cy="457200"/>
          </a:xfrm>
          <a:prstGeom prst="rect">
            <a:avLst/>
          </a:prstGeom>
          <a:solidFill>
            <a:srgbClr val="FFF3E0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2976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보안 주의: 광범위한 시스템 권한 필요 (Malwarebytes 경고)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54880" y="868680"/>
            <a:ext cx="41148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868680"/>
            <a:ext cx="4114800" cy="43891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8961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Interpreter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92040" y="14173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자연어로 컴퓨터를 코드로 제어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92040" y="18105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LLM이 로컬에서 코드 직접 실행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92040" y="22219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Python · JavaScript · Shell 지원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92040" y="26334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OS Mode + Computer API (GUI 레벨 액션)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92040" y="30449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비전 기능: 이미지 분석 및 해석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92040" y="34564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Ollama, LM Studio 로컬 모델 지원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92040" y="38679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데이터 분석, 파일 관리, 자동화에 강력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46320" y="4251960"/>
            <a:ext cx="393192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42976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9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완전 오픈소스 (MIT), 로컬 실행 가능 — 데이터 외부 전송 없음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Manus — 중국의 완전 자율 AI 에이전트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50292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058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정보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380744"/>
            <a:ext cx="4937760" cy="384048"/>
          </a:xfrm>
          <a:prstGeom prst="rect">
            <a:avLst/>
          </a:prstGeom>
          <a:solidFill>
            <a:srgbClr val="F0F7FA"/>
          </a:solidFill>
          <a:ln w="12700">
            <a:solidFill>
              <a:srgbClr val="F0F7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173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개발사: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965960" y="14173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Butterfly Effect (중국 우한)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184708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공식 출시: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965960" y="184708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2025년 3월 6일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2240280"/>
            <a:ext cx="4937760" cy="384048"/>
          </a:xfrm>
          <a:prstGeom prst="rect">
            <a:avLst/>
          </a:prstGeom>
          <a:solidFill>
            <a:srgbClr val="F0F7FA"/>
          </a:solidFill>
          <a:ln w="12700">
            <a:solidFill>
              <a:srgbClr val="F0F7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27685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기반 기술: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965960" y="227685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멀티모달 LLM 복수 모델 활용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270662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특이점: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965960" y="270662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클라우드에서 계속 실행 (연결 끊어도)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3099816"/>
            <a:ext cx="4937760" cy="384048"/>
          </a:xfrm>
          <a:prstGeom prst="rect">
            <a:avLst/>
          </a:prstGeom>
          <a:solidFill>
            <a:srgbClr val="F0F7FA"/>
          </a:solidFill>
          <a:ln w="12700">
            <a:solidFill>
              <a:srgbClr val="F0F7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1363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 처리: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965960" y="313639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세션에서 50개 이상 화면 처리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35661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인수: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965960" y="35661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2025년 12월 Meta가 $20-30억에 인수 발표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3959352"/>
            <a:ext cx="4937760" cy="384048"/>
          </a:xfrm>
          <a:prstGeom prst="rect">
            <a:avLst/>
          </a:prstGeom>
          <a:solidFill>
            <a:srgbClr val="F0F7FA"/>
          </a:solidFill>
          <a:ln w="12700">
            <a:solidFill>
              <a:srgbClr val="F0F7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99592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현황: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965960" y="39959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2026년 1월 중국 당국 규제 심사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0" y="868680"/>
            <a:ext cx="3383280" cy="3977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623560" y="10058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GAIA 벤치마크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623560" y="1463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23560" y="1737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C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86.5%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7406640" y="17373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 태스크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623560" y="2194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623560" y="2468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C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~65%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7406640" y="2468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중간 복잡도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623560" y="2926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623560" y="3200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C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57.7%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7406640" y="32004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최고 난이도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623560" y="3657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623560" y="3931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7406640" y="39319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전문가 기준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274320" y="48006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MIT Technology Review, Wikipedia Manus AI agent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286000"/>
            <a:ext cx="4114800" cy="4114800"/>
          </a:xfrm>
          <a:prstGeom prst="ellipse">
            <a:avLst/>
          </a:prstGeom>
          <a:solidFill>
            <a:srgbClr val="1A8BA8">
              <a:alpha val="35000"/>
            </a:srgbClr>
          </a:solidFill>
          <a:ln w="12700">
            <a:solidFill>
              <a:srgbClr val="1A8BA8">
                <a:alpha val="3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371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0C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772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제품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종합 비교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35661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 vs 상용 · 가격 · 기술 스택 · 특징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10개 주요 제품 한눈에 비교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37160" y="749808"/>
            <a:ext cx="1645920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76809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제품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783080" y="749808"/>
            <a:ext cx="1371600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0" y="76809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개발사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54680" y="749808"/>
            <a:ext cx="1371600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76809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제어 범위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26280" y="749808"/>
            <a:ext cx="1828800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76809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인식 방식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355080" y="749808"/>
            <a:ext cx="914400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76809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269480" y="749808"/>
            <a:ext cx="1691640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0" y="76809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가격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37160" y="1115568"/>
            <a:ext cx="16459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2880" y="112471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Use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783080" y="1115568"/>
            <a:ext cx="1371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28800" y="112471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커뮤니티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154680" y="1115568"/>
            <a:ext cx="1371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0" y="112471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브라우저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26280" y="1115568"/>
            <a:ext cx="18288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0" y="112471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스크린샷+HTML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355080" y="1115568"/>
            <a:ext cx="9144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112471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9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(MIT)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269480" y="1115568"/>
            <a:ext cx="16916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0" y="112471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무료/$0.05/step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37160" y="1495044"/>
            <a:ext cx="1645920" cy="365760"/>
          </a:xfrm>
          <a:prstGeom prst="rect">
            <a:avLst/>
          </a:prstGeom>
          <a:solidFill>
            <a:srgbClr val="EBF4FB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82880" y="150418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Use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1783080" y="1495044"/>
            <a:ext cx="1371600" cy="365760"/>
          </a:xfrm>
          <a:prstGeom prst="rect">
            <a:avLst/>
          </a:prstGeom>
          <a:solidFill>
            <a:srgbClr val="EBF4FB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828800" y="150418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154680" y="1495044"/>
            <a:ext cx="1371600" cy="365760"/>
          </a:xfrm>
          <a:prstGeom prst="rect">
            <a:avLst/>
          </a:prstGeom>
          <a:solidFill>
            <a:srgbClr val="EBF4FB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0" y="150418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전체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26280" y="1495044"/>
            <a:ext cx="1828800" cy="365760"/>
          </a:xfrm>
          <a:prstGeom prst="rect">
            <a:avLst/>
          </a:prstGeom>
          <a:solidFill>
            <a:srgbClr val="EBF4FB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0" y="150418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스크린샷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355080" y="1495044"/>
            <a:ext cx="914400" cy="365760"/>
          </a:xfrm>
          <a:prstGeom prst="rect">
            <a:avLst/>
          </a:prstGeom>
          <a:solidFill>
            <a:srgbClr val="EBF4FB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0" y="150418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55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269480" y="1495044"/>
            <a:ext cx="1691640" cy="365760"/>
          </a:xfrm>
          <a:prstGeom prst="rect">
            <a:avLst/>
          </a:prstGeom>
          <a:solidFill>
            <a:srgbClr val="EBF4FB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15200" y="150418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토큰 기반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137160" y="1874520"/>
            <a:ext cx="16459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82880" y="188366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1783080" y="1874520"/>
            <a:ext cx="1371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828800" y="188366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154680" y="1874520"/>
            <a:ext cx="1371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00400" y="188366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브라우저 (종료)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526280" y="1874520"/>
            <a:ext cx="18288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0" y="1883664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스크린샷+DOM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355080" y="1874520"/>
            <a:ext cx="9144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00800" y="1883664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55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7269480" y="1874520"/>
            <a:ext cx="16916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315200" y="1883664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$200/월 (종료)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137160" y="2253996"/>
            <a:ext cx="1645920" cy="365760"/>
          </a:xfrm>
          <a:prstGeom prst="rect">
            <a:avLst/>
          </a:prstGeom>
          <a:solidFill>
            <a:srgbClr val="EBF4FB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82880" y="22631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Proj. Mariner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1783080" y="2253996"/>
            <a:ext cx="1371600" cy="365760"/>
          </a:xfrm>
          <a:prstGeom prst="rect">
            <a:avLst/>
          </a:prstGeom>
          <a:solidFill>
            <a:srgbClr val="EBF4FB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828800" y="22631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3154680" y="2253996"/>
            <a:ext cx="1371600" cy="365760"/>
          </a:xfrm>
          <a:prstGeom prst="rect">
            <a:avLst/>
          </a:prstGeom>
          <a:solidFill>
            <a:srgbClr val="EBF4FB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200400" y="22631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브라우저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526280" y="2253996"/>
            <a:ext cx="1828800" cy="365760"/>
          </a:xfrm>
          <a:prstGeom prst="rect">
            <a:avLst/>
          </a:prstGeom>
          <a:solidFill>
            <a:srgbClr val="EBF4FB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572000" y="22631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스크린샷+접근성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6355080" y="2253996"/>
            <a:ext cx="914400" cy="365760"/>
          </a:xfrm>
          <a:prstGeom prst="rect">
            <a:avLst/>
          </a:prstGeom>
          <a:solidFill>
            <a:srgbClr val="EBF4FB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00800" y="226314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55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7269480" y="2253996"/>
            <a:ext cx="1691640" cy="365760"/>
          </a:xfrm>
          <a:prstGeom prst="rect">
            <a:avLst/>
          </a:prstGeom>
          <a:solidFill>
            <a:srgbClr val="EBF4FB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315200" y="22631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Ultra 구독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137160" y="2633472"/>
            <a:ext cx="16459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82880" y="2642616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MCP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1783080" y="2633472"/>
            <a:ext cx="1371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828800" y="264261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3154680" y="2633472"/>
            <a:ext cx="1371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200400" y="264261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브라우저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4526280" y="2633472"/>
            <a:ext cx="18288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572000" y="2642616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접근성 트리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6355080" y="2633472"/>
            <a:ext cx="9144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400800" y="2642616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9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(MIT)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7269480" y="2633472"/>
            <a:ext cx="16916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315200" y="2642616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무료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137160" y="3012948"/>
            <a:ext cx="1645920" cy="365760"/>
          </a:xfrm>
          <a:prstGeom prst="rect">
            <a:avLst/>
          </a:prstGeom>
          <a:solidFill>
            <a:srgbClr val="EBF4FB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82880" y="302209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Skyvern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1783080" y="3012948"/>
            <a:ext cx="1371600" cy="365760"/>
          </a:xfrm>
          <a:prstGeom prst="rect">
            <a:avLst/>
          </a:prstGeom>
          <a:solidFill>
            <a:srgbClr val="EBF4FB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828800" y="302209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Skyvern AI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3154680" y="3012948"/>
            <a:ext cx="1371600" cy="365760"/>
          </a:xfrm>
          <a:prstGeom prst="rect">
            <a:avLst/>
          </a:prstGeom>
          <a:solidFill>
            <a:srgbClr val="EBF4FB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200400" y="302209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브라우저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4526280" y="3012948"/>
            <a:ext cx="1828800" cy="365760"/>
          </a:xfrm>
          <a:prstGeom prst="rect">
            <a:avLst/>
          </a:prstGeom>
          <a:solidFill>
            <a:srgbClr val="EBF4FB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572000" y="302209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LLM+CV 혼합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6355080" y="3012948"/>
            <a:ext cx="914400" cy="365760"/>
          </a:xfrm>
          <a:prstGeom prst="rect">
            <a:avLst/>
          </a:prstGeom>
          <a:solidFill>
            <a:srgbClr val="EBF4FB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400800" y="302209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9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7269480" y="3012948"/>
            <a:ext cx="1691640" cy="365760"/>
          </a:xfrm>
          <a:prstGeom prst="rect">
            <a:avLst/>
          </a:prstGeom>
          <a:solidFill>
            <a:srgbClr val="EBF4FB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315200" y="302209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무료/상용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137160" y="3392424"/>
            <a:ext cx="16459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182880" y="340156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Stagehand</a:t>
            </a:r>
            <a:endParaRPr lang="en-US" sz="950" dirty="0"/>
          </a:p>
        </p:txBody>
      </p:sp>
      <p:sp>
        <p:nvSpPr>
          <p:cNvPr id="90" name="Shape 88"/>
          <p:cNvSpPr/>
          <p:nvPr/>
        </p:nvSpPr>
        <p:spPr>
          <a:xfrm>
            <a:off x="1783080" y="3392424"/>
            <a:ext cx="1371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1828800" y="340156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Browserbase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3154680" y="3392424"/>
            <a:ext cx="1371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3200400" y="340156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브라우저</a:t>
            </a:r>
            <a:endParaRPr lang="en-US" sz="950" dirty="0"/>
          </a:p>
        </p:txBody>
      </p:sp>
      <p:sp>
        <p:nvSpPr>
          <p:cNvPr id="94" name="Shape 92"/>
          <p:cNvSpPr/>
          <p:nvPr/>
        </p:nvSpPr>
        <p:spPr>
          <a:xfrm>
            <a:off x="4526280" y="3392424"/>
            <a:ext cx="18288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572000" y="34015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AI+접근성 트리</a:t>
            </a:r>
            <a:endParaRPr lang="en-US" sz="950" dirty="0"/>
          </a:p>
        </p:txBody>
      </p:sp>
      <p:sp>
        <p:nvSpPr>
          <p:cNvPr id="96" name="Shape 94"/>
          <p:cNvSpPr/>
          <p:nvPr/>
        </p:nvSpPr>
        <p:spPr>
          <a:xfrm>
            <a:off x="6355080" y="3392424"/>
            <a:ext cx="9144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6400800" y="340156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9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(MIT)</a:t>
            </a:r>
            <a:endParaRPr lang="en-US" sz="950" dirty="0"/>
          </a:p>
        </p:txBody>
      </p:sp>
      <p:sp>
        <p:nvSpPr>
          <p:cNvPr id="98" name="Shape 96"/>
          <p:cNvSpPr/>
          <p:nvPr/>
        </p:nvSpPr>
        <p:spPr>
          <a:xfrm>
            <a:off x="7269480" y="3392424"/>
            <a:ext cx="16916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7315200" y="340156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무료</a:t>
            </a:r>
            <a:endParaRPr lang="en-US" sz="950" dirty="0"/>
          </a:p>
        </p:txBody>
      </p:sp>
      <p:sp>
        <p:nvSpPr>
          <p:cNvPr id="100" name="Shape 98"/>
          <p:cNvSpPr/>
          <p:nvPr/>
        </p:nvSpPr>
        <p:spPr>
          <a:xfrm>
            <a:off x="137160" y="3771900"/>
            <a:ext cx="1645920" cy="365760"/>
          </a:xfrm>
          <a:prstGeom prst="rect">
            <a:avLst/>
          </a:prstGeom>
          <a:solidFill>
            <a:srgbClr val="EBF4FB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82880" y="378104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Interpreter</a:t>
            </a:r>
            <a:endParaRPr lang="en-US" sz="950" dirty="0"/>
          </a:p>
        </p:txBody>
      </p:sp>
      <p:sp>
        <p:nvSpPr>
          <p:cNvPr id="102" name="Shape 100"/>
          <p:cNvSpPr/>
          <p:nvPr/>
        </p:nvSpPr>
        <p:spPr>
          <a:xfrm>
            <a:off x="1783080" y="3771900"/>
            <a:ext cx="1371600" cy="365760"/>
          </a:xfrm>
          <a:prstGeom prst="rect">
            <a:avLst/>
          </a:prstGeom>
          <a:solidFill>
            <a:srgbClr val="EBF4FB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1828800" y="378104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openinterpreter</a:t>
            </a:r>
            <a:endParaRPr lang="en-US" sz="950" dirty="0"/>
          </a:p>
        </p:txBody>
      </p:sp>
      <p:sp>
        <p:nvSpPr>
          <p:cNvPr id="104" name="Shape 102"/>
          <p:cNvSpPr/>
          <p:nvPr/>
        </p:nvSpPr>
        <p:spPr>
          <a:xfrm>
            <a:off x="3154680" y="3771900"/>
            <a:ext cx="1371600" cy="365760"/>
          </a:xfrm>
          <a:prstGeom prst="rect">
            <a:avLst/>
          </a:prstGeom>
          <a:solidFill>
            <a:srgbClr val="EBF4FB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3200400" y="378104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전체</a:t>
            </a:r>
            <a:endParaRPr lang="en-US" sz="950" dirty="0"/>
          </a:p>
        </p:txBody>
      </p:sp>
      <p:sp>
        <p:nvSpPr>
          <p:cNvPr id="106" name="Shape 104"/>
          <p:cNvSpPr/>
          <p:nvPr/>
        </p:nvSpPr>
        <p:spPr>
          <a:xfrm>
            <a:off x="4526280" y="3771900"/>
            <a:ext cx="1828800" cy="365760"/>
          </a:xfrm>
          <a:prstGeom prst="rect">
            <a:avLst/>
          </a:prstGeom>
          <a:solidFill>
            <a:srgbClr val="EBF4FB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4572000" y="3781044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실행+스크린샷</a:t>
            </a:r>
            <a:endParaRPr lang="en-US" sz="950" dirty="0"/>
          </a:p>
        </p:txBody>
      </p:sp>
      <p:sp>
        <p:nvSpPr>
          <p:cNvPr id="108" name="Shape 106"/>
          <p:cNvSpPr/>
          <p:nvPr/>
        </p:nvSpPr>
        <p:spPr>
          <a:xfrm>
            <a:off x="6355080" y="3771900"/>
            <a:ext cx="914400" cy="365760"/>
          </a:xfrm>
          <a:prstGeom prst="rect">
            <a:avLst/>
          </a:prstGeom>
          <a:solidFill>
            <a:srgbClr val="EBF4FB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6400800" y="3781044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9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(MIT)</a:t>
            </a:r>
            <a:endParaRPr lang="en-US" sz="950" dirty="0"/>
          </a:p>
        </p:txBody>
      </p:sp>
      <p:sp>
        <p:nvSpPr>
          <p:cNvPr id="110" name="Shape 108"/>
          <p:cNvSpPr/>
          <p:nvPr/>
        </p:nvSpPr>
        <p:spPr>
          <a:xfrm>
            <a:off x="7269480" y="3771900"/>
            <a:ext cx="1691640" cy="365760"/>
          </a:xfrm>
          <a:prstGeom prst="rect">
            <a:avLst/>
          </a:prstGeom>
          <a:solidFill>
            <a:srgbClr val="EBF4FB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7315200" y="3781044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무료</a:t>
            </a:r>
            <a:endParaRPr lang="en-US" sz="950" dirty="0"/>
          </a:p>
        </p:txBody>
      </p:sp>
      <p:sp>
        <p:nvSpPr>
          <p:cNvPr id="112" name="Shape 110"/>
          <p:cNvSpPr/>
          <p:nvPr/>
        </p:nvSpPr>
        <p:spPr>
          <a:xfrm>
            <a:off x="137160" y="4151376"/>
            <a:ext cx="16459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182880" y="41605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</a:t>
            </a:r>
            <a:endParaRPr lang="en-US" sz="950" dirty="0"/>
          </a:p>
        </p:txBody>
      </p:sp>
      <p:sp>
        <p:nvSpPr>
          <p:cNvPr id="114" name="Shape 112"/>
          <p:cNvSpPr/>
          <p:nvPr/>
        </p:nvSpPr>
        <p:spPr>
          <a:xfrm>
            <a:off x="1783080" y="4151376"/>
            <a:ext cx="1371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1828800" y="41605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Steinberger</a:t>
            </a:r>
            <a:endParaRPr lang="en-US" sz="950" dirty="0"/>
          </a:p>
        </p:txBody>
      </p:sp>
      <p:sp>
        <p:nvSpPr>
          <p:cNvPr id="116" name="Shape 114"/>
          <p:cNvSpPr/>
          <p:nvPr/>
        </p:nvSpPr>
        <p:spPr>
          <a:xfrm>
            <a:off x="3154680" y="4151376"/>
            <a:ext cx="1371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3200400" y="41605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전체</a:t>
            </a:r>
            <a:endParaRPr lang="en-US" sz="950" dirty="0"/>
          </a:p>
        </p:txBody>
      </p:sp>
      <p:sp>
        <p:nvSpPr>
          <p:cNvPr id="118" name="Shape 116"/>
          <p:cNvSpPr/>
          <p:nvPr/>
        </p:nvSpPr>
        <p:spPr>
          <a:xfrm>
            <a:off x="4526280" y="4151376"/>
            <a:ext cx="18288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4572000" y="41605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기반</a:t>
            </a:r>
            <a:endParaRPr lang="en-US" sz="950" dirty="0"/>
          </a:p>
        </p:txBody>
      </p:sp>
      <p:sp>
        <p:nvSpPr>
          <p:cNvPr id="120" name="Shape 118"/>
          <p:cNvSpPr/>
          <p:nvPr/>
        </p:nvSpPr>
        <p:spPr>
          <a:xfrm>
            <a:off x="6355080" y="4151376"/>
            <a:ext cx="9144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6400800" y="41605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9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950" dirty="0"/>
          </a:p>
        </p:txBody>
      </p:sp>
      <p:sp>
        <p:nvSpPr>
          <p:cNvPr id="122" name="Shape 120"/>
          <p:cNvSpPr/>
          <p:nvPr/>
        </p:nvSpPr>
        <p:spPr>
          <a:xfrm>
            <a:off x="7269480" y="4151376"/>
            <a:ext cx="16916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7315200" y="41605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무료</a:t>
            </a:r>
            <a:endParaRPr lang="en-US" sz="950" dirty="0"/>
          </a:p>
        </p:txBody>
      </p:sp>
      <p:sp>
        <p:nvSpPr>
          <p:cNvPr id="124" name="Shape 122"/>
          <p:cNvSpPr/>
          <p:nvPr/>
        </p:nvSpPr>
        <p:spPr>
          <a:xfrm>
            <a:off x="137160" y="4530852"/>
            <a:ext cx="1645920" cy="365760"/>
          </a:xfrm>
          <a:prstGeom prst="rect">
            <a:avLst/>
          </a:prstGeom>
          <a:solidFill>
            <a:srgbClr val="EBF4FB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182880" y="4539996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Manus</a:t>
            </a:r>
            <a:endParaRPr lang="en-US" sz="950" dirty="0"/>
          </a:p>
        </p:txBody>
      </p:sp>
      <p:sp>
        <p:nvSpPr>
          <p:cNvPr id="126" name="Shape 124"/>
          <p:cNvSpPr/>
          <p:nvPr/>
        </p:nvSpPr>
        <p:spPr>
          <a:xfrm>
            <a:off x="1783080" y="4530852"/>
            <a:ext cx="1371600" cy="365760"/>
          </a:xfrm>
          <a:prstGeom prst="rect">
            <a:avLst/>
          </a:prstGeom>
          <a:solidFill>
            <a:srgbClr val="EBF4FB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1828800" y="453999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Butterfly Effect</a:t>
            </a:r>
            <a:endParaRPr lang="en-US" sz="950" dirty="0"/>
          </a:p>
        </p:txBody>
      </p:sp>
      <p:sp>
        <p:nvSpPr>
          <p:cNvPr id="128" name="Shape 126"/>
          <p:cNvSpPr/>
          <p:nvPr/>
        </p:nvSpPr>
        <p:spPr>
          <a:xfrm>
            <a:off x="3154680" y="4530852"/>
            <a:ext cx="1371600" cy="365760"/>
          </a:xfrm>
          <a:prstGeom prst="rect">
            <a:avLst/>
          </a:prstGeom>
          <a:solidFill>
            <a:srgbClr val="EBF4FB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3200400" y="453999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OS+웹</a:t>
            </a:r>
            <a:endParaRPr lang="en-US" sz="950" dirty="0"/>
          </a:p>
        </p:txBody>
      </p:sp>
      <p:sp>
        <p:nvSpPr>
          <p:cNvPr id="130" name="Shape 128"/>
          <p:cNvSpPr/>
          <p:nvPr/>
        </p:nvSpPr>
        <p:spPr>
          <a:xfrm>
            <a:off x="4526280" y="4530852"/>
            <a:ext cx="1828800" cy="365760"/>
          </a:xfrm>
          <a:prstGeom prst="rect">
            <a:avLst/>
          </a:prstGeom>
          <a:solidFill>
            <a:srgbClr val="EBF4FB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4572000" y="4539996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멀티모달</a:t>
            </a:r>
            <a:endParaRPr lang="en-US" sz="950" dirty="0"/>
          </a:p>
        </p:txBody>
      </p:sp>
      <p:sp>
        <p:nvSpPr>
          <p:cNvPr id="132" name="Shape 130"/>
          <p:cNvSpPr/>
          <p:nvPr/>
        </p:nvSpPr>
        <p:spPr>
          <a:xfrm>
            <a:off x="6355080" y="4530852"/>
            <a:ext cx="914400" cy="365760"/>
          </a:xfrm>
          <a:prstGeom prst="rect">
            <a:avLst/>
          </a:prstGeom>
          <a:solidFill>
            <a:srgbClr val="EBF4FB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6400800" y="4539996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55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950" dirty="0"/>
          </a:p>
        </p:txBody>
      </p:sp>
      <p:sp>
        <p:nvSpPr>
          <p:cNvPr id="134" name="Shape 132"/>
          <p:cNvSpPr/>
          <p:nvPr/>
        </p:nvSpPr>
        <p:spPr>
          <a:xfrm>
            <a:off x="7269480" y="4530852"/>
            <a:ext cx="1691640" cy="365760"/>
          </a:xfrm>
          <a:prstGeom prst="rect">
            <a:avLst/>
          </a:prstGeom>
          <a:solidFill>
            <a:srgbClr val="EBF4FB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7315200" y="4539996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상용 (종료)</a:t>
            </a:r>
            <a:endParaRPr lang="en-US" sz="950" dirty="0"/>
          </a:p>
        </p:txBody>
      </p:sp>
      <p:sp>
        <p:nvSpPr>
          <p:cNvPr id="136" name="Text 134"/>
          <p:cNvSpPr/>
          <p:nvPr/>
        </p:nvSpPr>
        <p:spPr>
          <a:xfrm>
            <a:off x="27432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Helicone 비교 분석, 각 제품 공식 문서 (2026년 3월 기준)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2286000"/>
            <a:ext cx="4572000" cy="4572000"/>
          </a:xfrm>
          <a:prstGeom prst="ellipse">
            <a:avLst/>
          </a:prstGeom>
          <a:solidFill>
            <a:srgbClr val="0D6F9E">
              <a:alpha val="40000"/>
            </a:srgbClr>
          </a:solidFill>
          <a:ln w="12700">
            <a:solidFill>
              <a:srgbClr val="0D6F9E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371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0C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772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벤치마크로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읽는 실제 성능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35661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WebVoyager · OSWorld · GAIA · CUB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벤치마크 결과 (2025-2026)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206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4206240" cy="384048"/>
          </a:xfrm>
          <a:prstGeom prst="rect">
            <a:avLst/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0525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WebVoyager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2070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15개 웹사이트 자연어 태스크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47472" y="1508760"/>
            <a:ext cx="4059936" cy="292608"/>
          </a:xfrm>
          <a:prstGeom prst="rect">
            <a:avLst/>
          </a:prstGeom>
          <a:solidFill>
            <a:srgbClr val="00C49F">
              <a:alpha val="12000"/>
            </a:srgbClr>
          </a:solidFill>
          <a:ln w="12700">
            <a:solidFill>
              <a:srgbClr val="00C49F">
                <a:alpha val="12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5270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Surfer 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200400" y="152704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C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97.1%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183794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Magnitude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200400" y="183794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93.9%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21488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Use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200400" y="21488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89.1%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245973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Operator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200400" y="245973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~70%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868680"/>
            <a:ext cx="4206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868680"/>
            <a:ext cx="420624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90525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OSWorld (50 단계)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00600" y="12070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레벨 복잡한 워크플로우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82312" y="1508760"/>
            <a:ext cx="4059936" cy="292608"/>
          </a:xfrm>
          <a:prstGeom prst="rect">
            <a:avLst/>
          </a:prstGeom>
          <a:solidFill>
            <a:srgbClr val="1C7293">
              <a:alpha val="12000"/>
            </a:srgbClr>
          </a:solidFill>
          <a:ln w="12700">
            <a:solidFill>
              <a:srgbClr val="1C7293">
                <a:alpha val="12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15270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Simular Agent S2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635240" y="152704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34.5%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0" y="183794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CUA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635240" y="183794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32.6%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46320" y="21488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3.5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635240" y="21488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~22%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46320" y="245973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GPT-4V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635240" y="245973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~15%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2971800"/>
            <a:ext cx="4206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2971800"/>
            <a:ext cx="4206240" cy="3840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300837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GAIA Level 3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65760" y="33101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복잡한 현실 세계 태스크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47472" y="3611880"/>
            <a:ext cx="4059936" cy="292608"/>
          </a:xfrm>
          <a:prstGeom prst="rect">
            <a:avLst/>
          </a:prstGeom>
          <a:solidFill>
            <a:srgbClr val="F97316">
              <a:alpha val="12000"/>
            </a:srgbClr>
          </a:solidFill>
          <a:ln w="12700">
            <a:solidFill>
              <a:srgbClr val="F97316">
                <a:alpha val="12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36301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 Action Agent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200400" y="363016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61%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11480" y="39410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Manus AI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200400" y="394106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57.7%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11480" y="42519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Deep Research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3200400" y="42519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47.6%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11480" y="45628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Expert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3200400" y="45628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709160" y="2971800"/>
            <a:ext cx="4206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709160" y="2971800"/>
            <a:ext cx="4206240" cy="384048"/>
          </a:xfrm>
          <a:prstGeom prst="rect">
            <a:avLst/>
          </a:prstGeom>
          <a:solidFill>
            <a:srgbClr val="E55353"/>
          </a:solidFill>
          <a:ln w="12700">
            <a:solidFill>
              <a:srgbClr val="E5535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00600" y="300837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 (실제 비즈니스)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800600" y="33101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106개 워크플로우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782312" y="3611880"/>
            <a:ext cx="4059936" cy="292608"/>
          </a:xfrm>
          <a:prstGeom prst="rect">
            <a:avLst/>
          </a:prstGeom>
          <a:solidFill>
            <a:srgbClr val="E55353">
              <a:alpha val="12000"/>
            </a:srgbClr>
          </a:solidFill>
          <a:ln w="12700">
            <a:solidFill>
              <a:srgbClr val="E55353">
                <a:alpha val="12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46320" y="36301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55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 Action Agent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7635240" y="363016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55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10.4%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846320" y="39410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Manus AI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7635240" y="394106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10%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846320" y="42519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Operator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7635240" y="42519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10%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4846320" y="45628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평균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7635240" y="45628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5%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274320" y="4828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o-mega.ai 벤치마크 가이드 2025-2026, browser-use.com SOTA 리포트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벤치마크 vs 실전 — 여전히 존재하는 갭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914400"/>
          </a:xfrm>
          <a:prstGeom prst="rect">
            <a:avLst/>
          </a:prstGeom>
          <a:solidFill>
            <a:srgbClr val="065A82">
              <a:alpha val="12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WebVoyager 97% vs 실제 비즈니스 워크플로우(CUB) 10% — 10배 격차가 현실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단순 웹 태스크 벤치마크의 높은 성공률은 실제 복잡한 엔터프라이즈 워크플로우 성능을 과대평가합니다.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74320" y="1920240"/>
            <a:ext cx="20116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920240"/>
            <a:ext cx="2011680" cy="347472"/>
          </a:xfrm>
          <a:prstGeom prst="rect">
            <a:avLst/>
          </a:prstGeom>
          <a:solidFill>
            <a:srgbClr val="E55353"/>
          </a:solidFill>
          <a:ln w="12700">
            <a:solidFill>
              <a:srgbClr val="E5535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93852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CAPTCHA &amp; 봇 탐지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340864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에이전트의 공통 난관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Cloudflare, reCAPTCHA 등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50592" y="1920240"/>
            <a:ext cx="20116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50592" y="1920240"/>
            <a:ext cx="2011680" cy="347472"/>
          </a:xfrm>
          <a:prstGeom prst="rect">
            <a:avLst/>
          </a:prstGeom>
          <a:solidFill>
            <a:srgbClr val="E55353"/>
          </a:solidFill>
          <a:ln w="12700">
            <a:solidFill>
              <a:srgbClr val="E5535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42032" y="193852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동적 콘텐츠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42032" y="2340864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SPA, 무한 스크롤,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업데이트 요소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26864" y="1920240"/>
            <a:ext cx="20116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920240"/>
            <a:ext cx="2011680" cy="347472"/>
          </a:xfrm>
          <a:prstGeom prst="rect">
            <a:avLst/>
          </a:prstGeom>
          <a:solidFill>
            <a:srgbClr val="E55353"/>
          </a:solidFill>
          <a:ln w="12700">
            <a:solidFill>
              <a:srgbClr val="E5535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18304" y="193852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멀티스텝 오류 전파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18304" y="2340864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초기 실수가 이후 단계까지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누적 영향 (OSWorld 34%의 이유)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03136" y="1920240"/>
            <a:ext cx="20116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03136" y="1920240"/>
            <a:ext cx="2011680" cy="347472"/>
          </a:xfrm>
          <a:prstGeom prst="rect">
            <a:avLst/>
          </a:prstGeom>
          <a:solidFill>
            <a:srgbClr val="E55353"/>
          </a:solidFill>
          <a:ln w="12700">
            <a:solidFill>
              <a:srgbClr val="E5535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94576" y="193852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네트워크/서버 장애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94576" y="2340864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네트워크 장애 시 성공률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 → 2%로 급락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3794760"/>
            <a:ext cx="8595360" cy="1005840"/>
          </a:xfrm>
          <a:prstGeom prst="rect">
            <a:avLst/>
          </a:prstGeom>
          <a:solidFill>
            <a:srgbClr val="00C49F">
              <a:alpha val="10000"/>
            </a:srgbClr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886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9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인간 감독(Human-in-the-loop)이 여전히 핵심입니다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AI 에이전트는 단순·반복 태스크에서는 강력하지만, 복잡한 비즈니스 프로세스의 완전 자율화는 아직 미완성입니다. 중요한 결정이 포함된 작업에서는 반드시 사람이 검토해야 합니다.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4572000" cy="4572000"/>
          </a:xfrm>
          <a:prstGeom prst="ellipse">
            <a:avLst/>
          </a:prstGeom>
          <a:solidFill>
            <a:srgbClr val="0D6F9E">
              <a:alpha val="40000"/>
            </a:srgbClr>
          </a:solidFill>
          <a:ln w="12700">
            <a:solidFill>
              <a:srgbClr val="0D6F9E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371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0C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772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2025-2026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시장 트렌드 &amp; 전망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35661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5가지 핵심 트렌드와 향후 방향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2025-2026 핵심 트렌드 5가지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411480" cy="1188720"/>
          </a:xfrm>
          <a:prstGeom prst="rect">
            <a:avLst/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25272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94183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클라우드 VM 에이전트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1307592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Mariner, Manus처럼 에이전트가 클라우드 서버에서 동작하고 사용자는 결과만 받는 모델 확산. 로컬 리소스 절약 + 보안 강화.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86868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868680"/>
            <a:ext cx="411480" cy="11887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25272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257800" y="94183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멀티 에이전트 오케스트레이션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257800" y="1307592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Gartner: Q1 2024 → Q2 2025 문의 1,445% 폭증. 단일 에이전트에서 전문화된 에이전트 팀으로의 전환이 가속화.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24028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240280"/>
            <a:ext cx="411480" cy="1188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62432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231343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생태계 표준화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2679192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Anthropic이 제안한 Model Context Protocol이 업계 표준으로 자리잡으며 Playwright MCP 등 생태계 빠르게 확대.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224028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240280"/>
            <a:ext cx="411480" cy="118872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262432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57800" y="231343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접근성 트리 중심 전환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257800" y="2679192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스크린샷 방식에서 접근성 트리 활용으로 이동. OpenAI CUA, Playwright MCP, Project Mariner 모두 이 방향 채택.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" y="3611880"/>
            <a:ext cx="8595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611880"/>
            <a:ext cx="457200" cy="1188720"/>
          </a:xfrm>
          <a:prstGeom prst="rect">
            <a:avLst/>
          </a:prstGeom>
          <a:solidFill>
            <a:srgbClr val="E55353"/>
          </a:solidFill>
          <a:ln w="12700">
            <a:solidFill>
              <a:srgbClr val="E5535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9959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68680" y="3703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5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 폭발적 성장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68680" y="40690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Use(80K+ 스타), OpenClaw(190K+ 스타) 등 커뮤니티 주도 프로젝트가 빅테크 상용 제품을 능가하는 관심 획득.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7432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Gartner 2025, Index.dev, Helicone, 각 제품 공식 문서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활용 사례 (Use Cases)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6974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2697480" cy="411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2514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리서치 &amp; 정보 수집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34416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여러 사이트 동시 탐색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1480" y="169164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데이터 취합·정리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1480" y="2039112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경쟁사 모니터링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2404872"/>
            <a:ext cx="2514600" cy="0"/>
          </a:xfrm>
          <a:prstGeom prst="line">
            <a:avLst/>
          </a:prstGeom>
          <a:noFill/>
          <a:ln w="12700">
            <a:solidFill>
              <a:srgbClr val="D1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45059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추천: Browser Use, Manus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172968" y="868680"/>
            <a:ext cx="26974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72968" y="868680"/>
            <a:ext cx="2697480" cy="411480"/>
          </a:xfrm>
          <a:prstGeom prst="rect">
            <a:avLst/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64408" y="914400"/>
            <a:ext cx="2514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E-커머스 자동화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10128" y="134416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가격 비교 &amp; 최저가 주문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310128" y="169164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재고 모니터링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310128" y="2039112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장바구니 자동 채우기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64408" y="2404872"/>
            <a:ext cx="2514600" cy="0"/>
          </a:xfrm>
          <a:prstGeom prst="line">
            <a:avLst/>
          </a:prstGeom>
          <a:noFill/>
          <a:ln w="12700">
            <a:solidFill>
              <a:srgbClr val="D1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64408" y="245059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추천: Skyvern, Stagehand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071616" y="868680"/>
            <a:ext cx="26974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71616" y="868680"/>
            <a:ext cx="2697480" cy="4114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63056" y="914400"/>
            <a:ext cx="2514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업무 자동화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08776" y="134416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CRM 데이터 입력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208776" y="169164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이메일 초안 &amp; 발송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208776" y="2039112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보고서 폼 자동 작성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163056" y="2404872"/>
            <a:ext cx="2514600" cy="0"/>
          </a:xfrm>
          <a:prstGeom prst="line">
            <a:avLst/>
          </a:prstGeom>
          <a:noFill/>
          <a:ln w="12700">
            <a:solidFill>
              <a:srgbClr val="D1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63056" y="245059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추천: Computer Use, Open Interpreter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4320" y="2971800"/>
            <a:ext cx="26974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2971800"/>
            <a:ext cx="2697480" cy="41148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017520"/>
            <a:ext cx="2514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소프트웨어 테스팅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11480" y="344728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E2E 회귀 테스트 자동화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11480" y="379476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크로스 브라우저 검증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11480" y="4142232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UI 변경 감지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65760" y="4507992"/>
            <a:ext cx="2514600" cy="0"/>
          </a:xfrm>
          <a:prstGeom prst="line">
            <a:avLst/>
          </a:prstGeom>
          <a:noFill/>
          <a:ln w="12700">
            <a:solidFill>
              <a:srgbClr val="D1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55371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추천: Playwright MCP, Stagehand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172968" y="2971800"/>
            <a:ext cx="26974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172968" y="2971800"/>
            <a:ext cx="2697480" cy="411480"/>
          </a:xfrm>
          <a:prstGeom prst="rect">
            <a:avLst/>
          </a:prstGeom>
          <a:solidFill>
            <a:srgbClr val="E55353"/>
          </a:solidFill>
          <a:ln w="12700">
            <a:solidFill>
              <a:srgbClr val="E5535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64408" y="3017520"/>
            <a:ext cx="2514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스크래핑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310128" y="344728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대규모 웹 데이터 수집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3310128" y="379476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구조화된 데이터 추출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3310128" y="4142232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API 없는 사이트 처리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3264408" y="4507992"/>
            <a:ext cx="2514600" cy="0"/>
          </a:xfrm>
          <a:prstGeom prst="line">
            <a:avLst/>
          </a:prstGeom>
          <a:noFill/>
          <a:ln w="12700">
            <a:solidFill>
              <a:srgbClr val="D1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64408" y="455371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55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추천: Steel Browser, Browser Use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071616" y="2971800"/>
            <a:ext cx="26974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071616" y="2971800"/>
            <a:ext cx="2697480" cy="411480"/>
          </a:xfrm>
          <a:prstGeom prst="rect">
            <a:avLst/>
          </a:prstGeom>
          <a:solidFill>
            <a:srgbClr val="4A4A8A"/>
          </a:solidFill>
          <a:ln w="12700">
            <a:solidFill>
              <a:srgbClr val="4A4A8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63056" y="3017520"/>
            <a:ext cx="2514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개인 비서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208776" y="344728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레스토랑 예약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6208776" y="379476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항공권/숙소 검색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6208776" y="4142232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일정·캘린더 관리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163056" y="4507992"/>
            <a:ext cx="2514600" cy="0"/>
          </a:xfrm>
          <a:prstGeom prst="line">
            <a:avLst/>
          </a:prstGeom>
          <a:noFill/>
          <a:ln w="12700">
            <a:solidFill>
              <a:srgbClr val="D1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163056" y="455371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추천: OpenClaw, Manus, Project Mariner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371600"/>
            <a:ext cx="4572000" cy="4572000"/>
          </a:xfrm>
          <a:prstGeom prst="ellipse">
            <a:avLst/>
          </a:prstGeom>
          <a:solidFill>
            <a:srgbClr val="0D6F9E">
              <a:alpha val="40000"/>
            </a:srgbClr>
          </a:solidFill>
          <a:ln w="12700">
            <a:solidFill>
              <a:srgbClr val="0D6F9E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2743200"/>
            <a:ext cx="4572000" cy="4572000"/>
          </a:xfrm>
          <a:prstGeom prst="ellipse">
            <a:avLst/>
          </a:prstGeom>
          <a:solidFill>
            <a:srgbClr val="00C49F">
              <a:alpha val="20000"/>
            </a:srgbClr>
          </a:solidFill>
          <a:ln w="12700">
            <a:solidFill>
              <a:srgbClr val="00C49F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486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C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결론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마우스를 잡는 시대,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지금이 시작입니다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94360" y="2542032"/>
            <a:ext cx="201168" cy="201168"/>
          </a:xfrm>
          <a:prstGeom prst="ellipse">
            <a:avLst/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523744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오픈소스(Browser Use 80K+, OpenClaw 190K+)가 빅테크를 뛰어넘는 커뮤니티 관심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" y="2980944"/>
            <a:ext cx="201168" cy="201168"/>
          </a:xfrm>
          <a:prstGeom prst="ellipse">
            <a:avLst/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962656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접근성 트리 기반이 스크린샷 방식보다 빠르고 신뢰성 높은 표준으로 정착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3419856"/>
            <a:ext cx="201168" cy="201168"/>
          </a:xfrm>
          <a:prstGeom prst="ellipse">
            <a:avLst/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401568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벤치마크(~90%)와 실전(~10%) 사이 격차 — Human-in-the-loop 여전히 필수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" y="3858768"/>
            <a:ext cx="201168" cy="201168"/>
          </a:xfrm>
          <a:prstGeom prst="ellipse">
            <a:avLst/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84048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표준화로 에이전트-도구 연결 생태계가 빠르게 성숙 중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" y="4297680"/>
            <a:ext cx="201168" cy="201168"/>
          </a:xfrm>
          <a:prstGeom prst="ellipse">
            <a:avLst/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27939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2030년 $52.6B 시장 — 지금 이 기술을 이해하는 것 자체가 경쟁력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0" y="4480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0C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8640" y="48006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 &amp; 자료: Research/2026-03-11-browser-use-agents/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Browser Use &amp; Computer Use 에이전트 완전 정복</dc:title>
  <dc:subject>PptxGenJS Presentation</dc:subject>
  <dc:creator>Claude Code Research</dc:creator>
  <cp:lastModifiedBy>Claude Code Research</cp:lastModifiedBy>
  <cp:revision>1</cp:revision>
  <dcterms:created xsi:type="dcterms:W3CDTF">2026-03-11T10:41:12Z</dcterms:created>
  <dcterms:modified xsi:type="dcterms:W3CDTF">2026-03-11T10:41:12Z</dcterms:modified>
</cp:coreProperties>
</file>