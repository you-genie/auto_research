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Arial Unicode MS"/>
              </a:rPr>
              <a:t>Gemini Omni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83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6E4F0"/>
                </a:solidFill>
                <a:latin typeface="Arial Unicode MS"/>
              </a:rPr>
              <a:t>Google DeepMind의 Any-to-Any 세계 시뮬레이션 모델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4389120"/>
            <a:ext cx="576072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6E4F0"/>
                </a:solidFill>
                <a:latin typeface="Arial Unicode MS"/>
              </a:rPr>
              <a:t>Google I/O 2026  |  발표: 2026-05-19  |  리서치 기준: 2026-05-22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Arial Unicode MS"/>
              </a:rPr>
              <a:t>Google DeepMind CEO Demis Hassabis 발표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17352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6E4F0"/>
                </a:solidFill>
                <a:latin typeface="Arial Unicode MS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Arial Unicode MS"/>
              </a:rPr>
              <a:t>목차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64008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 Unicode M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6187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4E79"/>
                </a:solidFill>
                <a:latin typeface="Arial Unicode MS"/>
              </a:rPr>
              <a:t>Gemini Omni 정체 확인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188720"/>
            <a:ext cx="64008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11887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 Unicode M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26187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4E79"/>
                </a:solidFill>
                <a:latin typeface="Arial Unicode MS"/>
              </a:rPr>
              <a:t>아키텍처 및 모달리티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31720"/>
            <a:ext cx="64008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 Unicode M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0487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4E79"/>
                </a:solidFill>
                <a:latin typeface="Arial Unicode MS"/>
              </a:rPr>
              <a:t>이전 Gemini 세대 대비 차이점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2331720"/>
            <a:ext cx="64008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23317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 Unicode M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40487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4E79"/>
                </a:solidFill>
                <a:latin typeface="Arial Unicode MS"/>
              </a:rPr>
              <a:t>벤치마크 및 성능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74720"/>
            <a:ext cx="64008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4747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 Unicode M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54787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4E79"/>
                </a:solidFill>
                <a:latin typeface="Arial Unicode MS"/>
              </a:rPr>
              <a:t>경쟁 모델 비교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3474720"/>
            <a:ext cx="64008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34747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 Unicode MS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54787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4E79"/>
                </a:solidFill>
                <a:latin typeface="Arial Unicode MS"/>
              </a:rPr>
              <a:t>API·제품 통합 현황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617720"/>
            <a:ext cx="64008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6177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 Unicode MS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69087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4E79"/>
                </a:solidFill>
                <a:latin typeface="Arial Unicode MS"/>
              </a:rPr>
              <a:t>에이전틱 기능 및 실시간 연계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4617720"/>
            <a:ext cx="64008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46177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 Unicode MS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69087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4E79"/>
                </a:solidFill>
                <a:latin typeface="Arial Unicode MS"/>
              </a:rPr>
              <a:t>가격·한계·안전장치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760720"/>
            <a:ext cx="64008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7607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 Unicode MS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83387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4E79"/>
                </a:solidFill>
                <a:latin typeface="Arial Unicode MS"/>
              </a:rPr>
              <a:t>개발자 관점 및 결론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17352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Arial Unicode MS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 i="0">
                <a:solidFill>
                  <a:srgbClr val="2E75B6"/>
                </a:solidFill>
                <a:latin typeface="Arial Unicode M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 Unicode MS"/>
              </a:rPr>
              <a:t>Gemini Omni 정체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6E4F0"/>
                </a:solidFill>
                <a:latin typeface="Arial Unicode MS"/>
              </a:rPr>
              <a:t>공식 제품인가? 비공식 별칭인가?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6E4F0"/>
                </a:solidFill>
                <a:latin typeface="Arial Unicode MS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 Unicode MS"/>
              </a:rPr>
              <a:t>공식 제품 — 비공식 별칭 아님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1">
                <a:solidFill>
                  <a:srgbClr val="1F4E79"/>
                </a:solidFill>
                <a:latin typeface="Arial Unicode MS"/>
              </a:rPr>
              <a:t>• 발표: 2026-05-19  Google I/O 2026 기조 연설</a:t>
            </a:r>
          </a:p>
          <a:p>
            <a:pPr/>
            <a:r>
              <a:rPr sz="1500" b="0">
                <a:solidFill>
                  <a:srgbClr val="000000"/>
                </a:solidFill>
                <a:latin typeface="Arial Unicode MS"/>
              </a:rPr>
              <a:t>• 발표자: Demis Hassabis (Google DeepMind CEO)</a:t>
            </a:r>
          </a:p>
          <a:p>
            <a:pPr/>
            <a:r>
              <a:rPr sz="1500" b="0">
                <a:solidFill>
                  <a:srgbClr val="000000"/>
                </a:solidFill>
                <a:latin typeface="Arial Unicode MS"/>
              </a:rPr>
              <a:t>• 정의: "어떤 입력으로도 무엇이든 창조하는 모델"</a:t>
            </a:r>
          </a:p>
          <a:p>
            <a:pPr/>
            <a:r>
              <a:rPr sz="1500" b="1">
                <a:solidFill>
                  <a:srgbClr val="C00000"/>
                </a:solidFill>
                <a:latin typeface="Arial Unicode MS"/>
              </a:rPr>
              <a:t>• 계통: 범용 LLM(Gemini 3.5)과 별개 — 생성 미디어 패밀리</a:t>
            </a:r>
          </a:p>
          <a:p>
            <a:pPr/>
            <a:r>
              <a:rPr sz="1500" b="0">
                <a:solidFill>
                  <a:srgbClr val="000000"/>
                </a:solidFill>
                <a:latin typeface="Arial Unicode MS"/>
              </a:rPr>
              <a:t>• 첫 모델: Gemini Omni Flash — 당일 즉시 출시</a:t>
            </a:r>
          </a:p>
          <a:p>
            <a:pPr/>
            <a:r>
              <a:rPr sz="1500" b="0">
                <a:solidFill>
                  <a:srgbClr val="000000"/>
                </a:solidFill>
                <a:latin typeface="Arial Unicode MS"/>
              </a:rPr>
              <a:t>• </a:t>
            </a:r>
          </a:p>
          <a:p>
            <a:pPr/>
            <a:r>
              <a:rPr sz="1500" b="0">
                <a:solidFill>
                  <a:srgbClr val="595959"/>
                </a:solidFill>
                <a:latin typeface="Arial Unicode MS"/>
              </a:rPr>
              <a:t>• Google I/O 2026 Gemini 전체 라인업 중 생성 미디어 계열에 해당</a:t>
            </a:r>
          </a:p>
          <a:p>
            <a:pPr lvl="1"/>
            <a:r>
              <a:rPr sz="1350" b="0">
                <a:solidFill>
                  <a:srgbClr val="595959"/>
                </a:solidFill>
                <a:latin typeface="Arial Unicode MS"/>
              </a:rPr>
              <a:t>    –   에이전틱 계열: Gemini 3.5 Flash / Pro, Gemini Spark</a:t>
            </a:r>
          </a:p>
          <a:p>
            <a:pPr lvl="1"/>
            <a:r>
              <a:rPr sz="1350" b="1">
                <a:solidFill>
                  <a:srgbClr val="1F4E79"/>
                </a:solidFill>
                <a:latin typeface="Arial Unicode MS"/>
              </a:rPr>
              <a:t>    –   생성 미디어 계열: Gemini Omni Flash / 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Arial Unicode MS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 Unicode MS"/>
              </a:rPr>
              <a:t>Google I/O 2026 Gemini 패밀리 라인업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1097280"/>
          <a:ext cx="118872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5029200"/>
                <a:gridCol w="3657600"/>
              </a:tblGrid>
              <a:tr h="883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Arial Unicode MS"/>
                        </a:rPr>
                        <a:t>모델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Arial Unicode MS"/>
                        </a:rPr>
                        <a:t>주요 목적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Arial Unicode MS"/>
                        </a:rPr>
                        <a:t>GA 시점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Arial Unicode MS"/>
                        </a:rPr>
                        <a:t>Gemini 3.5 Flash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에이전틱 코딩·추론·장기 태스크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7050"/>
                          </a:solidFill>
                          <a:latin typeface="Arial Unicode MS"/>
                        </a:rPr>
                        <a:t>즉시 (2026-05-19)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Gemini 3.5 Pro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고성능 추론 (3.5 Flash 상위)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2026년 6월 예정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75B6"/>
                          </a:solidFill>
                          <a:latin typeface="Arial Unicode MS"/>
                        </a:rPr>
                        <a:t>Gemini Omni Flash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75B6"/>
                          </a:solidFill>
                          <a:latin typeface="Arial Unicode MS"/>
                        </a:rPr>
                        <a:t>멀티모달 비디오 생성·편집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7050"/>
                          </a:solidFill>
                          <a:latin typeface="Arial Unicode MS"/>
                        </a:rPr>
                        <a:t>즉시 (2026-05-19)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Gemini Omni Pro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Omni 상위 티어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API 경유 출시 예정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Gemini Spark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백그라운드 지속 에이전트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베타 (Ultra 가입자 우선)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817352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Arial Unicode MS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 i="0">
                <a:solidFill>
                  <a:srgbClr val="2E75B6"/>
                </a:solidFill>
                <a:latin typeface="Arial Unicode M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 Unicode MS"/>
              </a:rPr>
              <a:t>아키텍처 및 모달리티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6E4F0"/>
                </a:solidFill>
                <a:latin typeface="Arial Unicode MS"/>
              </a:rPr>
              <a:t>통합 세계 모델 (Fused World Model)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6E4F0"/>
                </a:solidFill>
                <a:latin typeface="Arial Unicode MS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 Unicode MS"/>
              </a:rPr>
              <a:t>4개 시스템의 단일 추론 통합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66928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 Unicode MS"/>
              </a:rPr>
              <a:t>통합 구성 요소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9"/>
                </a:solidFill>
                <a:latin typeface="Arial Unicode MS"/>
              </a:rPr>
              <a:t>• Gemini — 추론·의미 이해·지시 파악</a:t>
            </a:r>
          </a:p>
          <a:p>
            <a:r>
              <a:rPr sz="1300" b="0">
                <a:solidFill>
                  <a:srgbClr val="000000"/>
                </a:solidFill>
                <a:latin typeface="Arial Unicode MS"/>
              </a:rPr>
              <a:t>• Veo — 고해상도 비디오 렌더링 백본</a:t>
            </a:r>
          </a:p>
          <a:p>
            <a:r>
              <a:rPr sz="1300" b="0">
                <a:solidFill>
                  <a:srgbClr val="000000"/>
                </a:solidFill>
                <a:latin typeface="Arial Unicode MS"/>
              </a:rPr>
              <a:t>• Genie — 물리 환경 모델링·동역학 예측</a:t>
            </a:r>
          </a:p>
          <a:p>
            <a:r>
              <a:rPr sz="1300" b="0">
                <a:solidFill>
                  <a:srgbClr val="000000"/>
                </a:solidFill>
                <a:latin typeface="Arial Unicode MS"/>
              </a:rPr>
              <a:t>• Nano Banana — 대화형 이미지 편집</a:t>
            </a:r>
          </a:p>
          <a:p>
            <a:r>
              <a:rPr sz="1300" b="0">
                <a:solidFill>
                  <a:srgbClr val="000000"/>
                </a:solidFill>
                <a:latin typeface="Arial Unicode MS"/>
              </a:rPr>
              <a:t>• </a:t>
            </a:r>
          </a:p>
          <a:p>
            <a:r>
              <a:rPr sz="1300" b="0">
                <a:solidFill>
                  <a:srgbClr val="595959"/>
                </a:solidFill>
                <a:latin typeface="Arial Unicode MS"/>
              </a:rPr>
              <a:t>• 학습: TPU v8 (JAX + ML Pathways)</a:t>
            </a:r>
          </a:p>
          <a:p>
            <a:r>
              <a:rPr sz="1300" b="0">
                <a:solidFill>
                  <a:srgbClr val="595959"/>
                </a:solidFill>
                <a:latin typeface="Arial Unicode MS"/>
              </a:rPr>
              <a:t>• 추론 속도: 1,500 tokens/sec (Flash)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5352" y="1097280"/>
            <a:ext cx="27432" cy="5394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36792" y="1097280"/>
            <a:ext cx="566928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14300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 Unicode MS"/>
              </a:rPr>
              <a:t>모달리티 지원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169164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9"/>
                </a:solidFill>
                <a:latin typeface="Arial Unicode MS"/>
              </a:rPr>
              <a:t>• 입력: 텍스트·이미지·오디오·비디오 임의 조합</a:t>
            </a:r>
          </a:p>
          <a:p>
            <a:r>
              <a:rPr sz="1300" b="0">
                <a:solidFill>
                  <a:srgbClr val="000000"/>
                </a:solidFill>
                <a:latin typeface="Arial Unicode MS"/>
              </a:rPr>
              <a:t>• 출력: 비디오 (동기화 오디오 포함)</a:t>
            </a:r>
          </a:p>
          <a:p>
            <a:r>
              <a:rPr sz="1300" b="0">
                <a:solidFill>
                  <a:srgbClr val="000000"/>
                </a:solidFill>
                <a:latin typeface="Arial Unicode MS"/>
              </a:rPr>
              <a:t>• 클립 길이: 최대 10초</a:t>
            </a:r>
          </a:p>
          <a:p>
            <a:r>
              <a:rPr sz="1300" b="0">
                <a:solidFill>
                  <a:srgbClr val="000000"/>
                </a:solidFill>
                <a:latin typeface="Arial Unicode MS"/>
              </a:rPr>
              <a:t>• 해상도: 720p ~ 4K (티어별)</a:t>
            </a:r>
          </a:p>
          <a:p>
            <a:r>
              <a:rPr sz="1300" b="0">
                <a:solidFill>
                  <a:srgbClr val="000000"/>
                </a:solidFill>
                <a:latin typeface="Arial Unicode MS"/>
              </a:rPr>
              <a:t>• 화면 비율: 16:9 / 9:16 / 1:1</a:t>
            </a:r>
          </a:p>
          <a:p>
            <a:r>
              <a:rPr sz="1300" b="0">
                <a:solidFill>
                  <a:srgbClr val="000000"/>
                </a:solidFill>
                <a:latin typeface="Arial Unicode MS"/>
              </a:rPr>
              <a:t>• </a:t>
            </a:r>
          </a:p>
          <a:p>
            <a:r>
              <a:rPr sz="1300" b="1">
                <a:solidFill>
                  <a:srgbClr val="C00000"/>
                </a:solidFill>
                <a:latin typeface="Arial Unicode MS"/>
              </a:rPr>
              <a:t>• [보류] 음성/오디오 편집 출력 — 안전 정책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17352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Arial Unicode MS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 i="0">
                <a:solidFill>
                  <a:srgbClr val="2E75B6"/>
                </a:solidFill>
                <a:latin typeface="Arial Unicode M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 Unicode MS"/>
              </a:rPr>
              <a:t>이전 Gemini 세대 대비 차이점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6E4F0"/>
                </a:solidFill>
                <a:latin typeface="Arial Unicode MS"/>
              </a:rPr>
              <a:t>이해 모델 → 이해+생성 통합 모델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6E4F0"/>
                </a:solidFill>
                <a:latin typeface="Arial Unicode MS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 Unicode MS"/>
              </a:rPr>
              <a:t>Gemini 1.5~2.5 vs Gemini Omni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1097280"/>
          <a:ext cx="118872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389120"/>
                <a:gridCol w="5212080"/>
              </a:tblGrid>
              <a:tr h="757645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Arial Unicode MS"/>
                        </a:rPr>
                        <a:t>구분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Arial Unicode MS"/>
                        </a:rPr>
                        <a:t>Gemini 1.5 ~ 2.5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Arial Unicode MS"/>
                        </a:rPr>
                        <a:t>Gemini Omni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핵심 목적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텍스트·코드·추론 중심 LLM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75B6"/>
                          </a:solidFill>
                          <a:latin typeface="Arial Unicode MS"/>
                        </a:rPr>
                        <a:t>세계 이해 기반 멀티모달 생성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비디오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Veo API 별도 호출 필요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7050"/>
                          </a:solidFill>
                          <a:latin typeface="Arial Unicode MS"/>
                        </a:rPr>
                        <a:t>네이티브 단일 추론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물리 시뮬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불가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7050"/>
                          </a:solidFill>
                          <a:latin typeface="Arial Unicode MS"/>
                        </a:rPr>
                        <a:t>Genie 통합 — 가능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대화형 편집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해당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7050"/>
                          </a:solidFill>
                          <a:latin typeface="Arial Unicode MS"/>
                        </a:rPr>
                        <a:t>멀티턴 지원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워터마킹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SynthID (이미지 중심)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SynthID (비디오 전 출력 필수)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7576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API 방식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개별 모델 별도 엔드포인트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8C00"/>
                          </a:solidFill>
                          <a:latin typeface="Arial Unicode MS"/>
                        </a:rPr>
                        <a:t>단일 통합 엔드포인트 (출시 예정)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817352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Arial Unicode MS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 i="0">
                <a:solidFill>
                  <a:srgbClr val="2E75B6"/>
                </a:solidFill>
                <a:latin typeface="Arial Unicode MS"/>
              </a:rPr>
              <a:t>04+05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 Unicode MS"/>
              </a:rPr>
              <a:t>벤치마크 및 경쟁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6E4F0"/>
                </a:solidFill>
                <a:latin typeface="Arial Unicode MS"/>
              </a:rPr>
              <a:t>공개 수치 현황 &amp; 포지셔닝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6E4F0"/>
                </a:solidFill>
                <a:latin typeface="Arial Unicode MS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 Unicode MS"/>
              </a:rPr>
              <a:t>경쟁 모델 포지셔닝 비교 (2026-05 기준)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1097280"/>
          <a:ext cx="118872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371600"/>
                <a:gridCol w="2103120"/>
                <a:gridCol w="3017520"/>
                <a:gridCol w="3200400"/>
              </a:tblGrid>
              <a:tr h="1060704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Arial Unicode MS"/>
                        </a:rPr>
                        <a:t>모델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Arial Unicode MS"/>
                        </a:rPr>
                        <a:t>개발사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Arial Unicode MS"/>
                        </a:rPr>
                        <a:t>아키텍처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Arial Unicode MS"/>
                        </a:rPr>
                        <a:t>강점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Arial Unicode MS"/>
                        </a:rPr>
                        <a:t>약점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Arial Unicode MS"/>
                        </a:rPr>
                        <a:t>Gemini Omni Flash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Google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통합 세계 모델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대화형 편집·물리 일관성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00000"/>
                          </a:solidFill>
                          <a:latin typeface="Arial Unicode MS"/>
                        </a:rPr>
                        <a:t>10초 제한·음성 편집 보류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Sora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OpenAI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전용 비디오 모델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긴 클립·고화질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GPT-4o와 분리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Seedance 2.0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ByteDance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전용 비디오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7050"/>
                          </a:solidFill>
                          <a:latin typeface="Arial Unicode MS"/>
                        </a:rPr>
                        <a:t>Video Arena 1위(화질)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편집 대화성 낮음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Qwen-Omni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Alibaba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통합 멀티모달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오픈소스 친화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비디오 생성 품질 제한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817352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Arial Unicode MS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 i="0">
                <a:solidFill>
                  <a:srgbClr val="2E75B6"/>
                </a:solidFill>
                <a:latin typeface="Arial Unicode MS"/>
              </a:rPr>
              <a:t>06+07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 Unicode MS"/>
              </a:rPr>
              <a:t>API·제품 통합 &amp; 에이전틱 기능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6E4F0"/>
                </a:solidFill>
                <a:latin typeface="Arial Unicode MS"/>
              </a:rPr>
              <a:t>출시 채널 현황 및 에이전틱 연계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6E4F0"/>
                </a:solidFill>
                <a:latin typeface="Arial Unicode MS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 Unicode MS"/>
              </a:rPr>
              <a:t>출시 채널 &amp; 가격 (2026-05-22 기준)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1097280"/>
          <a:ext cx="118872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194560"/>
                <a:gridCol w="1828800"/>
                <a:gridCol w="5303520"/>
              </a:tblGrid>
              <a:tr h="883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Arial Unicode MS"/>
                        </a:rPr>
                        <a:t>채널/티어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Arial Unicode MS"/>
                        </a:rPr>
                        <a:t>상태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Arial Unicode MS"/>
                        </a:rPr>
                        <a:t>가격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Arial Unicode MS"/>
                        </a:rPr>
                        <a:t>접근 조건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무료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7050"/>
                          </a:solidFill>
                          <a:latin typeface="Arial Unicode MS"/>
                        </a:rPr>
                        <a:t>YouTube Shorts / Create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$0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무료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Google AI Plus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7050"/>
                          </a:solidFill>
                          <a:latin typeface="Arial Unicode MS"/>
                        </a:rPr>
                        <a:t>출시 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$7.99/월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Gemini 앱·Flow 기본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Google AI Ultra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출시 완료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별도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최고 할당량 + Spark 베타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Developer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C00000"/>
                          </a:solidFill>
                          <a:latin typeface="Arial Unicode MS"/>
                        </a:rPr>
                        <a:t>미출시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미발표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수 주 내 예정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Vertex AI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C00000"/>
                          </a:solidFill>
                          <a:latin typeface="Arial Unicode MS"/>
                        </a:rPr>
                        <a:t>미출시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미발표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Unicode MS"/>
                        </a:rPr>
                        <a:t>엔터프라이즈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817352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Arial Unicode MS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 Unicode MS"/>
              </a:rPr>
              <a:t>핵심 발견 5가지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1143000"/>
            <a:ext cx="2286000" cy="5394960"/>
          </a:xfrm>
          <a:prstGeom prst="rect">
            <a:avLst/>
          </a:prstGeom>
          <a:solidFill>
            <a:srgbClr val="D6E4F0"/>
          </a:solidFill>
          <a:ln w="63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234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4E79"/>
                </a:solidFill>
                <a:latin typeface="Arial Unicode M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965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4E79"/>
                </a:solidFill>
                <a:latin typeface="Arial Unicode MS"/>
              </a:rPr>
              <a:t>공식 제품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788920"/>
            <a:ext cx="2011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 Unicode MS"/>
              </a:rPr>
              <a:t>Gemini Omni는 Google I/O 2026 공식 발표 모델. 비공식 별칭 아님.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143000"/>
            <a:ext cx="2286000" cy="5394960"/>
          </a:xfrm>
          <a:prstGeom prst="rect">
            <a:avLst/>
          </a:prstGeom>
          <a:solidFill>
            <a:srgbClr val="D6E4F0"/>
          </a:solidFill>
          <a:ln w="63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1234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4E79"/>
                </a:solidFill>
                <a:latin typeface="Arial Unicode M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965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4E79"/>
                </a:solidFill>
                <a:latin typeface="Arial Unicode MS"/>
              </a:rPr>
              <a:t>아키텍처 전환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788920"/>
            <a:ext cx="2011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 Unicode MS"/>
              </a:rPr>
              <a:t>이해(Gemini 2.5) → 이해+생성 통합(Omni). Veo+Genie+Nano Banana 단일 패스.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2040" y="1143000"/>
            <a:ext cx="2286000" cy="5394960"/>
          </a:xfrm>
          <a:prstGeom prst="rect">
            <a:avLst/>
          </a:prstGeom>
          <a:solidFill>
            <a:srgbClr val="D6E4F0"/>
          </a:solidFill>
          <a:ln w="63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1234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4E79"/>
                </a:solidFill>
                <a:latin typeface="Arial Unicode M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1965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4E79"/>
                </a:solidFill>
                <a:latin typeface="Arial Unicode MS"/>
              </a:rPr>
              <a:t>포지셔닝 차이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788920"/>
            <a:ext cx="2011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 Unicode MS"/>
              </a:rPr>
              <a:t>Sora 2(화질·프리미엄) vs Omni(대화형 편집·워크플로우). 타깃 시장 명확히 다름.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80" y="1143000"/>
            <a:ext cx="2286000" cy="5394960"/>
          </a:xfrm>
          <a:prstGeom prst="rect">
            <a:avLst/>
          </a:prstGeom>
          <a:solidFill>
            <a:srgbClr val="D6E4F0"/>
          </a:solidFill>
          <a:ln w="63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20" y="1234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4E79"/>
                </a:solidFill>
                <a:latin typeface="Arial Unicode M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1965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4E79"/>
                </a:solidFill>
                <a:latin typeface="Arial Unicode MS"/>
              </a:rPr>
              <a:t>안전 우선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788920"/>
            <a:ext cx="2011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 Unicode MS"/>
              </a:rPr>
              <a:t>음성 편집 의도적 보류. SynthID 강제 적용. 안전 &gt; 기능 완성도.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46920" y="1143000"/>
            <a:ext cx="2286000" cy="5394960"/>
          </a:xfrm>
          <a:prstGeom prst="rect">
            <a:avLst/>
          </a:prstGeom>
          <a:solidFill>
            <a:srgbClr val="FFF2CC"/>
          </a:solidFill>
          <a:ln w="63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38360" y="1234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4E79"/>
                </a:solidFill>
                <a:latin typeface="Arial Unicode M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1965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4E79"/>
                </a:solidFill>
                <a:latin typeface="Arial Unicode MS"/>
              </a:rPr>
              <a:t>개발자 대기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2788920"/>
            <a:ext cx="2011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 Unicode MS"/>
              </a:rPr>
              <a:t>API 미출시. 수 주 내 출시 예정. 현재는 Veo 3.1 사용 권장.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17352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Arial Unicode MS"/>
              </a:rPr>
              <a:t>14 /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 Unicode MS"/>
              </a:rPr>
              <a:t>결론 및 Q&amp;A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554480"/>
            <a:ext cx="10332720" cy="1097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Unicode MS"/>
              </a:rPr>
              <a:t>Gemini Omni는 비디오 생성 도구가 아닌
세계 시뮬레이션 모델로의 전환점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926080"/>
            <a:ext cx="3383280" cy="457200"/>
          </a:xfrm>
          <a:prstGeom prst="rect">
            <a:avLst/>
          </a:prstGeom>
          <a:solidFill>
            <a:srgbClr val="00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 Unicode MS"/>
              </a:rPr>
              <a:t>단기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383280"/>
            <a:ext cx="3383280" cy="13716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4E79"/>
                </a:solidFill>
                <a:latin typeface="Arial Unicode MS"/>
              </a:rPr>
              <a:t>YouTube Shorts / Flow 통합으로 콘텐츠 크리에이터 중심 확산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926080"/>
            <a:ext cx="338328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9260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 Unicode MS"/>
              </a:rPr>
              <a:t>중기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3383280"/>
            <a:ext cx="3383280" cy="13716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34747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4E79"/>
                </a:solidFill>
                <a:latin typeface="Arial Unicode MS"/>
              </a:rPr>
              <a:t>Developer API 출시 후 엔터프라이즈 워크플로우 통합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59" y="2926080"/>
            <a:ext cx="338328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59" y="29260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 Unicode MS"/>
              </a:rPr>
              <a:t>장기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59" y="3383280"/>
            <a:ext cx="3383280" cy="13716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9" y="34747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4E79"/>
                </a:solidFill>
                <a:latin typeface="Arial Unicode MS"/>
              </a:rPr>
              <a:t>Project Astra + Omni 수렴 → 범용 멀티모달 에이전트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4F0"/>
                </a:solidFill>
                <a:latin typeface="Arial Unicode MS"/>
              </a:rPr>
              <a:t>참고문헌 20개  |  README.md 상세 리서치  |  references.xlsx 전체 출처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17352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6E4F0"/>
                </a:solidFill>
                <a:latin typeface="Arial Unicode MS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