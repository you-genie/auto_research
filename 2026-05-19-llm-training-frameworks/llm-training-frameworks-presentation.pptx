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발표는 2025~2026년 현재 기업들이 LLM 학습에 실제로 사용하는 프레임워크를 계층별, 기업별, 규모별로 정리한 실무 가이드입니다.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발표는 크게 프레임워크 분류, 기업별 채택 현황, 실용 가이드 세 파트로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섹션입니다.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프레임워크 선택은 단순한 기술 결정이 아니라 비즈니스 비용에 직결됩니다. DeepSeek이 HAI-LLM을 자체 개발하고 DualPipe 알고리즘을 통해 통신 병목을 극복한 것이 대표적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섹션입니다.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계층이 낮을수록 제어권이 높고 복잡도가 높습니다. 계층이 높을수록 편의성이 높지만 커스터마이징이 제한됩니다. 대부분의 기업은 여러 계층을 조합해서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GPU 간 통신, 메모리 분할, 병렬화 전략을 담당하는 계층입니다.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Megatron-LM은 2019년부터 시작되어 지금도 가장 강력한 분산 학습 엔진 중 하나입니다. Megatron-Core는 모듈화된 버전으로 NeMo, slime 등의 백엔드로 활용됩니다.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DeepSpeed는 메모리 최적화와 이기종 하드웨어에서 강점을 보이고, FSDP2는 PyTorch 생태계와의 자연스러운 통합과 단순성에서 강점이 있습니다. 2024년 이후 새 프로젝트는 FSDP2를 선택하는 경우가 많아지고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JAX와 GSPMD는 PyTorch 계열과 근본적으로 다른 접근 방식입니다. 개발자가 각 텐서의 샤딩 방식을 어노테이션으로 지정하면 XLA 컴파일러가 자동으로 최적의 병렬 실행 계획을 생성합니다.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학습을 돌리는 환경을 제공하는 계층입니다.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플랫폼은 서로 다른 사용 사례를 위해 최적화되어 있습니다. NVIDIA GPU 환경에서는 NeMo가, PyTorch 생태계 기반 팀에는 TorchTitan이 가장 무난한 선택입니다.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2024~2025년 가장 뜨겁게 달아오른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veRL의 핵심 혁신은 Hybrid-controller 모델입니다. RL 학습의 각 역할을 별도 프로세스로 분리하고 이를 효율적으로 조합함으로써 대규모 RL 학습에서 높은 효율을 달성합니다. Doubao-1.5-pro가 veRL로 학습되어 AIME 70.0 pass@1을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Meta는 Llama 3의 포스트 트레이닝에 LlamaRL을 사용했습니다. 비동기 RL의 핵심은 rollout generation과 policy update가 서로를 기다리지 않고 병렬로 실행된다는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GPU 실험에는 Unsloth, 멀티 GPU SFT는 Axolotl, 빠른 프로토타이핑은 LLaMA-Factory, HuggingFace 생태계 통합은 TRL이 적합합니다.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기업들이 어떤 스택을 사용하는지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프론티어 랩들은 대부분 자체 스택을 운영합니다. OpenAI와 Anthropic은 학습 인프라를 거의 공개하지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중견 기업들은 오픈소스 프레임워크를 활용하되 자체 최적화를 추가하는 방식을 취합니다. DeepSeek이 자체 HAI-LLM으로 매우 효율적인 671B 모델을 학습한 것은 비용 효율 측면에서 인상적인 성과입니다.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국내 주요 AI 기업들의 학습 스택을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 기업들은 대부분 NVIDIA GPU 환경에서 Megatron-LM 계열 또는 HuggingFace 생태계를 기반으로 자체 최적화를 추가하는 방식을 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팀의 GPU 수와 목적에 따라 어떤 스택을 선택해야 하는지 실용 가이드입니다.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규모에 맞지 않는 도구를 선택할 때 오히려 손해입니다. GPU 10개짜리 팀이 Megatron-Core를 직접 다루려 하면 엔지니어링 비용이 너무 크고, 반대로 대규모 팀이 Unsloth를 쓰면 확장성이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의사결정에서 가장 중요한 요소는 ①사용 하드웨어 ②팀 규모와 엔지니어링 역량 ③목적(사전학습/SFT/RL) 세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가장 빠르게 변화하는 트렌드들을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임팩트가 큰 트렌드는 RL 인프라 경쟁과 MoE 지원 고도화입니다.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PyTorch는 명령형 실행으로 디버깅이 쉽고 생태계가 방대하며, JAX는 함수형/컴파일러 기반으로 극한의 성능을 추구합니다. 각 진영은 당분간 공존할 것으로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프레임워크 선택은 팀의 GPU 규모, 엔지니어링 역량, 그리고 목표에 따라 달라집니다. 맹목적으로 최신/최대 스택을 따르기보다, 검증된 프레임워크를 잘 활용하는 것이 현실적인 전략입니다.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있으시면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2438"/>
          </a:solidFill>
          <a:ln w="12700">
            <a:solidFill>
              <a:srgbClr val="15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8D1">
              <a:alpha val="25000"/>
            </a:srgbClr>
          </a:solidFill>
          <a:ln w="12700">
            <a:solidFill>
              <a:srgbClr val="0288D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097280"/>
            <a:ext cx="64008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005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학습 프레임워크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0" y="1783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완전 정복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651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2025~2026 기업별 채택 현황 &amp; 규모별 가이드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Megatron-LM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" y="1078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" y="17007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" y="23225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FSDP2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" y="2944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" y="4187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TorchTitan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 |  AI Engineering Research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4241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프레임워크 선택이 중요한가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9222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5계층 분류 체계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4203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55117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분산 학습 엔진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9184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3009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E2E 학습 플랫폼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04164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507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포스트 트레이닝 / RL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04241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0515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기업별 채택 현황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755648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792224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8013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기업 현황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505456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542032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55117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규모별 추천 가이드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291840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330098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2025~2026 주요 트렌드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4005072"/>
            <a:ext cx="475488" cy="47548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4041648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40507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가이드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프레임워크 선택이 중요한가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프레임워크 선택 = 학습 비용 결정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0" cy="7315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4241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활용률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3502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 고르면 30~40%로 하락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4572000" cy="7315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92808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938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직결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2219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1000개 × 활용률 차이 = 수백억 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4572000" cy="7315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79776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163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HAI-LLM 자체 개발 → 2048 H800로 671B 모델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4572000" cy="7315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66744"/>
            <a:ext cx="54864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+ 프레임워크 + 하드웨어 공동 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960120"/>
            <a:ext cx="320040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활용률 비교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600200"/>
            <a:ext cx="914400" cy="2331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85%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최적화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496312"/>
            <a:ext cx="914400" cy="14356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359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726"/>
                </a:solidFill>
              </a:rPr>
              <a:t>35%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미최적화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5계층 분류 체계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학습 스택의 5계층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713232"/>
          </a:xfrm>
          <a:prstGeom prst="rect">
            <a:avLst/>
          </a:prstGeom>
          <a:solidFill>
            <a:srgbClr val="5C6BC0">
              <a:alpha val="80000"/>
            </a:srgbClr>
          </a:solidFill>
          <a:ln w="12700">
            <a:solidFill>
              <a:srgbClr val="5C6BC0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59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데이터 파이프라인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Curator · Datatrove · WebDataset · StreamingDataset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713232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367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오케스트레이션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· Slurm · Kubeflow · W&amp;B · MLflow · Hydra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713232"/>
          </a:xfrm>
          <a:prstGeom prst="rect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26C6DA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14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포스트 트레이닝 / 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 · OpenRLHF · NeMo-RL · TRL · LLaMA-Factory · Axolotl · Unsloth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713232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91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E2E 학습 플랫폼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021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· TorchTitan · LLM Foundry · MaxText · nanotron · Lingua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13232"/>
          </a:xfrm>
          <a:prstGeom prst="rect">
            <a:avLst/>
          </a:prstGeom>
          <a:solidFill>
            <a:srgbClr val="FFA726">
              <a:alpha val="80000"/>
            </a:srgbClr>
          </a:solidFill>
          <a:ln w="12700">
            <a:solidFill>
              <a:srgbClr val="FFA726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분산 학습 엔진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793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Megatron-Core · DeepSpeed · PyTorch FSDP2 · JAX+GSPMD · HAI-LLM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4114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제어권 높음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복잡도 높음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777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편의성 높음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추상화 높음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저수준 분산 학습 엔진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Megatron-LM / Megatron-Core (NVIDIA)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4846320" cy="74980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640080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9235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52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연산을 여러 GPU에 분할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846320" cy="74980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83080"/>
            <a:ext cx="640080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8379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Parallelism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167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레이어를 GPU 그룹으로 분할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846320" cy="74980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640080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7523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/ Context Parallelism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0815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시퀀스 분산 처리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846320" cy="74980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11880"/>
            <a:ext cx="640080" cy="7498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6667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Parallelism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9959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아키텍처 지원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822960"/>
            <a:ext cx="3108960" cy="4023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병렬화 전략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9320" y="1417320"/>
            <a:ext cx="2468880" cy="777240"/>
          </a:xfrm>
          <a:prstGeom prst="rect">
            <a:avLst/>
          </a:prstGeom>
          <a:solidFill>
            <a:srgbClr val="42A5F5">
              <a:alpha val="75000"/>
            </a:srgbClr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89320" y="1554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989320" y="2423160"/>
            <a:ext cx="2468880" cy="777240"/>
          </a:xfrm>
          <a:prstGeom prst="rect">
            <a:avLst/>
          </a:prstGeom>
          <a:solidFill>
            <a:srgbClr val="66BB6A">
              <a:alpha val="75000"/>
            </a:srgbClr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893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989320" y="3429000"/>
            <a:ext cx="2468880" cy="777240"/>
          </a:xfrm>
          <a:prstGeom prst="rect">
            <a:avLst/>
          </a:prstGeom>
          <a:solidFill>
            <a:srgbClr val="FFA726">
              <a:alpha val="75000"/>
            </a:srgbClr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8932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0288D1">
              <a:alpha val="50000"/>
            </a:srgbClr>
          </a:solidFill>
          <a:ln w="12700">
            <a:solidFill>
              <a:srgbClr val="0288D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0857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로드맵: DeepSeek-V3/Qwen3 MoE 지원  ·  FP8 최적화  ·  Blackwell(H200/B200) 성능 강화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DeepSpeed vs PyTorch FSDP2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3931920" cy="4023360"/>
          </a:xfrm>
          <a:prstGeom prst="rect">
            <a:avLst/>
          </a:prstGeom>
          <a:solidFill>
            <a:srgbClr val="1A2E4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DeepSpeed  (Microsoft)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ZeRO-1/2/3: 파라미터까지 분산 (64x+)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8424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ZeRO-Infinity: CPU/NVMe 오프로드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511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이기종 하드웨어 지원 (AMD 등)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181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DeepSpeed-MoE: Expert 최적화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850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DeepSpeed-Chat: RLHF 파이프라인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3931920" cy="4023360"/>
          </a:xfrm>
          <a:prstGeom prst="rect">
            <a:avLst/>
          </a:prstGeom>
          <a:solidFill>
            <a:srgbClr val="1A2E45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3931920" cy="47548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PyTorch FSDP2  (Meta)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DTensor 기반 파라미터 단위 샤딩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98424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torch.compile 완전 지원 (2024~)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511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Parallel과 자연스러운 조합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11810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네이티브 — 추가 의존성 없음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8503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SimpleFSDP: 405B 규모 검증 완료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377440"/>
            <a:ext cx="731520" cy="7315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2487168"/>
            <a:ext cx="731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JAX + GSPMD  (Google)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1554480"/>
          </a:xfrm>
          <a:prstGeom prst="rect">
            <a:avLst/>
          </a:prstGeom>
          <a:solidFill>
            <a:srgbClr val="5C6BC0">
              <a:alpha val="80000"/>
            </a:srgbClr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추가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1645920"/>
            <a:ext cx="32004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960120"/>
            <a:ext cx="2560320" cy="1554480"/>
          </a:xfrm>
          <a:prstGeom prst="rect">
            <a:avLst/>
          </a:prstGeom>
          <a:solidFill>
            <a:srgbClr val="0288D1">
              <a:alpha val="80000"/>
            </a:srgbClr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XLA 컴파일러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병렬화 계획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1645920"/>
            <a:ext cx="32004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960120"/>
            <a:ext cx="2560320" cy="1554480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TPU/GPU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실행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최강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1821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Google의 TPU 클러스터에서 독보적 성능. Google DeepMind의 핵심 스택.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11480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54864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병렬화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1821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샤딩 어노테이션만 달면 컴파일러가 최적 병렬화를 자동 계산.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11480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54864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886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추정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4187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시리즈 학습에 JAX 기반 자체 스택 사용으로 알려짐.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840480"/>
            <a:ext cx="4114800" cy="84124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840480"/>
            <a:ext cx="54864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886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러닝 커브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4187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패러다임, 순수 함수 요구 — 익숙해지는 데 시간 필요.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E2E 학습 플랫폼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E2E 플랫폼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6809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76809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메인테이너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76809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엔진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76809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HW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7680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규모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225296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25296"/>
            <a:ext cx="54864" cy="69494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624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2.0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3624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3624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Megatron-Core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36245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36245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수백~수만 GPU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84248"/>
            <a:ext cx="822960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84248"/>
            <a:ext cx="54864" cy="694944"/>
          </a:xfrm>
          <a:prstGeom prst="rect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1214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TorchTitan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21214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Meta/PyTorch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1214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FSDP2 + TP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1214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범용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12140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수십~수천 GPU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43200"/>
            <a:ext cx="54864" cy="69494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8803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Foundry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28803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288036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+ MegaBlocks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8803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28803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수백~수천 GPU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822960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502152"/>
            <a:ext cx="54864" cy="69494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6393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MaxText/Pax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11680" y="36393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66160" y="36393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+ GSPMD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6393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TPU/GPU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63931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Pod~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61104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261104"/>
            <a:ext cx="54864" cy="69494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39826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nanotron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011680" y="439826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66160" y="4398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Parallel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439826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범용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43982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수십~수백 GPU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포스트 트레이닝 / RL 특화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veRL — 2025년 가장 핫한 RL 프레임워크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4FC3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5603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4FC3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961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5361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pass@1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5603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4FC3F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961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EuroSys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HybridFlow 논문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Hybrid-Controller 아키텍처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143000" cy="1280160"/>
          </a:xfrm>
          <a:prstGeom prst="rect">
            <a:avLst/>
          </a:prstGeom>
          <a:solidFill>
            <a:srgbClr val="42A5F5">
              <a:alpha val="75000"/>
            </a:srgbClr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(vLLM)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2651760"/>
            <a:ext cx="1143000" cy="1280160"/>
          </a:xfrm>
          <a:prstGeom prst="rect">
            <a:avLst/>
          </a:prstGeom>
          <a:solidFill>
            <a:srgbClr val="66BB6A">
              <a:alpha val="75000"/>
            </a:srgbClr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9164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651760"/>
            <a:ext cx="1143000" cy="1280160"/>
          </a:xfrm>
          <a:prstGeom prst="rect">
            <a:avLst/>
          </a:prstGeom>
          <a:solidFill>
            <a:srgbClr val="FFA726">
              <a:alpha val="75000"/>
            </a:srgbClr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2651760"/>
            <a:ext cx="1143000" cy="1280160"/>
          </a:xfrm>
          <a:prstGeom prst="rect">
            <a:avLst/>
          </a:prstGeom>
          <a:solidFill>
            <a:srgbClr val="AB47BC">
              <a:alpha val="75000"/>
            </a:srgbClr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3154680"/>
            <a:ext cx="457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578608"/>
            <a:ext cx="2926080" cy="1463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633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알고리즘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971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· GRPO · DAPO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GSPO · REINFORCE++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RLOO · PRIME · DrGRPO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채택: ByteDance · Anyscale · UC Berkeley · Shanghai AI Lab · Tsinghua Univ · UIUC · UCLA · HKU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LlamaRL — Meta의 실전 RL 프레임워크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포스트 트레이닝에 실제 사용 (2025년 5월 공개)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PyTorch 기반 — 단일 컨트롤러 아키텍처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비동기(Async) RL: trainer와 generator 병렬 실행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수천 GPU 규모에서 검증 완료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822960"/>
            <a:ext cx="3474720" cy="3931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비교 (405B 모델)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</a:rPr>
              <a:t>기존 동기 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1737360"/>
            <a:ext cx="3017520" cy="502920"/>
          </a:xfrm>
          <a:prstGeom prst="rect">
            <a:avLst/>
          </a:prstGeom>
          <a:solidFill>
            <a:srgbClr val="FFA726">
              <a:alpha val="80000"/>
            </a:srgbClr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7556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1.0x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</a:rPr>
              <a:t>LlamaRL (비동기)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2788920"/>
            <a:ext cx="3017520" cy="50292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807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10.7x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0680" y="3520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DeepSpeed-Chat 대비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405B 모델 기준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572000" cy="1783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실행 모델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1874520" cy="475488"/>
          </a:xfrm>
          <a:prstGeom prst="rect">
            <a:avLst/>
          </a:prstGeom>
          <a:solidFill>
            <a:srgbClr val="42A5F5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(vLLM)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520440"/>
            <a:ext cx="1874520" cy="475488"/>
          </a:xfrm>
          <a:prstGeom prst="rect">
            <a:avLst/>
          </a:prstGeom>
          <a:solidFill>
            <a:srgbClr val="66BB6A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5753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(FSDP2)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BB6A"/>
                </a:solidFill>
              </a:rPr>
              <a:t>동시 실행 (비동기)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파인튜닝 도구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77724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777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7772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멀티GPU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777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사용편의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88720"/>
            <a:ext cx="54864" cy="694944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243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536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프로토타이핑에 최적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133502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스타 최다 · Web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5756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6632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7508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74436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6188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43116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4868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1435608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7516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08392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59268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0144" y="1435608"/>
            <a:ext cx="118872" cy="20116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1947672"/>
            <a:ext cx="822960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947672"/>
            <a:ext cx="54864" cy="69494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0025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2295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파인튜닝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74520" y="209397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GPU · Ring FlashAttention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5756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632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07508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58384" y="2194560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3560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74436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25312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76188" y="2194560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7064" y="2194560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43116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93992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4868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95744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6640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57516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08392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59268" y="2194560"/>
            <a:ext cx="118872" cy="2011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10144" y="2194560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2706624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2706624"/>
            <a:ext cx="54864" cy="69494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" y="2761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6928" y="3054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12x 개선 (2026.02)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874520" y="2852928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GPU 최강 · 2~3배 빠름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54880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05756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56632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07508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58384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23560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774436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25312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76188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27064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0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43116" y="2953512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93992" y="2953512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44868" y="2953512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95744" y="2953512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06640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57516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08392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59268" y="2953512"/>
            <a:ext cx="118872" cy="20116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10144" y="2953512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7200" y="3465576"/>
            <a:ext cx="822960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7200" y="3465576"/>
            <a:ext cx="54864" cy="69494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6928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(HuggingFace)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66928" y="38130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생태계 완전 호환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874520" y="361188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SFT/DPO/GRPO 통합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754880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05756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056632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07508" y="3712464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358384" y="3712464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23560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74436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25312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076188" y="3712464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227064" y="3712464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92240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43116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93992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44868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95744" y="3712464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06640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57516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08392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59268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10144" y="3712464"/>
            <a:ext cx="118872" cy="20116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7200" y="422452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200" y="4224528"/>
            <a:ext cx="54864" cy="694944"/>
          </a:xfrm>
          <a:prstGeom prst="rect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" y="42793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TorchTune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566928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지원으로 장기 유지 보수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874520" y="4370832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공식 · LoRA/QLoRA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754880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05756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056632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07508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358384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23560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74436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25312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76188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27064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92240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43116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93992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44868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095744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06640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57516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708392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859268" y="4471416"/>
            <a:ext cx="118872" cy="201168"/>
          </a:xfrm>
          <a:prstGeom prst="ellipse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010144" y="4471416"/>
            <a:ext cx="118872" cy="201168"/>
          </a:xfrm>
          <a:prstGeom prst="ellipse">
            <a:avLst/>
          </a:prstGeom>
          <a:solidFill>
            <a:srgbClr val="2A3F57"/>
          </a:solidFill>
          <a:ln w="12700">
            <a:solidFill>
              <a:srgbClr val="2A3F5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기업별 채택 현황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프론티어 랩의 학습 스택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73152" cy="7132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04672"/>
            <a:ext cx="1463040" cy="713232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9264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7400" y="8595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Megatron-Core + NeMo + NeMo-RL + Curator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9418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모든 스택 직접 운영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73152" cy="713232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45920"/>
            <a:ext cx="1463040" cy="713232"/>
          </a:xfrm>
          <a:prstGeom prst="rect">
            <a:avLst/>
          </a:prstGeom>
          <a:solidFill>
            <a:srgbClr val="1877F2">
              <a:alpha val="20000"/>
            </a:srgbClr>
          </a:solidFill>
          <a:ln w="12700">
            <a:solidFill>
              <a:srgbClr val="1877F2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10512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170078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FSDP2 + 자체 스택 + LlamaRL (RL)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78308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시리즈, LlamaRL 2025년 공개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822960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87168"/>
            <a:ext cx="73152" cy="7132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87168"/>
            <a:ext cx="1463040" cy="713232"/>
          </a:xfrm>
          <a:prstGeom prst="rect">
            <a:avLst/>
          </a:prstGeom>
          <a:solidFill>
            <a:srgbClr val="4285F4">
              <a:alpha val="20000"/>
            </a:srgbClr>
          </a:solidFill>
          <a:ln w="12700">
            <a:solidFill>
              <a:srgbClr val="4285F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5176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DeepMind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57400" y="254203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+ Pathways + Pax/Praxis + MaxText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6243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중심, GSPMD 자동 병렬화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822960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28416"/>
            <a:ext cx="73152" cy="71323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28416"/>
            <a:ext cx="1463040" cy="713232"/>
          </a:xfrm>
          <a:prstGeom prst="rect">
            <a:avLst/>
          </a:prstGeom>
          <a:solidFill>
            <a:srgbClr val="10A37F">
              <a:alpha val="20000"/>
            </a:srgbClr>
          </a:solidFill>
          <a:ln w="12700">
            <a:solidFill>
              <a:srgbClr val="10A37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9300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5740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(Triton 커널 추정, 자체 분산 라이브러리)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346557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정보 거의 없음 ★추정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822960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69664"/>
            <a:ext cx="7315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9664"/>
            <a:ext cx="1463040" cy="7132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34256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57400" y="422452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 + 자체 스택 추정 (AWS 인프라)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30682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시리즈 ★추정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중견 AI 기업 &amp; 오픈소스 기업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00A4E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60520" cy="347472"/>
          </a:xfrm>
          <a:prstGeom prst="rect">
            <a:avLst/>
          </a:prstGeom>
          <a:solidFill>
            <a:srgbClr val="00A4EF">
              <a:alpha val="70000"/>
            </a:srgbClr>
          </a:solidFill>
          <a:ln w="12700">
            <a:solidFill>
              <a:srgbClr val="00A4E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64008" cy="123444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DeepSpeed + Megatron-DS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DeepSpeed-Chat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시리즈, MT-NLG 530B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E74C3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4160520" cy="347472"/>
          </a:xfrm>
          <a:prstGeom prst="rect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64008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609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HAI-LLM (자체)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자체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H800 → 671B V3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FF362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4160520" cy="347472"/>
          </a:xfrm>
          <a:prstGeom prst="rect">
            <a:avLst/>
          </a:prstGeom>
          <a:solidFill>
            <a:srgbClr val="FF3621">
              <a:alpha val="70000"/>
            </a:srgbClr>
          </a:solidFill>
          <a:ln w="12700">
            <a:solidFill>
              <a:srgbClr val="FF3621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57600"/>
            <a:ext cx="64008" cy="12344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078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LLM Foundry + Composer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LLM Foundry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DBRX (3072 H100)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FFCC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FFCC00">
              <a:alpha val="70000"/>
            </a:srgbClr>
          </a:solidFill>
          <a:ln w="12700">
            <a:solidFill>
              <a:srgbClr val="FFCC0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822960"/>
            <a:ext cx="64008" cy="1234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HuggingFace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243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nanotron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TRL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SmolLM 시리즈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24028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2F54E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240280"/>
            <a:ext cx="4160520" cy="347472"/>
          </a:xfrm>
          <a:prstGeom prst="rect">
            <a:avLst/>
          </a:prstGeom>
          <a:solidFill>
            <a:srgbClr val="2F54EB">
              <a:alpha val="70000"/>
            </a:srgbClr>
          </a:solidFill>
          <a:ln w="12700">
            <a:solidFill>
              <a:srgbClr val="2F54EB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240280"/>
            <a:ext cx="64008" cy="1234440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276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ByteDance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26609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자체 내부 스택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29260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veRL (오픈소스 공개)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 시리즈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657600"/>
            <a:ext cx="4160520" cy="1234440"/>
          </a:xfrm>
          <a:prstGeom prst="rect">
            <a:avLst/>
          </a:prstGeom>
          <a:solidFill>
            <a:srgbClr val="1A2E45"/>
          </a:solidFill>
          <a:ln w="12700">
            <a:solidFill>
              <a:srgbClr val="07C16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657600"/>
            <a:ext cx="4160520" cy="347472"/>
          </a:xfrm>
          <a:prstGeom prst="rect">
            <a:avLst/>
          </a:prstGeom>
          <a:solidFill>
            <a:srgbClr val="07C160">
              <a:alpha val="70000"/>
            </a:srgbClr>
          </a:solidFill>
          <a:ln w="12700">
            <a:solidFill>
              <a:srgbClr val="07C160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657600"/>
            <a:ext cx="64008" cy="1234440"/>
          </a:xfrm>
          <a:prstGeom prst="rect">
            <a:avLst/>
          </a:prstGeom>
          <a:solidFill>
            <a:srgbClr val="07C160"/>
          </a:solidFill>
          <a:ln w="12700">
            <a:solidFill>
              <a:srgbClr val="07C1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Tencent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46320" y="4078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Angel-PTM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RL/FT: Angel-RL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GPU 지원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기업 현황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한국 AI 기업 학습 인프라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822960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73152" cy="896112"/>
          </a:xfrm>
          <a:prstGeom prst="rect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1645920" cy="896112"/>
          </a:xfrm>
          <a:prstGeom prst="rect">
            <a:avLst/>
          </a:prstGeom>
          <a:solidFill>
            <a:srgbClr val="03C75A">
              <a:alpha val="18000"/>
            </a:srgbClr>
          </a:solidFill>
          <a:ln w="12700">
            <a:solidFill>
              <a:srgbClr val="03C75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778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HyperCLOVA 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877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Megatron-LM 기반 → 자체 풀스택 고도화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12848" y="1243584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HyperCLOVA X Think (2025.06) — 추론 특화 모델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유일 AI 풀스택 기업 주장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822960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47088"/>
            <a:ext cx="73152" cy="89611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47088"/>
            <a:ext cx="1645920" cy="896112"/>
          </a:xfrm>
          <a:prstGeom prst="rect">
            <a:avLst/>
          </a:prstGeom>
          <a:solidFill>
            <a:srgbClr val="A50034">
              <a:alpha val="18000"/>
            </a:srgbClr>
          </a:solidFill>
          <a:ln w="12700">
            <a:solidFill>
              <a:srgbClr val="A50034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LG AI Research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35000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19019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Megatron 계열 기반 자체 스택 추정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848" y="2267712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EXAONE 4.0 (2025.07) — 30B 글로벌 경쟁력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EXAONE Deep: 추론 특화 선행 공개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822960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71216"/>
            <a:ext cx="73152" cy="8961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71216"/>
            <a:ext cx="1645920" cy="896112"/>
          </a:xfrm>
          <a:prstGeom prst="rect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260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Upstage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3741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12848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생태계 + 자체 최적화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3291840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10.7B — DUS(Depth Up-Scaling) 기법으로 주목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리더보드 상위 기록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8229600" cy="89611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95344"/>
            <a:ext cx="73152" cy="89611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95344"/>
            <a:ext cx="1645920" cy="896112"/>
          </a:xfrm>
          <a:prstGeom prst="rect">
            <a:avLst/>
          </a:prstGeom>
          <a:solidFill>
            <a:srgbClr val="FFCC00">
              <a:alpha val="18000"/>
            </a:srgbClr>
          </a:solidFill>
          <a:ln w="12700">
            <a:solidFill>
              <a:srgbClr val="FFCC00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50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KT / Kakao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3982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LLM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3950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생태계 + 자체 조정 (추정)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12848" y="4315968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학습 스택 공개 없음 ★추정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규모별 추천 가이드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규모별 스택 선택 가이드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7772400" cy="694944"/>
          </a:xfrm>
          <a:prstGeom prst="rect">
            <a:avLst/>
          </a:prstGeom>
          <a:solidFill>
            <a:srgbClr val="E53935">
              <a:alpha val="75000"/>
            </a:srgbClr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1188720" cy="694944"/>
          </a:xfrm>
          <a:prstGeom prst="rect">
            <a:avLst/>
          </a:prstGeom>
          <a:solidFill>
            <a:srgbClr val="E53935">
              <a:alpha val="9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GPU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859536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Megatron-Core / JAX / 자체 개발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17043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파인튜닝/RL: 자체 RL 프레임워크 (LlamaRL 등)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645920"/>
            <a:ext cx="7132320" cy="694944"/>
          </a:xfrm>
          <a:prstGeom prst="rect">
            <a:avLst/>
          </a:prstGeom>
          <a:solidFill>
            <a:srgbClr val="F57C00">
              <a:alpha val="75000"/>
            </a:srgbClr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645920"/>
            <a:ext cx="1188720" cy="694944"/>
          </a:xfrm>
          <a:prstGeom prst="rect">
            <a:avLst/>
          </a:prstGeom>
          <a:solidFill>
            <a:srgbClr val="F57C00">
              <a:alpha val="90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682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1K~10K GPU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700784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NeMo 2.0 / LLM Foundry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파인튜닝/RL: veRL / NeMo-RL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2487168"/>
            <a:ext cx="6492240" cy="694944"/>
          </a:xfrm>
          <a:prstGeom prst="rect">
            <a:avLst/>
          </a:prstGeom>
          <a:solidFill>
            <a:srgbClr val="FBC02D">
              <a:alpha val="75000"/>
            </a:srgbClr>
          </a:solidFill>
          <a:ln w="12700">
            <a:solidFill>
              <a:srgbClr val="FBC0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2487168"/>
            <a:ext cx="1188720" cy="694944"/>
          </a:xfrm>
          <a:prstGeom prst="rect">
            <a:avLst/>
          </a:prstGeom>
          <a:solidFill>
            <a:srgbClr val="FBC02D">
              <a:alpha val="90000"/>
            </a:srgbClr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52374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8712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100~1K GPU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254203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TorchTitan + FSDP2 / nanotron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85292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파인튜닝/RL: veRL / OpenRLHF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3328416"/>
            <a:ext cx="5852160" cy="694944"/>
          </a:xfrm>
          <a:prstGeom prst="rect">
            <a:avLst/>
          </a:prstGeom>
          <a:solidFill>
            <a:srgbClr val="388E3C">
              <a:alpha val="75000"/>
            </a:srgbClr>
          </a:solidFill>
          <a:ln w="12700">
            <a:solidFill>
              <a:srgbClr val="388E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17320" y="3328416"/>
            <a:ext cx="1188720" cy="694944"/>
          </a:xfrm>
          <a:prstGeom prst="rect">
            <a:avLst/>
          </a:prstGeom>
          <a:solidFill>
            <a:srgbClr val="388E3C">
              <a:alpha val="90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3649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7124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10~100 GPU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38328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TorchTitan / HF Accelerate+FSDP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694176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파인튜닝/RL: Axolotl / TRL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4169664"/>
            <a:ext cx="5212080" cy="694944"/>
          </a:xfrm>
          <a:prstGeom prst="rect">
            <a:avLst/>
          </a:prstGeom>
          <a:solidFill>
            <a:srgbClr val="1976D2">
              <a:alpha val="75000"/>
            </a:srgbClr>
          </a:solidFill>
          <a:ln w="127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737360" y="4169664"/>
            <a:ext cx="1188720" cy="694944"/>
          </a:xfrm>
          <a:prstGeom prst="rect">
            <a:avLst/>
          </a:prstGeom>
          <a:solidFill>
            <a:srgbClr val="1976D2">
              <a:alpha val="9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42062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1~10 GPU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4224528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사전학습: LLaMA-Factory / Unsloth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71800" y="4535424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파인튜닝/RL: TRL (GRPOTrainer)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실용 의사결정 플로우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04672"/>
            <a:ext cx="2606040" cy="594360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96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NVIDIA GPU 환경?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896112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NeMo 2.0 (E2E 플랫폼)  +  veRL / NeMo-RL (포스트 트레이닝)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2606040" cy="594360"/>
          </a:xfrm>
          <a:prstGeom prst="rect">
            <a:avLst/>
          </a:prstGeom>
          <a:solidFill>
            <a:srgbClr val="EE4C2C">
              <a:alpha val="30000"/>
            </a:srgbClr>
          </a:solidFill>
          <a:ln w="12700">
            <a:solidFill>
              <a:srgbClr val="EE4C2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PyTorch 팀, 수십~수백 GPU?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60020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TorchTitan + FSDP2 (사전학습)  +  Axolotl / TRL (파인튜닝)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2606040" cy="594360"/>
          </a:xfrm>
          <a:prstGeom prst="rect">
            <a:avLst/>
          </a:prstGeom>
          <a:solidFill>
            <a:srgbClr val="4285F4">
              <a:alpha val="30000"/>
            </a:srgbClr>
          </a:solidFill>
          <a:ln w="12700">
            <a:solidFill>
              <a:srgbClr val="4285F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04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JAX / TPU 환경?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304288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MaxText (Google 공개)  또는  Levanter (Stanford, 연구 친화)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2606040" cy="594360"/>
          </a:xfrm>
          <a:prstGeom prst="rect">
            <a:avLst/>
          </a:prstGeom>
          <a:solidFill>
            <a:srgbClr val="AB47BC">
              <a:alpha val="30000"/>
            </a:srgbClr>
          </a:solidFill>
          <a:ln w="12700">
            <a:solidFill>
              <a:srgbClr val="AB47B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08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RL 포스트 트레이닝 필요?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54680" y="3008376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veRL (가장 범용, 10K+ 스타)  또는  OpenRLHF (Ray 기반)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21024"/>
            <a:ext cx="2606040" cy="594360"/>
          </a:xfrm>
          <a:prstGeom prst="rect">
            <a:avLst/>
          </a:prstGeom>
          <a:solidFill>
            <a:srgbClr val="FFD54F">
              <a:alpha val="30000"/>
            </a:srgbClr>
          </a:solidFill>
          <a:ln w="12700">
            <a:solidFill>
              <a:srgbClr val="FFD54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124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단일 GPU 실험 / POC?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3712464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Unsloth (메모리 효율 최강)  또는  LLaMA-Factory (Web UI)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25112"/>
            <a:ext cx="822960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25112"/>
            <a:ext cx="2606040" cy="594360"/>
          </a:xfrm>
          <a:prstGeom prst="rect">
            <a:avLst/>
          </a:prstGeom>
          <a:solidFill>
            <a:srgbClr val="FF5722">
              <a:alpha val="30000"/>
            </a:srgbClr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16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프론티어 규모 + 자체 R&amp;D?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54680" y="4416552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Megatron-Core 기반 자체 개발  (또는 JAX + Pathways)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2025~2026 주요 트렌드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5대 트렌드 (2025~2026)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41605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E5393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4160520" cy="384048"/>
          </a:xfrm>
          <a:prstGeom prst="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64008" cy="1188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RL 인프라 표준화 경쟁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 급부상 (10K+ 스타) — slime · SkyRL · LlamaRL 경쟁 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모델 폭발로 RL 파이프라인이 모델 경쟁력 결정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1605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F57C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12848"/>
            <a:ext cx="4160520" cy="384048"/>
          </a:xfrm>
          <a:prstGeom prst="rect">
            <a:avLst/>
          </a:prstGeom>
          <a:solidFill>
            <a:srgbClr val="F57C00">
              <a:alpha val="70000"/>
            </a:srgbClr>
          </a:solidFill>
          <a:ln w="12700">
            <a:solidFill>
              <a:srgbClr val="F57C00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12848"/>
            <a:ext cx="64008" cy="1188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585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FSDP2 + torch.compile 안착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중소 규모의 사실상 표준으로 정착 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SimpleFSDP로 405B 규모까지 검증 완료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41605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FBC02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02736"/>
            <a:ext cx="4160520" cy="384048"/>
          </a:xfrm>
          <a:prstGeom prst="rect">
            <a:avLst/>
          </a:prstGeom>
          <a:solidFill>
            <a:srgbClr val="FBC02D">
              <a:alpha val="70000"/>
            </a:srgbClr>
          </a:solidFill>
          <a:ln w="12700">
            <a:solidFill>
              <a:srgbClr val="FBC02D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02736"/>
            <a:ext cx="64008" cy="1188720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4845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MoE 지원 고도화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04164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/ Qwen3로 Expert Parallelism이 필수 기능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 통신 최적화가 모든 프레임워크의 핵심 과제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1605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388E3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22960"/>
            <a:ext cx="4160520" cy="384048"/>
          </a:xfrm>
          <a:prstGeom prst="rect">
            <a:avLst/>
          </a:prstGeom>
          <a:solidFill>
            <a:srgbClr val="388E3C">
              <a:alpha val="70000"/>
            </a:srgbClr>
          </a:solidFill>
          <a:ln w="12700">
            <a:solidFill>
              <a:srgbClr val="388E3C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822960"/>
            <a:ext cx="64008" cy="11887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86868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Inference-Training 경계 허물기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261872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· SGLang이 RL rollout 엔진으로 학습 파이프라인 진입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 · OpenRLHF · slime 모두 추론 엔진 통합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41605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12848"/>
            <a:ext cx="4160520" cy="384048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212848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585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FP8 학습 보편화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651760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전면 채택 후 업계 표준화 진행 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Transformer Engine + PyTorch FP8 지원 성숙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JAX vs PyTorch 진영의 대립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3840480" cy="3977640"/>
          </a:xfrm>
          <a:prstGeom prst="rect">
            <a:avLst/>
          </a:prstGeom>
          <a:solidFill>
            <a:srgbClr val="1A2E45"/>
          </a:solidFill>
          <a:ln w="12700">
            <a:solidFill>
              <a:srgbClr val="EE4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840480" cy="548640"/>
          </a:xfrm>
          <a:prstGeom prst="rect">
            <a:avLst/>
          </a:prstGeom>
          <a:solidFill>
            <a:srgbClr val="EE4C2C">
              <a:alpha val="80000"/>
            </a:srgbClr>
          </a:solidFill>
          <a:ln w="12700">
            <a:solidFill>
              <a:srgbClr val="EE4C2C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PyTorch 진영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Microsoft · HuggingFace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오픈소스 생태계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FSDP2 + torch.compile으로 격차 축소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명령형(Eager) 실행 — 디버깅 쉬움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758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방대 — 라이브러리 풍부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26243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840480" cy="3977640"/>
          </a:xfrm>
          <a:prstGeom prst="rect">
            <a:avLst/>
          </a:prstGeom>
          <a:solidFill>
            <a:srgbClr val="1A2E45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822960"/>
            <a:ext cx="3840480" cy="548640"/>
          </a:xfrm>
          <a:prstGeom prst="rect">
            <a:avLst/>
          </a:prstGeom>
          <a:solidFill>
            <a:srgbClr val="4285F4">
              <a:alpha val="80000"/>
            </a:srgbClr>
          </a:solidFill>
          <a:ln w="12700">
            <a:solidFill>
              <a:srgbClr val="4285F4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JAX 진영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14813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· Anthropic(추정)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CRFM (Levanter)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578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환경에서 독보적 성능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1272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컴파일러(XLA) 기반 자동 최적화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675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패러다임 — 높은 러닝 커브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9145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전망: 두 진영 모두 견고하게 유지 — 단기 통합 가능성 없음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438">
              <a:alpha val="40000"/>
            </a:srgbClr>
          </a:solidFill>
          <a:ln w="12700">
            <a:solidFill>
              <a:srgbClr val="15243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E5393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41248"/>
            <a:ext cx="640080" cy="6949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9052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자체 개발은 프론티어 랩만의 선택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22529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· Meta · Google · DeepSeek만의 영역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F57C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64208"/>
            <a:ext cx="640080" cy="69494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17282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중규모: NeMo + veRL이 사실상 표준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04825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환경 기업에 가장 검증된 조합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FBC02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87168"/>
            <a:ext cx="640080" cy="694944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1518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55117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TorchTitan + Axolotl + TRL 조합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87121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공식 지원 + 풍부한 커뮤니티 + 검증된 사례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388E3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10128"/>
            <a:ext cx="640080" cy="69494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3814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37413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인프라가 모델 경쟁력을 좌우하는 시대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69417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 · LlamaRL · slime 중 선택이 추론 모델 품질에 직결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8229600" cy="694944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33088"/>
            <a:ext cx="64008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6110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419709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파이프라인도 학습 품질에 직결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51713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Curator로 최대 7%+ 다운스트림 성능 개선 보고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D62">
              <a:alpha val="40000"/>
            </a:srgbClr>
          </a:solidFill>
          <a:ln w="12700">
            <a:solidFill>
              <a:srgbClr val="0A3D6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4FC3F7">
              <a:alpha val="50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2026-05-19-llm-training-frameworks 리서치 문서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학습 프레임워크 완전 정복</dc:title>
  <dc:subject>PptxGenJS Presentation</dc:subject>
  <dc:creator>PptxGenJS</dc:creator>
  <cp:lastModifiedBy>PptxGenJS</cp:lastModifiedBy>
  <cp:revision>1</cp:revision>
  <dcterms:created xsi:type="dcterms:W3CDTF">2026-05-19T12:08:29Z</dcterms:created>
  <dcterms:modified xsi:type="dcterms:W3CDTF">2026-05-19T12:08:29Z</dcterms:modified>
</cp:coreProperties>
</file>