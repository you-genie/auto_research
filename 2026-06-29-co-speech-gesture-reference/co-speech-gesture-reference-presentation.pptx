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6E61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61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61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72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5A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180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180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9B44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무작위
기준선</c:v>
                  </c:pt>
                  <c:pt idx="1">
                    <c:v>무작위
임베딩</c:v>
                  </c:pt>
                  <c:pt idx="2">
                    <c:v>Unimodal
(제스처)</c:v>
                  </c:pt>
                  <c:pt idx="3">
                    <c:v>Multimodal-X
(제스처)</c:v>
                  </c:pt>
                  <c:pt idx="4">
                    <c:v>음성만</c:v>
                  </c:pt>
                  <c:pt idx="5">
                    <c:v>Unimodal
+ 음성</c:v>
                  </c:pt>
                  <c:pt idx="6">
                    <c:v>Multimodal-X
+ 음성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</c:v>
                </c:pt>
                <c:pt idx="1">
                  <c:v>3</c:v>
                </c:pt>
                <c:pt idx="2">
                  <c:v>16</c:v>
                </c:pt>
                <c:pt idx="3">
                  <c:v>19</c:v>
                </c:pt>
                <c:pt idx="4">
                  <c:v>24</c:v>
                </c:pt>
                <c:pt idx="5">
                  <c:v>28</c:v>
                </c:pt>
                <c:pt idx="6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B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3F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2D9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1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7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822960"/>
            <a:ext cx="4023360" cy="2743200"/>
          </a:xfrm>
          <a:prstGeom prst="roundRect">
            <a:avLst>
              <a:gd name="adj" fmla="val 13333"/>
            </a:avLst>
          </a:prstGeom>
          <a:solidFill>
            <a:srgbClr val="3A2E45"/>
          </a:solidFill>
          <a:ln w="19050">
            <a:solidFill>
              <a:srgbClr val="118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“이거, 이렇게 생긴 거”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2788920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5" name="Shape 3"/>
          <p:cNvSpPr/>
          <p:nvPr/>
        </p:nvSpPr>
        <p:spPr>
          <a:xfrm>
            <a:off x="8732520" y="2788920"/>
            <a:ext cx="237744" cy="23774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6" name="Shape 4"/>
          <p:cNvSpPr/>
          <p:nvPr/>
        </p:nvSpPr>
        <p:spPr>
          <a:xfrm>
            <a:off x="9235440" y="2788920"/>
            <a:ext cx="274320" cy="27432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Shape 5"/>
          <p:cNvSpPr/>
          <p:nvPr/>
        </p:nvSpPr>
        <p:spPr>
          <a:xfrm>
            <a:off x="9738360" y="278892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2788920"/>
            <a:ext cx="347472" cy="34747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3429000"/>
            <a:ext cx="365760" cy="365760"/>
          </a:xfrm>
          <a:prstGeom prst="ellipse">
            <a:avLst/>
          </a:prstGeom>
          <a:solidFill>
            <a:srgbClr val="3A2E45"/>
          </a:solidFill>
          <a:ln w="19050">
            <a:solidFill>
              <a:srgbClr val="1180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794760"/>
            <a:ext cx="201168" cy="201168"/>
          </a:xfrm>
          <a:prstGeom prst="ellipse">
            <a:avLst/>
          </a:prstGeom>
          <a:solidFill>
            <a:srgbClr val="3A2E45"/>
          </a:solidFill>
          <a:ln w="12700">
            <a:solidFill>
              <a:srgbClr val="1180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331720"/>
            <a:ext cx="128016" cy="19202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CO-SPEECH GESTURE · ACL 2025 FINDINGS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말과 손짓이 만나는 순간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1115568" y="3703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Co-Speech Gesture로 대화 속 지시어 해소하기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4709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E0D2"/>
                </a:solidFill>
              </a:rPr>
              <a:t>“I see what you mean: Co-Speech Gestures for Reference Resolution in Multimodal Dialogue”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E6175"/>
                </a:solidFill>
              </a:rPr>
              <a:t>Ghaleb, Khaertdinov, Özyürek &amp; Fernández (2025) · Findings of ACL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연구가 필요한가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말로 다 못 하는 정보를 손짓이 채운다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“이렇게 생긴 물건을 가져다줘”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233"/>
                </a:solidFill>
              </a:rPr>
              <a:t>손으로 모양을 흉내 내는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25A45"/>
                </a:solidFill>
              </a:rPr>
              <a:t>co-speech gesture(발화 동반 제스처)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233"/>
                </a:solidFill>
              </a:rPr>
              <a:t>는 말만으로는 전하기 어려운 정보를 담는다. 심리언어학에서는 오래전부터 알려진 사실이지만, 계산언어학에서는 거의 다뤄지지 않았다.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89320" y="1600200"/>
            <a:ext cx="109728" cy="1325880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76479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86600" y="1764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수집이 어렵다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1671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대화 녹화 + 전문가 주석이 모두 필요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306324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3063240"/>
            <a:ext cx="109728" cy="1325880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22783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086600" y="3227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 제스처에만 집중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36301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가리키기는 연구되었지만 모양을 흉내 내는 상징적 제스처는 방치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452628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4526280"/>
            <a:ext cx="109728" cy="1325880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69087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086600" y="46908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모델이 최근 발전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50932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비전·음성·텍스트 동시 처리는 난이도가 높음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2B22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251960"/>
            <a:ext cx="128016" cy="155448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논문의 기여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4800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상징적(iconic) 제스처가 대화 속 지시어 해소에 주는 도움을 처음으로 체계적으로 모델링했다.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Co-Speech Gesture for Reference Resolution · ACL 2025 Findings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(1)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Co-Speech Gesture의 세 가지 유형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3566160" cy="64008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Iconic / Representational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20240" y="2542032"/>
            <a:ext cx="822960" cy="8229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대상의 모양·움직임을 손으로 흉내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“둥글다”면서 손으로 원 그리기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 논문의 주인공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691640"/>
            <a:ext cx="3566160" cy="640080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Deictic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42432" y="2542032"/>
            <a:ext cx="822960" cy="822960"/>
          </a:xfrm>
          <a:prstGeom prst="ellipse">
            <a:avLst/>
          </a:prstGeom>
          <a:solidFill>
            <a:srgbClr val="11808C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99432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손가락으로 가리키기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99432" y="4041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공간에서 방향을 지시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9432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연구의 주된 대상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93024" y="1691640"/>
            <a:ext cx="3566160" cy="64008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4" name="Text 22"/>
          <p:cNvSpPr/>
          <p:nvPr/>
        </p:nvSpPr>
        <p:spPr>
          <a:xfrm>
            <a:off x="8421624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564624" y="2542032"/>
            <a:ext cx="822960" cy="82296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6" name="Text 24"/>
          <p:cNvSpPr/>
          <p:nvPr/>
        </p:nvSpPr>
        <p:spPr>
          <a:xfrm>
            <a:off x="9564624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421624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말의 리듬에 맞춘 움직임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21624" y="4041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위아래로 강조하는 동작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21624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강조 역할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논문이 집중하는 것은 Iconic(상징적/표현적) 제스처 — “이렇게 생긴 물건”을 손으로 그려 보이는 행위다.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· 제스처 유형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(2)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꼭 알아야 할 네 가지 용어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44752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4752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지시어 해소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6243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속 “이것”, “그 물건”이 실제로 무엇을 가리키는지 파악. 공유된 장면에서 발화자가 가리키는 객체를 식별하는 과제.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11808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68312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68312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 학습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28232" y="26243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“비슷한 것은 가깝게, 다른 것은 멀게”. CLIP처럼 같은 시간의 손짓과 말소리를 가까이 놓이도록 학습.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44752" y="3904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4752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어텐션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" y="46360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손짓 정보가 “음성의 어느 부분이 이 손짓과 관련 있나”를 학습. 단순히 합치는 게 아니라 정밀하게 연결.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37033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4FB8B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68312" y="3904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Entrainment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68312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언어·제스처 수렴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28232" y="46360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파트너와 반복 대화할수록 표현이 비슷해지는 현상. 라운드가 쌓이며 고유 패턴 형성.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· 용어 정리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3" name="Shape 31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CABB 삼형제: 게임으로 만든 대화 코퍼스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3337560"/>
          </a:xfrm>
          <a:prstGeom prst="roundRect">
            <a:avLst>
              <a:gd name="adj" fmla="val 2192"/>
            </a:avLst>
          </a:prstGeom>
          <a:solidFill>
            <a:srgbClr val="2B22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Fribble 맞추기 게임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네덜란드어 대면 대화. Director가 추상 도형을 설명하면 Matcher가 16개 중 고른다. 6라운드 반복하며 역할 교대.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참가자 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3429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05740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 도형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3429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라운드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62940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1691640"/>
            <a:ext cx="128016" cy="103327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801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CABB-S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1783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3"/>
                </a:solidFill>
              </a:rPr>
              <a:t>19개 대화 · 4,949 제스처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6E6175"/>
                </a:solidFill>
              </a:rPr>
              <a:t>전문가 수작업 주석  ·  평가 / 파인튜닝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2852928"/>
            <a:ext cx="662940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2852928"/>
            <a:ext cx="128016" cy="1033272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96265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80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CABB-L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294436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3"/>
                </a:solidFill>
              </a:rPr>
              <a:t>49개 대화 · ~30,000 제스처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6E6175"/>
                </a:solidFill>
              </a:rPr>
              <a:t>자동 분할 (mAP 76%)  ·  중간 규모 사전학습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0" y="4014216"/>
            <a:ext cx="662940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4014216"/>
            <a:ext cx="128016" cy="1033272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4123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CABB-XL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78040" y="4105656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3"/>
                </a:solidFill>
              </a:rPr>
              <a:t>~400,000 샘플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6E6175"/>
                </a:solidFill>
              </a:rPr>
              <a:t>1초 윈도우 슬라이딩  ·  대규모 사전학습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0" y="521208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6라운드를 반복할수록 같은 도형을 점점 짧게 표현 → entrainment(언어 수렴) 현상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· CABB (Communicative and Brain-to-Brain)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표현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손짓을 숫자로: 세 가지 입력 정보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01952"/>
            <a:ext cx="548640" cy="5486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35608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스켈레톤 키포인트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578608"/>
            <a:ext cx="3054096" cy="384048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7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ViTPose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309067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상체 27개 관절의 2D 좌표를 프레임마다 추출. 27관절 × (x,y) = 54차원 시계열. 뼈대만 쓰니 외모에 영향받지 않고 순수 동작 패턴 학습.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" y="4407408"/>
            <a:ext cx="3054096" cy="38404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4074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모양 · 움직임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70832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9432" y="1901952"/>
            <a:ext cx="548640" cy="548640"/>
          </a:xfrm>
          <a:prstGeom prst="ellipse">
            <a:avLst/>
          </a:prstGeom>
          <a:solidFill>
            <a:srgbClr val="11808C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임베딩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26864" y="2578608"/>
            <a:ext cx="3054096" cy="384048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wav2vec-2 XLSR-300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309067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53개 언어로 사전학습된 다국어 모델. 모든 Transformer 레이어 출력을 가중 평균하고 CNN으로 시간 압축.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26864" y="4407408"/>
            <a:ext cx="3054096" cy="384048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21" name="Text 19"/>
          <p:cNvSpPr/>
          <p:nvPr/>
        </p:nvSpPr>
        <p:spPr>
          <a:xfrm>
            <a:off x="4626864" y="44074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함께 말하는 소리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93024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21624" y="1901952"/>
            <a:ext cx="548640" cy="54864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4" name="Text 22"/>
          <p:cNvSpPr/>
          <p:nvPr/>
        </p:nvSpPr>
        <p:spPr>
          <a:xfrm>
            <a:off x="8421624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79992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임베딩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49056" y="2578608"/>
            <a:ext cx="3054096" cy="384048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BERTje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49056" y="309067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음성을 전사한 텍스트를 네덜란드어 BERT로 처리. wav2vec2보다 의미론적으로 풍부한 표현.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49056" y="4407408"/>
            <a:ext cx="3054096" cy="384048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9" name="Text 27"/>
          <p:cNvSpPr/>
          <p:nvPr/>
        </p:nvSpPr>
        <p:spPr>
          <a:xfrm>
            <a:off x="8449056" y="44074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무슨 단어인가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22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DE4"/>
                </a:solidFill>
              </a:rPr>
              <a:t>세 입력 → DSTFormer 기반 제스처 인코더 → </a:t>
            </a:r>
            <a:pPr algn="ctr" indent="0" marL="0">
              <a:buNone/>
            </a:pPr>
            <a:r>
              <a:rPr lang="en-US" sz="1400" b="1" dirty="0">
                <a:solidFill>
                  <a:srgbClr val="E9B44C"/>
                </a:solidFill>
              </a:rPr>
              <a:t>하나의 제스처 표현으로 결합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표현 · ViTPose / wav2vec-2 / BERTje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35" name="Shape 33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아키텍처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가지 제스처 표현 학습 방식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DSTFormer(Dual-Stream Temporal Transformer) 스켈레톤 인코더 기반. 위에 어떤 학습 신호를 주느냐가 다르다.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3566160" cy="8229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21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Unimodal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615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스켈레톤만으로 학습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3154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3"/>
                </a:solidFill>
              </a:rPr>
              <a:t>마스크 재구성 손실 — 관절 일부를 가리고 복원 (BERT식 마스킹)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3"/>
                </a:solidFill>
              </a:rPr>
              <a:t>단일모달 대조 손실 — 같은 제스처의 두 증강 뷰는 가깝게, 다른 제스처는 멀게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36118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70832" y="21488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2148840"/>
            <a:ext cx="3566160" cy="822960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15" name="Text 13"/>
          <p:cNvSpPr/>
          <p:nvPr/>
        </p:nvSpPr>
        <p:spPr>
          <a:xfrm>
            <a:off x="4599432" y="2221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99432" y="2615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스타일 정렬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26864" y="3154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3"/>
                </a:solidFill>
              </a:rPr>
              <a:t>Unimodal 손실에 멀티모달 대조 손실 추가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3"/>
                </a:solidFill>
              </a:rPr>
              <a:t>같은 시간의 제스처-음성/텍스트 쌍을 같은 공간에 정렬 → “어떤 말과 함께 나오는 손짓인지” 정보가 녹아듦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55280" y="36118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193024" y="21488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93024" y="2148840"/>
            <a:ext cx="3566160" cy="82296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221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Multimodal-X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21624" y="2615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정밀 융합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49056" y="3154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3"/>
                </a:solidFill>
              </a:rPr>
              <a:t>스켈레톤이 음성/텍스트를 Key/Value로 읽으며 자신을 업데이트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3"/>
                </a:solidFill>
              </a:rPr>
              <a:t>멀티모달 대조 손실 + 교차모달 대조 손실 동시 사용 → 말소리 의미 + 순수 동작 정보 모두 유지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808C"/>
                </a:solidFill>
              </a:rPr>
              <a:t>단순 → 정밀 융합으로 갈수록 표현 품질이 좋아진다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아키텍처 · DSTFormer 기반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(1)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지시어 해소 정확도: 손짓만으로도 통한다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406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7830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B22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1920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0" y="2743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제스처만 (Multimodal-X)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3108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1.4% 대비 약 13배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39776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8229600" y="4800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 + 음성 (Multimodal-X)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0" y="51663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음성만(24%)보다 +7%p 향상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· 16개 도형 중 1개 선택 과제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18" name="Shape 15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(2)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발견: 접지와 대화 히스토리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128016" cy="18745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시 음성 접지 → 추론은 제스처만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Multimodal-X는 학습 때 음성을 함께 썼지만, 테스트 때 제스처만 줘도 Unimodal(16%)보다 높은 19%. 음성으로 접지(grounding)하면 음성 없이도 표현이 더 좋아진다.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6175"/>
                </a:solidFill>
              </a:rPr>
              <a:t>16% </a:t>
            </a:r>
            <a:pPr indent="0" marL="0">
              <a:buNone/>
            </a:pPr>
            <a:r>
              <a:rPr lang="en-US" sz="2000" dirty="0">
                <a:solidFill>
                  <a:srgbClr val="2B2233"/>
                </a:solidFill>
              </a:rPr>
              <a:t>→ </a:t>
            </a:r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</a:rPr>
              <a:t>19%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691640"/>
            <a:ext cx="128016" cy="1874520"/>
          </a:xfrm>
          <a:prstGeom prst="rect">
            <a:avLst/>
          </a:prstGeom>
          <a:solidFill>
            <a:srgbClr val="1180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히스토리(Entrainment)의 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라운드 제스처들을 평균낸 “프로토타입 참조 벡터”를 쓰면 정확도가 유의미하게 오른다. 멀티모달 표현에서 효과가 더 두드러진다.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08C"/>
                </a:solidFill>
              </a:rPr>
              <a:t>독립 t-검정 t=2.9, p≪0.05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109960" cy="2057400"/>
          </a:xfrm>
          <a:prstGeom prst="roundRect">
            <a:avLst>
              <a:gd name="adj" fmla="val 3556"/>
            </a:avLst>
          </a:prstGeom>
          <a:solidFill>
            <a:srgbClr val="FBF7F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품질 — 형태 유사성 상관계수 (Spearman ρ, 419쌍)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89120"/>
          <a:ext cx="106527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75104"/>
                <a:gridCol w="1975104"/>
                <a:gridCol w="1975104"/>
                <a:gridCol w="198424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/ 데이터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CABB-S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CABB-XL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Multimodal-X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CABB-XL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2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난수 기준선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2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(텍스트 기반)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7724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통계적으로 유의(p≪0.05). 단, 절댓값 자체는 아직 낮은 편 — Multimodal-X + 텍스트 + 대규모 데이터 조합이 최고.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· 접지 효과 &amp; entrainment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3" name="Shape 20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연구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연구와 무엇이 다른가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88920"/>
                <a:gridCol w="2788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기존 연구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1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 논문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2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제스처 유형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지시(pointing), 박자(beat)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상징적(iconic) 제스처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방식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 학습 위주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자기지도 사전학습 + 파인튜닝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모달 또는 소규모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멀티모달 대화 코퍼스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 과제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제스처 분류, 행동 인식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지시어 해소(reference resolution)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대화 맥락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6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발화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6라운드 대화 히스토리 활용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7373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2B22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토대가 된 연구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321040" y="2423160"/>
            <a:ext cx="146304" cy="14630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0" name="Text 7"/>
          <p:cNvSpPr/>
          <p:nvPr/>
        </p:nvSpPr>
        <p:spPr>
          <a:xfrm>
            <a:off x="8577072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 / DSTFormer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77072" y="2615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스켈레톤 기반 동작 인식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21040" y="3118104"/>
            <a:ext cx="146304" cy="14630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3" name="Text 10"/>
          <p:cNvSpPr/>
          <p:nvPr/>
        </p:nvSpPr>
        <p:spPr>
          <a:xfrm>
            <a:off x="8577072" y="3026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/ wav2vec2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77072" y="3310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멀티모달·자기지도 표현 학습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21040" y="3813048"/>
            <a:ext cx="146304" cy="14630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6" name="Text 13"/>
          <p:cNvSpPr/>
          <p:nvPr/>
        </p:nvSpPr>
        <p:spPr>
          <a:xfrm>
            <a:off x="8577072" y="37216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Abzaliev 2022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77072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제스처-단어 대조 학습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21040" y="4507992"/>
            <a:ext cx="146304" cy="14630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9" name="Text 16"/>
          <p:cNvSpPr/>
          <p:nvPr/>
        </p:nvSpPr>
        <p:spPr>
          <a:xfrm>
            <a:off x="8577072" y="4416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Kennington 2017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77072" y="47000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시선+지시 제스처 활용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21040" y="5202936"/>
            <a:ext cx="146304" cy="14630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2" name="Text 19"/>
          <p:cNvSpPr/>
          <p:nvPr/>
        </p:nvSpPr>
        <p:spPr>
          <a:xfrm>
            <a:off x="8577072" y="5111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Ghaleb 2024b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77072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CABB에 ST-GCN 적용 — 본 논문이 넘어섬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연구 · 비교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6" name="Shape 23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7" name="Shape 24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의의와 한계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무엇을 보여줬고, 무엇이 남았나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0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연구 의의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50008"/>
            <a:ext cx="457200" cy="457200"/>
          </a:xfrm>
          <a:prstGeom prst="ellipse">
            <a:avLst/>
          </a:prstGeom>
          <a:solidFill>
            <a:srgbClr val="1180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 자체에 정보가 있다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25511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기대치에서 19%까지 — 손의 움직임이 일관되게 대상 정보를 담는다.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1180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355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시 접지가 추론을 돕는다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37216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음성과 함께 학습하면 음성 없이 제스처만 봐도 더 잘 맞춘다.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690872"/>
            <a:ext cx="457200" cy="457200"/>
          </a:xfrm>
          <a:prstGeom prst="ellipse">
            <a:avLst/>
          </a:prstGeom>
          <a:solidFill>
            <a:srgbClr val="11808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526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대화는 축적되는 맥락이다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71600" y="48920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묘사로 생기는 entrainment 패턴을 모델이 포착한다.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5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한계점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55080" y="2057400"/>
            <a:ext cx="5303520" cy="3593592"/>
          </a:xfrm>
          <a:prstGeom prst="roundRect">
            <a:avLst>
              <a:gd name="adj" fmla="val 2036"/>
            </a:avLst>
          </a:prstGeom>
          <a:solidFill>
            <a:srgbClr val="FBF7F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2395728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2B2233"/>
                </a:solidFill>
              </a:rPr>
              <a:t>형태 유사성 ρ=0.23 — 완벽한 표현과는 거리가 있다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2B2233"/>
                </a:solidFill>
              </a:rPr>
              <a:t>지시어 해소 31% — 여전히 70%는 틀린다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2B2233"/>
                </a:solidFill>
              </a:rPr>
              <a:t>네덜란드어 대화만 사용 — 다른 언어·문화 일반화 불명확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2B2233"/>
                </a:solidFill>
              </a:rPr>
              <a:t>2D 스켈레톤만 — 깊이(depth) 없이는 3D 제스처에 한계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2B2233"/>
                </a:solidFill>
              </a:rPr>
              <a:t>통제된 실험실 게임 — 자연 발화 대화로의 확장 필요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의의와 한계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155680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11712" y="6510528"/>
            <a:ext cx="109728" cy="109728"/>
          </a:xfrm>
          <a:prstGeom prst="ellipse">
            <a:avLst/>
          </a:prstGeom>
          <a:solidFill>
            <a:srgbClr val="EAE0D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67744" y="6510528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371600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Shape 2"/>
          <p:cNvSpPr/>
          <p:nvPr/>
        </p:nvSpPr>
        <p:spPr>
          <a:xfrm>
            <a:off x="9372600" y="1640904"/>
            <a:ext cx="256032" cy="256032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1662612"/>
            <a:ext cx="310896" cy="31089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6" name="Shape 4"/>
          <p:cNvSpPr/>
          <p:nvPr/>
        </p:nvSpPr>
        <p:spPr>
          <a:xfrm>
            <a:off x="10378440" y="1416764"/>
            <a:ext cx="365760" cy="36576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1129393"/>
            <a:ext cx="420624" cy="42062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Shape 6"/>
          <p:cNvSpPr/>
          <p:nvPr/>
        </p:nvSpPr>
        <p:spPr>
          <a:xfrm>
            <a:off x="11384280" y="106470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손짓은 말의 의미를 완성한다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상징적 제스처만으로도 16개 도형 중 19%를 맞히고, 음성과 함께 학습하면 추론 시 제스처만으로도 더 잘 맞힌다. 대화가 쌓일수록 형성되는 패턴까지 모델이 포착한다 — 멀티모달 대화 이해의 첫 실증.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3A2E45"/>
          </a:solidFill>
          <a:ln w="12700">
            <a:solidFill>
              <a:srgbClr val="1180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4069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3A2E45"/>
          </a:solidFill>
          <a:ln w="12700">
            <a:solidFill>
              <a:srgbClr val="1180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61188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 + 음성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069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3A2E45"/>
          </a:solidFill>
          <a:ln w="12700">
            <a:solidFill>
              <a:srgbClr val="1180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30936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히스토리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Ghaleb et al. (2025) · Findings of ACL 2025, pp. 13191–13206  ·  github.com/EsamGhaleb/MultimodalReferenceResolution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Co-Speech Gesture for Reference Resolution</dc:title>
  <dc:subject>PptxGenJS Presentation</dc:subject>
  <dc:creator>Research</dc:creator>
  <cp:lastModifiedBy>Research</cp:lastModifiedBy>
  <cp:revision>1</cp:revision>
  <dcterms:created xsi:type="dcterms:W3CDTF">2026-06-29T06:45:55Z</dcterms:created>
  <dcterms:modified xsi:type="dcterms:W3CDTF">2026-06-29T06:45:55Z</dcterms:modified>
</cp:coreProperties>
</file>