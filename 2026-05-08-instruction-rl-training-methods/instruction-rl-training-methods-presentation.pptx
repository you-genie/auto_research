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charts/chart1.xml" ContentType="application/vnd.openxmlformats-officedocument.drawingml.chart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SFT 구성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bubble3D val="0"/>
            <c:spPr>
              <a:solidFill>
                <a:srgbClr val="2A3A7A"/>
              </a:solidFill>
              <a:effectLst/>
            </c:spPr>
          </c:dPt>
          <c:dPt>
            <c:idx val="3"/>
            <c:bubble3D val="0"/>
            <c:spPr>
              <a:solidFill>
                <a:srgbClr val="F5A623"/>
              </a:solidFill>
              <a:effectLst/>
            </c:spPr>
          </c:dPt>
          <c:dPt>
            <c:idx val="4"/>
            <c:bubble3D val="0"/>
            <c:spPr>
              <a:solidFill>
                <a:srgbClr val="E74C3C"/>
              </a:solidFill>
              <a:effectLst/>
            </c:spPr>
          </c:dPt>
          <c:dPt>
            <c:idx val="5"/>
            <c:bubble3D val="0"/>
            <c:spPr>
              <a:solidFill>
                <a:srgbClr val="88888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일반 IF</c:v>
                </c:pt>
                <c:pt idx="1">
                  <c:v>수학+코딩</c:v>
                </c:pt>
                <c:pt idx="2">
                  <c:v>멀티턴</c:v>
                </c:pt>
                <c:pt idx="3">
                  <c:v>다국어</c:v>
                </c:pt>
                <c:pt idx="4">
                  <c:v>안전성</c:v>
                </c:pt>
                <c:pt idx="5">
                  <c:v>롱컨텍스트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12</c:v>
                </c:pt>
                <c:pt idx="4">
                  <c:v>5</c:v>
                </c:pt>
                <c:pt idx="5">
                  <c:v>3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4F7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발표는 InstructGPT부터 DeepSeek-R1, Qwen3까지 오픈 LLM post-training의 전 범위를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총 7개 섹션으로 구성됩니다. §1-3은 데이터와 SFT, §4-5는 알고리즘, §6-7은 평가와 실용 가이드입니다.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2022년 InstructGPT부터 2025년 DeepSeek-R1까지 패러다임 변화를 추적합니다.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OpenAI의 InstructGPT는 14.7k human demos로 SFT, Bradley-Terry RM 학습, PPO+KL penalty로 정책 최적화. 1.3B InstructGPT가 175B GPT-3보다 선호됨.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DPO는 최적 정책과 reward 사이의 closed-form 관계를 활용. Zephyr-7B가 이를 실증적으로 검증. 학습 안정성 크게 향상.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DeepSeek-R1-Zero는 SFT 없이 GRPO만으로 chain-of-thought가 창발됨을 증명. R1은 cold-start SFT → RL → RS SFT → 최종 RL 4단계.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11가지 주요 데이터 합성 방법론을 정의, 원본 논문, 실제 사용 모델과 함께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합성 방법은 단순 seed 생성에서 복잡도 진화, 교사 증류, 페르소나 다양화, 그리고 reasoning trace 합성으로 발전해왔습니다.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Magpie는 정렬된 LLM의 chat template 구조를 역이용. [INST]만 입력하면 모델이 자연스럽게 user query를 생성. 별도 prompt engineering 불필요.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S1은 1000개만으로 o1-preview를 능가했습니다. 양보다 난이도·다양성·품질이 중요함을 보여줍니다.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주요 오픈 모델들의 SFT 데이터 구성, 규모, 도메인 비율, loss masking 방식을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Loss masking은 모든 SFT의 기본. assistant 발화만 학습. DeepSeek-V3는 시퀀스 패킹 시 샘플 간 attention도 masking해서 상호 영향을 차단.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데이터 규모는 수만(InstructGPT)에서 천만(LLaMA 3.1) 이상으로 폭발적 증가. 단, 규모보다 품질과 도메인 균형이 더 중요함.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Meta는 LLaMA 3에서 PPO를 완전히 버리고 Rejection Sampling + Iterative DPO로 전환. 단순하지만 효과적인 루프로 복잡한 PPO 파이프라인 대체.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R1-Zero와 달리 R1은 cold-start로 가독성/언어 혼재 문제를 먼저 해결하고 RL 진행. Stage 3의 대규모 RS가 핵심.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Gemma 3는 단순 SFT 대신 큰 teacher IT 모델에서 지식 증류를 핵심으로 사용. WARM은 여러 RM을 weight 공간에서 평균내서 reward hacking 방지.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PPO부터 GRPO, DPO 및 변형들, RLVR까지 핵심 알고리즘을 수식과 함께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GRPO는 PPO에서 value network를 제거하고 그룹 내 평균 reward를 baseline으로 사용. GPU 메모리 40~60% 절약. 검증 가능한 reward가 있을 때 특히 효과적.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GRPO는 같은 질문에 G개(보통 8~16개) 응답을 생성하고, 그 reward의 평균/표준편차로 advantage를 정규화합니다. KL penalty는 unbiased estimator를 사용합니다.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SimPO는 reference model도 없고 길이 편향도 완화. 실용적으로 DPO의 좋은 대안. KTO는 preference pair 없이 단순 좋음/나쁨 레이블만으로 학습 가능.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DeepSeek-R1은 신경망 RM을 의도적으로 배제. Rule-based reward만으로 충분한 학습 신호를 제공하고, reward hacking 위험도 원천 차단.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Tulu 3의 핵심 기여. 외부 verifier를 reward로 직접 사용해 reward model의 불확실성 제거. SWE-Bench, MATH 등에서 효과 입증됨.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LLaMA 3.1과 Tulu 3는 Iterative DPO 채택. 매 라운드 현재 정책으로 응답 생성 후 preference 데이터 구성. Distribution shift 최소화.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Reasoning 중심 모델(R1, Qwen3)과 일반 helpfulness 모델(LLaMA, Gemma)의 RL 레시피를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S1의 발견이 특히 중요합니다. 단 1000개의 고품질 reasoning trace로 파인튜닝해도 o1-preview를 능가합니다. 데이터 양보다 난이도와 다양성.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 벤치마크, LM-judge, 인간/Arena 평가 각각의 특성과 한계를 분석합니다.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평가셋 선택이 곧 학습 방향. LiveCodeBench는 동적 업데이트로 contamination 방지. GPQA Diamond는 박사급 과학 문제로 높은 난이도.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 et al.(2024)은 아무 의미 없는 정해진 응답이 AlpacaEval에서 86.5% LC win-rate를 달성할 수 있음을 증명. 단일 벤치마크에만 의존하면 안됩니다.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Chatbot Arena는 금기준이지만 안전성/특수 도메인 평가가 어렵습니다. AlpacaEval LC win-rate는 Arena와 r=0.98로 높은 상관관계. 여러 평가를 병행하세요.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instruction 모델을 만들 때의 데이터 비율, 학습 순서, 평가셋 구성 권장사항입니다.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수학/코딩은 비율보다 품질이 중요. 어려운 문제 위주로 선별. 다국어는 목표 언어(한국어 등)의 비율을 의식적으로 높여야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PPO보다 Iterative DPO + RLVR 조합이 현재 best practice. GRPO는 rule-based reward가 있는 도메인에서만 사용하고, 일반 helpfulness는 DPO로.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한국어 LLM은 영어 학습 데이터만으로는 한국 문화·역사·시조 등을 이해하기 어렵습니다. KMMLU contamination도 주의 필요. LogicKor LM-judge는 GPT-4o 언어 유창성 편향 있음.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2022 InstructGPT부터 2025 R1까지 핵심은 '어떤 데이터를, 어떤 signal로 최적화하느냐'입니다. 알고리즘 선택보다 데이터 품질과 reward 설계가 더 중요합니다.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질문이 있으시면 말씀해주세요. 코드 구현에 대한 다음 단계는 TRL을 사용한 DPO/GRPO 미니멀 예시를 별도로 다룰 예정입니다.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731520"/>
            <a:ext cx="3200400" cy="3200400"/>
          </a:xfrm>
          <a:prstGeom prst="ellipse">
            <a:avLst/>
          </a:prstGeom>
          <a:solidFill>
            <a:srgbClr val="2A3A7A">
              <a:alpha val="70000"/>
            </a:srgbClr>
          </a:solidFill>
          <a:ln w="12700">
            <a:solidFill>
              <a:srgbClr val="A0BC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1371600"/>
            <a:ext cx="1828800" cy="1828800"/>
          </a:xfrm>
          <a:prstGeom prst="ellipse">
            <a:avLst/>
          </a:prstGeom>
          <a:solidFill>
            <a:srgbClr val="F5A623">
              <a:alpha val="3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73152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LLM</a:t>
            </a:r>
            <a:endParaRPr lang="en-US" sz="4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Post-Training</a:t>
            </a:r>
            <a:endParaRPr lang="en-US" sz="4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정복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· RL 레시피 · 데이터 합성 · 평가 종합 비교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201168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14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2026-05-08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4160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InstructGPT → DPO → GRPO → R1 시대까지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 (Agenda)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0BC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5029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32688" y="10515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Post-Training 시대구분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InstructGPT → DPO → Reasoning RL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901952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0BC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901952"/>
            <a:ext cx="5029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0195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32688" y="19476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합성 카탈로그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Self-Instruct / Evol / Magpie / R1-Distill 등 11가지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798064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0BC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798064"/>
            <a:ext cx="5029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9806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32688" y="28437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레시피 비교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/ Qwen / DeepSeek / Gemma / Tulu / Phi / Nemotron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694176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0BC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694176"/>
            <a:ext cx="5029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694176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32688" y="37398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RL/Preference 알고리즘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4078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· DPO 변형 · GRPO · RLVR · DAPO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1005840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0BC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1005840"/>
            <a:ext cx="5029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0058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04688" y="10515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모델별 RL 레시피 비교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04688" y="13898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재현 프로젝트 포함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937760" y="1901952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0BC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37760" y="1901952"/>
            <a:ext cx="5029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1901952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04688" y="19476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방법론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04688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벤치마크 · LM-Judge · Arena · 함정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2798064"/>
            <a:ext cx="4297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A0BC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937760" y="2798064"/>
            <a:ext cx="50292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798064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04688" y="28437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실용 가이드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04688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비율 · 학습 순서 · 한국어 모델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§1 Post-Training 시대구분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InstructGPT (2022) → DPO (2023) → Reasoning RL (2025)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 원년: InstructGPT (2022)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46888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SFT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14.7k human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26080" y="1645920"/>
            <a:ext cx="36576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005840"/>
            <a:ext cx="2468880" cy="1280160"/>
          </a:xfrm>
          <a:prstGeom prst="rect">
            <a:avLst/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RM 학습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1463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Bradley-Terry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 평가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1645920"/>
            <a:ext cx="36576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005840"/>
            <a:ext cx="2468880" cy="1280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005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PPO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1463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penalty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 최적화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solidFill>
            <a:srgbClr val="1E2761">
              <a:alpha val="9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 penalty:  R_total(x,y) = R(x,y) − β × KL(π_θ ‖ π_ref)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1.3B InstructGPT &gt; 175B GPT-3 (인간 평가)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데이터 단 14,700개 (human demos)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PPO-ptx: pretraining gradient 혼합으로 성능 회귀 방지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RM 아님 — 단일 helpfulness RM (LLaMA 2에서 이중화)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 혁명 (2023): Reward Model 없는 Alignment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39319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A0BC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3931920" cy="411480"/>
          </a:xfrm>
          <a:prstGeom prst="rect">
            <a:avLst/>
          </a:prstGeom>
          <a:solidFill>
            <a:srgbClr val="EFF4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RLHF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학습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928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7685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Model 학습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6090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449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최적화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130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penalty 계산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1005840"/>
            <a:ext cx="3931920" cy="3474720"/>
          </a:xfrm>
          <a:prstGeom prst="rect">
            <a:avLst/>
          </a:prstGeom>
          <a:solidFill>
            <a:srgbClr val="FFFFFF"/>
          </a:solidFill>
          <a:ln w="254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1005840"/>
            <a:ext cx="3931920" cy="41148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분류 손실 (Single Loss)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2103120"/>
            <a:ext cx="3749040" cy="7315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10312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-log σ(β·log(πθ(yw)/πref(yw)) − β·log(πθ(yl)/πref(yl)))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20640" y="297180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No reward model training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32918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Stable &amp; no sampling needed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20640" y="36118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Off-policy 가능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393192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Zephyr-7B로 실증 (2023)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06240" y="2743200"/>
            <a:ext cx="64008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0" y="2606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A623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RL 시대: DeepSeek-R1 (2025)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60120"/>
            <a:ext cx="3931920" cy="41148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R1-Zero (순수 RL)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4630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Model (DeepSeek-V3-Base)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5623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GRPO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49424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Reward only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42616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+ Accuracy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358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29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 자발적 창발 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221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Self-reflection 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960120"/>
            <a:ext cx="393192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(4단계 파이프라인)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937760" y="1463040"/>
            <a:ext cx="3931920" cy="658368"/>
          </a:xfrm>
          <a:prstGeom prst="rect">
            <a:avLst/>
          </a:prstGeom>
          <a:solidFill>
            <a:srgbClr val="EFF4FF"/>
          </a:solidFill>
          <a:ln w="6350">
            <a:solidFill>
              <a:srgbClr val="A0BC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609344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609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15087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SFT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0" y="181051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수천 개 long CoT 데이터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937760" y="2212848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A0BC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0" y="2359152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225856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RL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25603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GRPO + rule-based reward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2962656"/>
            <a:ext cx="3931920" cy="658368"/>
          </a:xfrm>
          <a:prstGeom prst="rect">
            <a:avLst/>
          </a:prstGeom>
          <a:solidFill>
            <a:srgbClr val="EFF4FF"/>
          </a:solidFill>
          <a:ln w="6350">
            <a:solidFill>
              <a:srgbClr val="A0BC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3108960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0" y="30083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 Sampling SFT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331012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~800k 샘플 (600k+200k)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3712464"/>
            <a:ext cx="39319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A0BC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0" y="3858768"/>
            <a:ext cx="365760" cy="36576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3858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37581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RL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0" y="40599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Helpfulness + Harmlessness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§2 데이터 합성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카탈로그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Self-Instruct / Evol / Magpie / Persona-Hub / R1-Distill 등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합성 방법 진화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931920"/>
        </p:xfrm>
        <a:graphic>
          <a:graphicData uri="http://schemas.openxmlformats.org/drawingml/2006/table">
            <a:tbl>
              <a:tblPr/>
              <a:tblGrid>
                <a:gridCol w="1645920"/>
                <a:gridCol w="640080"/>
                <a:gridCol w="3017520"/>
                <a:gridCol w="3291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연도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핵심 아이디어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대표 모델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Self-Instruct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2022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175 seed → LLM 자기생성 확장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Alpaca (52k)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Evol-Instruct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In-depth / In-breadth 복잡도 진화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WizardLM, WizardMath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Teacher Distill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2023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대형 모델(GPT-4) reasoning trace 모방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Vicuna, Orca, Phi-3/4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Persona-Hub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10억 페르소나로 관점 다양화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Qwen2.5 (활용)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Magpie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Chat template left-side로 user query 자동 추출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LLaMA-3 계열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Rejection Sampling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다수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Best-of-N 생성 후 reward 필터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LLaMA 2, DeepSeek-R1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Self-Rewarding LM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2024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LLM 자체 judge → Iterative DPO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Meta AI 연구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Constitutional AI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2022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원칙 기반 자기비평·수정 → RLAIF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Claude 시리즈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R1-Distill CoT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Long CoT reasoning trace 증류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OpenR1, S1, Bespoke-Stratos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Magpie: Prompt 없는 Instruction 합성 (ICLR 2025)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2560320" cy="12801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[INST]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(여기까지만)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34640" y="1691640"/>
            <a:ext cx="54864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0" y="1051560"/>
            <a:ext cx="2560320" cy="12801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자동완성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1417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query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자동 생성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1691640"/>
            <a:ext cx="54864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1051560"/>
            <a:ext cx="2560320" cy="12801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10515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생성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0" y="14173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2560320"/>
            <a:ext cx="8595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LLM (예: LLaMA-3-Instruct)의 chat template 구조를 역이용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별도 seed prompt / prompt engineering 완전 불필요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단계: ① instruction 생성  →  ② response 생성  (완전 자동화)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Magpie-Pro-1M 등 대규모 공개 데이터셋 생성에 활용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ICLR 2025 채택 / HuggingFace open-instruct에 통합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Trace 합성: R1-Distill 계열 (2025)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2743200"/>
        </p:xfrm>
        <a:graphic>
          <a:graphicData uri="http://schemas.openxmlformats.org/drawingml/2006/table">
            <a:tbl>
              <a:tblPr/>
              <a:tblGrid>
                <a:gridCol w="2194560"/>
                <a:gridCol w="91440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데이터셋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규모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소스/방법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특징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OpenR1-Math-220k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220k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NuminaMath + DeepSeek-R1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수학 CoT, HuggingFace 공개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S1K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1,000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경시 수학 + Gemini Flash CoT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1k만으로 o1-preview 능가 (MATH)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Bespoke-Stratos-17k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17k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DeepSeek-R1 distill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다양한 도메인 reasoning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NuminaMath-CoT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860k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수학 경시 문제 집성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DeepSeek-R1 학습에 활용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OpenThoughts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~114k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다중 소스 reasoning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과학/수학/코딩 추론 traces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840480"/>
            <a:ext cx="8595360" cy="960120"/>
          </a:xfrm>
          <a:prstGeom prst="rect">
            <a:avLst/>
          </a:prstGeom>
          <a:solidFill>
            <a:srgbClr val="F5A623">
              <a:alpha val="15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인사이트 (S1 논문)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 1,000개의 고난도·다양·고품질 reasoning trace로 파인튜닝 → o1-preview 수학 성능 능가.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양(quantity)보다 난이도(difficulty)·다양성(diversity)·품질(quality)이 결정적.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§3 SFT 레시피 비교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/ Qwen / DeepSeek / Gemma / Tulu / Phi / Nemotron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공통 원칙: Loss Masking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8595360" cy="19202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전체를 -100으로 초기화 (loss 계산 무시)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31216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torch.full_like(input_ids, -100)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741932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Assistant turn 구간만 원래 token ID 복원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956816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start, end in assistant_turns: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171700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labels[start:end] = input_ids[start:end]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601468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loss = cross_entropy(logits, labels)  # -100은 자동 무시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3017520"/>
            <a:ext cx="8595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turn만 loss 계산 → User/System prompt는 -100 마스킹 (학습 대상 아님)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시퀀스 패킹(packing) 시: 샘플 간 attention masking 추가 (DeepSeek-V3 방식)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대화: 각 assistant turn마다 개별 loss 계산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다양화: 다양한 system prompt로 robust한 instruction following 달성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데이터 규모 비교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0584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InstructGPT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1060704"/>
            <a:ext cx="91440" cy="2926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100584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14.7k (Human demos)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49961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1554480"/>
            <a:ext cx="91440" cy="2926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49961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27.5k (Human demos)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99339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Zephyr-7B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2048256"/>
            <a:ext cx="118872" cy="2926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199339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 (dSFT distill)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487168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DeepSeek-R1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0" y="2542032"/>
            <a:ext cx="475488" cy="292608"/>
          </a:xfrm>
          <a:prstGeom prst="rect">
            <a:avLst/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61488" y="2487168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800k (RS 기반)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" y="2980944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Qwen2.5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94560" y="3035808"/>
            <a:ext cx="594360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2980944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1.0M (1M+)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3474720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Phi-4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3529584"/>
            <a:ext cx="832104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18104" y="3474720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1.4M (합성 교재)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4320" y="3968496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DeepSeek-V3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94560" y="4023360"/>
            <a:ext cx="891540" cy="292608"/>
          </a:xfrm>
          <a:prstGeom prst="rect">
            <a:avLst/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7540" y="396849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1.5M (1.5M)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46227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94560" y="4517136"/>
            <a:ext cx="5943600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0" y="44622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10.0M (~10M+)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8006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InstructGPT/LLaMA 2는 인간 작성, 이후 모델들은 대부분 합성 데이터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규모보다 품질·도메인 균형이 실제 성능에 더 중요함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시리즈 SFT/RL 진화: v2 → v3.1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429768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2 (2023)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297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463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SFT: 27,540개 (human-written)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842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 Sampling 먼저 → 이후 PPO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50545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RM: Helpfulness + Safety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02666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reward = c₁·R_help + c₂·R_safety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35478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PPO-ptx: pretraining gradient 혼합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069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 V1~V5 반복 개선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960120"/>
            <a:ext cx="429768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960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 (2024)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4297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1463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SFT: ~10M+ (거의 100% 합성)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198424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완전 폐기 → Iterative DPO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50545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rounds 반복 (RS + SFT + DPO 루프)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302666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On-policy preference pair 생성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354787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On-policy RM으로 best 선택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4069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다국어·롱컨텍스트·코딩 특화 믹스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DeepSeek-R1 4단계 Training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011680" cy="41148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4A556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Cold-Start SFT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96596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수천 개 long CoT 데이터로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추론 패턴 설정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(가독성·언어 혼재 해결)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1673352"/>
            <a:ext cx="164592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0592" y="1005840"/>
            <a:ext cx="2011680" cy="411480"/>
          </a:xfrm>
          <a:prstGeom prst="rect">
            <a:avLst/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50592" y="141732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A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42032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 RL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A3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(GRPO)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96312" y="196596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reward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+ Accuracy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 일관성 reward 추가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62272" y="1673352"/>
            <a:ext cx="164592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26864" y="1005840"/>
            <a:ext cx="201168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26864" y="141732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18304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Sampling SFT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72584" y="196596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~600k reasoning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~200k non-reasoning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800k 합산, 2 epoch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38544" y="1673352"/>
            <a:ext cx="164592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03136" y="1005840"/>
            <a:ext cx="201168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1005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03136" y="1417320"/>
            <a:ext cx="201168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94576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RL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48856" y="196596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프롬프트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Helpfulness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Harmlessness 최적화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017520"/>
            <a:ext cx="8595360" cy="594360"/>
          </a:xfrm>
          <a:prstGeom prst="rect">
            <a:avLst/>
          </a:prstGeom>
          <a:solidFill>
            <a:srgbClr val="E74C3C">
              <a:alpha val="15000"/>
            </a:srgbClr>
          </a:solidFill>
          <a:ln w="1905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017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R1-Zero 버전: Stage 1(Cold-Start SFT) 없이 Base Model에서 GRPO 직접 적용 → CoT·Self-reflection 창발 / 언어 혼재 문제 있음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3749040"/>
            <a:ext cx="8595360" cy="109728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947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format_reward = 1.0 if '&lt;think&gt;' in resp and '&lt;/think&gt;' in resp else 0.0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accuracy_reward = 1.0 if verify_answer(resp, ground_truth) else 0.0   # math: boxed, code: tests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total_reward = accuracy_reward + format_reward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특이 레시피: KD + BOND / WARM / WARP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Distillation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50876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IT 모델에서 soft target 증류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logits/token 샘플링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Pre-training부터 통합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114800" cy="411480"/>
          </a:xfrm>
          <a:prstGeom prst="rect">
            <a:avLst/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0058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BOND (Best-of-N Dist.)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41732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150876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Best-of-N 샘플링 결과로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policy 학습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 초기화에 효과적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017520"/>
            <a:ext cx="411480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017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(Weight-Avg RM)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4290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52044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RM의 weight averaging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hacking 방지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 안정적 RL 신호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017520"/>
            <a:ext cx="4114800" cy="4114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0175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WARP (Weight-Avg RL)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342900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09160" y="352044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RL policy를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space에서 평균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capabilities 보존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함수 (7개 목표 동시 최적화): Helpfulness · Math · Code · Reasoning · Instruction-Following · Multilingual · Safety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§4 RL/Preference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카탈로그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· DPO · GRPO · RLVR · DAPO · REINFORCE++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vs GRPO: 핵심 차이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84048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32918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PPO (InstructGPT / LLaMA 2)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GRPO (DeepSeek / Qwen3)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Value network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필요 (policy 크기)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불필요 — 제거됨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Baseline 추정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Value function V(s)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Group mean reward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GPU 메모리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~2× model memory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~1× (40~60% 절약)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Reward 타입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Neural Reward Model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Rule-based / Verifiable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Stable training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불안정 (reward hacking)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안정적 (rule-based)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사용 모델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InstructGPT, LLaMA 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DeepSeek-Math/R1/V3, Qwen3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주요 도메인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일반 Helpfulness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수학, 코딩, 논리 추론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GRPO 목적함수 (DeepSeek-Math, 2024)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8595360" cy="1280160"/>
          </a:xfrm>
          <a:prstGeom prst="rect">
            <a:avLst/>
          </a:prstGeom>
          <a:solidFill>
            <a:srgbClr val="2A3A7A"/>
          </a:solidFill>
          <a:ln w="12700">
            <a:solidFill>
              <a:srgbClr val="A0BC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J_GRPO(θ) = E [ 1/G · Σᵢ  1/|oᵢ| · Σₜ  { min(rᵢₜ · Âᵢₜ, clip(rᵢₜ, 1-ε, 1+ε) · Âᵢₜ) − β · D_KL[πθ ‖ πref] } ]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2468880"/>
            <a:ext cx="274320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 (그룹 기준선)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834640"/>
            <a:ext cx="2743200" cy="1143000"/>
          </a:xfrm>
          <a:prstGeom prst="rect">
            <a:avLst/>
          </a:prstGeom>
          <a:solidFill>
            <a:srgbClr val="2A3A7A"/>
          </a:solidFill>
          <a:ln w="6350">
            <a:solidFill>
              <a:srgbClr val="A0BC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8803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Âᵢ,ₜ = (rᵢ − mean(r)) / std(r)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= {r₁, r₂, ..., rG}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3566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B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G개 응답의 평균/표준편차로 정규화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54680" y="2468880"/>
            <a:ext cx="274320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 Divergence (Unbiased)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2834640"/>
            <a:ext cx="2743200" cy="1143000"/>
          </a:xfrm>
          <a:prstGeom prst="rect">
            <a:avLst/>
          </a:prstGeom>
          <a:solidFill>
            <a:srgbClr val="2A3A7A"/>
          </a:solidFill>
          <a:ln w="6350">
            <a:solidFill>
              <a:srgbClr val="A0BC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8803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D_KL = πref/πθ − log(πref/πθ) − 1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3566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B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KL 대신 unbiased estimator 사용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35040" y="2468880"/>
            <a:ext cx="274320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Probability Ratio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2834640"/>
            <a:ext cx="2743200" cy="1143000"/>
          </a:xfrm>
          <a:prstGeom prst="rect">
            <a:avLst/>
          </a:prstGeom>
          <a:solidFill>
            <a:srgbClr val="2A3A7A"/>
          </a:solidFill>
          <a:ln w="6350">
            <a:solidFill>
              <a:srgbClr val="A0BC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288036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rᵢₜ = πθ(oᵢ,ₜ|q, oᵢ,&lt;ₜ) / πθ_old(oᵢ,ₜ|q, oᵢ,&lt;ₜ)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80760" y="3566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0BC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PPO 동일한 clipping (ε=0.2)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74320" y="41148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 하이퍼파라미터: G=8~16  |  β=0.01~0.1  |  ε=0.2  |  off-policy training으로 sample efficiency 향상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 및 변형 알고리즘 비교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DPO Loss = −E[log σ(β·log(πθ(yw|x)/πref(yw|x)) − β·log(πθ(yl|x)/πref(yl|x)))]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828800"/>
          <a:ext cx="8595360" cy="306324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1645920"/>
                <a:gridCol w="2651760"/>
                <a:gridCol w="15544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알고리즘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Reference Model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Paired Data 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핵심 특징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사용 모델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DPO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필요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필요 (yw, yl 쌍)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log-ratio 직접 비교, 단순 안정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Zephyr, LLaMA 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IPO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필요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필요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Identity 변환, label noise에 강함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연구 위주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KTO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필요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불필요 (좋음/나쁨 단독)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Kahneman-Tversky utility function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Pair 없을 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ORPO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불필요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필요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Odds-ratio + SFT loss 통합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경량화에 유리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SimPO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불필요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필요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평균 log-prob 정규화, 길이 편향 완화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2024 베스트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Reward 설계 (DeepSeek-R1 방식)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Reward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4173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 내 &lt;think&gt;...&lt;/think&gt; 태그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존재 여부를 체크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추론 과정 명시 강제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3931920" cy="10058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423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format_reward = 1.0 if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"&lt;think&gt;" in response and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"&lt;/think&gt;" in response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0.0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Reward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4173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수학: boxed{} 안 최종 답 검증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코드: 실제 컴파일 + 테스트 실행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→ reward hacking 불가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2377440"/>
            <a:ext cx="3931920" cy="100584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423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acc_reward = 1.0 if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verify_answer(resp, gt)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else 0.0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gt = ground truth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520440"/>
            <a:ext cx="8595360" cy="502920"/>
          </a:xfrm>
          <a:prstGeom prst="rect">
            <a:avLst/>
          </a:prstGeom>
          <a:solidFill>
            <a:srgbClr val="F5A623">
              <a:alpha val="20000"/>
            </a:srgbClr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5204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total_reward = accuracy_reward + format_reward    (신경망 RM 완전 배제 → reward hacking 원천 차단)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11480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Consistency Reward: 입력 언어 = 출력 언어 강제 (R1에서 추가, 언어 혼재 방지)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 Shaping (DAPO): 과도하게 긴 응답에 음수 reward → 길이 폭증 방지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RLVR: Reinforcement Learning with Verifiable Rewards (Tulu 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RM 기반 RL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학습된 신경망 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RM 자체의 불확실성 존재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Reward Hacking 위험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RM 학습 비용 높음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Distribution shift 취약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0" cy="3200400"/>
          </a:xfrm>
          <a:prstGeom prst="rect">
            <a:avLst/>
          </a:prstGeom>
          <a:solidFill>
            <a:srgbClr val="FFFFFF"/>
          </a:solidFill>
          <a:ln w="317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005840"/>
            <a:ext cx="4114800" cy="36576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RLVR (Verifiable Reward)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외부 Verifier 함수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수학: 정답 직접 검증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4688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코드: 실제 실행 검증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9718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IF: 형식 규칙 검증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474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Reward Hacking 원천 차단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2606040"/>
            <a:ext cx="32004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61688" y="2468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A623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4320" y="43434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Tulu 3 (AI2): 완전 공개 레시피 — SFT → On-policy DPO → RLVR / open-instruct: github.com/allenai/open-instruct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vs Offline vs Iterative DPO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200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2194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Offline DPO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Online DPO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Iterative DPO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Preference 데이터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사전 수집 고정 데이터셋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학습 중 on-policy 실시간 생성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라운드별 on-policy 생성 반복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Distribution shift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심함 (고정 분포와 괴리)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최소 (현재 정책 분포)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점진적 최소화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계산 비용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낮음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높음 (실시간 생성 필요)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중간 (라운드 단위)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학습 안정성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안정적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불안정할 수 있음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안정적 (단계적)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대표 사례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Zephyr-7B, 초기 DPO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일부 연구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LLaMA 3.1 (6 rounds), Tulu 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297680"/>
            <a:ext cx="8595360" cy="594360"/>
          </a:xfrm>
          <a:prstGeom prst="rect">
            <a:avLst/>
          </a:prstGeom>
          <a:solidFill>
            <a:srgbClr val="27AE60">
              <a:alpha val="15000"/>
            </a:srgbClr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42976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DPO 루프: [현재 정책으로 응답 생성] → [On-policy RM으로 preference pair 구성] → [DPO 학습] → [반복 6 rounds (LLaMA 3.1)]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§5 모델별 RL 레시피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비교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재현 프로젝트 및 전통 RLHF vs GRPO 비교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재현 프로젝트 현황 (2025)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93192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  <a:gridCol w="2286000"/>
                <a:gridCol w="237744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프로젝트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기반 모델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주요 결과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OpenR1 (HuggingFace)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LLaMA-3/Qwen2.5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GRPO + R1 distill SFT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OpenR1-Math-220k 데이터셋 공개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S1 (Stanford)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Qwen2.5-32B-Instruct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SFT only (1,000개 엄선)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MATH: o1-preview 능가 (Competition Math)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Sky-T1 (NovaSky)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QwQ-32B-Preview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SFT (~17k)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AIME 2024 ~43점 달성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Light-R1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DeepSeek-R1-Distill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Curriculum SFT+DPO+RL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소형 모델 효율적 reasoning 학습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Skywork-OR1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R1-Distill-32B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RL (GRPO 계열)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AIME24: 82.2, R1 능가 (수학)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Open-Reasoner-Zero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다양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R1-Zero 레시피 재현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Cold-start 없는 순수 RL 실험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DAPO (ByteDance)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Qwen2.5-32B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GRPO + 4가지 개선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AIME 50점, R1-Zero 능가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 평가 방법론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벤치마크 · LM-Judge · Arena · 함정과 편향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자동 벤치마크 지도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82296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수학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97280" y="1005840"/>
            <a:ext cx="3429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0058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MATH-500, AIME 24/25, GSM8K, AMC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822960" cy="777240"/>
          </a:xfrm>
          <a:prstGeom prst="rect">
            <a:avLst/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0058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32120" y="1005840"/>
            <a:ext cx="3429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2A3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23560" y="10058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HumanEval+, MBPP+, LiveCodeBench, SWE-Bench Verified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1975104"/>
            <a:ext cx="822960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975104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추론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97280" y="1975104"/>
            <a:ext cx="3429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1975104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GPQA Diamond, BBH, ARC-Challenge, MuSR, ZebraLogic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975104"/>
            <a:ext cx="822960" cy="7772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975104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32120" y="1975104"/>
            <a:ext cx="3429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4A5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1975104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MMLU-Pro, IFEval, FOFO, InfoBench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2944368"/>
            <a:ext cx="822960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94436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다국어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97280" y="2944368"/>
            <a:ext cx="3429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294436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MGSM, MMMLU, C-Eval, CMMLU, KMMLU, HAE-RAE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09160" y="2944368"/>
            <a:ext cx="822960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94436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안전성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32120" y="2944368"/>
            <a:ext cx="3429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3560" y="294436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TruthfulQA, ToxiGen, BBQ, XSTest, WildGuard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913632"/>
            <a:ext cx="822960" cy="777240"/>
          </a:xfrm>
          <a:prstGeom prst="rect">
            <a:avLst/>
          </a:prstGeom>
          <a:solidFill>
            <a:srgbClr val="5C3D99"/>
          </a:solidFill>
          <a:ln w="12700">
            <a:solidFill>
              <a:srgbClr val="5C3D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91363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Tool/Agent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97280" y="3913632"/>
            <a:ext cx="3429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5C3D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88720" y="391363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BFCL, SWE-Bench, AgentBench, T-Eval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913632"/>
            <a:ext cx="822960" cy="777240"/>
          </a:xfrm>
          <a:prstGeom prst="rect">
            <a:avLst/>
          </a:prstGeom>
          <a:solidFill>
            <a:srgbClr val="1A6B6B"/>
          </a:solidFill>
          <a:ln w="12700">
            <a:solidFill>
              <a:srgbClr val="1A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913632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Long-ctx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532120" y="3913632"/>
            <a:ext cx="34290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1A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23560" y="3913632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RULER, LongBench, NeedleHaystack, ZeroSCROLLS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LM-Judge 평가의 편향과 함정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Length Bias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4630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긴 응답을 품질 높다고 판단하는 경향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SimPO, LC Win-Rate로 완화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365760"/>
          </a:xfrm>
          <a:prstGeom prst="rect">
            <a:avLst/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Position Bias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37160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A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4630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 제시된 응답을 선호하는 경향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순서 교체 후 평균 취하기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4114800" cy="365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14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Sycophancy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28803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5A6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9718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제조사/finetuned 모델에 유리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AlpacaEval은 GPT-4 distill에 편향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2514600"/>
            <a:ext cx="4114800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2514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Null Model Attack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2880360"/>
            <a:ext cx="41148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29718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 et al. (2024): 구조화된 고정 응답으로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AlpacaEval LC 86.5% 달성 가능!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27AE60">
              <a:alpha val="12000"/>
            </a:srgbClr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권장: MT-Bench + AlpacaEval 2.0 (LC) + Arena-Hard + Chatbot Arena 복수 병행 / 단일 벤치마크 의존 금지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평가 방법 3종 비교: Arena vs AlpacaEval vs MT-Bench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397764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2286000"/>
                <a:gridCol w="21945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LMSYS Chatbot Arena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AlpacaEval 2.0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MT-Bench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판단자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실제 인간 (크라우드소싱)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GPT-4 Turbo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GPT-4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문제 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실시간 생성 (무제한)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805개 (고정)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80개 (고정)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Contamination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어려움 (실시간)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보통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쉬움 (소규모)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비용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무료 (사용자 기여)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GPT-4 API 비용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GPT-4 API 비용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Arena 상관관계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기준 (gold standard)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Spearman r=0.98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낮음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강점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실제 사용자 반영, 편향 어려움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빠른 자동화, 높은 신뢰도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멀티턴, 카테고리별 분석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약점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느림, 특수 도메인 평가 어려움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GPT-4 finetuned에 유리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소규모, 쉬운 문제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§7 실용 가이드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비율 · 학습 순서 · 한국어 모델 특화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 데이터 구성 권장 비율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475488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12080" y="1005840"/>
          <a:ext cx="3657600" cy="384048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</a:tblGrid>
              <a:tr h="484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도메인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일반 IF (35%)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Instruction following, QA, 창작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수학+코딩 (25%)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고품질 우선 — 비율보다 난이도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멀티턴 (20%)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multi-turn 대화 능력 필수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다국어 (12%)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목표 언어 의식적으로 높여야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안전성 (5%)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거절·경계 설정, 안전 예시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롱컨텍스트 (3%)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128k 이상 긴 문서 처리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Post-Training 권장 파이프라인 (2025 Best Practice)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201168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011680" cy="457200"/>
          </a:xfrm>
          <a:prstGeom prst="rect">
            <a:avLst/>
          </a:prstGeom>
          <a:solidFill>
            <a:srgbClr val="1E2761">
              <a:alpha val="80000"/>
            </a:srgbClr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고품질 SFT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28800"/>
            <a:ext cx="20116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500k~2M 샘플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5760" y="24505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masking (assistant only)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29809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Sequence packing + masking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35112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1e-5 ~ 2e-5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0" y="1965960"/>
            <a:ext cx="164592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1005840"/>
            <a:ext cx="2011680" cy="365760"/>
          </a:xfrm>
          <a:prstGeom prst="rect">
            <a:avLst/>
          </a:prstGeom>
          <a:solidFill>
            <a:srgbClr val="2A3A7A"/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50592" y="1371600"/>
            <a:ext cx="2011680" cy="457200"/>
          </a:xfrm>
          <a:prstGeom prst="rect">
            <a:avLst/>
          </a:prstGeom>
          <a:solidFill>
            <a:srgbClr val="2A3A7A">
              <a:alpha val="80000"/>
            </a:srgbClr>
          </a:solidFill>
          <a:ln w="12700">
            <a:solidFill>
              <a:srgbClr val="2A3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DPO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50592" y="1828800"/>
            <a:ext cx="20116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A3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42032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On-policy preference pair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542032" y="24505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2~6 rounds 반복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42032" y="29809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 = 0.1 ~ 0.5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542032" y="35112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5e-7 ~ 2e-6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62272" y="1965960"/>
            <a:ext cx="164592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1005840"/>
            <a:ext cx="2011680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26864" y="1371600"/>
            <a:ext cx="2011680" cy="457200"/>
          </a:xfrm>
          <a:prstGeom prst="rect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26864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RLVR / GRPO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26864" y="1828800"/>
            <a:ext cx="20116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18304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수학+코딩 도메인 중심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18304" y="24505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reward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18304" y="29809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G=8~16, β_KL=0.01~0.1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18304" y="35112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LR: 1e-6 ~ 5e-6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638544" y="1965960"/>
            <a:ext cx="164592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03136" y="1005840"/>
            <a:ext cx="2011680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03136" y="1005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03136" y="1371600"/>
            <a:ext cx="2011680" cy="457200"/>
          </a:xfrm>
          <a:prstGeom prst="rect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03136" y="1371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튜닝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803136" y="1828800"/>
            <a:ext cx="20116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74C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894576" y="1920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거절·경계 설정 강화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94576" y="24505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Constitutional AI 원칙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894576" y="298094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Safety-Helpfulness 균형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894576" y="3511296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별도 평가셋으로 검증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274320" y="42519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Step 3 (RLVR/GRPO)은 수학·코딩처럼 verifiable reward가 있을 때만. 일반 helpfulness는 Step 2 DPO로 충분.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모델 특화 고려사항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868680"/>
            <a:ext cx="9144000" cy="3657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9875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특화 평가 벤치마크</a:t>
            </a:r>
            <a:endParaRPr lang="en-US" sz="1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25880"/>
          <a:ext cx="4206240" cy="3383280"/>
        </p:xfrm>
        <a:graphic>
          <a:graphicData uri="http://schemas.openxmlformats.org/drawingml/2006/table">
            <a:tbl>
              <a:tblPr/>
              <a:tblGrid>
                <a:gridCol w="1737360"/>
                <a:gridCol w="24688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벤치마크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특징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KMMLU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전문 지식 다지선다, 11개 카테고리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KMMLU-Pro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국가 자격증 시험, 더 높은 난이도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HAE-RAE Bench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한국 문화·언어·상식 이해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HRM8K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한국어 수학 + 영어 이중 언어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LogicKor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논리 추론, LM-Judge (GPT-4o)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4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KoBEST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F3C"/>
                          </a:solidFill>
                        </a:rPr>
                        <a:t>NLU 5개 태스크 (NLI, BoolQ 등)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63440" y="98755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데이터 합성 전략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663440" y="1325880"/>
            <a:ext cx="42062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번역+검증: 영어 고품질 → 한국어 번역 → 품질 필터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Magpie: ChatML로 한국어 instruction 추출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문화 특화: KSAT(수능), 법령, 사회 상식 합성 필수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경어법: 존댓말/반말 혼재 방지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표기 표준화: 한자어 vs 순우리말 vs 차용어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Tokenizer: 한국어는 영어 대비 2~3× 더 많은 토큰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Post-Training의 핵심 교훈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품질 &gt; 규모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34416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S1: 1,000개로 o1-preview 능가. 양보다 난이도·다양성·품질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837944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837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9222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Reward 우선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13055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신경망 RM보다 안전. Reward hacking 원천 차단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24328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25786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On-Policy DPO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91693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 3.1·Tulu 3의 선택. 단순하지만 PPO보다 강력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410712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4107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364992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벤치마크 신뢰 금지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7033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여러 평가 병행. Contamination·judge bias 항상 경계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197096"/>
            <a:ext cx="502920" cy="50292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197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4151376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한국어 = 문화 데이터 별도 필요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489704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번역만으로 부족. 수능·법령·문화 특화 합성 데이터 필수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DeepSeek-R1: arxiv.org/abs/2501.12948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Qwen3 Tech Report: arxiv.org/abs/2505.09388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Tulu 3 (AI2): arxiv.org/abs/2411.15124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open-instruct: github.com/allenai/open-instruct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DPO: arxiv.org/abs/2305.18290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오픈 LLM Post-Training 완전 정복</dc:title>
  <dc:subject>PptxGenJS Presentation</dc:subject>
  <dc:creator>Research Producer</dc:creator>
  <cp:lastModifiedBy>Research Producer</cp:lastModifiedBy>
  <cp:revision>1</cp:revision>
  <dcterms:created xsi:type="dcterms:W3CDTF">2026-05-07T23:07:05Z</dcterms:created>
  <dcterms:modified xsi:type="dcterms:W3CDTF">2026-05-07T23:07:05Z</dcterms:modified>
</cp:coreProperties>
</file>