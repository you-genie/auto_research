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Gaussian Splatting의 기초부터 최신 트렌드까지 종합적으로 살펴보는 발표입니다. 비전공자도 이해할 수 있도록 기초 개념부터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8개의 섹션으로 구성되어 있습니다. 기초 개념부터 시작해서 실제 응용까지 순서대로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컴퓨터 그래픽스의 기본 개념인 래스터화와 레이 트레이싱을 먼저 이해하면, 왜 Gaussian Splatting이 혁신적인지 더 잘 이해할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래스터화는 3D 물체를 수천 개의 삼각형으로 분해하고, 이를 카메라 시점에서 2D 화면으로 투영하는 방식입니다. GPU가 이 작업에 최적화되어 있어 매우 빠르지만, 반사나 굴절 같은 물리적 현상을 정확히 표현하기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 트레이싱은 빛의 물리 법칙을 그대로 시뮬레이션합니다. 사실적이지만 계산 비용이 매우 높아, 영화 한 프레임에 몇 분씩 걸리기도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전통적인 3D 에셋 제작은 아티스트가 모든 것을 수작업으로 만들어야 합니다. 이 질문이 NeRF와 Gaussian Splatting의 탄생 배경입니다.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UC 버클리 팀이 발표한 NeRF는 AI로 3D를 표현하는 패러다임을 바꾼 연구입니다.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NeRF는 3D 모델을 직접 만들지 않고, 신경망이 암묵적으로 3D 공간을 학습합니다. 학습된 신경망 자체가 3D 장면을 표현합니다.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NeRF는 개념적으로 훌륭하지만 속도 문제가 치명적이었습니다. 2020~2023년 동안 Instant-NGP 등 많은 변형이 나왔지만 근본적 한계는 남아있었습니다.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SIGGRAPH에서 발표된 3DGS는 NeRF의 속도 문제를 근본적으로 해결했습니다.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가우시안은 중심에서 멀어질수록 부드럽게 투명해지는 3D 타원형 물체입니다. 수백만 개의 가우시안이 모여 하나의 3D 장면을 구성합니다.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COLMAP으로 카메라 위치와 초기 점구름을 얻은 후, 가우시안을 반복적으로 최적화합니다. 신경망 없이 경사하강법으로 직접 가우시안 파라미터를 최적화하는 점이 특징입니다.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차이는 렌더링 속도입니다. NeRF의 5FPS 대비 3DGS의 100+ FPS는 단순한 속도 차이가 아니라, 실시간 가능 여부의 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렌더링 속도 차이가 핵심입니다. NeRF(~5FPS)는 실시간이 불가능하지만, 3DGS(100+FPS)는 VR/AR에서도 활용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이후 불과 2~3년 만에 동적 장면, 대규모 장면, 생성 AI와의 결합, 표준화까지 빠르게 발전하고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이후 불과 2~3년 만에 동적 장면, 대규모 장면, 생성 AI와의 결합, 표준화까지 빠르게 발전하고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3DGS는 영화, 게임, 자율주행, 디지털 트윈, 문화유산 등 매우 다양한 분야에서 이미 실용화되고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3DGS는 영화, 게임, 자율주행, 디지털 트윈, 문화유산 등 매우 다양한 분야에서 이미 실용화되고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다양한 오픈소스 도구와 표준 파일 형식이 3DGS 생태계를 구성하고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다양한 오픈소스 도구와 표준 파일 형식이 3DGS 생태계를 구성하고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메모리와 호환성 문제가 남아있지만, 표준화와 압축 기술의 발전으로 이르면 2027년경에는 모바일에서도 실시간 3DGS 렌더링이 일반화될 것으로 전망됩니다.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메모리와 호환성 문제가 남아있지만, 표준화와 압축 기술 발전으로 빠르게 해결되고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마칩니다. 3D Gaussian Splatting은 불과 3년 만에 학계에서 산업으로 빠르게 전파된 기술입니다. 질문 있으시면 편하게 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-731520"/>
            <a:ext cx="3200400" cy="3200400"/>
          </a:xfrm>
          <a:prstGeom prst="ellipse">
            <a:avLst/>
          </a:prstGeom>
          <a:solidFill>
            <a:srgbClr val="1B8CA6">
              <a:alpha val="18000"/>
            </a:srgbClr>
          </a:solidFill>
          <a:ln w="12700">
            <a:solidFill>
              <a:srgbClr val="1B8CA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645920"/>
            <a:ext cx="2011680" cy="2011680"/>
          </a:xfrm>
          <a:prstGeom prst="ellipse">
            <a:avLst/>
          </a:prstGeom>
          <a:solidFill>
            <a:srgbClr val="5BC8E8">
              <a:alpha val="12000"/>
            </a:srgbClr>
          </a:solidFill>
          <a:ln w="12700">
            <a:solidFill>
              <a:srgbClr val="5BC8E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정복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몇 장으로 포토리얼 3D 세계를 만드는 기술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486400" cy="0"/>
          </a:xfrm>
          <a:prstGeom prst="line">
            <a:avLst/>
          </a:prstGeom>
          <a:noFill/>
          <a:ln w="1905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 |  2026-03-14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내용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렌더링 기초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536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래스터화 vs 레이 트레이싱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3D를 배우다 (2020)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310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원리 — 가우시안 &amp; 스플래팅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41064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vs 3DGS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달라졌나?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동향 2024–2026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1536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4D, 대규모, 생성 AI 결합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167128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활용 사례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영화·게임·자율주행·디지털 트윈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54096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21808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생태계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3310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도구와 파일 형식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941064"/>
            <a:ext cx="475488" cy="47548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1808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한계와 미래 전망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21808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도전과 로드맵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렌더링의 기초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컴퓨터는 어떻게 3D를 화면에 그릴까?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래스터화 (Rasterization)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11480" y="118872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삼각형 메시 → 2D 화면 투영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병렬 처리에 최적화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초당 60~120 FPS 실시간 렌더링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그래픽의 표준 방식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반사·굴절 표현의 한계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737360"/>
            <a:ext cx="1234440" cy="10058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메시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2267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삼각형 집합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240280"/>
            <a:ext cx="228600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737360"/>
            <a:ext cx="123444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17920" y="2267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시점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52360" y="2240280"/>
            <a:ext cx="228600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1737360"/>
            <a:ext cx="12344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8096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채우기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0960" y="2267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화면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200400"/>
            <a:ext cx="3931920" cy="128016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4632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60~120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20840" y="33375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렌더링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표준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 트레이싱 (Ray Tracing)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11480" y="118872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카메라에서 광선(Ray)을 발사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물체 충돌 시 반사·굴절 계산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광원까지 경로 역추적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물리적으로 정확한 반사·그림자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프레임당 수 분 ~ 수 시간 소요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9319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204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 정확도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609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기반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167128"/>
            <a:ext cx="39319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2231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그림자 품질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완벽한 소프트 섀도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3054096"/>
            <a:ext cx="3931920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3118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 속도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분/프레임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3941064"/>
            <a:ext cx="39319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9204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활용처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영화·광고·VFX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3D 파이프라인의 문제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137160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737360" y="1737360"/>
            <a:ext cx="310896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48256" y="1234440"/>
            <a:ext cx="137160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48256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언래핑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737360"/>
            <a:ext cx="310896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30752" y="1234440"/>
            <a:ext cx="137160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30752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02352" y="1737360"/>
            <a:ext cx="310896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13248" y="1234440"/>
            <a:ext cx="137160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13248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재질(PBR)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84848" y="1737360"/>
            <a:ext cx="310896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95744" y="1234440"/>
            <a:ext cx="1371600" cy="10058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95744" y="1234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리깅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24688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 명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572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아티스트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91840" y="2651760"/>
            <a:ext cx="24688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29184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수개월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329184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 기간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26480" y="2651760"/>
            <a:ext cx="24688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2648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수억 원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12648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1B8CA6">
              <a:alpha val="1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현실을 그냥 사진으로 찍어서 3D로 변환할 수는 없을까?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Radiance Fields — AI가 3D 공간을 배우다 (2020)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NeRF: Neural Radiance Fields (2020)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11480" y="118872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각도에서 찍은 사진 수십~수백 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신경망(MLP)이 3D 공간 전체 학습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점 (x,y,z): 색상 + 불투명도 예측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시점(Novel View) 자동 합성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= 3D 장면 그 자체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0" y="1371600"/>
            <a:ext cx="3657600" cy="7772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사진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17922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N개 시점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0" y="2560320"/>
            <a:ext cx="3657600" cy="7772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학습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29809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최적화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3364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9200" y="3749040"/>
            <a:ext cx="3657600" cy="777240"/>
          </a:xfrm>
          <a:prstGeom prst="rect">
            <a:avLst/>
          </a:prstGeom>
          <a:solidFill>
            <a:srgbClr val="1C3A5E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시점 렌더링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0" y="41696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View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4160520"/>
            <a:ext cx="3657600" cy="6858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160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암묵적(Implicit) 3D 표현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NeRF의 치명적 단점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39319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34440"/>
            <a:ext cx="109728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속도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시간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하루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39319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234440"/>
            <a:ext cx="109728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 속도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56048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FPS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65760" y="3017520"/>
            <a:ext cx="39319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017520"/>
            <a:ext cx="10972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최소 필요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FPS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4754880" y="3017520"/>
            <a:ext cx="39319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017520"/>
            <a:ext cx="109728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56048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장면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56048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어려움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8월, 완전히 다른 접근법이 등장합니다 →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원리 — 가우시안이란? 스플래팅이란?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가우시안(Gaussian)이란?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11480" y="1143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정규분포의 3D 확장 = 부드러운 타원형 덩어리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6459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645920"/>
            <a:ext cx="91440" cy="594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700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020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z)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947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공간 좌표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4048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404872"/>
            <a:ext cx="91440" cy="594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459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 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0020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공분산 행렬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2706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크기·방향·길쭉함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16382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163824"/>
            <a:ext cx="91440" cy="594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0020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구면 조화 함수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34655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시점에 따라 달라지는 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39227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" y="3922776"/>
            <a:ext cx="91440" cy="594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불투명도 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60020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42245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투명도 제어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0" y="1097280"/>
            <a:ext cx="3657600" cy="2560320"/>
          </a:xfrm>
          <a:prstGeom prst="ellipse">
            <a:avLst/>
          </a:prstGeom>
          <a:solidFill>
            <a:srgbClr val="1B8CA6">
              <a:alpha val="15000"/>
            </a:srgbClr>
          </a:solidFill>
          <a:ln w="12700">
            <a:solidFill>
              <a:srgbClr val="1B8CA6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0" y="1554480"/>
            <a:ext cx="2286000" cy="1371600"/>
          </a:xfrm>
          <a:prstGeom prst="ellipse">
            <a:avLst/>
          </a:prstGeom>
          <a:solidFill>
            <a:srgbClr val="5BC8E8">
              <a:alpha val="25000"/>
            </a:srgbClr>
          </a:solidFill>
          <a:ln w="12700">
            <a:solidFill>
              <a:srgbClr val="5BC8E8">
                <a:alpha val="4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0" y="1920240"/>
            <a:ext cx="1097280" cy="7772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부드러운 타원형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가우시안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937760" y="4343400"/>
            <a:ext cx="3840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4343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장면 하나 ≈ 700만 개 가우시안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스플래팅(Splatting) 파이프라인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207008"/>
            <a:ext cx="411480" cy="4114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179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+ COLMAP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453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위치 추정 + 희박 점구름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5780" y="1618488"/>
            <a:ext cx="0" cy="283464"/>
          </a:xfrm>
          <a:prstGeom prst="line">
            <a:avLst/>
          </a:prstGeom>
          <a:noFill/>
          <a:ln w="19050">
            <a:solidFill>
              <a:srgbClr val="1B8CA6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20040" y="1965960"/>
            <a:ext cx="411480" cy="4114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→ 가우시안 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점을 초기 가우시안으로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5780" y="2377440"/>
            <a:ext cx="0" cy="283464"/>
          </a:xfrm>
          <a:prstGeom prst="line">
            <a:avLst/>
          </a:prstGeom>
          <a:noFill/>
          <a:ln w="19050">
            <a:solidFill>
              <a:srgbClr val="1B8CA6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20040" y="2724912"/>
            <a:ext cx="411480" cy="4114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 &amp; 비교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가우시안으로 렌더링 → 실사진 비교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5780" y="3136392"/>
            <a:ext cx="0" cy="283464"/>
          </a:xfrm>
          <a:prstGeom prst="line">
            <a:avLst/>
          </a:prstGeom>
          <a:noFill/>
          <a:ln w="19050">
            <a:solidFill>
              <a:srgbClr val="1B8CA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20040" y="3483864"/>
            <a:ext cx="411480" cy="4114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조정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3730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경사하강법으로 가우시안 속성 최적화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25780" y="3895344"/>
            <a:ext cx="0" cy="283464"/>
          </a:xfrm>
          <a:prstGeom prst="line">
            <a:avLst/>
          </a:prstGeom>
          <a:noFill/>
          <a:ln w="19050">
            <a:solidFill>
              <a:srgbClr val="1B8CA6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320040" y="4242816"/>
            <a:ext cx="411480" cy="4114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242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2960" y="4215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제어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2960" y="4489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복제 / 분할 / 제거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12080" y="1143000"/>
            <a:ext cx="35661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212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제어 전략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349240" y="1737360"/>
            <a:ext cx="329184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58968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복제 (Clone)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58968" y="20756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가우시안 + 큰 에러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49240" y="2606040"/>
            <a:ext cx="329184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58968" y="2651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(Split)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458968" y="29443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가우시안 + 큰 에러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349240" y="3474720"/>
            <a:ext cx="329184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58968" y="3520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 (Prune)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458968" y="38130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불투명도 낮은 가우시안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212080" y="4572000"/>
            <a:ext cx="3566160" cy="411480"/>
          </a:xfrm>
          <a:prstGeom prst="rect">
            <a:avLst/>
          </a:prstGeom>
          <a:solidFill>
            <a:srgbClr val="1B8CA6">
              <a:alpha val="1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1208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3단계~5단계 반복 → 수만 회 이터레이션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vs 3DGS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달라졌나? 속도 혁명의 시작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vs 3D Gaussian Splatting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560320" cy="457200"/>
          </a:xfrm>
          <a:prstGeom prst="rect">
            <a:avLst/>
          </a:prstGeom>
          <a:solidFill>
            <a:srgbClr val="1C3A5E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80360" y="1097280"/>
            <a:ext cx="2926080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8036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06440" y="1097280"/>
            <a:ext cx="2926080" cy="457200"/>
          </a:xfrm>
          <a:prstGeom prst="rect">
            <a:avLst/>
          </a:prstGeom>
          <a:solidFill>
            <a:srgbClr val="1B8CA6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1554480"/>
            <a:ext cx="2560320" cy="530352"/>
          </a:xfrm>
          <a:prstGeom prst="rect">
            <a:avLst/>
          </a:prstGeom>
          <a:solidFill>
            <a:srgbClr val="EB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5544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 방식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80360" y="1554480"/>
            <a:ext cx="292608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1554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암묵적 (신경망)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06440" y="1554480"/>
            <a:ext cx="292608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1554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명시적 (가우시안)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2103120"/>
            <a:ext cx="2560320" cy="530352"/>
          </a:xfrm>
          <a:prstGeom prst="rect">
            <a:avLst/>
          </a:prstGeom>
          <a:solidFill>
            <a:srgbClr val="EB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103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880360" y="210312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71800" y="21031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시간 ~ 하루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06440" y="210312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21031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 분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0040" y="2651760"/>
            <a:ext cx="2560320" cy="530352"/>
          </a:xfrm>
          <a:prstGeom prst="rect">
            <a:avLst/>
          </a:prstGeom>
          <a:solidFill>
            <a:srgbClr val="EB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 속도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880360" y="2651760"/>
            <a:ext cx="292608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71800" y="2651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FPS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06440" y="2651760"/>
            <a:ext cx="292608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97880" y="2651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FPS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0040" y="3200400"/>
            <a:ext cx="2560320" cy="530352"/>
          </a:xfrm>
          <a:prstGeom prst="rect">
            <a:avLst/>
          </a:prstGeom>
          <a:solidFill>
            <a:srgbClr val="EB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200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가능성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880360" y="320040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71800" y="32004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806440" y="320040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97880" y="32004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편집 가능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20040" y="3749040"/>
            <a:ext cx="2560320" cy="530352"/>
          </a:xfrm>
          <a:prstGeom prst="rect">
            <a:avLst/>
          </a:prstGeom>
          <a:solidFill>
            <a:srgbClr val="EB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" y="3749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공간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2880360" y="3749040"/>
            <a:ext cx="292608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71800" y="37490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 (신경망 가중치)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806440" y="3749040"/>
            <a:ext cx="292608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97880" y="37490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 (수 GB)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20040" y="4297680"/>
            <a:ext cx="2560320" cy="530352"/>
          </a:xfrm>
          <a:prstGeom prst="rect">
            <a:avLst/>
          </a:prstGeom>
          <a:solidFill>
            <a:srgbClr val="EB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1480" y="4297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 적합성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2880360" y="429768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71800" y="42976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불가능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806440" y="429768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97880" y="42976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1B8CA6">
              <a:alpha val="12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20배 빠른 학습 + 20배 빠른 렌더링 = 실시간 가능의 혁명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발전 동향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2024–2026: 4D, 대규모, 생성 AI,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 주요 발전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7432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43000"/>
            <a:ext cx="2743200" cy="1097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CVPR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563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Gaussian Splatting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9476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장면 실시간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FPS (RTX 3090)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43000"/>
            <a:ext cx="27432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NVIDIA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1563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4D-Rotor GS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19476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 FPS (RTX 3090)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583 FPS (RTX 4090)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143000"/>
            <a:ext cx="27432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14300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ICCV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63640" y="1563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4DGS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19476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가우시안 수 93% 감소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0.91M → 13M 비교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063240"/>
            <a:ext cx="2743200" cy="1097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27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2024~2025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148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CityGaussian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11480" y="38679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전체 실시간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전략 적용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5B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063240"/>
            <a:ext cx="2743200" cy="109728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37560" y="3227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CVPR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33756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GaussianCity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37560" y="38679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3D 도시 생성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Manhattan·Brooklyn 평가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72200" y="3063240"/>
            <a:ext cx="27432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63640" y="3227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6364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표준화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63640" y="38679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Khronos 공식 채택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SPZ 압축 포맷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활용 사례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영화·게임·자율주행·디지털 트윈·문화유산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활용 사례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43000"/>
            <a:ext cx="2743200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&amp; VFX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촬영지 → 가상 세트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 AI 4DGS: $1.7M 투자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슬로우모션 50fps 지원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143000"/>
            <a:ext cx="27432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5848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개발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55848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없이 실사 에셋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Niantic (포켓몬GO) 활용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PBR 재질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08776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08776" y="1143000"/>
            <a:ext cx="2743200" cy="914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0216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0216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SplatAD: 카메라+LiDAR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환경 시뮬레이션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VR-Drive (2025)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31089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3108960"/>
            <a:ext cx="4069080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273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트윈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11480" y="3657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내부 3DGS 스캔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재질 정보 포함 모델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GSAVS 시뮬레이터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31089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108960"/>
            <a:ext cx="40690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3273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문화유산 보존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3657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유적·유물 디지털 보존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SIGGRAPH 2025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사진만으로 완벽 보존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생태계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도구와 파일 형식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오픈소스 도구 &amp; 파일 형식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/ 렌더링 도구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5087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08760"/>
            <a:ext cx="91440" cy="64008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63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gaussian-splatting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8379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INRIA (원저자) — 오리지널 공식 구현체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313432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313432"/>
            <a:ext cx="91440" cy="64008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gsplat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26426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nerfstudio-project — CUDA 가속, Python 바인딩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11810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118104"/>
            <a:ext cx="91440" cy="64008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OpenSplat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447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pierotofy — C++ 경량, CPU/GPU 지원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39227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922776"/>
            <a:ext cx="91440" cy="64008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LichtFeld Studio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MrNeRF — C++23 + CUDA 12.8+ 고성능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463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형식 표준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846320" y="15087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19472" y="1618488"/>
            <a:ext cx="640080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16184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.ply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50992" y="1563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50992" y="18379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점구름 포맷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2313432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19472" y="2423160"/>
            <a:ext cx="640080" cy="402336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24231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.splat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650992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 Binary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50992" y="26426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최적화된 바이너리 포맷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46320" y="311810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919472" y="3227832"/>
            <a:ext cx="640080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19472" y="32278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.spz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650992" y="3172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SPZ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650992" y="34472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Niantic 고압축 포맷 (오픈소스)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846320" y="39227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919472" y="4032504"/>
            <a:ext cx="640080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19472" y="403250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650992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확장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650992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Khronos 표준화 (2025년 발표)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뷰어: SuperSplat (브라우저) | Luma AI (모바일) | Scaniverse (iOS/Android)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6766560" cy="54864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1005840" cy="100584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한계와 미래 전망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도전과 3DGS의 로드맵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 &amp; 미래 전망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3931920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수 GB — 모바일 배포 어려움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반사·투명 표현 한계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메시 파이프라인 호환 문제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카메라 이동 시 팝핑 아티팩트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야외 대규모 장면 품질 저하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92040" y="1051560"/>
            <a:ext cx="39319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전망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92040" y="1508760"/>
            <a:ext cx="393192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563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2026~2027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83480" y="183794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실시간 3DGS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웹 표준 완성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2624328"/>
            <a:ext cx="3931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2027~2030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83480" y="2953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엔진 기본 에셋 포맷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시뮬레이션 표준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92040" y="3739896"/>
            <a:ext cx="393192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3794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전망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8348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"3D의 JPEG" — 웹 보편 포맷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글래스 실시간 렌더링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"3D Gaussian Splatting: 18개월 만에 연구에서 실용으로"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8CA6">
              <a:alpha val="10000"/>
            </a:srgbClr>
          </a:solidFill>
          <a:ln w="12700">
            <a:solidFill>
              <a:srgbClr val="1B8CA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5BC8E8">
              <a:alpha val="10000"/>
            </a:srgbClr>
          </a:solidFill>
          <a:ln w="12700">
            <a:solidFill>
              <a:srgbClr val="5BC8E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= 수백만 개 가우시안으로 3D 장면 표현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대비 20× 빠른 학습 + 100+ FPS 실시간 렌더링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영화·게임·자율주행·디지털 트윈 등 실용화 진행 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GS, 대규모 도시, glTF 표준화 등 빠른 발전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"3D의 JPEG"를 향한 여정이 시작됐다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3017520" cy="2286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6072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환영합니다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0"/>
          </a:xfrm>
          <a:prstGeom prst="line">
            <a:avLst/>
          </a:prstGeom>
          <a:noFill/>
          <a:ln w="12700">
            <a:solidFill>
              <a:srgbClr val="1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repo-sam.inria.fr/fungraph/3d-gaussian-splatting/  |  arxiv.org/abs/2310.08528  |  huggingface.co/blog/gaussian-splatting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Gaussian Splatting 완전 정복</dc:title>
  <dc:subject>PptxGenJS Presentation</dc:subject>
  <dc:creator>Research Team</dc:creator>
  <cp:lastModifiedBy>Research Team</cp:lastModifiedBy>
  <cp:revision>1</cp:revision>
  <dcterms:created xsi:type="dcterms:W3CDTF">2026-03-14T12:00:33Z</dcterms:created>
  <dcterms:modified xsi:type="dcterms:W3CDTF">2026-03-14T12:00:33Z</dcterms:modified>
</cp:coreProperties>
</file>