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성능 향상 (%p)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ProRL only</c:v>
                </c:pt>
              </c:strCache>
            </c:strRef>
          </c:tx>
          <c:spPr>
            <a:solidFill>
              <a:srgbClr val="8497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E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Math</c:v>
                  </c:pt>
                  <c:pt idx="1">
                    <c:v>Coding</c:v>
                  </c:pt>
                  <c:pt idx="2">
                    <c:v>STEM (GPQA Diamond)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0.63</c:v>
                </c:pt>
                <c:pt idx="1">
                  <c:v>0.95</c:v>
                </c:pt>
                <c:pt idx="2">
                  <c:v>0.13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 GooseReason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E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Math</c:v>
                  </c:pt>
                  <c:pt idx="1">
                    <c:v>Coding</c:v>
                  </c:pt>
                  <c:pt idx="2">
                    <c:v>STEM (GPQA Diamond)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2.71</c:v>
                </c:pt>
                <c:pt idx="1">
                  <c:v>2.12</c:v>
                </c:pt>
                <c:pt idx="2">
                  <c:v>3.48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E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발표는 ICML 2026에 제출된 Golden Goose 논문(arXiv 2601.22975)을 소개합니다. RLVR(Reinforcement Learning with Verifiable Rewards)의 핵심 데이터 병목 문제를 데이터-centric 방식으로 해결하는 접근법입니다.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발표는 문제 정의부터 실험 결과까지 논리적 순서로 구성되어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RLVR의 두 가지 구조적 한계입니다. 첫째, 자동 검증이 가능한 단답형 데이터만 사용 가능합니다. 둘째, 강한 모델일수록 유효 샘플 비율이 줄어드는 포화 현상이 발생합니다. ProRL-1.5B-v2는 136K 샘플 중 25%만 유효하고, Qwen-4B-Instruct는 300 step 만에 성능 하락이 시작됩니다.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Golden Goose의 핵심은 매우 단순합니다. 어떤 텍스트든 핵심 구간을 지우고 그 빈칸에 무엇이 들어가야 하는지를 고르는 객관식 문제로 변환하면, 정답(원본 구간)과의 단순 매칭으로 자동 검증이 가능해집니다. LLM-as-judge가 필요 없어 RL 루프 내 추가 비용이 0입니다.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파이프라인은 4단계로 구성됩니다. GPT-5를 활용해 마스킹, distractor 생성, 노이즈 처리를 자동화합니다. 마지막 난이도 필터링으로 학습 신호가 없는 문제(너무 쉬운 문제)를 제거하여 effective sample 비율을 최대화합니다.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Open-ended 방식 대신 MCQ를 선택한 이유는 두 가지입니다. 첫째, 자동 검증 비용이 0입니다. 둘째, RL-튜닝된 모델은 빈칸 채우기 지시를 무시하고 처음부터 문제를 풀어버리는 경향이 있어, 실제로 83% 이상의 샘플에서 학습 신호가 없었습니다. 선택지 수는 3개면 너무 쉽고, 9개일 때 medium-difficulty 문제 비율이 70% 이상으로 최적화됩니다.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GooseReason-0.7M은 세 개의 대형 코퍼스를 변환하여 만들었습니다. 세 corpus 모두 기존 RLVR에서는 검증 불가능성으로 사용하지 못했습니다. 변환 후 유효 샘플 비율이 ProRL의 25%에서 70%로 대폭 향상되었으며, 절대 유효 샘플 수는 13배 증가합니다.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이미 강력하게 학습된 ProRL-1.5B-v2 위에 GooseReason 데이터를 추가하면 모든 도메인에서 성능이 크게 향상됩니다. 특히 STEM에서 0.13%에서 3.48%로 격차가 가장 크게 벌어지는데, 이는 기존 RLVR 데이터에서 부족했던 일반 과학 영역을 MegaScience 기반 GooseReason 데이터가 채워주기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더 극단적인 사례입니다. Qwen-4B-Instruct에 ProRL을 계속 적용하면 수학과 STEM에서 오히려 성능이 하락합니다. 반면 GooseReason 데이터를 추가하면 전 도메인에서 2% 이상 향상됩니다. 결과 모델 GooseReason-4B-Instruct는 4B 카테고리 SOTA를 달성하며, 7.5배 큰 Qwen3-30B-Instruct와 동등한 성능을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사이버보안은 기존에 오픈소스 RLVR 데이터가 전혀 없던 도메인입니다. GooseReason 파이프라인으로 Primus 코퍼스에서 180K 태스크를 만들어 100 step만 학습했더니, 8B 모델에 광범위한 도메인 학습을 적용한 이전 SOTA(+1.44%)를 크게 능가하는 +4.44% 향상을 달성했습니다.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저자들은 Dual-use 우려와 편향 상속을 Impact Statements에서 명시적으로 다룹니다. 개념적으로는 GPT-5 의존성과 reward hacking 가능성이 추가 한계입니다. 향후 법률·의학처럼 전문 문헌이 풍부하지만 검증 가능 데이터가 부족한 도메인으로의 확장이 자연스러운 다음 단계입니다.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Golden Goose의 핵심 기여는 패러다임 전환입니다. 데이터 양의 부족이 아닌 검증 가능성의 부족이 RLVR 스케일업의 진짜 병목이며, Fill-in-the-Middle을 MCQ로 변환하는 단순한 트릭으로 그 병목을 우회할 수 있습니다. 이 접근법은 알고리즘 수정 없이 데이터만으로 포화된 모델을 다시 학습시킬 수 있다는 점에서 실용적 가치가 높습니다.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62D45"/>
          </a:solidFill>
          <a:ln w="12700">
            <a:solidFill>
              <a:srgbClr val="16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73152" cy="514350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Goose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불가능한 인터넷 텍스트로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무한 RLVR 데이터 만들기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3337560"/>
            <a:ext cx="5029200" cy="36576"/>
          </a:xfrm>
          <a:prstGeom prst="rect">
            <a:avLst/>
          </a:prstGeom>
          <a:solidFill>
            <a:srgbClr val="2E4E6A"/>
          </a:solidFill>
          <a:ln w="12700">
            <a:solidFill>
              <a:srgbClr val="2E4E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49300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4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 et al., NVIDIA / UW  ·  ICML 2026  ·  arXiv 2601.22975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2026-05-08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49440" y="16459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ICML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49440" y="2926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4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4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2601.22975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502920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106070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4081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4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RLVR의 데이터 병목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93392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93392"/>
            <a:ext cx="502920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93392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2048256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아이디어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3957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4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Fill-in-the-Middle → MCQ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80944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80944"/>
            <a:ext cx="502920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80944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303580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합성 파이프라인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3832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4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마스킹 · Distractor · 필터링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968496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68496"/>
            <a:ext cx="502920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68496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51560" y="402336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선택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43708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4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MCQ? 왜 9-choice?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100584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005840"/>
            <a:ext cx="502920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00584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40680" y="106070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데이터셋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40680" y="14081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4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GooseReason-0.7M &amp; Cyber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1993392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1993392"/>
            <a:ext cx="502920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993392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440680" y="2048256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결과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0680" y="23957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4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포화 극복 · 사이버보안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2980944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2980944"/>
            <a:ext cx="502920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2980944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440680" y="303580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한계와 향후 방향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40680" y="33832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4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법률 · 의학으로 확장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RLVR의 데이터 병목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54864" cy="3657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875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1 · 검증 가능성 형식 제약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A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단답형만 사용 가능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A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 증명 · 의학 진단 · 자유서술형 전부 폐기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A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방대한 인터넷 텍스트 활용 불가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834640"/>
            <a:ext cx="3566160" cy="658368"/>
          </a:xfrm>
          <a:prstGeom prst="rect">
            <a:avLst/>
          </a:prstGeom>
          <a:solidFill>
            <a:srgbClr val="FDF0EF"/>
          </a:solidFill>
          <a:ln w="12700">
            <a:solidFill>
              <a:srgbClr val="F5C6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8950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인터넷 텍스트의 대부분은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RLVR 학습에서 사용 불가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14400"/>
            <a:ext cx="54864" cy="36576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9875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2 · Data Saturation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4447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A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ProRL-1.5B-v2: 유효 샘플 25%에 불과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A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Qwen-4B-Instruct: 300 step 후 regression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A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해결책: 알고리즘 수정 → 한계 동일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83480" y="2834640"/>
            <a:ext cx="3566160" cy="658368"/>
          </a:xfrm>
          <a:prstGeom prst="rect">
            <a:avLst/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288950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강한 모델일수록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saturation이 빨리 온다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5902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Goose의 접근: 알고리즘 수정 X  →  데이터-centric 방식으로 병목 우회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spc="200" kern="0" dirty="0">
                <a:solidFill>
                  <a:srgbClr val="84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아이디어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8046720" cy="1920240"/>
          </a:xfrm>
          <a:prstGeom prst="rect">
            <a:avLst/>
          </a:prstGeom>
          <a:solidFill>
            <a:srgbClr val="162D45"/>
          </a:solidFill>
          <a:ln w="2540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868680"/>
            <a:ext cx="7680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"검증 불가능한 텍스트를 MCQ로 감싸면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검증이 가능해진다"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2926080"/>
            <a:ext cx="2560320" cy="1463040"/>
          </a:xfrm>
          <a:prstGeom prst="rect">
            <a:avLst/>
          </a:prstGeom>
          <a:solidFill>
            <a:srgbClr val="162D45"/>
          </a:solidFill>
          <a:ln w="1270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926080"/>
            <a:ext cx="2560320" cy="54864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0175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Fill-in-the-Middle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40156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9-choice MCQ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2926080"/>
            <a:ext cx="2560320" cy="1463040"/>
          </a:xfrm>
          <a:prstGeom prst="rect">
            <a:avLst/>
          </a:prstGeom>
          <a:solidFill>
            <a:srgbClr val="162D45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2926080"/>
            <a:ext cx="256032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30175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함수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340156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predicted_option == gold_option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2926080"/>
            <a:ext cx="2560320" cy="1463040"/>
          </a:xfrm>
          <a:prstGeom prst="rect">
            <a:avLst/>
          </a:prstGeom>
          <a:solidFill>
            <a:srgbClr val="162D45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2926080"/>
            <a:ext cx="256032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30175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LLM-as-judge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340156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불필요  →  추가 비용 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합성 파이프라인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192024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993392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GPT-5가 핵심 reasoning 구간 t 식별 및 마스킹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S_mask 생성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58568" y="2542032"/>
            <a:ext cx="201168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2432304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96312" y="960120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96312" y="960120"/>
            <a:ext cx="192024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96312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87752" y="148132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Distractor 생성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87752" y="1993392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스타일 유사하나 맥락상 부정확한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선택지 D = {d₁,...,d₉} 생성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34840" y="2542032"/>
            <a:ext cx="201168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2432304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72584" y="960120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72584" y="960120"/>
            <a:ext cx="192024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72584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64024" y="148132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노이즈 처리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64024" y="1993392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거친 웹 텍스트 → GPT-5가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교육적 passage로 추출/요약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11112" y="2542032"/>
            <a:ext cx="201168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02552" y="2432304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48856" y="960120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48856" y="960120"/>
            <a:ext cx="192024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48856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40296" y="148132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난이도 필터링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40296" y="1993392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16회 rollout 전부 성공 시 제거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(학습 신호 없는 문제 배제)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4407408"/>
            <a:ext cx="850392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43484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산출물:  MCQ = ( S_mask ,  { t }  ∪  D 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선택의 근거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54864" cy="3840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Open-ended 방식의 실패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A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LLM-as-judge 비용 폭증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A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RL-튜닝 모델이 instruction 무시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A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문제를 처음부터 풀어버리는 경향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852928"/>
            <a:ext cx="3566160" cy="868680"/>
          </a:xfrm>
          <a:prstGeom prst="rect">
            <a:avLst/>
          </a:prstGeom>
          <a:solidFill>
            <a:srgbClr val="FDF0EF"/>
          </a:solidFill>
          <a:ln w="12700">
            <a:solidFill>
              <a:srgbClr val="F5C6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71216"/>
            <a:ext cx="914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83%+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664208" y="2907792"/>
            <a:ext cx="2377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샘플에서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0%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학습 신호 없음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60120"/>
            <a:ext cx="54864" cy="3840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024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선택지 수 최적화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83480" y="1463040"/>
            <a:ext cx="3566160" cy="960120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152704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3-choice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44768" y="1527048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너무 쉬움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Elimination 전략 사용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신호 부족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83480" y="2542032"/>
            <a:ext cx="3566160" cy="1097280"/>
          </a:xfrm>
          <a:prstGeom prst="rect">
            <a:avLst/>
          </a:prstGeom>
          <a:solidFill>
            <a:srgbClr val="F0FFF4"/>
          </a:solidFill>
          <a:ln w="12700">
            <a:solidFill>
              <a:srgbClr val="A8E6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2596896"/>
            <a:ext cx="10058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9-choice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44768" y="2596896"/>
            <a:ext cx="22860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70%+ 문제가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medium-difficulty 달성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학습 신호 최대화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GooseReason-0.7M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4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RLVR에서 쓰지 못했던 3개 corpus 활용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70432"/>
          <a:ext cx="841248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286000"/>
                <a:gridCol w="21945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규모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도메인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기존 RLVR 장벽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AoPS-Instruct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~600K QA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Olympiad 수학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노이즈 많음 · 증명 검증 불가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rStar-Coder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1,656K (testcase 없는 split)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경쟁 코딩 (IOI, Codeforces)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testcase 부재 → RL 불가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MegaScience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~650K QA / 12K 교과서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물리·생물·화학·의학·CS·경제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자유서술형 · 검증 불가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639312"/>
            <a:ext cx="8412480" cy="11887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3639312"/>
            <a:ext cx="73152" cy="11887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37033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Ratio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40690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ProRL  25%   →   GooseReason  70%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0" y="363931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+450K 유효 샘플 · 13×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1 · Data Saturation Revival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4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ProRL-1.5B-v2 + GooseReason-0.7M  (추가 1,100 H100 hours)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170432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97880" y="1170432"/>
            <a:ext cx="2880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97880" y="1170432"/>
            <a:ext cx="54864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62472" y="124358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+3.48%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062472" y="168249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4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STEM 향상  ·  가장 큰 격차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97880" y="2231136"/>
            <a:ext cx="2880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97880" y="2231136"/>
            <a:ext cx="54864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62472" y="23042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25%→70%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062472" y="27432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4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ratio  ·  유효 샘플 13×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97880" y="3291840"/>
            <a:ext cx="2880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97880" y="3291840"/>
            <a:ext cx="54864" cy="914400"/>
          </a:xfrm>
          <a:prstGeom prst="rect">
            <a:avLst/>
          </a:prstGeom>
          <a:solidFill>
            <a:srgbClr val="8497B0"/>
          </a:solidFill>
          <a:ln w="12700">
            <a:solidFill>
              <a:srgbClr val="8497B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62472" y="336499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4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1,100h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062472" y="38039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4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H100  ·  대비 대폭 향상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65760" y="4590288"/>
            <a:ext cx="8412480" cy="347472"/>
          </a:xfrm>
          <a:prstGeom prst="rect">
            <a:avLst/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461772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STEM 격차 가장 큼 — 기존 RLVR에 없던 일반 과학 영역을 GooseReason(MegaScience)이 충당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2 · 강한 모델의 Saturation Revival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4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Qwen-4B-Instruct  (300 step 후 regression 발생)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70432"/>
          <a:ext cx="8412480" cy="1920240"/>
        </p:xfrm>
        <a:graphic>
          <a:graphicData uri="http://schemas.openxmlformats.org/drawingml/2006/table">
            <a:tbl>
              <a:tblPr/>
              <a:tblGrid>
                <a:gridCol w="2560320"/>
                <a:gridCol w="2926080"/>
                <a:gridCol w="29260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도메인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ProRL 계속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GooseReason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-1.29%  (regression)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+2.18%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45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+0.43%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+2.24%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-1.52%  (regression)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+2.40%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246120"/>
            <a:ext cx="8412480" cy="1508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" y="33375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GooseReason-4B-Instruct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37490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4B-Instruct 카테고리 SOTA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7.5× 큰 Qwen3-30B-Instruct와 동등 이상의 성능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3 · Cybersecurity 도메인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4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GooseReason-Cyber: 180K RLVR tasks from Primus corpus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4114800" cy="2103120"/>
          </a:xfrm>
          <a:prstGeom prst="rect">
            <a:avLst/>
          </a:prstGeom>
          <a:solidFill>
            <a:srgbClr val="162D45"/>
          </a:solidFill>
          <a:ln w="2540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70432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+4.44%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1214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Qwen-4B + GooseReason-Cyber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5054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4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 100 step RLVR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1078992"/>
            <a:ext cx="4114800" cy="2103120"/>
          </a:xfrm>
          <a:prstGeom prst="rect">
            <a:avLst/>
          </a:prstGeom>
          <a:solidFill>
            <a:srgbClr val="1A2A3A"/>
          </a:solidFill>
          <a:ln w="25400">
            <a:solidFill>
              <a:srgbClr val="8497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170432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84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+1.44%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120640" y="21214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Llama-3.1-8B Primus-Instruct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0" y="25054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4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이전 SOTA · 광범위 도메인 학습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60520" y="1627632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7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3310128"/>
            <a:ext cx="8229600" cy="475488"/>
          </a:xfrm>
          <a:prstGeom prst="rect">
            <a:avLst/>
          </a:prstGeom>
          <a:solidFill>
            <a:srgbClr val="162D45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46704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4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벤치마크:  CTI-Bench  ·  CyberMetric  ·  SecEval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8229600" cy="384048"/>
          </a:xfrm>
          <a:prstGeom prst="rect">
            <a:avLst/>
          </a:prstGeom>
          <a:solidFill>
            <a:srgbClr val="162D45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931920"/>
            <a:ext cx="54864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968496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4B · 100 step RLVR  이  8B · 광범위 도메인 학습을 능가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8229600" cy="384048"/>
          </a:xfrm>
          <a:prstGeom prst="rect">
            <a:avLst/>
          </a:prstGeom>
          <a:solidFill>
            <a:srgbClr val="162D45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434840"/>
            <a:ext cx="54864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471416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오픈소스 사이버보안 RLVR 데이터: 0개  →  180K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한계와 향후 방향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54864" cy="3840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Dual-use  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7739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사이버보안 능력 향상은 공격에도 적용 가능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편향 상속  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5786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인터넷 텍스트의 bias · toxicity 전파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0906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 의존  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383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파이프라인 비용 · 라이선스 종속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8953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hacking  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41879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trace 품질 미평가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96012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960120"/>
            <a:ext cx="54864" cy="3840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024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방향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14813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법률 · 의학 확장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1828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전문 문헌 풍부 · 검증 데이터 부족 → Golden Goose 적합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2532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선택지 수 재탐색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2880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강한 모델에는 9-choice 이상 필요 가능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3584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오픈소스 대체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3931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 파이프라인을 오픈소스 LLM으로 대체 탐색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spc="200" kern="0" dirty="0">
                <a:solidFill>
                  <a:srgbClr val="84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메시지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0" cy="1554480"/>
          </a:xfrm>
          <a:prstGeom prst="rect">
            <a:avLst/>
          </a:prstGeom>
          <a:solidFill>
            <a:srgbClr val="162D45"/>
          </a:solidFill>
          <a:ln w="2540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804672"/>
            <a:ext cx="786384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"검증 가능성이 진짜 병목이지,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양이 병목이 아니다"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2450592"/>
            <a:ext cx="8229600" cy="347472"/>
          </a:xfrm>
          <a:prstGeom prst="rect">
            <a:avLst/>
          </a:prstGeom>
          <a:solidFill>
            <a:srgbClr val="162D45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450592"/>
            <a:ext cx="54864" cy="34747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48716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Fill-in-the-Middle + 9-choice MCQ = 무한 RLVR 데이터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89504"/>
            <a:ext cx="8229600" cy="347472"/>
          </a:xfrm>
          <a:prstGeom prst="rect">
            <a:avLst/>
          </a:prstGeom>
          <a:solidFill>
            <a:srgbClr val="162D45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889504"/>
            <a:ext cx="54864" cy="34747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926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ratio: 25% → 70%  ·  유효 샘플 13×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8229600" cy="347472"/>
          </a:xfrm>
          <a:prstGeom prst="rect">
            <a:avLst/>
          </a:prstGeom>
          <a:solidFill>
            <a:srgbClr val="162D45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328416"/>
            <a:ext cx="54864" cy="34747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3649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포화 모델 +2~3.5%  ·  새 도메인에서 이전 SOTA 능가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22192"/>
            <a:ext cx="8229600" cy="36576"/>
          </a:xfrm>
          <a:prstGeom prst="rect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13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4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참고 자료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224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4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논문:  arxiv.org/abs/2601.22975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4988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4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HuggingFace:  huggingface.co/papers/2601.22975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4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해설:  ritvik19.medium.com/papers-explained-539-golden-goose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Golden Goose - RLVR Data Synthesis</dc:title>
  <dc:subject>PptxGenJS Presentation</dc:subject>
  <dc:creator>Research Producer</dc:creator>
  <cp:lastModifiedBy>Research Producer</cp:lastModifiedBy>
  <cp:revision>1</cp:revision>
  <dcterms:created xsi:type="dcterms:W3CDTF">2026-05-08T00:01:24Z</dcterms:created>
  <dcterms:modified xsi:type="dcterms:W3CDTF">2026-05-08T00:01:24Z</dcterms:modified>
</cp:coreProperties>
</file>