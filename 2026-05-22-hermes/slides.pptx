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발표는 Nous Research의 Hermes LLM 시리즈를 2023년 OpenHermes부터 2025년 Hermes 4.3까지 시계열로 분석합니다. 기술 전문가 대상으로 벤치마크 수치와 아키텍처 디테일 중심으로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8개 섹션으로 구성됩니다. 기술 전문가 대상으로 기초 설명은 최소화하고 차별점과 수치 위주로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Research의 Hermes는 Llama, Mistral, Qwen 같은 베이스 모델을 고품질 데이터로 파인튜닝해 '사용자가 시스템 프롬프트로 완전히 제어할 수 있는' 어시스턴트를 만드는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2023년부터 2025년까지 7세대에 걸쳐 발전했습니다. 중요한 전환점은 세 가지: Hermes 3에서 Llama 3.1 전 사이즈 커버, DeepHermes 3에서 reasoning 토글 도입, Hermes 4.3에서 Meta 이외 베이스(ByteDance Seed) 최초 채택.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Hermes가 다른 모델과 가장 다른 점입니다. GPT-4o, Claude 등은 안전 필터가 하드코딩되어 시스템 프롬프트로 우회 불가합니다. Hermes는 이 책임을 오퍼레이터에게 위임합니다. RefusalBench 57.1% vs GPT-4o 17.67%가 이 철학의 정량적 표현입니다. 단, RefusalBench는 Nous가 설계에 영향을 미친 메트릭이므로 해석 주의가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4는 2025년 8월 26일 출시된 메인 플래그십입니다. arXiv 기술 보고서(2508.18255)가 공개되어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DataForge는 단순 합성 데이터 생성이 아니라 방향 비순환 그래프(DAG)로 데이터 간 의존 관계를 모델링합니다. 수학 문제는 정답 검증, 코드는 실행 테스트, 지식 Q&amp;A는 교차 검증으로 품질을 보장합니다.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o1-style reasoning과 일반 대화를 하나의 모델에서 시스템 프롬프트로 제어합니다. 추론 모드에서 MATH-500이 73.8%→96.3%로 크게 오릅니다. 단, 추론 모드는 토큰 소비가 많아서 비용 고려가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RefusalBench에서는 압도적 1위이지만, MMLU/IFEval에서는 DeepSeek 계열에 뒤집니다. Reasoning 모드를 켰을 때의 MATH/AIME 성능이 실질적 강점입니다. RefusalBench는 Nous가 직접 설계에 관여한 메트릭이라는 점에서 해석 주의가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OpenRouter에서 Hermes 3 405B를 무료로 제공하는 것은 특이한 케이스입니다. 커뮤니티 GPU 풀로 운영됩니다. Hermes 4.3 36B는 512K 컨텍스트를 제공하면서 소비자급 GPU에서도 실행 가능한 가성비 옵션입니다.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Psyche는 Nous의 가장 야심찬 프로젝트입니다. Hermes 4.3이 Psyche로 학습된 프로덕션 모델임을 증명했고, 중앙집중식 버전과 비교해도 성능이 동등하거나 우수함을 확인했습니다. Hermes Agent는 LLM 모델과 별개의 에이전트 프레임워크로, 모델 에이전스틱하게 설계되어 Claude/GPT도 지원합니다.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Research에 우호적인 커뮤니티 분위기에도 불구하고 이 한계들은 실제 배포 결정에 중요합니다. 특히 라이선스 조항은 대규모 상용 서비스에서 법무팀 검토가 필수입니다.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Hermes의 존재 이유는 '최강의 LLM'이 아니라 '가장 controllable한 LLM'입니다. 이 포지셔닝이 일관되게 유지되어 왔고, Psyche 네트워크와의 연계로 분산 AI 학습이라는 새로운 패러다임에서도 선두를 달리고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457200"/>
            <a:ext cx="5486400" cy="7772400"/>
          </a:xfrm>
          <a:prstGeom prst="rect">
            <a:avLst/>
          </a:prstGeom>
          <a:solidFill>
            <a:srgbClr val="1F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4A261"/>
                </a:solidFill>
                <a:latin typeface="Arial"/>
              </a:rPr>
              <a:t>Nous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7724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Hermes 시리즈 완전 정복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0E0E0"/>
                </a:solidFill>
                <a:latin typeface="Arial"/>
              </a:rPr>
              <a:t>오픈웨이트 LLM의 가장 오래된 혈통 — 2026년 종합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607090"/>
                </a:solidFill>
                <a:latin typeface="Arial"/>
              </a:rPr>
              <a:t>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743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0" b="1" i="0">
                <a:solidFill>
                  <a:srgbClr val="252D58"/>
                </a:solidFill>
                <a:latin typeface="Arial"/>
              </a:rPr>
              <a:t>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오늘의 이야기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457200" cy="548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Hermes란?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457200" cy="548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시리즈 계보 (2023 → 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80"/>
            <a:ext cx="457200" cy="548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576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핵심 철학 &amp; ChatML 포맷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457200" cy="54864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6634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Hermes 4 심층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00200"/>
            <a:ext cx="4572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55448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459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벤치마크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606040"/>
            <a:ext cx="4572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56032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517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사용 방법 &amp; 배포 옵션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11880"/>
            <a:ext cx="4572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56616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Nous 생태계 (Psyche / Agent)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617720"/>
            <a:ext cx="4572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572000"/>
            <a:ext cx="502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1A1F3A"/>
                </a:solidFill>
                <a:latin typeface="Arial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634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0E0E0"/>
                </a:solidFill>
                <a:latin typeface="Arial"/>
              </a:rPr>
              <a:t> 한계 &amp; 리스크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0"/>
            <a:ext cx="2743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0" b="1" i="0">
                <a:solidFill>
                  <a:srgbClr val="222845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09728" cy="1645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Hermes란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0E0E0"/>
                </a:solidFill>
                <a:latin typeface="Arial"/>
              </a:rPr>
              <a:t>오픈소스 파인튜닝 LLM의 대명사 — 2023년부터 현재까지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Hermes 시리즈 계보 — 한눈에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55448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버전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17320"/>
            <a:ext cx="109728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463040"/>
            <a:ext cx="1005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17320"/>
            <a:ext cx="18288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1737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베이스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417320"/>
            <a:ext cx="146304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46304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파라미터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45720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핵심 혁신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15544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93392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OpenHermes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1920240"/>
            <a:ext cx="10972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1993392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2023 중반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920240"/>
            <a:ext cx="18288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993392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Llama 7B/13B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920240"/>
            <a:ext cx="146304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993392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7B, 13B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45720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93392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ChatML 포맷 정착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87168"/>
            <a:ext cx="1554480" cy="56692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560320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OpenHermes 2.5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487168"/>
            <a:ext cx="1097280" cy="56692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2560320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2023 하반기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487168"/>
            <a:ext cx="1828800" cy="56692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2560320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Mistral 7B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487168"/>
            <a:ext cx="1463040" cy="56692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2560320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7B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87168"/>
            <a:ext cx="4572000" cy="56692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560320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100만 GPT-4 품질 데이터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54096"/>
            <a:ext cx="15544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127248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Hermes 2 Pro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054096"/>
            <a:ext cx="10972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127248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2024.05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054096"/>
            <a:ext cx="18288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80" y="3127248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Llama 2/3, Mistral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54096"/>
            <a:ext cx="146304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3127248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7B, 8B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054096"/>
            <a:ext cx="45720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127248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&lt;tool_call&gt; 토큰, FC 90%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21024"/>
            <a:ext cx="15544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694176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4A261"/>
                </a:solidFill>
                <a:latin typeface="Arial"/>
              </a:rPr>
              <a:t>Hermes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621024"/>
            <a:ext cx="10972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694176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2024.08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621024"/>
            <a:ext cx="18288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54680" y="3694176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Llama 3.1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621024"/>
            <a:ext cx="146304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80" y="3694176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3B ~ 405B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621024"/>
            <a:ext cx="45720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694176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전 사이즈 라인업, MT-Bench 1위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187952"/>
            <a:ext cx="15544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261104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DeepHermes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0" y="4187952"/>
            <a:ext cx="109728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4261104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2025.02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4187952"/>
            <a:ext cx="18288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680" y="4261104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Llama 3.1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4187952"/>
            <a:ext cx="146304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3480" y="4261104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3B, 8B, 24B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187952"/>
            <a:ext cx="4572000" cy="56692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4261104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&lt;think&gt; 토글 최초 도입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754880"/>
            <a:ext cx="15544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828032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4A261"/>
                </a:solidFill>
                <a:latin typeface="Arial"/>
              </a:rPr>
              <a:t>Hermes 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4754880"/>
            <a:ext cx="10972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4828032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2025.08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08960" y="4754880"/>
            <a:ext cx="18288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54680" y="4828032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Llama 3.1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4754880"/>
            <a:ext cx="146304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83480" y="4828032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14B, 70B, 405B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4754880"/>
            <a:ext cx="45720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4828032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DataForge, 하이브리드 Reasoning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321808"/>
            <a:ext cx="15544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394960"/>
            <a:ext cx="14630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4A261"/>
                </a:solidFill>
                <a:latin typeface="Arial"/>
              </a:rPr>
              <a:t>Hermes 4.3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5321808"/>
            <a:ext cx="109728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5394960"/>
            <a:ext cx="100584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2025.12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5321808"/>
            <a:ext cx="18288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54680" y="5394960"/>
            <a:ext cx="17373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Seed-OSS-36B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37760" y="5321808"/>
            <a:ext cx="146304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83480" y="5394960"/>
            <a:ext cx="1371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36B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5321808"/>
            <a:ext cx="4572000" cy="566928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5394960"/>
            <a:ext cx="44805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E0E0E0"/>
                </a:solidFill>
                <a:latin typeface="Arial"/>
              </a:rPr>
              <a:t>Psyche 학습, 512K 컨텍스트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핵심 철학 — "Steerable" 어시스턴트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A1F3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35608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시스템 프롬프트 =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명시한 대로 100% 동작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A1F3A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32888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하드코딩 필터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0779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안전 책임을 오퍼레이터에 위임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A1F3A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30168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ChatML 포맷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OpenAI SDK 호환, 모든 툴체인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4572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A1F3A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RefusalBench 1위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0235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57.1% vs GPT-4o 17.67%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371600"/>
            <a:ext cx="5212080" cy="320040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1371600"/>
            <a:ext cx="73152" cy="3200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E0E0E0"/>
                </a:solidFill>
                <a:latin typeface="Arial"/>
              </a:rPr>
              <a:t>"Focused on aligning LLMs to the user,
with powerful steering capabilities
and control given to the end user
and operator."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07090"/>
                </a:solidFill>
                <a:latin typeface="Arial"/>
              </a:rPr>
              <a:t>— Hermes 3 Technical Report, Nous Research, 2024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43600"/>
            <a:ext cx="5486400" cy="640080"/>
          </a:xfrm>
          <a:prstGeom prst="rect">
            <a:avLst/>
          </a:prstGeom>
          <a:solidFill>
            <a:srgbClr val="1F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0760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RefusalBench: Hermes 4 57.1% vs GPT-4o 17.67% vs Claude Sonnet 4 17.0%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0"/>
            <a:ext cx="274320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0" b="1" i="0">
                <a:solidFill>
                  <a:srgbClr val="222845"/>
                </a:solidFill>
                <a:latin typeface="Arial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09728" cy="1645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Hermes 4 심층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0E0E0"/>
                </a:solidFill>
                <a:latin typeface="Arial"/>
              </a:rPr>
              <a:t>2025년 8월 플래그십 출시 — DataForge, 하이브리드 Reasoning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Hermes 4 — DataForge &amp; 학습 인프라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F3A"/>
                </a:solidFill>
                <a:latin typeface="Arial"/>
              </a:rPr>
              <a:t>DataForge — 합성 데이터 엔진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• DAG 기반 합성 데이터 생성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• 500만 샘플 / 190억 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• Hermes 3 대비 50× 데이터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• ~1,000개 태스크별 검증기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  ◦ 수학: 정답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  ◦ 코드: 실행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  ◦ 지식 Q&amp;A: 교차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• 추론 샘플 = 비추론 대비 5× 길이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539496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F3A"/>
                </a:solidFill>
                <a:latin typeface="Arial"/>
              </a:rPr>
              <a:t>학습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• NVIDIA B200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01168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4A261"/>
                </a:solidFill>
                <a:latin typeface="Arial"/>
              </a:rPr>
              <a:t>192개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• TorchTitan + Flex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• 배치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9184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4A261"/>
                </a:solidFill>
                <a:latin typeface="Arial"/>
              </a:rPr>
              <a:t>99.9%+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• 컨텍스트 길이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4A261"/>
                </a:solidFill>
                <a:latin typeface="Arial"/>
              </a:rPr>
              <a:t>16,384 토큰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• 학습 스텝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57200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4A261"/>
                </a:solidFill>
                <a:latin typeface="Arial"/>
              </a:rPr>
              <a:t>9,000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Hermes 4 — 하이브리드 Reasoning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&lt;think&gt;...&lt;/think&gt; 태그로 추론 토글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75104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단일 모델에서 fast/slow 사고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716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DeepHermes 3 (2025.02)에서 개념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Hermes 4 전 라인업에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11296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4A261"/>
                </a:solidFill>
                <a:latin typeface="Arial"/>
              </a:rPr>
              <a:t>MATH-500 성능 비교: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35424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표준 모드: 73.8%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4748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4A261"/>
                </a:solidFill>
                <a:latin typeface="Arial"/>
              </a:rPr>
              <a:t>  Reasoning 모드: 96.3%  (+22.5%p)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12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00" cy="411480"/>
          </a:xfrm>
          <a:prstGeom prst="rect">
            <a:avLst/>
          </a:prstGeom>
          <a:solidFill>
            <a:srgbClr val="2D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0E0E0"/>
                </a:solidFill>
                <a:latin typeface="Arial"/>
              </a:rPr>
              <a:t>ChatML — Reasoning 모드 활성화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0195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CC9F0"/>
                </a:solidFill>
                <a:latin typeface="Arial"/>
              </a:rPr>
              <a:t>&lt;|im_start|&gt;system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Think step by step 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7860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&lt;think&gt;...&lt;/think&gt;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16936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before answering.&lt;|im_end|&gt;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55264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CC9F0"/>
                </a:solidFill>
                <a:latin typeface="Arial"/>
              </a:rPr>
              <a:t>&lt;|im_start|&gt;user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9359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1+1이 왜 2인가요?&lt;|im_end|&gt;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CC9F0"/>
                </a:solidFill>
                <a:latin typeface="Arial"/>
              </a:rPr>
              <a:t>&lt;|im_start|&gt;assistant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7024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&lt;think&gt;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08576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  1과 1을 더하면...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946904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4A261"/>
                </a:solidFill>
                <a:latin typeface="Arial"/>
              </a:rPr>
              <a:t>&lt;/think&gt;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85232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최종 답변: 2입니다.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벤치마크 비교 — Hermes 4 405B vs 동급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6459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472184"/>
            <a:ext cx="15727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벤치마크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417320"/>
            <a:ext cx="14173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9696" y="1472184"/>
            <a:ext cx="1344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H4 405B (추론)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17320"/>
            <a:ext cx="14173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472184"/>
            <a:ext cx="1344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H4 405B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417320"/>
            <a:ext cx="14173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1472184"/>
            <a:ext cx="1344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DeepSeek 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14173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472184"/>
            <a:ext cx="1344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DeepSeek V3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1417320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1472184"/>
            <a:ext cx="134416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GPT-4o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6459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196596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MMLU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892808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196596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87.2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892808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196596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73.6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892808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196596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91.4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892808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196596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90.4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1892808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196596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~88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86584"/>
            <a:ext cx="16459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245973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GPQA Diamond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386584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9696" y="245973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70.5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386584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245973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39.4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2386584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245973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68.2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386584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45973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78.1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386584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08976" y="245973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53.6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80360"/>
            <a:ext cx="16459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" y="295351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MATH-500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2880360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9696" y="295351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96.3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2880360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57016" y="295351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73.8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880360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74336" y="295351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91.8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2880360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1656" y="295351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97.5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2880360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08976" y="295351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76.6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74136"/>
            <a:ext cx="16459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" y="3447288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AIME'24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374136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9696" y="3447288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81.9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3374136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57016" y="3447288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374136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74336" y="3447288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79.8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3374136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1656" y="3447288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39.2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3374136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08976" y="3447288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9.3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867912"/>
            <a:ext cx="16459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3776" y="3941064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AIME'25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3867912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39696" y="3941064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78.1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20440" y="3867912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57016" y="3941064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867912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74336" y="3941064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3867912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91656" y="3941064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0" y="3867912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08976" y="3941064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361688"/>
            <a:ext cx="16459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3776" y="4434840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LiveCodeBench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4361688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39696" y="443484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61.3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20440" y="4361688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57016" y="443484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37760" y="4361688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43484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65.9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55080" y="4361688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91656" y="443484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51.6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72400" y="4361688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08976" y="4434840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855464"/>
            <a:ext cx="16459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3776" y="4928616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RefusalBench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03120" y="4855464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39696" y="492861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57.1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20440" y="4855464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57016" y="492861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60" y="4855464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74336" y="492861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55080" y="4855464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91656" y="492861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72400" y="4855464"/>
            <a:ext cx="1417320" cy="493776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08976" y="4928616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17.67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5349240"/>
            <a:ext cx="16459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3776" y="5422392"/>
            <a:ext cx="15727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IFEval (Loose)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03120" y="5349240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39696" y="542239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81.5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5349240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57016" y="542239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84.9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37760" y="5349240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74336" y="542239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91.6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5349240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91656" y="542239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90.0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72400" y="5349240"/>
            <a:ext cx="1417320" cy="493776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808976" y="5422392"/>
            <a:ext cx="1344168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E0E0E0"/>
                </a:solidFill>
                <a:latin typeface="Arial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07090"/>
                </a:solidFill>
                <a:latin typeface="Arial"/>
              </a:rPr>
              <a:t>★ 표기: 해당 행 최고값. 출처: Hermes 4 Technical Report (arXiv:2508.18255), 2025.08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사용 방법 — 클라우드 API &amp; 로컬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F3A"/>
                </a:solidFill>
                <a:latin typeface="Arial"/>
              </a:rPr>
              <a:t>클라우드 API (OpenRouter)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486400" cy="47548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3 405B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842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4A261"/>
                </a:solidFill>
                <a:latin typeface="Arial"/>
              </a:rPr>
              <a:t>무료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8424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07090"/>
                </a:solidFill>
                <a:latin typeface="Arial"/>
              </a:rPr>
              <a:t>131K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486400" cy="47548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3 70B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8716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0E0E0"/>
                </a:solidFill>
                <a:latin typeface="Arial"/>
              </a:rPr>
              <a:t>$0.30/M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07090"/>
                </a:solidFill>
                <a:latin typeface="Arial"/>
              </a:rPr>
              <a:t>131K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486400" cy="47548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900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4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9008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0E0E0"/>
                </a:solidFill>
                <a:latin typeface="Arial"/>
              </a:rPr>
              <a:t>$0.13/$0.40 /M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9008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07090"/>
                </a:solidFill>
                <a:latin typeface="Arial"/>
              </a:rPr>
              <a:t>131K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29000"/>
            <a:ext cx="5486400" cy="47548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930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4 405B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9300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0E0E0"/>
                </a:solidFill>
                <a:latin typeface="Arial"/>
              </a:rPr>
              <a:t>$1/$3 /M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9300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07090"/>
                </a:solidFill>
                <a:latin typeface="Arial"/>
              </a:rPr>
              <a:t>131K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4173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F3A"/>
                </a:solidFill>
                <a:latin typeface="Arial"/>
              </a:rPr>
              <a:t>로컬 실행 (VRAM 가이드)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20240"/>
            <a:ext cx="5303520" cy="47548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98424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4A261"/>
                </a:solidFill>
                <a:latin typeface="Arial"/>
              </a:rPr>
              <a:t>4GB VRAM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98424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3 3B (Q4)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98424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07090"/>
                </a:solidFill>
                <a:latin typeface="Arial"/>
              </a:rPr>
              <a:t>기본 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423160"/>
            <a:ext cx="5303520" cy="47548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48716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4A261"/>
                </a:solidFill>
                <a:latin typeface="Arial"/>
              </a:rPr>
              <a:t>6~8GB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4871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3 8B (Q4_K_M)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48716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07090"/>
                </a:solidFill>
                <a:latin typeface="Arial"/>
              </a:rPr>
              <a:t>40~60 tok/s RTX 4060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26080"/>
            <a:ext cx="5303520" cy="475488"/>
          </a:xfrm>
          <a:prstGeom prst="rect">
            <a:avLst/>
          </a:prstGeom>
          <a:solidFill>
            <a:srgbClr val="2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99008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4A261"/>
                </a:solidFill>
                <a:latin typeface="Arial"/>
              </a:rPr>
              <a:t>24GB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99008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4.3 36B (Q4)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99008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07090"/>
                </a:solidFill>
                <a:latin typeface="Arial"/>
              </a:rPr>
              <a:t>512K 컨텍스트, 가성비 최강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429000"/>
            <a:ext cx="5303520" cy="475488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493008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4A261"/>
                </a:solidFill>
                <a:latin typeface="Arial"/>
              </a:rPr>
              <a:t>48GB+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49300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E0E0E0"/>
                </a:solidFill>
                <a:latin typeface="Arial"/>
              </a:rPr>
              <a:t>Hermes 4 70B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493008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07090"/>
                </a:solidFill>
                <a:latin typeface="Arial"/>
              </a:rPr>
              <a:t>프로덕션 품질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14800"/>
            <a:ext cx="11338560" cy="1371600"/>
          </a:xfrm>
          <a:prstGeom prst="rect">
            <a:avLst/>
          </a:prstGeom>
          <a:solidFill>
            <a:srgbClr val="12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07090"/>
                </a:solidFill>
                <a:latin typeface="Arial"/>
              </a:rPr>
              <a:t># Ollama (가장 쉬운 로컬 실행)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4A261"/>
                </a:solidFill>
                <a:latin typeface="Arial"/>
              </a:rPr>
              <a:t>ollama pull nous-hermes3:8b  →  ollama run nous-hermes3:8b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Nous 생태계 — Psyche &amp; Hermes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5029200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F3A"/>
                </a:solidFill>
                <a:latin typeface="Arial"/>
              </a:rPr>
              <a:t>Psyche 분산 학습 네트워크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DisTrO 옵티마이저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인터넷 분산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Solana 블록체인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33472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합의 레이어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55264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24노드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55264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144K tok/s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77056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Hermes 4.3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77056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첫 프로덕션 Psyche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$50M 시리즈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498848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Paradigm 주도 (2025.04)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밸류에이션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12064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4A261"/>
                </a:solidFill>
                <a:latin typeface="Arial"/>
              </a:rPr>
              <a:t>$1B (토큰 포함)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1E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173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F3A"/>
                </a:solidFill>
                <a:latin typeface="Arial"/>
              </a:rPr>
              <a:t>Hermes Agent (별개 프레임워크)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오픈소스 자기개선 에이전트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33472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GitHub 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33472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4A261"/>
                </a:solidFill>
                <a:latin typeface="Arial"/>
              </a:rPr>
              <a:t>27,000+ (3개월)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55264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지원 플랫폼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55264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4A261"/>
                </a:solidFill>
                <a:latin typeface="Arial"/>
              </a:rPr>
              <a:t>16개 메시징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77056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v0.9 기능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877056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4A261"/>
                </a:solidFill>
                <a:latin typeface="Arial"/>
              </a:rPr>
              <a:t>iMessage, WeChat, Android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98848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OpenRouter 순위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498848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4A261"/>
                </a:solidFill>
                <a:latin typeface="Arial"/>
              </a:rPr>
              <a:t>글로벌 에이전트 #1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• 모델 에이전스틱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120640"/>
            <a:ext cx="2194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F4A261"/>
                </a:solidFill>
                <a:latin typeface="Arial"/>
              </a:rPr>
              <a:t>Claude/GPT/Gemini/로컬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4864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F4A261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한계 &amp; 리스크 — 솔직한 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338560" cy="123444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91440" cy="123444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8080"/>
                </a:solidFill>
                <a:latin typeface="Arial"/>
              </a:rPr>
              <a:t>벤치마크 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RefusalBench 1위 ≠ 전체 품질 1위
MMILU·IFEval에서 DeepSeek 계열(90~91%) 대비 Hermes 4 = 84.9%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11338560" cy="1234440"/>
          </a:xfrm>
          <a:prstGeom prst="rect">
            <a:avLst/>
          </a:prstGeom>
          <a:solidFill>
            <a:srgbClr val="22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91440" cy="123444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8080"/>
                </a:solidFill>
                <a:latin typeface="Arial"/>
              </a:rPr>
              <a:t>검열 최소화의 양면성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정당/악성 사용자 동등 적용
오퍼레이터 책임 전가 — 개인 사용 환경 리스크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338560" cy="123444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91440" cy="123444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8080"/>
                </a:solidFill>
                <a:latin typeface="Arial"/>
              </a:rPr>
              <a:t>라이선스 복잡성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Llama 기반: Meta 커뮤니티 라이선스 (7억 MAU 이상 별도 계약 필요)
Hermes 4.3: ByteDance Seed 라이선스 조건 별도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11338560" cy="1234440"/>
          </a:xfrm>
          <a:prstGeom prst="rect">
            <a:avLst/>
          </a:prstGeom>
          <a:solidFill>
            <a:srgbClr val="22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91440" cy="123444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8080"/>
                </a:solidFill>
                <a:latin typeface="Arial"/>
              </a:rPr>
              <a:t>Psyche/Crypto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$NOUS 토큰 변동성 → 노드 인센티브 감소 → 인프라 품질 저하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정리 — Hermes를 선택해야 하는 이유, 그리고 선택하지 말아야 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solidFill>
            <a:srgbClr val="1F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FCF97"/>
                </a:solidFill>
                <a:latin typeface="Arial"/>
              </a:rPr>
              <a:t>선택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✓  시스템 프롬프트 제어 = 업계 최고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✓  로컬 배포 + 프라이버시 보장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08376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✓  무료 API (Hermes 3 405B on OpenRouter)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66744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✓  Psyche — 분산 학습 미래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25112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✓  일관된 ChatML 인터페이스 (버전 무관)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solidFill>
            <a:srgbClr val="3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161288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48080"/>
                </a:solidFill>
                <a:latin typeface="Arial"/>
              </a:rPr>
              <a:t>주의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✗  최신 폐쇄형 모델 대비 전반적 성능 격차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50008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✗  RefusalBench ≠ 전체 능력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08376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✗  라이선스 복잡성 (상용 대규모 서비스)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66744"/>
            <a:ext cx="4937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E0E0E0"/>
                </a:solidFill>
                <a:latin typeface="Arial"/>
              </a:rPr>
              <a:t>✗  Crypto 연계 인프라 변동성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338560" cy="1371600"/>
          </a:xfrm>
          <a:prstGeom prst="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4A261"/>
                </a:solidFill>
                <a:latin typeface="Arial"/>
              </a:rPr>
              <a:t>추천 유즈케이스: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0E0E0"/>
                </a:solidFill>
                <a:latin typeface="Arial"/>
              </a:rPr>
              <a:t>온프레미스/프라이버시 민감 배포  •  캐릭터·페르소나 제어 앱  •  비용 효율 중시  •  Function Calling 에이전트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