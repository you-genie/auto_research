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전체 구조 안내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언어 모델은 '다음 토큰을 그럴듯하게 만드는 기계'이므로 모르는 것을 모른다고 말하는 메커니즘이 기본적으로 없습니다. Lakera AI 가이드와 OpenAI의 원인 분석 자료를 기반으로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동일한 사실적 질문이라도 프롬프트 표현 방식에 따라 환각이 발생하거나 발생하지 않을 수 있습니다. 이 프레임워크는 환각의 책임이 프롬프트에 있는지, 모델에 있는지를 분리 분석하는 데 유용합니다.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어떤 유형의 환각인지를 파악해야 적절한 완화 전략을 선택할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RAG는 가장 널리 채택된 완화 기법 중 하나입니다(2-1 검증 수준). 단, arXiv:2411.16594에 따르면 RAG 자체가 오히려 환각을 유발하는 역설적 상황도 보고됩니다.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MDPI Information 2025와 Emergent Mind 분석에 따르면 추론이 환각을 줄이기도 하지만, 긴 추론 체인에서 중간 단계 오류가 최종 답에 전파되는 아이러니한 상황도 발생합니다.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기법으로 환각을 완전히 제거하는 것은 불가능합니다. 여러 레이어에서 방어선을 두는 접근이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Not_Attempted를 별도 분류한 것이 핵심입니다. 잘 보정된 모델은 확신할 수 없을 때 답하지 않아야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 entropy는 비지도 방식으로 환각을 탐지할 수 있다는 점에서 실용적입니다.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41.1%라는 수치는 충격적입니다. 최고 성능 모델조차 에이전트 환각이 어느 단계에서 왜 발생했는지를 절반 이상 틀리게 귀인합니다.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환각을 평가하는 것 자체가 환각 위험을 가지는 구조적 문제입니다. 도메인별 human evaluation을 병행해야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루프에서는 잘못된 Thought 단계 하나가 이후 모든 Action과 Observation 단계를 오염시킬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학술적 엄밀성을 위해 검증되지 않은 주장은 명시적으로 표기했습니다. Tool-use 귀인 어려움 수치(11.6%)가 이 결론을 지지한다는 주장이 있었으나 방법론적으로 충분히 검증되지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99% 정확도는 AWS의 자사 주장으로, 독립적인 제3자 검증이 필요합니다. 정책 준수 진술에 특화된 방법임을 주의해야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방안들은 모두 1차 벤더 문서 기준입니다. 독립적인 효과 검증이 부족하므로 자체 평가를 병행하는 것을 권장합니다.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Vectara의 리더보드는 독립적인 제3자 비교 자료로 활용 가능합니다. 다만 리더보드 방법론 자체도 편향이 있을 수 있으므로 맥락을 파악하고 해석해야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환각은 없애는 것이 아니라 관리하는 문제입니다. 여러 레이어에서 방어선을 두고 지속적으로 측정하면서 개선하는 접근이 현실적입니다.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솔루션은 없습니다. 각 레이어에서 적합한 도구를 조합하고, 도메인별 지속적인 human evaluation을 병행하는 것이 현재 최선입니다.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환각을 '제거해야 할 버그'가 아닌 '관리해야 할 리스크'로 프레이밍하는 것이 실무적으로 더 유효합니다. 측정 없는 완화는 의미가 없으므로 평가 체계를 먼저 구축하는 것을 권장합니다.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D9DA6"/>
          </a:solidFill>
          <a:ln w="12700">
            <a:solidFill>
              <a:srgbClr val="0D9D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환각(Hallucination)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정복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완화 기법  ·  측정 방법  ·  대기업 프로덕션 방안 (2025~2026)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3657600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6월 11일  |  Auto Research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0292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9875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환각이란 무엇인가?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36192"/>
            <a:ext cx="50292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3619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16093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환각의 분류 체계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57984"/>
            <a:ext cx="50292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5798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223113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완화 기법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79776"/>
            <a:ext cx="50292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7977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" y="28529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및 평가 방법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91440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0640" y="914400"/>
            <a:ext cx="50292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9144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87568" y="9875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환각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153619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0" y="1536192"/>
            <a:ext cx="50292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53619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87568" y="16093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대기업 프로덕션 방안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20640" y="2157984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2157984"/>
            <a:ext cx="50292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15798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87568" y="223113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한계와 미해결 과제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43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환각이란 무엇인가?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· Root Causes · Core Insight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환각(Hallucination)이란?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9601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정의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사실처럼 들리지만 근거 없는 내용 생성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Factuality(사실성) 문제와는 구별되는 개념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64008" cy="100584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39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원인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예측 기반 생성 메커니즘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편향 및 희소 지식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길이 초과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64008" cy="8229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36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AI Guide, OpenAI 환각 원인 연구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114800" cy="2926080"/>
          </a:xfrm>
          <a:prstGeom prst="rect">
            <a:avLst/>
          </a:prstGeom>
          <a:solidFill>
            <a:srgbClr val="1B2A4A"/>
          </a:solidFill>
          <a:ln w="254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44475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불가피(Inevitable)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48716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완화(Mitigable)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3145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가능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귀인 프레임워크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Frontiers in AI,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417320"/>
            <a:ext cx="731520" cy="73152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 방식에 따른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여부 변화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1430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43000"/>
            <a:ext cx="265176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417320"/>
            <a:ext cx="731520" cy="73152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286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246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랜덤성으로 인한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차이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1430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143000"/>
            <a:ext cx="265176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1417320"/>
            <a:ext cx="731520" cy="73152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286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Attribution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요인의 복합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측정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0" y="2880360"/>
            <a:ext cx="731520" cy="0"/>
          </a:xfrm>
          <a:prstGeom prst="line">
            <a:avLst/>
          </a:prstGeom>
          <a:noFill/>
          <a:ln w="254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27249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0" y="2880360"/>
            <a:ext cx="731520" cy="0"/>
          </a:xfrm>
          <a:prstGeom prst="line">
            <a:avLst/>
          </a:prstGeom>
          <a:noFill/>
          <a:ln w="25400">
            <a:solidFill>
              <a:srgbClr val="0A7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7249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43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환각의 분류 체계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vs Logic · Extrinsic vs Intrinsic · Prompt vs Model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분류 체계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457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vs 논리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Hallucination: 사실 관계 오류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Hallucination: 추론 과정 오류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4206240"/>
            <a:ext cx="246888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245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arXiv:2510.24476 · MDPI 2025 · HalluLens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743200" cy="45720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9784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외재적 vs 내재적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Extrinsic: 컨텍스트에 없는 정보 생성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Intrinsic: 입력 문서와 모순된 내용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4206240"/>
            <a:ext cx="246888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42245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arXiv:2510.24476 · MDPI 2025 · HalluLens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9784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 원인별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5087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Prompt-induced: 프롬프트가 유발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Model-induced: 모델 지식 부족·편향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206240"/>
            <a:ext cx="246888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42245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arXiv:2510.24476 · MDPI 2025 · HalluLens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43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완화 기법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Reasoning · Self-Consistency · Calibration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검색 증강 생성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6400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질의(Query)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9601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1828800" cy="6400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검색(Retrieve)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9601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1828800" cy="640080"/>
          </a:xfrm>
          <a:prstGeom prst="rect">
            <a:avLst/>
          </a:prstGeom>
          <a:solidFill>
            <a:srgbClr val="0D9DA6"/>
          </a:solidFill>
          <a:ln w="12700">
            <a:solidFill>
              <a:srgbClr val="0D9D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문서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9601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03720" y="914400"/>
            <a:ext cx="18288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생성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8288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828800"/>
            <a:ext cx="64008" cy="1417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901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2860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정보 반영 가능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추적 가능 (Grounding)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지식 의존도 감소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828800"/>
            <a:ext cx="6400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01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문서 검색 시 오히려 환각 유발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지식 의존 현상 잔존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자체가 역설적 환각 유발 가능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arXiv:2601.19927 · arXiv:2411.16594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추론(Reasoning) 기반 완화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추론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명시화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32888" y="10058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32888" y="1005840"/>
            <a:ext cx="1920240" cy="50292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24328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4328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+ 행동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0016" y="10058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005840"/>
            <a:ext cx="192024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91456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샘플링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일관된 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67144" y="100584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1005840"/>
            <a:ext cx="1920240" cy="5029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58584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58584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불확실성 표현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주의: 긴 추론 체인은 오히려 환각을 증폭시킬 수 있음 (중간 단계 오류가 최종 답에 전파)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완화 기법 비교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84048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21945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적용 단계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추가 비용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효과 범위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 / Constitutional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범용적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지식 기반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/ Self-Consistency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낮음~중간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복잡한 추론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 에이전트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시스템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멀티에이전트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플랫폼 Guardrails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인프라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낮음~중간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프로덕션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43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및 평가 방법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SimpleQA · Semantic Entropy · AgentHallu · Benchmark Limits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SimpleQA 벤치마크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0120" y="914400"/>
            <a:ext cx="1828800" cy="18288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완전히 정확한 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94760" y="914400"/>
            <a:ext cx="1828800" cy="1828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476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3337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포함 답변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914400"/>
            <a:ext cx="1828800" cy="182880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Attempted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3337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모른다고 인정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321040" cy="685800"/>
          </a:xfrm>
          <a:prstGeom prst="rect">
            <a:avLst/>
          </a:prstGeom>
          <a:solidFill>
            <a:srgbClr val="1B2A4A"/>
          </a:solidFill>
          <a:ln w="1905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968496"/>
            <a:ext cx="81381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모른다고 인정하는 것과 틀리게 답하는 것은 완전히 다른 행동입니다  |  출처: arXiv:2411.04368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Entropy: 확률적 환각 탐지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200400"/>
          </a:xfrm>
          <a:prstGeom prst="rect">
            <a:avLst/>
          </a:prstGeom>
          <a:solidFill>
            <a:srgbClr val="1B2A4A"/>
          </a:solidFill>
          <a:ln w="254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 탐지 성능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(Nature 2024)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914400"/>
            <a:ext cx="5303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914400"/>
            <a:ext cx="64008" cy="15087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9875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작동 방식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371600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질문에 여러 번 생성 → 의미 다양성 측정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엔트로피 = 모델 불확실성 높음 = 환각 가능성 높음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514600"/>
            <a:ext cx="5303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514600"/>
            <a:ext cx="64008" cy="150876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5877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971800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레이블 데이터 없이 환각 가능성 추정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수준에서 다양성 측정 (동의어 표현 차이 무시)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Nature,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AgentHallu: 에이전트 전용 벤치마크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56032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궤적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56032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14400"/>
            <a:ext cx="256032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05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0350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8412480" cy="1828800"/>
          </a:xfrm>
          <a:prstGeom prst="rect">
            <a:avLst/>
          </a:prstGeom>
          <a:solidFill>
            <a:srgbClr val="1B2A4A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514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충격적인 결과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907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최고 성능도 환각 귀인 정확도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2788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어디서 왜 환각이 생겼는지 파악하는 것은 여전히 미해결 과제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arXiv:2601.06818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벤치마크의 한계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Label 오염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벤치마크에서 정답 레이블의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60%가 오염된 사례 보고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51760" cy="45720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7840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문제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다른 LLM을 평가할 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평가자 자체가 환각 위험 보유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2651760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7840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 불일치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508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평가자 간에도 환각 여부 판단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불일치 문제 발생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8412480" cy="640080"/>
          </a:xfrm>
          <a:prstGeom prst="rect">
            <a:avLst/>
          </a:prstGeom>
          <a:solidFill>
            <a:srgbClr val="1B2A4A"/>
          </a:solidFill>
          <a:ln w="1905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00507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Human evaluation은 여전히 필수불가결 — 벤치마크 수치만으로는 충분하지 않습니다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451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arXiv:2411.15594 · arXiv:2401.11817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43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환각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· Multi-Step Reasoning · Silent Hallucination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환각의 주요 패턴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554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툴 파라미터 오류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존재하지 않는 API 파라미터나 잘못된 값을 생성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554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097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 환각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루프에서 이전 단계 결과를 잘못 해석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64008" cy="1554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926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손실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멀티스텝에서 이전 정보를 잊어버리는 현상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64008" cy="1554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2926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환각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4290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불가능한 계획을 그럴듯하게 수립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arXiv:2509.18970 · arXiv:2510.22977 · MindStudio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실패: 과장된 주장 주의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645920"/>
          </a:xfrm>
          <a:prstGeom prst="rect">
            <a:avLst/>
          </a:prstGeom>
          <a:solidFill>
            <a:srgbClr val="FEE2E2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87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기각된 주장 (1-2 검증)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"에이전트 환각이 일반 LLM 환각보다 본질적으로 더 어렵다"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이번 리서치에서 근거 부족으로 기각됨 (적대적 검증 결과)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8412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8163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입장 (검증된 사실)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1868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환각은 일반 LLM 환각과는 다른 복잡한 패턴을 가짐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"본질적으로 더 어렵다"는 단정은 방법론적으로 불충분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43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대기업 프로덕션 방안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Google · Microsoft · Anthropic · OpenAI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Bedrock: 이중 방어 전략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18288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Grounding Check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응답이 제공된 컨텍스트에 근거하는지 자동 체크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점수 임계값 설정 후 미달 시 차단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파이프라인에 직접 통합 가능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64008" cy="182880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Reasoning Checks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형식적 검증(formal verification) 기법 활용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준수 진술에 특화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99% 검증 정확도 주장 (자사 수치)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73152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6265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주의: 99% 정확도는 AWS의 자사 주장 — 독립적 제3자 검증이 필요합니다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AWS 공식 문서 · AWS Blog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Microsoft · Anthropic 방안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32004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Grounding: 실시간 구글 검색 근거 활용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Grounding: 기업 자체 데이터 근거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정보 환각 감소에 효과적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64008" cy="3200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37160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Detection 기능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 점수로 근거성 평가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파이프라인 통합 지원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64008" cy="32004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37160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응답의 각 주장에 소스 문서 인용 태그 자동 반환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향상과 환각 감소 동시 목표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79392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1차 벤더 문서 기준 — 독립적 효과 검증 부족, 자체 평가 병행 권장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Vectara 동향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256032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94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시스템 카드에 환각 평가 결과 공개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SimpleQA 등 다양한 벤치마크 활용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Language Models Hallucinate" 원인 분석 연구 공개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64008" cy="2560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Vectara Hallucination Leaderboard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794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벤더 중립적 LLM 환각 비율 비교 리더보드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차세대 버전: 더 다양한 도메인·환각 유형 커버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 제3자 비교 자료로 활용 가능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9417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 방법론 자체도 편향이 있을 수 있으므로 — 맥락을 파악하고 해석해야 합니다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GPT-5 System Card · Vectara Blog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43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한계와 미해결 과제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Paradox · Attribution Gap · Mitigation Ceiling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과제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5603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23774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자체의 환각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LLM-as-judge도 환각 위험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평가하는 행위 자체가 환각을 가짐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5603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78408"/>
            <a:ext cx="23774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귀인 격차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356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GPT-5도 41.1% 수준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파악은 여전히 미해결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25603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78408"/>
            <a:ext cx="23774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RAG의 역설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4356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완화 도구가 오히려 환각 유발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검색 결과가 오염 유발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88920"/>
            <a:ext cx="2560320" cy="4114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07208"/>
            <a:ext cx="23774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벤더 주장 검증 부족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644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대기업 주장의 독립 검증 부족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평가 구축이 필수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88920"/>
            <a:ext cx="2560320" cy="4114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807208"/>
            <a:ext cx="23774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제거 불가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2644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기술로는 "관리"만 가능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제거는 불가능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45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arXiv:2401.11817 · arXiv:2411.16594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2025~2026 환각 대응 종합 정리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93192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  <a:gridCol w="1463040"/>
              </a:tblGrid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레이어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도구 / 방법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성숙도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단계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RLHF, Constitutional AI,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추론 단계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RAG, CoT, Self-Consistency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높음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에이전트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멀티 에이전트 검증, ReAct 검증 루프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인프라/플랫폼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Guardrails, Vertex Grounding, Azure Groundedness, Anthropic Citations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중간~높음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측정·평가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SimpleQA, Semantic Entropy, AgentHallu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7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진행 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D9DA6"/>
          </a:solidFill>
          <a:ln w="12700">
            <a:solidFill>
              <a:srgbClr val="0D9D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환각은 LLM의 구조적 특성 — 완전 제거 불가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· 측정 · 완화의 3단계 접근 필요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대기업 도구들: 좋은 출발점, 자체 검증 필수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환각 귀인은 여전히 미해결 과제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8046720" cy="7772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584448"/>
            <a:ext cx="78638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메시지: 환각을 "제거할 버그"가 아닌 "관리할 리스크"로 취급하라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457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43B62"/>
          </a:solidFill>
          <a:ln w="12700">
            <a:solidFill>
              <a:srgbClr val="243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환각(Hallucination) 완전 정복</dc:title>
  <dc:subject>PptxGenJS Presentation</dc:subject>
  <dc:creator>Auto Research</dc:creator>
  <cp:lastModifiedBy>Auto Research</cp:lastModifiedBy>
  <cp:revision>1</cp:revision>
  <dcterms:created xsi:type="dcterms:W3CDTF">2026-06-11T11:33:18Z</dcterms:created>
  <dcterms:modified xsi:type="dcterms:W3CDTF">2026-06-11T11:33:18Z</dcterms:modified>
</cp:coreProperties>
</file>