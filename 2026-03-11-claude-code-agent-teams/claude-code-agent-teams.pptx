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0"/>
            <a:ext cx="1645920" cy="5143500"/>
          </a:xfrm>
          <a:prstGeom prst="rect">
            <a:avLst/>
          </a:prstGeom>
          <a:solidFill>
            <a:srgbClr val="003A2F">
              <a:alpha val="90000"/>
            </a:srgbClr>
          </a:solidFill>
          <a:ln w="635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0"/>
            <a:ext cx="457200" cy="5143500"/>
          </a:xfrm>
          <a:prstGeom prst="rect">
            <a:avLst/>
          </a:prstGeom>
          <a:solidFill>
            <a:srgbClr val="00C9A7">
              <a:alpha val="5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0C9A7"/>
                </a:solidFill>
              </a:rPr>
              <a:t>Anthropic Claude Code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6583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에이전트 팀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548640" y="251460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8BA7C0"/>
                </a:solidFill>
              </a:rPr>
              <a:t>Agent Teams in Claude Code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3200400" cy="457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29184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A7C0"/>
                </a:solidFill>
              </a:rPr>
              <a:t>멀티 에이전트 시스템 • 병렬 AI 협업 • Claude Agent SDK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4663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7C0"/>
                </a:solidFill>
              </a:rPr>
              <a:t>2026. 03. 11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489204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7C0"/>
                </a:solidFill>
              </a:rPr>
              <a:t>2 / 20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목차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4114800" cy="804672"/>
          </a:xfrm>
          <a:prstGeom prst="rect">
            <a:avLst/>
          </a:prstGeom>
          <a:solidFill>
            <a:srgbClr val="172436"/>
          </a:solidFill>
          <a:ln w="6350">
            <a:solidFill>
              <a:srgbClr val="1B2A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43000"/>
            <a:ext cx="438912" cy="438912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24712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87552" y="103327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에이전트 팀이란?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87552" y="138074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7C0"/>
                </a:solidFill>
              </a:rPr>
              <a:t>개념 &amp; 활성화 방법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920240"/>
            <a:ext cx="4114800" cy="804672"/>
          </a:xfrm>
          <a:prstGeom prst="rect">
            <a:avLst/>
          </a:prstGeom>
          <a:solidFill>
            <a:srgbClr val="172436"/>
          </a:solidFill>
          <a:ln w="6350">
            <a:solidFill>
              <a:srgbClr val="1B2A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103120"/>
            <a:ext cx="438912" cy="438912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084832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87552" y="199339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서브에이전트 vs 팀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87552" y="234086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7C0"/>
                </a:solidFill>
              </a:rPr>
              <a:t>비교 &amp; 선택 기준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880360"/>
            <a:ext cx="4114800" cy="804672"/>
          </a:xfrm>
          <a:prstGeom prst="rect">
            <a:avLst/>
          </a:prstGeom>
          <a:solidFill>
            <a:srgbClr val="172436"/>
          </a:solidFill>
          <a:ln w="6350">
            <a:solidFill>
              <a:srgbClr val="1B2A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063240"/>
            <a:ext cx="438912" cy="438912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044952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87552" y="295351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아키텍처 심층 분석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87552" y="330098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7C0"/>
                </a:solidFill>
              </a:rPr>
              <a:t>구성요소 &amp; 통신 메커니즘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840480"/>
            <a:ext cx="4114800" cy="804672"/>
          </a:xfrm>
          <a:prstGeom prst="rect">
            <a:avLst/>
          </a:prstGeom>
          <a:solidFill>
            <a:srgbClr val="172436"/>
          </a:solidFill>
          <a:ln w="6350">
            <a:solidFill>
              <a:srgbClr val="1B2A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4023360"/>
            <a:ext cx="438912" cy="438912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005072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04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87552" y="391363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서브에이전트 완전 정복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87552" y="426110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7C0"/>
                </a:solidFill>
              </a:rPr>
              <a:t>설정 &amp; 영구 메모리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960120"/>
            <a:ext cx="4114800" cy="804672"/>
          </a:xfrm>
          <a:prstGeom prst="rect">
            <a:avLst/>
          </a:prstGeom>
          <a:solidFill>
            <a:srgbClr val="172436"/>
          </a:solidFill>
          <a:ln w="6350">
            <a:solidFill>
              <a:srgbClr val="1B2A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1143000"/>
            <a:ext cx="438912" cy="438912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1124712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05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76672" y="103327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Git Worktree 격리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376672" y="138074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7C0"/>
                </a:solidFill>
              </a:rPr>
              <a:t>병렬 실행 &amp; 충돌 방지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1920240"/>
            <a:ext cx="4114800" cy="804672"/>
          </a:xfrm>
          <a:prstGeom prst="rect">
            <a:avLst/>
          </a:prstGeom>
          <a:solidFill>
            <a:srgbClr val="172436"/>
          </a:solidFill>
          <a:ln w="6350">
            <a:solidFill>
              <a:srgbClr val="1B2A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46320" y="2103120"/>
            <a:ext cx="438912" cy="438912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2084832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06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76672" y="199339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Claude Agent SDK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376672" y="234086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7C0"/>
                </a:solidFill>
              </a:rPr>
              <a:t>SDK 연계 &amp; 코드 예시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54880" y="2880360"/>
            <a:ext cx="4114800" cy="804672"/>
          </a:xfrm>
          <a:prstGeom prst="rect">
            <a:avLst/>
          </a:prstGeom>
          <a:solidFill>
            <a:srgbClr val="172436"/>
          </a:solidFill>
          <a:ln w="6350">
            <a:solidFill>
              <a:srgbClr val="1B2A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46320" y="3063240"/>
            <a:ext cx="438912" cy="438912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0" y="3044952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07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376672" y="295351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실전 패턴 &amp; 사용 사례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376672" y="330098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7C0"/>
                </a:solidFill>
              </a:rPr>
              <a:t>코드리뷰 · 버그조사 · 기능개발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54880" y="3840480"/>
            <a:ext cx="4114800" cy="804672"/>
          </a:xfrm>
          <a:prstGeom prst="rect">
            <a:avLst/>
          </a:prstGeom>
          <a:solidFill>
            <a:srgbClr val="172436"/>
          </a:solidFill>
          <a:ln w="6350">
            <a:solidFill>
              <a:srgbClr val="1B2A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846320" y="4023360"/>
            <a:ext cx="438912" cy="438912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46320" y="4005072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08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376672" y="391363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베스트 프랙티스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376672" y="426110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7C0"/>
                </a:solidFill>
              </a:rPr>
              <a:t>팀 크기 · 비용 · 주의사항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0"/>
            <a:ext cx="9144000" cy="1828800"/>
          </a:xfrm>
          <a:prstGeom prst="rect">
            <a:avLst/>
          </a:prstGeom>
          <a:solidFill>
            <a:srgbClr val="1B2A3E"/>
          </a:solidFill>
          <a:ln w="12700">
            <a:solidFill>
              <a:srgbClr val="1B2A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0"/>
            <a:ext cx="109728" cy="18288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486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1B2A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65760" y="1737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에이전트 팀이란?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2468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BA7C0"/>
                </a:solidFill>
              </a:rPr>
              <a:t>여러 Claude Code 인스턴스가 팀을 이뤄 협업하는 멀티에이전트 시스템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9A7"/>
                </a:solidFill>
              </a:rPr>
              <a:t>2026년 초 Anthropic Opus 4.6과 함께 실험적 기능으로 출시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489204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7C0"/>
                </a:solidFill>
              </a:rPr>
              <a:t>4 / 20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182880"/>
            <a:ext cx="64008" cy="5029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82880"/>
            <a:ext cx="8092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에이전트 팀 핵심 개념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8412480" cy="1005840"/>
          </a:xfrm>
          <a:prstGeom prst="rect">
            <a:avLst/>
          </a:prstGeom>
          <a:solidFill>
            <a:srgbClr val="1B2A3E"/>
          </a:solidFill>
          <a:ln w="9525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896112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C9A7"/>
                </a:solidFill>
              </a:rPr>
              <a:t>"</a:t>
            </a:r>
            <a:pPr indent="0" marL="0">
              <a:buNone/>
            </a:pPr>
            <a:r>
              <a:rPr lang="en-US" sz="1300" i="1" dirty="0">
                <a:solidFill>
                  <a:srgbClr val="E8F4F8"/>
                </a:solidFill>
              </a:rPr>
              <a:t>One session acts as the team lead — teammates work independently, each in its own context window, and communicate directly with each other.</a:t>
            </a:r>
            <a:pPr indent="0" marL="0">
              <a:buNone/>
            </a:pPr>
            <a:r>
              <a:rPr lang="en-US" sz="3200" b="1" dirty="0">
                <a:solidFill>
                  <a:srgbClr val="00C9A7"/>
                </a:solidFill>
              </a:rPr>
              <a:t>"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858000" y="17830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BA7C0"/>
                </a:solidFill>
              </a:rPr>
              <a:t>— Claude Code 공식 문서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2057400"/>
            <a:ext cx="2697480" cy="2606040"/>
          </a:xfrm>
          <a:prstGeom prst="rect">
            <a:avLst/>
          </a:prstGeom>
          <a:solidFill>
            <a:srgbClr val="172436"/>
          </a:solidFill>
          <a:ln w="635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214884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🎯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57200" y="274320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9A7"/>
                </a:solidFill>
              </a:rPr>
              <a:t>팀 리드 조율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3182112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메인 세션이 팀 생성, 팀원 소환, 태스크 배분, 결과 종합을 총괄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27832" y="2057400"/>
            <a:ext cx="2697480" cy="2606040"/>
          </a:xfrm>
          <a:prstGeom prst="rect">
            <a:avLst/>
          </a:prstGeom>
          <a:solidFill>
            <a:srgbClr val="172436"/>
          </a:solidFill>
          <a:ln w="635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319272" y="214884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💬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3319272" y="274320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9A7"/>
                </a:solidFill>
              </a:rPr>
              <a:t>팀원 간 직접 소통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64992" y="3182112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팀원들이 메일박스(Mailbox)를 통해 서로 직접 메시지 전송 가능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89904" y="2057400"/>
            <a:ext cx="2697480" cy="2606040"/>
          </a:xfrm>
          <a:prstGeom prst="rect">
            <a:avLst/>
          </a:prstGeom>
          <a:solidFill>
            <a:srgbClr val="172436"/>
          </a:solidFill>
          <a:ln w="635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181344" y="214884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📋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6181344" y="274320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9A7"/>
                </a:solidFill>
              </a:rPr>
              <a:t>공유 태스크 목록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27064" y="3182112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Shared Task List로 자기조율 — 파일 잠금으로 경합 조건 방지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4736592"/>
            <a:ext cx="8412480" cy="274320"/>
          </a:xfrm>
          <a:prstGeom prst="rect">
            <a:avLst/>
          </a:prstGeom>
          <a:solidFill>
            <a:srgbClr val="0D2B1E"/>
          </a:solidFill>
          <a:ln w="12700">
            <a:solidFill>
              <a:srgbClr val="009E8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활성화: settings.json → "CLAUDE_CODE_EXPERIMENTAL_AGENT_TEAMS": "1"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489204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7C0"/>
                </a:solidFill>
              </a:rPr>
              <a:t>5 / 20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182880"/>
            <a:ext cx="64008" cy="5029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82880"/>
            <a:ext cx="8092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서브에이전트 vs 에이전트 팀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4023360" cy="3931920"/>
          </a:xfrm>
          <a:prstGeom prst="rect">
            <a:avLst/>
          </a:prstGeom>
          <a:solidFill>
            <a:srgbClr val="172436"/>
          </a:solidFill>
          <a:ln w="12700">
            <a:solidFill>
              <a:srgbClr val="1E90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8686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90FF"/>
                </a:solidFill>
              </a:rPr>
              <a:t>서브에이전트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371600" y="1417320"/>
            <a:ext cx="1828800" cy="45720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1417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메인 에이전트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051560" y="1920240"/>
            <a:ext cx="36576" cy="457200"/>
          </a:xfrm>
          <a:prstGeom prst="rect">
            <a:avLst/>
          </a:prstGeom>
          <a:solidFill>
            <a:srgbClr val="8BA7C0"/>
          </a:solidFill>
          <a:ln w="12700">
            <a:solidFill>
              <a:srgbClr val="8BA7C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78408" y="2331720"/>
            <a:ext cx="182880" cy="73152"/>
          </a:xfrm>
          <a:prstGeom prst="rect">
            <a:avLst/>
          </a:prstGeom>
          <a:solidFill>
            <a:srgbClr val="8BA7C0"/>
          </a:solidFill>
          <a:ln w="12700">
            <a:solidFill>
              <a:srgbClr val="8BA7C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20240" y="1920240"/>
            <a:ext cx="36576" cy="457200"/>
          </a:xfrm>
          <a:prstGeom prst="rect">
            <a:avLst/>
          </a:prstGeom>
          <a:solidFill>
            <a:srgbClr val="8BA7C0"/>
          </a:solidFill>
          <a:ln w="12700">
            <a:solidFill>
              <a:srgbClr val="8BA7C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47088" y="2331720"/>
            <a:ext cx="182880" cy="73152"/>
          </a:xfrm>
          <a:prstGeom prst="rect">
            <a:avLst/>
          </a:prstGeom>
          <a:solidFill>
            <a:srgbClr val="8BA7C0"/>
          </a:solidFill>
          <a:ln w="12700">
            <a:solidFill>
              <a:srgbClr val="8BA7C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88920" y="1920240"/>
            <a:ext cx="36576" cy="457200"/>
          </a:xfrm>
          <a:prstGeom prst="rect">
            <a:avLst/>
          </a:prstGeom>
          <a:solidFill>
            <a:srgbClr val="8BA7C0"/>
          </a:solidFill>
          <a:ln w="12700">
            <a:solidFill>
              <a:srgbClr val="8BA7C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15768" y="2331720"/>
            <a:ext cx="182880" cy="73152"/>
          </a:xfrm>
          <a:prstGeom prst="rect">
            <a:avLst/>
          </a:prstGeom>
          <a:solidFill>
            <a:srgbClr val="8BA7C0"/>
          </a:solidFill>
          <a:ln w="12700">
            <a:solidFill>
              <a:srgbClr val="8BA7C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423160"/>
            <a:ext cx="731520" cy="45720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4231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Sub-A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600200" y="2423160"/>
            <a:ext cx="731520" cy="45720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00200" y="24231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Sub-B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0" y="2423160"/>
            <a:ext cx="731520" cy="45720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0" y="24231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Sub-C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04672" y="2926080"/>
            <a:ext cx="36576" cy="4572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47672" y="2926080"/>
            <a:ext cx="36576" cy="4572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090672" y="2926080"/>
            <a:ext cx="36576" cy="4572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34290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BA7C0"/>
                </a:solidFill>
              </a:rPr>
              <a:t>결과만 보고 (소통 없음)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38404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76F"/>
                </a:solidFill>
              </a:rPr>
              <a:t>✗  팀원 간 직접 소통 불가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41330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76F"/>
                </a:solidFill>
              </a:rPr>
              <a:t>✗  메인이 모든 작업 관리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42569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76F"/>
                </a:solidFill>
              </a:rPr>
              <a:t>✗  단순 병렬 결과 취합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868680"/>
            <a:ext cx="4023360" cy="3931920"/>
          </a:xfrm>
          <a:prstGeom prst="rect">
            <a:avLst/>
          </a:prstGeom>
          <a:solidFill>
            <a:srgbClr val="172436"/>
          </a:solidFill>
          <a:ln w="1270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846320" y="8686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C9A7"/>
                </a:solidFill>
              </a:rPr>
              <a:t>에이전트 팀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5943600" y="1417320"/>
            <a:ext cx="1828800" cy="457200"/>
          </a:xfrm>
          <a:prstGeom prst="rect">
            <a:avLst/>
          </a:prstGeom>
          <a:solidFill>
            <a:srgbClr val="009E84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0" y="1417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팀 리드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074920" y="2423160"/>
            <a:ext cx="731520" cy="457200"/>
          </a:xfrm>
          <a:prstGeom prst="ellipse">
            <a:avLst/>
          </a:prstGeom>
          <a:solidFill>
            <a:srgbClr val="0D2B1E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74920" y="24231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9A7"/>
                </a:solidFill>
              </a:rPr>
              <a:t>팀원 X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217920" y="2423160"/>
            <a:ext cx="731520" cy="457200"/>
          </a:xfrm>
          <a:prstGeom prst="ellipse">
            <a:avLst/>
          </a:prstGeom>
          <a:solidFill>
            <a:srgbClr val="0D2B1E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0" y="24231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9A7"/>
                </a:solidFill>
              </a:rPr>
              <a:t>팀원 Y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360920" y="2423160"/>
            <a:ext cx="731520" cy="457200"/>
          </a:xfrm>
          <a:prstGeom prst="ellipse">
            <a:avLst/>
          </a:prstGeom>
          <a:solidFill>
            <a:srgbClr val="0D2B1E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60920" y="24231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9A7"/>
                </a:solidFill>
              </a:rPr>
              <a:t>팀원 Z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486400" y="2633472"/>
            <a:ext cx="2286000" cy="36576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212080" y="29260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D166"/>
                </a:solidFill>
              </a:rPr>
              <a:t>← 직접 메시지 →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669280" y="3291840"/>
            <a:ext cx="2286000" cy="411480"/>
          </a:xfrm>
          <a:prstGeom prst="rect">
            <a:avLst/>
          </a:prstGeom>
          <a:solidFill>
            <a:srgbClr val="1A2E1A"/>
          </a:solidFill>
          <a:ln w="9525">
            <a:solidFill>
              <a:srgbClr val="00C9A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69280" y="32918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9A7"/>
                </a:solidFill>
              </a:rPr>
              <a:t>📋 공유 태스크 목록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983480" y="38404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9A7"/>
                </a:solidFill>
              </a:rPr>
              <a:t>✓  팀원 간 직접 소통 가능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983480" y="41330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9A7"/>
                </a:solidFill>
              </a:rPr>
              <a:t>✓  공유 태스크로 자기조율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983480" y="442569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9A7"/>
                </a:solidFill>
              </a:rPr>
              <a:t>✓  복잡한 협업 워크플로우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489204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7C0"/>
                </a:solidFill>
              </a:rPr>
              <a:t>6 / 20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182880"/>
            <a:ext cx="64008" cy="5029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82880"/>
            <a:ext cx="8092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언제 무엇을 써야 할까?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11480" y="914400"/>
            <a:ext cx="2286000" cy="566928"/>
          </a:xfrm>
          <a:prstGeom prst="rect">
            <a:avLst/>
          </a:prstGeom>
          <a:solidFill>
            <a:srgbClr val="009E84"/>
          </a:solidFill>
          <a:ln w="6350">
            <a:solidFill>
              <a:srgbClr val="1E3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91440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항목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97480" y="914400"/>
            <a:ext cx="2743200" cy="566928"/>
          </a:xfrm>
          <a:prstGeom prst="rect">
            <a:avLst/>
          </a:prstGeom>
          <a:solidFill>
            <a:srgbClr val="009E84"/>
          </a:solidFill>
          <a:ln w="6350">
            <a:solidFill>
              <a:srgbClr val="1E3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88920" y="91440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서브에이전트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40680" y="914400"/>
            <a:ext cx="3200400" cy="566928"/>
          </a:xfrm>
          <a:prstGeom prst="rect">
            <a:avLst/>
          </a:prstGeom>
          <a:solidFill>
            <a:srgbClr val="009E84"/>
          </a:solidFill>
          <a:ln w="6350">
            <a:solidFill>
              <a:srgbClr val="1E3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32120" y="91440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에이전트 팀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1481328"/>
            <a:ext cx="2286000" cy="566928"/>
          </a:xfrm>
          <a:prstGeom prst="rect">
            <a:avLst/>
          </a:prstGeom>
          <a:solidFill>
            <a:srgbClr val="172436"/>
          </a:solidFill>
          <a:ln w="6350">
            <a:solidFill>
              <a:srgbClr val="1E3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48132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컨텍스트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697480" y="1481328"/>
            <a:ext cx="2743200" cy="566928"/>
          </a:xfrm>
          <a:prstGeom prst="rect">
            <a:avLst/>
          </a:prstGeom>
          <a:solidFill>
            <a:srgbClr val="131F2F"/>
          </a:solidFill>
          <a:ln w="6350">
            <a:solidFill>
              <a:srgbClr val="1E3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88920" y="148132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자체 컨텍스트 윈도우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40680" y="1481328"/>
            <a:ext cx="3200400" cy="566928"/>
          </a:xfrm>
          <a:prstGeom prst="rect">
            <a:avLst/>
          </a:prstGeom>
          <a:solidFill>
            <a:srgbClr val="101B28"/>
          </a:solidFill>
          <a:ln w="6350">
            <a:solidFill>
              <a:srgbClr val="1E3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32120" y="148132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9A7"/>
                </a:solidFill>
              </a:rPr>
              <a:t>완전 독립 컨텍스트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" y="2048256"/>
            <a:ext cx="2286000" cy="566928"/>
          </a:xfrm>
          <a:prstGeom prst="rect">
            <a:avLst/>
          </a:prstGeom>
          <a:solidFill>
            <a:srgbClr val="1B2A3E"/>
          </a:solidFill>
          <a:ln w="6350">
            <a:solidFill>
              <a:srgbClr val="1E3A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048256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소통 방식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697480" y="2048256"/>
            <a:ext cx="2743200" cy="566928"/>
          </a:xfrm>
          <a:prstGeom prst="rect">
            <a:avLst/>
          </a:prstGeom>
          <a:solidFill>
            <a:srgbClr val="1A2A3A"/>
          </a:solidFill>
          <a:ln w="6350">
            <a:solidFill>
              <a:srgbClr val="1E3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88920" y="2048256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메인에게만 결과 보고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40680" y="2048256"/>
            <a:ext cx="3200400" cy="566928"/>
          </a:xfrm>
          <a:prstGeom prst="rect">
            <a:avLst/>
          </a:prstGeom>
          <a:solidFill>
            <a:srgbClr val="182438"/>
          </a:solidFill>
          <a:ln w="6350">
            <a:solidFill>
              <a:srgbClr val="1E3A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32120" y="2048256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9A7"/>
                </a:solidFill>
              </a:rPr>
              <a:t>팀원 간 직접 메시지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2615184"/>
            <a:ext cx="2286000" cy="566928"/>
          </a:xfrm>
          <a:prstGeom prst="rect">
            <a:avLst/>
          </a:prstGeom>
          <a:solidFill>
            <a:srgbClr val="172436"/>
          </a:solidFill>
          <a:ln w="6350">
            <a:solidFill>
              <a:srgbClr val="1E3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261518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조율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697480" y="2615184"/>
            <a:ext cx="2743200" cy="566928"/>
          </a:xfrm>
          <a:prstGeom prst="rect">
            <a:avLst/>
          </a:prstGeom>
          <a:solidFill>
            <a:srgbClr val="131F2F"/>
          </a:solidFill>
          <a:ln w="6350">
            <a:solidFill>
              <a:srgbClr val="1E3A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88920" y="2615184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메인이 전부 관리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40680" y="2615184"/>
            <a:ext cx="3200400" cy="566928"/>
          </a:xfrm>
          <a:prstGeom prst="rect">
            <a:avLst/>
          </a:prstGeom>
          <a:solidFill>
            <a:srgbClr val="101B28"/>
          </a:solidFill>
          <a:ln w="6350">
            <a:solidFill>
              <a:srgbClr val="1E3A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32120" y="2615184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9A7"/>
                </a:solidFill>
              </a:rPr>
              <a:t>공유 태스크 자기조율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11480" y="3182112"/>
            <a:ext cx="2286000" cy="566928"/>
          </a:xfrm>
          <a:prstGeom prst="rect">
            <a:avLst/>
          </a:prstGeom>
          <a:solidFill>
            <a:srgbClr val="1B2A3E"/>
          </a:solidFill>
          <a:ln w="6350">
            <a:solidFill>
              <a:srgbClr val="1E3A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3182112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토큰 비용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697480" y="3182112"/>
            <a:ext cx="2743200" cy="566928"/>
          </a:xfrm>
          <a:prstGeom prst="rect">
            <a:avLst/>
          </a:prstGeom>
          <a:solidFill>
            <a:srgbClr val="1A2A3A"/>
          </a:solidFill>
          <a:ln w="6350">
            <a:solidFill>
              <a:srgbClr val="1E3A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88920" y="3182112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낮음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40680" y="3182112"/>
            <a:ext cx="3200400" cy="566928"/>
          </a:xfrm>
          <a:prstGeom prst="rect">
            <a:avLst/>
          </a:prstGeom>
          <a:solidFill>
            <a:srgbClr val="182438"/>
          </a:solidFill>
          <a:ln w="6350">
            <a:solidFill>
              <a:srgbClr val="1E3A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32120" y="3182112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9A7"/>
                </a:solidFill>
              </a:rPr>
              <a:t>높음 (3~4x)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11480" y="3749040"/>
            <a:ext cx="2286000" cy="566928"/>
          </a:xfrm>
          <a:prstGeom prst="rect">
            <a:avLst/>
          </a:prstGeom>
          <a:solidFill>
            <a:srgbClr val="172436"/>
          </a:solidFill>
          <a:ln w="6350">
            <a:solidFill>
              <a:srgbClr val="1E3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374904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최적 용도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697480" y="3749040"/>
            <a:ext cx="2743200" cy="566928"/>
          </a:xfrm>
          <a:prstGeom prst="rect">
            <a:avLst/>
          </a:prstGeom>
          <a:solidFill>
            <a:srgbClr val="131F2F"/>
          </a:solidFill>
          <a:ln w="6350">
            <a:solidFill>
              <a:srgbClr val="1E3A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88920" y="374904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집중된 단일 태스크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440680" y="3749040"/>
            <a:ext cx="3200400" cy="566928"/>
          </a:xfrm>
          <a:prstGeom prst="rect">
            <a:avLst/>
          </a:prstGeom>
          <a:solidFill>
            <a:srgbClr val="101B28"/>
          </a:solidFill>
          <a:ln w="6350">
            <a:solidFill>
              <a:srgbClr val="1E3A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32120" y="374904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9A7"/>
                </a:solidFill>
              </a:rPr>
              <a:t>토론·협업 필요 작업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65760" y="4434840"/>
            <a:ext cx="8412480" cy="548640"/>
          </a:xfrm>
          <a:prstGeom prst="rect">
            <a:avLst/>
          </a:prstGeom>
          <a:solidFill>
            <a:srgbClr val="0D2B1E"/>
          </a:solidFill>
          <a:ln w="9525">
            <a:solidFill>
              <a:srgbClr val="00C9A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8640" y="446227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</a:rPr>
              <a:t>결론: </a:t>
            </a:r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</a:rPr>
              <a:t>팀원이 서로 발견 사항을 공유하고 반론을 제기하며 자체 조율이 필요할 때 → 에이전트 팀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489204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7C0"/>
                </a:solidFill>
              </a:rPr>
              <a:t>7 / 20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182880"/>
            <a:ext cx="64008" cy="5029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82880"/>
            <a:ext cx="8092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에이전트 팀 아키텍처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0" y="868680"/>
            <a:ext cx="2743200" cy="685800"/>
          </a:xfrm>
          <a:prstGeom prst="rect">
            <a:avLst/>
          </a:prstGeom>
          <a:solidFill>
            <a:srgbClr val="009E84"/>
          </a:solidFill>
          <a:ln w="1905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0" y="86868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👑  팀 리드 (Team Lead)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53712" y="1554480"/>
            <a:ext cx="36576" cy="411480"/>
          </a:xfrm>
          <a:prstGeom prst="rect">
            <a:avLst/>
          </a:prstGeom>
          <a:solidFill>
            <a:srgbClr val="8BA7C0"/>
          </a:solidFill>
          <a:ln w="12700">
            <a:solidFill>
              <a:srgbClr val="8BA7C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965960"/>
            <a:ext cx="8595360" cy="914400"/>
          </a:xfrm>
          <a:prstGeom prst="rect">
            <a:avLst/>
          </a:prstGeom>
          <a:solidFill>
            <a:srgbClr val="1B2A3E"/>
          </a:solidFill>
          <a:ln w="6350">
            <a:solidFill>
              <a:srgbClr val="8BA7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9933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A7C0"/>
                </a:solidFill>
              </a:rPr>
              <a:t>팀원 (Teammates)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914400" y="2304288"/>
            <a:ext cx="2011680" cy="502920"/>
          </a:xfrm>
          <a:prstGeom prst="rect">
            <a:avLst/>
          </a:prstGeom>
          <a:solidFill>
            <a:srgbClr val="172436"/>
          </a:solidFill>
          <a:ln w="9525">
            <a:solidFill>
              <a:srgbClr val="00C9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30428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9A7"/>
                </a:solidFill>
              </a:rPr>
              <a:t>팀원 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C9A7"/>
                </a:solidFill>
              </a:rPr>
              <a:t>(보안 검토)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474720" y="2304288"/>
            <a:ext cx="2011680" cy="502920"/>
          </a:xfrm>
          <a:prstGeom prst="rect">
            <a:avLst/>
          </a:prstGeom>
          <a:solidFill>
            <a:srgbClr val="172436"/>
          </a:solidFill>
          <a:ln w="9525">
            <a:solidFill>
              <a:srgbClr val="00C9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0" y="230428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9A7"/>
                </a:solidFill>
              </a:rPr>
              <a:t>팀원 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C9A7"/>
                </a:solidFill>
              </a:rPr>
              <a:t>(성능 분석)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35040" y="2304288"/>
            <a:ext cx="2011680" cy="502920"/>
          </a:xfrm>
          <a:prstGeom prst="rect">
            <a:avLst/>
          </a:prstGeom>
          <a:solidFill>
            <a:srgbClr val="172436"/>
          </a:solidFill>
          <a:ln w="9525">
            <a:solidFill>
              <a:srgbClr val="00C9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230428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9A7"/>
                </a:solidFill>
              </a:rPr>
              <a:t>팀원 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C9A7"/>
                </a:solidFill>
              </a:rPr>
              <a:t>(테스트 검증)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26080" y="2542032"/>
            <a:ext cx="1280160" cy="2743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0" y="2542032"/>
            <a:ext cx="1280160" cy="2743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3063240"/>
            <a:ext cx="2011680" cy="1783080"/>
          </a:xfrm>
          <a:prstGeom prst="rect">
            <a:avLst/>
          </a:prstGeom>
          <a:solidFill>
            <a:srgbClr val="172436"/>
          </a:solidFill>
          <a:ln w="635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20040" y="312724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411480" y="3566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9A7"/>
                </a:solidFill>
              </a:rPr>
              <a:t>공유 태스크 목록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93192" y="3913632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pending → in progress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→ completed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파일 잠금으로 경합 방지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496312" y="3063240"/>
            <a:ext cx="2011680" cy="1783080"/>
          </a:xfrm>
          <a:prstGeom prst="rect">
            <a:avLst/>
          </a:prstGeom>
          <a:solidFill>
            <a:srgbClr val="172436"/>
          </a:solidFill>
          <a:ln w="635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496312" y="312724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📬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2587752" y="3566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9A7"/>
                </a:solidFill>
              </a:rPr>
              <a:t>메일박스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569464" y="3913632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에이전트 간 비동기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직접 메시지 시스템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자동 전달 &amp; 알림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72584" y="3063240"/>
            <a:ext cx="2011680" cy="1783080"/>
          </a:xfrm>
          <a:prstGeom prst="rect">
            <a:avLst/>
          </a:prstGeom>
          <a:solidFill>
            <a:srgbClr val="172436"/>
          </a:solidFill>
          <a:ln w="635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672584" y="312724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🌳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4764024" y="3566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9A7"/>
                </a:solidFill>
              </a:rPr>
              <a:t>팀 설정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45736" y="3913632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~/.claude/teams/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{team-name}/config.json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멤버 배열 저장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848856" y="3063240"/>
            <a:ext cx="2011680" cy="1783080"/>
          </a:xfrm>
          <a:prstGeom prst="rect">
            <a:avLst/>
          </a:prstGeom>
          <a:solidFill>
            <a:srgbClr val="172436"/>
          </a:solidFill>
          <a:ln w="635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848856" y="312724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🔒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6940296" y="3566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9A7"/>
                </a:solidFill>
              </a:rPr>
              <a:t>권한 관리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922008" y="3913632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팀원 = 리드 권한 상속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소환 후 개별 변경 가능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중첩 팀 불가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0"/>
            <a:ext cx="9144000" cy="1828800"/>
          </a:xfrm>
          <a:prstGeom prst="rect">
            <a:avLst/>
          </a:prstGeom>
          <a:solidFill>
            <a:srgbClr val="1B2A3E"/>
          </a:solidFill>
          <a:ln w="12700">
            <a:solidFill>
              <a:srgbClr val="1B2A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0"/>
            <a:ext cx="109728" cy="182880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1B2A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365760" y="1737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서브에이전트 완전 정복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65760" y="2468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A7C0"/>
                </a:solidFill>
              </a:rPr>
              <a:t>내장 에이전트 • 커스텀 설정 • 영구 메모리 • Worktree 격리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489204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7C0"/>
                </a:solidFill>
              </a:rPr>
              <a:t>9 / 20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182880"/>
            <a:ext cx="64008" cy="5029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82880"/>
            <a:ext cx="8092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내장 서브에이전트 (Built-in Subagents)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4206240" cy="1828800"/>
          </a:xfrm>
          <a:prstGeom prst="rect">
            <a:avLst/>
          </a:prstGeom>
          <a:solidFill>
            <a:srgbClr val="172436"/>
          </a:solidFill>
          <a:ln w="1524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14400"/>
            <a:ext cx="4206240" cy="411480"/>
          </a:xfrm>
          <a:prstGeom prst="rect">
            <a:avLst/>
          </a:prstGeom>
          <a:solidFill>
            <a:srgbClr val="00C9A7">
              <a:alpha val="3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93268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Explore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389888"/>
            <a:ext cx="594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9A7"/>
                </a:solidFill>
              </a:rPr>
              <a:t>모델: 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960120" y="1389888"/>
            <a:ext cx="3429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Haiku (고속·저지연)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" y="1728216"/>
            <a:ext cx="594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9A7"/>
                </a:solidFill>
              </a:rPr>
              <a:t>도구: 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960120" y="1728216"/>
            <a:ext cx="3429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읽기 전용 도구만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5760" y="2066544"/>
            <a:ext cx="594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9A7"/>
                </a:solidFill>
              </a:rPr>
              <a:t>역할: 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60120" y="2066544"/>
            <a:ext cx="3429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파일 탐색, 코드 검색, 코드베이스 분석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65760" y="240487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BA7C0"/>
                </a:solidFill>
              </a:rPr>
              <a:t>※ thoroughness: quick / medium / very thorough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709160" y="914400"/>
            <a:ext cx="4206240" cy="1828800"/>
          </a:xfrm>
          <a:prstGeom prst="rect">
            <a:avLst/>
          </a:prstGeom>
          <a:solidFill>
            <a:srgbClr val="172436"/>
          </a:solidFill>
          <a:ln w="15240">
            <a:solidFill>
              <a:srgbClr val="1E90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914400"/>
            <a:ext cx="4206240" cy="411480"/>
          </a:xfrm>
          <a:prstGeom prst="rect">
            <a:avLst/>
          </a:prstGeom>
          <a:solidFill>
            <a:srgbClr val="1E90FF">
              <a:alpha val="30000"/>
            </a:srgbClr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93268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Plan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00600" y="1389888"/>
            <a:ext cx="594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90FF"/>
                </a:solidFill>
              </a:rPr>
              <a:t>모델: 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394960" y="1389888"/>
            <a:ext cx="3429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메인과 동일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00600" y="1728216"/>
            <a:ext cx="594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90FF"/>
                </a:solidFill>
              </a:rPr>
              <a:t>도구: 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394960" y="1728216"/>
            <a:ext cx="3429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읽기 전용 도구만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00600" y="2066544"/>
            <a:ext cx="594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90FF"/>
                </a:solidFill>
              </a:rPr>
              <a:t>역할: 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394960" y="2066544"/>
            <a:ext cx="3429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플랜 모드에서 코드베이스 리서치 수행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00600" y="240487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BA7C0"/>
                </a:solidFill>
              </a:rPr>
              <a:t>※ 서브에이전트는 다른 서브에이전트 생성 불가 (중첩 금지)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74320" y="2926080"/>
            <a:ext cx="4206240" cy="1828800"/>
          </a:xfrm>
          <a:prstGeom prst="rect">
            <a:avLst/>
          </a:prstGeom>
          <a:solidFill>
            <a:srgbClr val="172436"/>
          </a:solidFill>
          <a:ln w="15240">
            <a:solidFill>
              <a:srgbClr val="FFD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2926080"/>
            <a:ext cx="4206240" cy="411480"/>
          </a:xfrm>
          <a:prstGeom prst="rect">
            <a:avLst/>
          </a:prstGeom>
          <a:solidFill>
            <a:srgbClr val="FFD166">
              <a:alpha val="3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294436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General-purpose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65760" y="3401568"/>
            <a:ext cx="594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D166"/>
                </a:solidFill>
              </a:rPr>
              <a:t>모델: 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960120" y="3401568"/>
            <a:ext cx="3429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메인과 동일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65760" y="3739896"/>
            <a:ext cx="594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D166"/>
                </a:solidFill>
              </a:rPr>
              <a:t>도구: 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960120" y="3739896"/>
            <a:ext cx="3429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모든 도구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65760" y="4078224"/>
            <a:ext cx="594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D166"/>
                </a:solidFill>
              </a:rPr>
              <a:t>역할: 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960120" y="4078224"/>
            <a:ext cx="3429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복잡한 멀티스텝 작업 및 코드 수정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65760" y="441655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BA7C0"/>
                </a:solidFill>
              </a:rPr>
              <a:t>※ 탐색 + 수정 모두 필요한 작업에 Claude가 자동 위임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709160" y="2926080"/>
            <a:ext cx="4206240" cy="1828800"/>
          </a:xfrm>
          <a:prstGeom prst="rect">
            <a:avLst/>
          </a:prstGeom>
          <a:solidFill>
            <a:srgbClr val="172436"/>
          </a:solidFill>
          <a:ln w="15240">
            <a:solidFill>
              <a:srgbClr val="8BA7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09160" y="2926080"/>
            <a:ext cx="4206240" cy="411480"/>
          </a:xfrm>
          <a:prstGeom prst="rect">
            <a:avLst/>
          </a:prstGeom>
          <a:solidFill>
            <a:srgbClr val="8BA7C0">
              <a:alpha val="30000"/>
            </a:srgbClr>
          </a:solidFill>
          <a:ln w="12700">
            <a:solidFill>
              <a:srgbClr val="8BA7C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00600" y="294436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Bash / 기타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800600" y="3401568"/>
            <a:ext cx="594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A7C0"/>
                </a:solidFill>
              </a:rPr>
              <a:t>모델: 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394960" y="3401568"/>
            <a:ext cx="3429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Sonnet / 메인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800600" y="3739896"/>
            <a:ext cx="594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A7C0"/>
                </a:solidFill>
              </a:rPr>
              <a:t>도구: 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394960" y="3739896"/>
            <a:ext cx="3429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Bash, 전용 도구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800600" y="4078224"/>
            <a:ext cx="594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A7C0"/>
                </a:solidFill>
              </a:rPr>
              <a:t>역할: 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394960" y="4078224"/>
            <a:ext cx="3429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별도 컨텍스트 터미널 실행, 상태바 설정 등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800600" y="441655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BA7C0"/>
                </a:solidFill>
              </a:rPr>
              <a:t>※ statusline-setup, Claude Code Guide 등 내부용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489204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7C0"/>
                </a:solidFill>
              </a:rPr>
              <a:t>10 / 20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182880"/>
            <a:ext cx="64008" cy="5029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82880"/>
            <a:ext cx="8092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커스텀 서브에이전트 설정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4297680" cy="4069080"/>
          </a:xfrm>
          <a:prstGeom prst="rect">
            <a:avLst/>
          </a:prstGeom>
          <a:solidFill>
            <a:srgbClr val="0A1520"/>
          </a:solidFill>
          <a:ln w="9525">
            <a:solidFill>
              <a:srgbClr val="009E8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68680"/>
            <a:ext cx="429768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code-reviewer.md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23444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7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143103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code-reviewer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65760" y="16276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description: 코드 변경 후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" y="182422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품질·보안 자동 검토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5760" y="202082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tools: Read, Grep, Glob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5760" y="22174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model: sonnet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65760" y="241401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memory: project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65760" y="26106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isolation: worktree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5760" y="280720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9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permissionMode: dontAsk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5760" y="300380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9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maxTurns: 20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65760" y="320040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7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65760" y="359359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당신은 시니어 코드 리뷰어입니다.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65760" y="379018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코드 변경 시 다음을 검토: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65760" y="398678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7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보안 취약점 (XSS, SQLi)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65760" y="418338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7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성능 병목 &amp; 중복 코드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65760" y="437997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7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테스트 커버리지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754880" y="8229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프론트매터 주요 필드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754880" y="1261872"/>
            <a:ext cx="4160520" cy="438912"/>
          </a:xfrm>
          <a:prstGeom prst="rect">
            <a:avLst/>
          </a:prstGeom>
          <a:solidFill>
            <a:srgbClr val="172436"/>
          </a:solidFill>
          <a:ln w="6350">
            <a:solidFill>
              <a:srgbClr val="1A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1261872"/>
            <a:ext cx="36576" cy="438912"/>
          </a:xfrm>
          <a:prstGeom prst="rect">
            <a:avLst/>
          </a:prstGeom>
          <a:solidFill>
            <a:srgbClr val="EF476F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129844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36208" y="129844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F476F"/>
                </a:solidFill>
              </a:rPr>
              <a:t>필수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846320" y="1481328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7C0"/>
                </a:solidFill>
              </a:rPr>
              <a:t>소문자 + 하이픈 식별자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54880" y="1737360"/>
            <a:ext cx="4160520" cy="438912"/>
          </a:xfrm>
          <a:prstGeom prst="rect">
            <a:avLst/>
          </a:prstGeom>
          <a:solidFill>
            <a:srgbClr val="172436"/>
          </a:solidFill>
          <a:ln w="6350">
            <a:solidFill>
              <a:srgbClr val="1A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1737360"/>
            <a:ext cx="36576" cy="438912"/>
          </a:xfrm>
          <a:prstGeom prst="rect">
            <a:avLst/>
          </a:prstGeom>
          <a:solidFill>
            <a:srgbClr val="EF476F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177393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36208" y="177393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F476F"/>
                </a:solidFill>
              </a:rPr>
              <a:t>필수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846320" y="1956816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7C0"/>
                </a:solidFill>
              </a:rPr>
              <a:t>Claude가 위임 결정에 사용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54880" y="2212848"/>
            <a:ext cx="4160520" cy="438912"/>
          </a:xfrm>
          <a:prstGeom prst="rect">
            <a:avLst/>
          </a:prstGeom>
          <a:solidFill>
            <a:srgbClr val="172436"/>
          </a:solidFill>
          <a:ln w="6350">
            <a:solidFill>
              <a:srgbClr val="1A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54880" y="2212848"/>
            <a:ext cx="36576" cy="438912"/>
          </a:xfrm>
          <a:prstGeom prst="rect">
            <a:avLst/>
          </a:prstGeom>
          <a:solidFill>
            <a:srgbClr val="009E84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0" y="224942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236208" y="224942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7C0"/>
                </a:solidFill>
              </a:rPr>
              <a:t>선택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846320" y="2432304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7C0"/>
                </a:solidFill>
              </a:rPr>
              <a:t>허용 도구 목록 (생략 시 전체 상속)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54880" y="2688336"/>
            <a:ext cx="4160520" cy="438912"/>
          </a:xfrm>
          <a:prstGeom prst="rect">
            <a:avLst/>
          </a:prstGeom>
          <a:solidFill>
            <a:srgbClr val="172436"/>
          </a:solidFill>
          <a:ln w="6350">
            <a:solidFill>
              <a:srgbClr val="1A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54880" y="2688336"/>
            <a:ext cx="36576" cy="438912"/>
          </a:xfrm>
          <a:prstGeom prst="rect">
            <a:avLst/>
          </a:prstGeom>
          <a:solidFill>
            <a:srgbClr val="009E84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46320" y="272491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236208" y="272491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7C0"/>
                </a:solidFill>
              </a:rPr>
              <a:t>선택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846320" y="2907792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7C0"/>
                </a:solidFill>
              </a:rPr>
              <a:t>sonnet / opus / haiku / inherit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754880" y="3163824"/>
            <a:ext cx="4160520" cy="438912"/>
          </a:xfrm>
          <a:prstGeom prst="rect">
            <a:avLst/>
          </a:prstGeom>
          <a:solidFill>
            <a:srgbClr val="172436"/>
          </a:solidFill>
          <a:ln w="6350">
            <a:solidFill>
              <a:srgbClr val="1A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754880" y="3163824"/>
            <a:ext cx="36576" cy="438912"/>
          </a:xfrm>
          <a:prstGeom prst="rect">
            <a:avLst/>
          </a:prstGeom>
          <a:solidFill>
            <a:srgbClr val="009E84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46320" y="32004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236208" y="320040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7C0"/>
                </a:solidFill>
              </a:rPr>
              <a:t>선택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846320" y="3383280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7C0"/>
                </a:solidFill>
              </a:rPr>
              <a:t>user / project / local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754880" y="3639312"/>
            <a:ext cx="4160520" cy="438912"/>
          </a:xfrm>
          <a:prstGeom prst="rect">
            <a:avLst/>
          </a:prstGeom>
          <a:solidFill>
            <a:srgbClr val="172436"/>
          </a:solidFill>
          <a:ln w="6350">
            <a:solidFill>
              <a:srgbClr val="1A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754880" y="3639312"/>
            <a:ext cx="36576" cy="438912"/>
          </a:xfrm>
          <a:prstGeom prst="rect">
            <a:avLst/>
          </a:prstGeom>
          <a:solidFill>
            <a:srgbClr val="009E84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46320" y="367588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isolation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236208" y="367588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7C0"/>
                </a:solidFill>
              </a:rPr>
              <a:t>선택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4846320" y="3858768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7C0"/>
                </a:solidFill>
              </a:rPr>
              <a:t>worktree → git worktree 격리 실행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754880" y="4114800"/>
            <a:ext cx="4160520" cy="438912"/>
          </a:xfrm>
          <a:prstGeom prst="rect">
            <a:avLst/>
          </a:prstGeom>
          <a:solidFill>
            <a:srgbClr val="172436"/>
          </a:solidFill>
          <a:ln w="6350">
            <a:solidFill>
              <a:srgbClr val="1A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4754880" y="4114800"/>
            <a:ext cx="36576" cy="438912"/>
          </a:xfrm>
          <a:prstGeom prst="rect">
            <a:avLst/>
          </a:prstGeom>
          <a:solidFill>
            <a:srgbClr val="009E84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46320" y="415137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permissionMode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6236208" y="415137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7C0"/>
                </a:solidFill>
              </a:rPr>
              <a:t>선택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4846320" y="4334256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7C0"/>
                </a:solidFill>
              </a:rPr>
              <a:t>default / acceptEdits / bypassPermissions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754880" y="4590288"/>
            <a:ext cx="4160520" cy="438912"/>
          </a:xfrm>
          <a:prstGeom prst="rect">
            <a:avLst/>
          </a:prstGeom>
          <a:solidFill>
            <a:srgbClr val="172436"/>
          </a:solidFill>
          <a:ln w="6350">
            <a:solidFill>
              <a:srgbClr val="1A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4754880" y="4590288"/>
            <a:ext cx="36576" cy="438912"/>
          </a:xfrm>
          <a:prstGeom prst="rect">
            <a:avLst/>
          </a:prstGeom>
          <a:solidFill>
            <a:srgbClr val="009E84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846320" y="462686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6236208" y="462686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7C0"/>
                </a:solidFill>
              </a:rPr>
              <a:t>선택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4846320" y="4809744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7C0"/>
                </a:solidFill>
              </a:rPr>
              <a:t>true → 항상 백그라운드 실행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489204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7C0"/>
                </a:solidFill>
              </a:rPr>
              <a:t>11 / 20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182880"/>
            <a:ext cx="64008" cy="5029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82880"/>
            <a:ext cx="8092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Git Worktree로 에이전트 격리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8412480" cy="685800"/>
          </a:xfrm>
          <a:prstGeom prst="rect">
            <a:avLst/>
          </a:prstGeom>
          <a:solidFill>
            <a:srgbClr val="1B2A3E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896112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F4F8"/>
                </a:solidFill>
              </a:rPr>
              <a:t>"Now, agents can run in parallel without interfering with one another. Each agent gets its own worktree and can work independently."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0" y="14813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BA7C0"/>
                </a:solidFill>
              </a:rPr>
              <a:t>— Boris Cherny, Anthropic (@boris_cherny)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1920240"/>
            <a:ext cx="2194560" cy="594360"/>
          </a:xfrm>
          <a:prstGeom prst="rect">
            <a:avLst/>
          </a:prstGeom>
          <a:solidFill>
            <a:srgbClr val="009E84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19202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🗂️  Git Repository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554480" y="2514600"/>
            <a:ext cx="36576" cy="640080"/>
          </a:xfrm>
          <a:prstGeom prst="rect">
            <a:avLst/>
          </a:prstGeom>
          <a:solidFill>
            <a:srgbClr val="8BA7C0"/>
          </a:solidFill>
          <a:ln w="12700">
            <a:solidFill>
              <a:srgbClr val="8BA7C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3154680"/>
            <a:ext cx="2286000" cy="1600200"/>
          </a:xfrm>
          <a:prstGeom prst="rect">
            <a:avLst/>
          </a:prstGeom>
          <a:solidFill>
            <a:srgbClr val="172436"/>
          </a:solidFill>
          <a:ln w="635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154680"/>
            <a:ext cx="2286000" cy="347472"/>
          </a:xfrm>
          <a:prstGeom prst="rect">
            <a:avLst/>
          </a:prstGeom>
          <a:solidFill>
            <a:srgbClr val="00C9A7">
              <a:alpha val="4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1546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에이전트 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1792" y="354787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7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.claude/worktrees/agent-a/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21792" y="39319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📄 src/auth.ts 리팩토링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480560" y="2514600"/>
            <a:ext cx="36576" cy="640080"/>
          </a:xfrm>
          <a:prstGeom prst="rect">
            <a:avLst/>
          </a:prstGeom>
          <a:solidFill>
            <a:srgbClr val="8BA7C0"/>
          </a:solidFill>
          <a:ln w="12700">
            <a:solidFill>
              <a:srgbClr val="8BA7C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74720" y="3154680"/>
            <a:ext cx="2286000" cy="1600200"/>
          </a:xfrm>
          <a:prstGeom prst="rect">
            <a:avLst/>
          </a:prstGeom>
          <a:solidFill>
            <a:srgbClr val="172436"/>
          </a:solidFill>
          <a:ln w="635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474720" y="3154680"/>
            <a:ext cx="2286000" cy="347472"/>
          </a:xfrm>
          <a:prstGeom prst="rect">
            <a:avLst/>
          </a:prstGeom>
          <a:solidFill>
            <a:srgbClr val="00C9A7">
              <a:alpha val="4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31546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에이전트 B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547872" y="354787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7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.claude/worktrees/agent-b/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547872" y="39319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📄 src/auth.ts 다른 방식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406640" y="2514600"/>
            <a:ext cx="36576" cy="640080"/>
          </a:xfrm>
          <a:prstGeom prst="rect">
            <a:avLst/>
          </a:prstGeom>
          <a:solidFill>
            <a:srgbClr val="8BA7C0"/>
          </a:solidFill>
          <a:ln w="12700">
            <a:solidFill>
              <a:srgbClr val="8BA7C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0" y="3154680"/>
            <a:ext cx="2286000" cy="1600200"/>
          </a:xfrm>
          <a:prstGeom prst="rect">
            <a:avLst/>
          </a:prstGeom>
          <a:solidFill>
            <a:srgbClr val="172436"/>
          </a:solidFill>
          <a:ln w="635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00800" y="3154680"/>
            <a:ext cx="2286000" cy="347472"/>
          </a:xfrm>
          <a:prstGeom prst="rect">
            <a:avLst/>
          </a:prstGeom>
          <a:solidFill>
            <a:srgbClr val="00C9A7">
              <a:alpha val="4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31546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에이전트 C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73952" y="354787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7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.claude/worktrees/agent-c/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473952" y="39319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📄 tests/ 작성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4736592"/>
            <a:ext cx="8412480" cy="274320"/>
          </a:xfrm>
          <a:prstGeom prst="rect">
            <a:avLst/>
          </a:prstGeom>
          <a:solidFill>
            <a:srgbClr val="0A1520"/>
          </a:solidFill>
          <a:ln w="12700">
            <a:solidFill>
              <a:srgbClr val="009E8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4754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--worktree my-feature    |    claude --worktree my-feature --tmux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489204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7C0"/>
                </a:solidFill>
              </a:rPr>
              <a:t>12 / 20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182880"/>
            <a:ext cx="64008" cy="5029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82880"/>
            <a:ext cx="8092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Claude Agent SDK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5029200" cy="502920"/>
          </a:xfrm>
          <a:prstGeom prst="rect">
            <a:avLst/>
          </a:prstGeom>
          <a:solidFill>
            <a:srgbClr val="1B2A3E"/>
          </a:solidFill>
          <a:ln w="12700">
            <a:solidFill>
              <a:srgbClr val="3344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96112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Claude Code SDK → Claude Agent SDK 로 이름 변경 (2026)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577840" y="868680"/>
            <a:ext cx="3200400" cy="502920"/>
          </a:xfrm>
          <a:prstGeom prst="rect">
            <a:avLst/>
          </a:prstGeom>
          <a:solidFill>
            <a:srgbClr val="0D2B1E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0" y="896112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</a:rPr>
              <a:t>범용 에이전트 프레임워크로 포지셔닝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1508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설치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801368"/>
            <a:ext cx="4160520" cy="621792"/>
          </a:xfrm>
          <a:prstGeom prst="rect">
            <a:avLst/>
          </a:prstGeom>
          <a:solidFill>
            <a:srgbClr val="0A1520"/>
          </a:solidFill>
          <a:ln w="12700">
            <a:solidFill>
              <a:srgbClr val="009E8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819656"/>
            <a:ext cx="3977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A7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Python
</a:t>
            </a:r>
            <a:pPr indent="0" marL="0">
              <a:buNone/>
            </a:pPr>
            <a:r>
              <a:rPr lang="en-US" sz="10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claude-agent-sdk
</a:t>
            </a:r>
            <a:pPr indent="0" marL="0">
              <a:buNone/>
            </a:pPr>
            <a:r>
              <a:rPr lang="en-US" sz="1000" dirty="0">
                <a:solidFill>
                  <a:srgbClr val="8BA7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TypeScript
</a:t>
            </a:r>
            <a:pPr indent="0" marL="0">
              <a:buNone/>
            </a:pPr>
            <a:r>
              <a:rPr lang="en-US" sz="10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@anthropic-ai/claude-agent-sdk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256032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Python 예시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852928"/>
            <a:ext cx="4160520" cy="1920240"/>
          </a:xfrm>
          <a:prstGeom prst="rect">
            <a:avLst/>
          </a:prstGeom>
          <a:solidFill>
            <a:srgbClr val="0A1520"/>
          </a:solidFill>
          <a:ln w="12700">
            <a:solidFill>
              <a:srgbClr val="009E8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871216"/>
            <a:ext cx="39776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8BA7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asyncio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457200" y="2984602"/>
            <a:ext cx="39776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claude_agent_sdk import (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457200" y="3097987"/>
            <a:ext cx="39776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query, ClaudeAgentOptions,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457200" y="3211373"/>
            <a:ext cx="39776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AgentDefinition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457200" y="3324758"/>
            <a:ext cx="39776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457200" y="3551530"/>
            <a:ext cx="39776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E9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main():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457200" y="3664915"/>
            <a:ext cx="39776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async for msg in query(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457200" y="3778301"/>
            <a:ext cx="39776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prompt='코드 리뷰해줘',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457200" y="3891686"/>
            <a:ext cx="39776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options=ClaudeAgentOptions(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457200" y="4005072"/>
            <a:ext cx="39776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allowed_tools=['Read','Agent'],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457200" y="4118458"/>
            <a:ext cx="39776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agents={'code-reviewer':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457200" y="4231843"/>
            <a:ext cx="39776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AgentDefinition(...)}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457200" y="4345229"/>
            <a:ext cx="39776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),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457200" y="4458614"/>
            <a:ext cx="39776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):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457200" y="4572000"/>
            <a:ext cx="39776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print(msg)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4709160" y="1463040"/>
            <a:ext cx="4114800" cy="594360"/>
          </a:xfrm>
          <a:prstGeom prst="rect">
            <a:avLst/>
          </a:prstGeom>
          <a:solidFill>
            <a:srgbClr val="172436"/>
          </a:solidFill>
          <a:ln w="6350">
            <a:solidFill>
              <a:srgbClr val="1A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1463040"/>
            <a:ext cx="54864" cy="5943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151790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</a:rPr>
              <a:t>🔧  내장 도구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46320" y="17556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7C0"/>
                </a:solidFill>
              </a:rPr>
              <a:t>Read, Write, Edit, Bash, Glob, Grep, WebSearch, WebFetch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09160" y="2148840"/>
            <a:ext cx="4114800" cy="594360"/>
          </a:xfrm>
          <a:prstGeom prst="rect">
            <a:avLst/>
          </a:prstGeom>
          <a:solidFill>
            <a:srgbClr val="172436"/>
          </a:solidFill>
          <a:ln w="6350">
            <a:solidFill>
              <a:srgbClr val="1A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09160" y="2148840"/>
            <a:ext cx="54864" cy="5943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220370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</a:rPr>
              <a:t>🪝  훅 시스템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46320" y="24414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7C0"/>
                </a:solidFill>
              </a:rPr>
              <a:t>PreToolUse, PostToolUse, Stop, SessionStart 등 라이프사이클 후크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709160" y="2834640"/>
            <a:ext cx="4114800" cy="594360"/>
          </a:xfrm>
          <a:prstGeom prst="rect">
            <a:avLst/>
          </a:prstGeom>
          <a:solidFill>
            <a:srgbClr val="172436"/>
          </a:solidFill>
          <a:ln w="6350">
            <a:solidFill>
              <a:srgbClr val="1A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709160" y="2834640"/>
            <a:ext cx="54864" cy="5943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46320" y="288950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</a:rPr>
              <a:t>🤖  서브에이전트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846320" y="31272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7C0"/>
                </a:solidFill>
              </a:rPr>
              <a:t>AgentDefinition으로 커스텀 에이전트 정의 및 위임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709160" y="3520440"/>
            <a:ext cx="4114800" cy="594360"/>
          </a:xfrm>
          <a:prstGeom prst="rect">
            <a:avLst/>
          </a:prstGeom>
          <a:solidFill>
            <a:srgbClr val="172436"/>
          </a:solidFill>
          <a:ln w="6350">
            <a:solidFill>
              <a:srgbClr val="1A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709160" y="3520440"/>
            <a:ext cx="54864" cy="5943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46320" y="357530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</a:rPr>
              <a:t>🔗  MCP 연결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846320" y="38130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7C0"/>
                </a:solidFill>
              </a:rPr>
              <a:t>데이터베이스, 브라우저, Slack, GitHub 등 외부 시스템 통합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709160" y="4206240"/>
            <a:ext cx="4114800" cy="594360"/>
          </a:xfrm>
          <a:prstGeom prst="rect">
            <a:avLst/>
          </a:prstGeom>
          <a:solidFill>
            <a:srgbClr val="172436"/>
          </a:solidFill>
          <a:ln w="6350">
            <a:solidFill>
              <a:srgbClr val="1A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709160" y="4206240"/>
            <a:ext cx="54864" cy="5943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46320" y="426110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</a:rPr>
              <a:t>💾  세션 관리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846320" y="44988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7C0"/>
                </a:solidFill>
              </a:rPr>
              <a:t>session_id로 대화 재개 및 전체 컨텍스트 유지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89204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13 / 20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</a:rPr>
              <a:t>에이전트 루프 구조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2286000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269748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0E4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60120"/>
            <a:ext cx="269748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7840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🔍  맥락 수집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38988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C9A7"/>
                </a:solidFill>
              </a:rPr>
              <a:t>Gather Context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1719072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→  파일 시스템 탐색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221992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→  코드베이스 분석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724912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→  의존성 파악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3227832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→  서브에이전트 병렬 조사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46120" y="960120"/>
            <a:ext cx="269748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0E4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960120"/>
            <a:ext cx="269748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97840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⚡  행동 수행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37560" y="138988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C9A7"/>
                </a:solidFill>
              </a:rPr>
              <a:t>Take Action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83280" y="1719072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→  파일 편집/생성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83280" y="2221992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→  Bash 명령 실행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83280" y="2724912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→  MCP 도구 호출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83280" y="3227832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→  코드 생성/수정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26480" y="960120"/>
            <a:ext cx="269748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0E4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26480" y="960120"/>
            <a:ext cx="269748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97840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✅  작업 검증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217920" y="138988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C9A7"/>
                </a:solidFill>
              </a:rPr>
              <a:t>Verify Work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63640" y="1719072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→  린트/테스트 실행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63640" y="2221992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→  시각적 피드백 확인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63640" y="2724912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→  LLM 심사 도구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63640" y="3227832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→  규칙 기반 검사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063240" y="2651760"/>
            <a:ext cx="274320" cy="36576"/>
          </a:xfrm>
          <a:prstGeom prst="rect">
            <a:avLst/>
          </a:prstGeom>
          <a:solidFill>
            <a:srgbClr val="009E84"/>
          </a:solidFill>
          <a:ln w="12700">
            <a:solidFill>
              <a:srgbClr val="009E8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43600" y="2651760"/>
            <a:ext cx="274320" cy="36576"/>
          </a:xfrm>
          <a:prstGeom prst="rect">
            <a:avLst/>
          </a:prstGeom>
          <a:solidFill>
            <a:srgbClr val="009E84"/>
          </a:solidFill>
          <a:ln w="12700">
            <a:solidFill>
              <a:srgbClr val="009E8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4572000"/>
            <a:ext cx="841248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4617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🔄  태스크 완료까지 루프를 자동으로 반복  —  맥락 수집 → 행동 → 검증 → 반복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489204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7C0"/>
                </a:solidFill>
              </a:rPr>
              <a:t>14 / 20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182880"/>
            <a:ext cx="64008" cy="5029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82880"/>
            <a:ext cx="8092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실전 패턴 ① — 병렬 코드 리뷰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8412480" cy="1371600"/>
          </a:xfrm>
          <a:prstGeom prst="rect">
            <a:avLst/>
          </a:prstGeom>
          <a:solidFill>
            <a:srgbClr val="0A1520"/>
          </a:solidFill>
          <a:ln w="12700">
            <a:solidFill>
              <a:srgbClr val="009E8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869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A7C0"/>
                </a:solidFill>
              </a:rPr>
              <a:t>프롬프트 예시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143000"/>
            <a:ext cx="82296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an agent team to review PR #142. Spawn three reviewers: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One focused on security implications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One checking performance impact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One validating test coverage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Have them each review and report findings.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423160"/>
            <a:ext cx="2724912" cy="2423160"/>
          </a:xfrm>
          <a:prstGeom prst="rect">
            <a:avLst/>
          </a:prstGeom>
          <a:solidFill>
            <a:srgbClr val="172436"/>
          </a:solidFill>
          <a:ln w="12700">
            <a:solidFill>
              <a:srgbClr val="EF47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" y="2487168"/>
            <a:ext cx="2724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🔐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11480" y="2971800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76F"/>
                </a:solidFill>
              </a:rPr>
              <a:t>보안 리뷰어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355848"/>
            <a:ext cx="2450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</a:rPr>
              <a:t>• XSS / SQLi 탐지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3703320"/>
            <a:ext cx="2450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</a:rPr>
              <a:t>• JWT 토큰 검증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4050792"/>
            <a:ext cx="2450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</a:rPr>
              <a:t>• 입력 유효성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4398264"/>
            <a:ext cx="2450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</a:rPr>
              <a:t>• 민감 정보 노출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27832" y="2423160"/>
            <a:ext cx="2724912" cy="2423160"/>
          </a:xfrm>
          <a:prstGeom prst="rect">
            <a:avLst/>
          </a:prstGeom>
          <a:solidFill>
            <a:srgbClr val="172436"/>
          </a:solidFill>
          <a:ln w="12700">
            <a:solidFill>
              <a:srgbClr val="FFD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27832" y="2487168"/>
            <a:ext cx="2724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3319272" y="2971800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166"/>
                </a:solidFill>
              </a:rPr>
              <a:t>성능 분석가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64992" y="3355848"/>
            <a:ext cx="2450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</a:rPr>
              <a:t>• N+1 쿼리 탐지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364992" y="3703320"/>
            <a:ext cx="2450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</a:rPr>
              <a:t>• 불필요한 루프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364992" y="4050792"/>
            <a:ext cx="2450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</a:rPr>
              <a:t>• 메모리 누수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364992" y="4398264"/>
            <a:ext cx="2450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</a:rPr>
              <a:t>• 캐시 효율성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135624" y="2423160"/>
            <a:ext cx="2724912" cy="2423160"/>
          </a:xfrm>
          <a:prstGeom prst="rect">
            <a:avLst/>
          </a:prstGeom>
          <a:solidFill>
            <a:srgbClr val="172436"/>
          </a:solidFill>
          <a:ln w="1270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135624" y="2487168"/>
            <a:ext cx="2724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🧪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227064" y="2971800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9A7"/>
                </a:solidFill>
              </a:rPr>
              <a:t>테스트 검증자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272784" y="3355848"/>
            <a:ext cx="2450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</a:rPr>
              <a:t>• 커버리지 측정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272784" y="3703320"/>
            <a:ext cx="2450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</a:rPr>
              <a:t>• 엣지 케이스 확인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272784" y="4050792"/>
            <a:ext cx="2450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</a:rPr>
              <a:t>• 통합 테스트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272784" y="4398264"/>
            <a:ext cx="2450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</a:rPr>
              <a:t>• Mock 적절성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65760" y="4736592"/>
            <a:ext cx="8412480" cy="320040"/>
          </a:xfrm>
          <a:prstGeom prst="rect">
            <a:avLst/>
          </a:prstGeom>
          <a:solidFill>
            <a:srgbClr val="0D2B1E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4773168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9A7"/>
                </a:solidFill>
              </a:rPr>
              <a:t>팀 리드가 세 리뷰어의 결과를 종합 → 단일 리뷰어 대비 더 깊고 균형 잡힌 리뷰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489204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7C0"/>
                </a:solidFill>
              </a:rPr>
              <a:t>15 / 20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182880"/>
            <a:ext cx="64008" cy="5029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82880"/>
            <a:ext cx="8092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실전 패턴 ② — 경쟁 가설 디버깅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8412480" cy="1234440"/>
          </a:xfrm>
          <a:prstGeom prst="rect">
            <a:avLst/>
          </a:prstGeom>
          <a:solidFill>
            <a:srgbClr val="0A1520"/>
          </a:solidFill>
          <a:ln w="12700">
            <a:solidFill>
              <a:srgbClr val="009E8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96112"/>
            <a:ext cx="8229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"Spawn 5 agent teammates to investigate different hypotheses.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Have them talk to each other to try to disprove each other's theories,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like a scientific debate. Update the findings doc with whatever consensus emerges."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2240280"/>
            <a:ext cx="4114800" cy="2606040"/>
          </a:xfrm>
          <a:prstGeom prst="rect">
            <a:avLst/>
          </a:prstGeom>
          <a:solidFill>
            <a:srgbClr val="172436"/>
          </a:solidFill>
          <a:ln w="635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230428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</a:rPr>
              <a:t>왜 이 구조가 효과적인가?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724912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F476F"/>
                </a:solidFill>
              </a:rPr>
              <a:t>✗ 단일 에이전트는 첫 번째 그럴듯한 이론에 닻을 내림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321868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F476F"/>
                </a:solidFill>
              </a:rPr>
              <a:t>✗ 이후 조사가 이미 찾은 이론 방향으로 편향됨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3712464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C9A7"/>
                </a:solidFill>
              </a:rPr>
              <a:t>✓ 여러 에이전트가 독립적으로 다른 가설을 탐색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420624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C9A7"/>
                </a:solidFill>
              </a:rPr>
              <a:t>✓ 살아남는 이론 = 실제 원인일 가능성이 훨씬 높음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0" y="2240280"/>
            <a:ext cx="4206240" cy="2606040"/>
          </a:xfrm>
          <a:prstGeom prst="rect">
            <a:avLst/>
          </a:prstGeom>
          <a:solidFill>
            <a:srgbClr val="172436"/>
          </a:solidFill>
          <a:ln w="6350">
            <a:solidFill>
              <a:srgbClr val="FFD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63440" y="230428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</a:rPr>
              <a:t>디버깅 플로우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63440" y="2715768"/>
            <a:ext cx="292608" cy="292608"/>
          </a:xfrm>
          <a:prstGeom prst="ellipse">
            <a:avLst/>
          </a:prstGeom>
          <a:solidFill>
            <a:srgbClr val="FFD166">
              <a:alpha val="5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27157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0" y="27340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버그 증상 공유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903720" y="2734056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7C0"/>
                </a:solidFill>
              </a:rPr>
              <a:t>팀원 전원에게 broadcast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63440" y="3172968"/>
            <a:ext cx="292608" cy="292608"/>
          </a:xfrm>
          <a:prstGeom prst="ellipse">
            <a:avLst/>
          </a:prstGeom>
          <a:solidFill>
            <a:srgbClr val="FFD166">
              <a:alpha val="5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31729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29200" y="31912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각자 가설 탐색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903720" y="3191256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7C0"/>
                </a:solidFill>
              </a:rPr>
              <a:t>독립적인 컨텍스트 분리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3630168"/>
            <a:ext cx="292608" cy="292608"/>
          </a:xfrm>
          <a:prstGeom prst="ellipse">
            <a:avLst/>
          </a:prstGeom>
          <a:solidFill>
            <a:srgbClr val="FFD166">
              <a:alpha val="5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36301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029200" y="36484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이론 상호 반박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903720" y="3648456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7C0"/>
                </a:solidFill>
              </a:rPr>
              <a:t>직접 메시지로 도전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63440" y="4087368"/>
            <a:ext cx="292608" cy="292608"/>
          </a:xfrm>
          <a:prstGeom prst="ellipse">
            <a:avLst/>
          </a:prstGeom>
          <a:solidFill>
            <a:srgbClr val="FFD166">
              <a:alpha val="5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4087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029200" y="41056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합의 수렴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903720" y="4105656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7C0"/>
                </a:solidFill>
              </a:rPr>
              <a:t>살아남은 가설로 집중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4544568"/>
            <a:ext cx="292608" cy="292608"/>
          </a:xfrm>
          <a:prstGeom prst="ellipse">
            <a:avLst/>
          </a:prstGeom>
          <a:solidFill>
            <a:srgbClr val="FFD166">
              <a:alpha val="5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45445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5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029200" y="45628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수정 &amp; 검증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903720" y="4562856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7C0"/>
                </a:solidFill>
              </a:rPr>
              <a:t>한 팀원이 픽스 구현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489204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7C0"/>
                </a:solidFill>
              </a:rPr>
              <a:t>16 / 20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182880"/>
            <a:ext cx="64008" cy="5029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82880"/>
            <a:ext cx="8092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실전 패턴 ③ — 크로스 레이어 기능 개발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2816352" cy="3429000"/>
          </a:xfrm>
          <a:prstGeom prst="rect">
            <a:avLst/>
          </a:prstGeom>
          <a:solidFill>
            <a:srgbClr val="172436"/>
          </a:solidFill>
          <a:ln w="15240">
            <a:solidFill>
              <a:srgbClr val="1E90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60120"/>
            <a:ext cx="2816352" cy="502920"/>
          </a:xfrm>
          <a:prstGeom prst="rect">
            <a:avLst/>
          </a:prstGeom>
          <a:solidFill>
            <a:srgbClr val="1E90FF">
              <a:alpha val="35000"/>
            </a:srgbClr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978408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🖥️  백엔드 팀원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536192"/>
            <a:ext cx="26334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▸  알림 서비스 구현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011680"/>
            <a:ext cx="26334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▸  REST API 엔드포인트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2487168"/>
            <a:ext cx="26334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▸  데이터베이스 스키마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2962656"/>
            <a:ext cx="26334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▸  비즈니스 로직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429000"/>
            <a:ext cx="2633472" cy="36576"/>
          </a:xfrm>
          <a:prstGeom prst="rect">
            <a:avLst/>
          </a:prstGeom>
          <a:solidFill>
            <a:srgbClr val="1E90FF">
              <a:alpha val="50000"/>
            </a:srgbClr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493008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7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src/services/ · src/api/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27832" y="960120"/>
            <a:ext cx="2816352" cy="3429000"/>
          </a:xfrm>
          <a:prstGeom prst="rect">
            <a:avLst/>
          </a:prstGeom>
          <a:solidFill>
            <a:srgbClr val="172436"/>
          </a:solidFill>
          <a:ln w="15240">
            <a:solidFill>
              <a:srgbClr val="FFD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27832" y="960120"/>
            <a:ext cx="2816352" cy="502920"/>
          </a:xfrm>
          <a:prstGeom prst="rect">
            <a:avLst/>
          </a:prstGeom>
          <a:solidFill>
            <a:srgbClr val="FFD166">
              <a:alpha val="35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19272" y="978408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🎨  프론트엔드 팀원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19272" y="1536192"/>
            <a:ext cx="26334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▸  알림 UI 컴포넌트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19272" y="2011680"/>
            <a:ext cx="26334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▸  실시간 업데이트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19272" y="2487168"/>
            <a:ext cx="26334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▸  반응형 레이아웃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19272" y="2962656"/>
            <a:ext cx="26334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▸  UX 상태 관리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319272" y="3429000"/>
            <a:ext cx="2633472" cy="36576"/>
          </a:xfrm>
          <a:prstGeom prst="rect">
            <a:avLst/>
          </a:prstGeom>
          <a:solidFill>
            <a:srgbClr val="FFD166">
              <a:alpha val="5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19272" y="3493008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7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src/components/ · src/store/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181344" y="960120"/>
            <a:ext cx="2816352" cy="3429000"/>
          </a:xfrm>
          <a:prstGeom prst="rect">
            <a:avLst/>
          </a:prstGeom>
          <a:solidFill>
            <a:srgbClr val="172436"/>
          </a:solidFill>
          <a:ln w="1524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81344" y="960120"/>
            <a:ext cx="2816352" cy="502920"/>
          </a:xfrm>
          <a:prstGeom prst="rect">
            <a:avLst/>
          </a:prstGeom>
          <a:solidFill>
            <a:srgbClr val="00C9A7">
              <a:alpha val="35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72784" y="978408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🧪  테스트 팀원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72784" y="1536192"/>
            <a:ext cx="26334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▸  단위 테스트 작성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72784" y="2011680"/>
            <a:ext cx="26334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▸  통합 테스트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72784" y="2487168"/>
            <a:ext cx="26334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▸  E2E 시나리오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72784" y="2962656"/>
            <a:ext cx="26334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▸  성능 테스트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72784" y="3429000"/>
            <a:ext cx="2633472" cy="36576"/>
          </a:xfrm>
          <a:prstGeom prst="rect">
            <a:avLst/>
          </a:prstGeom>
          <a:solidFill>
            <a:srgbClr val="00C9A7">
              <a:alpha val="5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72784" y="3493008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7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tests/ · e2e/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65760" y="4526280"/>
            <a:ext cx="8412480" cy="502920"/>
          </a:xfrm>
          <a:prstGeom prst="rect">
            <a:avLst/>
          </a:prstGeom>
          <a:solidFill>
            <a:srgbClr val="0D2B1E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4572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</a:rPr>
              <a:t>핵심: </a:t>
            </a:r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</a:rPr>
              <a:t>각 팀원이 서로 다른 파일 집합 소유 → 파일 충돌 Zero  |  병렬 개발로 시간 대폭 단축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89204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17 / 20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</a:rPr>
              <a:t>베스트 프랙티스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2286000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60120"/>
            <a:ext cx="416052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0E4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60120"/>
            <a:ext cx="64008" cy="11887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69848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👥  팀 크기: 3~5명으로 시작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435608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455"/>
                </a:solidFill>
              </a:rPr>
              <a:t>토큰 비용은 팀원 수에 비례. 5~6 태스크/팀원이 적정. 15개 태스크 → 팀원 3명 권장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2286000"/>
            <a:ext cx="416052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0E4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286000"/>
            <a:ext cx="64008" cy="118872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395728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📝  충분한 컨텍스트 전달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2761488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455"/>
                </a:solidFill>
              </a:rPr>
              <a:t>팀원은 리드의 대화 히스토리를 상속받지 않음. 소환 프롬프트에 태스크별 상세 정보 포함 필수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3611880"/>
            <a:ext cx="416052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0E4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3611880"/>
            <a:ext cx="64008" cy="118872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721608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📋  CLAUDE.md 적극 활용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4087368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455"/>
                </a:solidFill>
              </a:rPr>
              <a:t>모든 팀원이 CLAUDE.md를 자동 로드. 코딩 컨벤션, 아키텍처 결정, 금지 패턴을 여기에 기록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960120"/>
            <a:ext cx="416052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0E4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960120"/>
            <a:ext cx="64008" cy="1188720"/>
          </a:xfrm>
          <a:prstGeom prst="rect">
            <a:avLst/>
          </a:prstGeom>
          <a:solidFill>
            <a:srgbClr val="009E84"/>
          </a:solidFill>
          <a:ln w="12700">
            <a:solidFill>
              <a:srgbClr val="009E8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1069848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⚖️  태스크 크기 최적화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0" y="1435608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455"/>
                </a:solidFill>
              </a:rPr>
              <a:t>너무 작으면 조율 오버헤드 &gt; 이익. 너무 크면 낭비 위험. 명확한 결과물을 내는 자기완결 단위로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63440" y="2286000"/>
            <a:ext cx="416052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0E4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2286000"/>
            <a:ext cx="64008" cy="118872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2395728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🚫  파일 충돌 방지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46320" y="2761488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455"/>
                </a:solidFill>
              </a:rPr>
              <a:t>같은 파일을 두 팀원이 편집 → 덮어쓰기 충돌. 각 팀원이 다른 파일 집합을 소유하도록 분배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63440" y="3611880"/>
            <a:ext cx="416052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0E4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3611880"/>
            <a:ext cx="64008" cy="1188720"/>
          </a:xfrm>
          <a:prstGeom prst="rect">
            <a:avLst/>
          </a:prstGeom>
          <a:solidFill>
            <a:srgbClr val="8BA7C0"/>
          </a:solidFill>
          <a:ln w="12700">
            <a:solidFill>
              <a:srgbClr val="8BA7C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3721608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👁️  지속적인 모니터링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46320" y="4087368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455"/>
                </a:solidFill>
              </a:rPr>
              <a:t>방치하면 낭비 증가. Shift+Down으로 팀원 상태 체크. 잘못된 방향은 즉시 리다이렉트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489204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7C0"/>
                </a:solidFill>
              </a:rPr>
              <a:t>18 / 20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182880"/>
            <a:ext cx="64008" cy="5029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82880"/>
            <a:ext cx="8092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한계와 주의사항 (실험 기능)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8412480" cy="658368"/>
          </a:xfrm>
          <a:prstGeom prst="rect">
            <a:avLst/>
          </a:prstGeom>
          <a:solidFill>
            <a:srgbClr val="2B1010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89611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76F"/>
                </a:solidFill>
              </a:rPr>
              <a:t>💸  토큰 비용: </a:t>
            </a:r>
            <a:pPr indent="0" marL="0">
              <a:buNone/>
            </a:pPr>
            <a:r>
              <a:rPr lang="en-US" sz="1300" dirty="0">
                <a:solidFill>
                  <a:srgbClr val="E8F4F8"/>
                </a:solidFill>
              </a:rPr>
              <a:t>3명 팀원 = 단일 세션 대비 </a:t>
            </a:r>
            <a:pPr indent="0" marL="0">
              <a:buNone/>
            </a:pPr>
            <a:r>
              <a:rPr lang="en-US" sz="1600" b="1" dirty="0">
                <a:solidFill>
                  <a:srgbClr val="FFD166"/>
                </a:solidFill>
              </a:rPr>
              <a:t>약 3~4배</a:t>
            </a:r>
            <a:pPr indent="0" marL="0">
              <a:buNone/>
            </a:pPr>
            <a:r>
              <a:rPr lang="en-US" sz="1300" dirty="0">
                <a:solidFill>
                  <a:srgbClr val="E8F4F8"/>
                </a:solidFill>
              </a:rPr>
              <a:t> 토큰 소비. 복잡한 태스크에서만 사용 권장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691640"/>
            <a:ext cx="4297680" cy="987552"/>
          </a:xfrm>
          <a:prstGeom prst="rect">
            <a:avLst/>
          </a:prstGeom>
          <a:solidFill>
            <a:srgbClr val="172436"/>
          </a:solidFill>
          <a:ln w="9525">
            <a:solidFill>
              <a:srgbClr val="EF47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691640"/>
            <a:ext cx="54864" cy="987552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78308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🚫  세션 재개 불가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8912" y="214884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7C0"/>
                </a:solidFill>
              </a:rPr>
              <a:t>인프로세스 팀원 포함 시 /resume·/rewind가 팀원 복원 안 함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761488"/>
            <a:ext cx="4297680" cy="987552"/>
          </a:xfrm>
          <a:prstGeom prst="rect">
            <a:avLst/>
          </a:prstGeom>
          <a:solidFill>
            <a:srgbClr val="172436"/>
          </a:solidFill>
          <a:ln w="9525">
            <a:solidFill>
              <a:srgbClr val="FFD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761488"/>
            <a:ext cx="54864" cy="98755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285292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⏱️  태스크 상태 지연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38912" y="3218688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7C0"/>
                </a:solidFill>
              </a:rPr>
              <a:t>팀원이 간혹 완료 표시를 안 해서 의존 태스크가 막힐 수 있음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3831336"/>
            <a:ext cx="4297680" cy="987552"/>
          </a:xfrm>
          <a:prstGeom prst="rect">
            <a:avLst/>
          </a:prstGeom>
          <a:solidFill>
            <a:srgbClr val="172436"/>
          </a:solidFill>
          <a:ln w="9525">
            <a:solidFill>
              <a:srgbClr val="8BA7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831336"/>
            <a:ext cx="54864" cy="987552"/>
          </a:xfrm>
          <a:prstGeom prst="rect">
            <a:avLst/>
          </a:prstGeom>
          <a:solidFill>
            <a:srgbClr val="8BA7C0"/>
          </a:solidFill>
          <a:ln w="12700">
            <a:solidFill>
              <a:srgbClr val="8BA7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392277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⏳  느린 종료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8912" y="4288536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7C0"/>
                </a:solidFill>
              </a:rPr>
              <a:t>현재 요청/도구 호출 완료 후 종료 → 시간이 오래 걸릴 수 있음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09160" y="1691640"/>
            <a:ext cx="4297680" cy="987552"/>
          </a:xfrm>
          <a:prstGeom prst="rect">
            <a:avLst/>
          </a:prstGeom>
          <a:solidFill>
            <a:srgbClr val="172436"/>
          </a:solidFill>
          <a:ln w="9525">
            <a:solidFill>
              <a:srgbClr val="FFD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1691640"/>
            <a:ext cx="54864" cy="98755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73752" y="178308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1️⃣  팀 하나만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73752" y="214884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7C0"/>
                </a:solidFill>
              </a:rPr>
              <a:t>리드는 한 번에 팀 하나만 관리 가능. 팀 정리 후 새 팀 생성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09160" y="2761488"/>
            <a:ext cx="4297680" cy="987552"/>
          </a:xfrm>
          <a:prstGeom prst="rect">
            <a:avLst/>
          </a:prstGeom>
          <a:solidFill>
            <a:srgbClr val="172436"/>
          </a:solidFill>
          <a:ln w="9525">
            <a:solidFill>
              <a:srgbClr val="FFD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2761488"/>
            <a:ext cx="54864" cy="98755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73752" y="285292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🌲  중첩 팀 불가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73752" y="3218688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7C0"/>
                </a:solidFill>
              </a:rPr>
              <a:t>팀원은 자신의 팀/팀원을 생성할 수 없음. 리드만 팀 관리 가능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09160" y="3831336"/>
            <a:ext cx="4297680" cy="987552"/>
          </a:xfrm>
          <a:prstGeom prst="rect">
            <a:avLst/>
          </a:prstGeom>
          <a:solidFill>
            <a:srgbClr val="172436"/>
          </a:solidFill>
          <a:ln w="9525">
            <a:solidFill>
              <a:srgbClr val="8BA7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09160" y="3831336"/>
            <a:ext cx="54864" cy="987552"/>
          </a:xfrm>
          <a:prstGeom prst="rect">
            <a:avLst/>
          </a:prstGeom>
          <a:solidFill>
            <a:srgbClr val="8BA7C0"/>
          </a:solidFill>
          <a:ln w="12700">
            <a:solidFill>
              <a:srgbClr val="8BA7C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73752" y="392277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🖥️  스플릿 패널 제약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73752" y="4288536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7C0"/>
                </a:solidFill>
              </a:rPr>
              <a:t>tmux 또는 iTerm2 필요. VS Code·Windows Terminal·Ghostty 미지원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4818888"/>
            <a:ext cx="8412480" cy="256032"/>
          </a:xfrm>
          <a:prstGeom prst="rect">
            <a:avLst/>
          </a:prstGeom>
          <a:solidFill>
            <a:srgbClr val="1B2A3E"/>
          </a:solidFill>
          <a:ln w="12700">
            <a:solidFill>
              <a:srgbClr val="3344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483717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7C0"/>
                </a:solidFill>
              </a:rPr>
              <a:t>순차 태스크 · 동일 파일 편집 · 의존성 많은 작업 · 빠른 일회성 작업 → 단일 세션 또는 서브에이전트 사용 권장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89204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19 / 20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</a:rPr>
              <a:t>멀티에이전트 시스템 전체 지도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2743200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22960"/>
            <a:ext cx="8595360" cy="4069080"/>
          </a:xfrm>
          <a:prstGeom prst="rect">
            <a:avLst/>
          </a:prstGeom>
          <a:solidFill>
            <a:srgbClr val="F5F9FF"/>
          </a:solidFill>
          <a:ln w="12700">
            <a:solidFill>
              <a:srgbClr val="C0D4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412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99BB"/>
                </a:solidFill>
              </a:rPr>
              <a:t>Claude Code 생태계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2011680" cy="914400"/>
          </a:xfrm>
          <a:prstGeom prst="rect">
            <a:avLst/>
          </a:prstGeom>
          <a:solidFill>
            <a:srgbClr val="E8F0FF"/>
          </a:solidFill>
          <a:ln w="9525">
            <a:solidFill>
              <a:srgbClr val="D0E4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2527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💻  CLI / 터미널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5727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5566"/>
                </a:solidFill>
              </a:rPr>
              <a:t>인터랙티브 개발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45566"/>
                </a:solidFill>
              </a:rPr>
              <a:t>claude --worktree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06040" y="1188720"/>
            <a:ext cx="2011680" cy="914400"/>
          </a:xfrm>
          <a:prstGeom prst="rect">
            <a:avLst/>
          </a:prstGeom>
          <a:solidFill>
            <a:srgbClr val="E8F0FF"/>
          </a:solidFill>
          <a:ln w="9525">
            <a:solidFill>
              <a:srgbClr val="D0E4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97480" y="12527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🔧  Agent SDK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97480" y="15727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5566"/>
                </a:solidFill>
              </a:rPr>
              <a:t>CI/CD · 자동화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45566"/>
                </a:solidFill>
              </a:rPr>
              <a:t>Python / TypeScript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54880" y="1188720"/>
            <a:ext cx="2011680" cy="914400"/>
          </a:xfrm>
          <a:prstGeom prst="rect">
            <a:avLst/>
          </a:prstGeom>
          <a:solidFill>
            <a:srgbClr val="E8F0FF"/>
          </a:solidFill>
          <a:ln w="9525">
            <a:solidFill>
              <a:srgbClr val="D0E4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46320" y="12527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🖥️  Desktop / Web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15727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5566"/>
                </a:solidFill>
              </a:rPr>
              <a:t>클라우드 세션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45566"/>
                </a:solidFill>
              </a:rPr>
              <a:t>모바일 연동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903720" y="1188720"/>
            <a:ext cx="1828800" cy="914400"/>
          </a:xfrm>
          <a:prstGeom prst="rect">
            <a:avLst/>
          </a:prstGeom>
          <a:solidFill>
            <a:srgbClr val="E8F0FF"/>
          </a:solidFill>
          <a:ln w="9525">
            <a:solidFill>
              <a:srgbClr val="D0E4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95160" y="125272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🔌  IDE 확장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995160" y="157276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5566"/>
                </a:solidFill>
              </a:rPr>
              <a:t>VS Code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45566"/>
                </a:solidFill>
              </a:rPr>
              <a:t>JetBrains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65760" y="2286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99BB"/>
                </a:solidFill>
              </a:rPr>
              <a:t>에이전트 계층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606040"/>
            <a:ext cx="2468880" cy="1005840"/>
          </a:xfrm>
          <a:prstGeom prst="rect">
            <a:avLst/>
          </a:prstGeom>
          <a:solidFill>
            <a:srgbClr val="E8FFF5"/>
          </a:solidFill>
          <a:ln w="9525">
            <a:solidFill>
              <a:srgbClr val="D0E4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2606040"/>
            <a:ext cx="2468880" cy="36576"/>
          </a:xfrm>
          <a:prstGeom prst="rect">
            <a:avLst/>
          </a:prstGeom>
          <a:solidFill>
            <a:srgbClr val="009E84"/>
          </a:solidFill>
          <a:ln w="12700">
            <a:solidFill>
              <a:srgbClr val="009E8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2679192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E84"/>
                </a:solidFill>
              </a:rPr>
              <a:t>🤖  서브에이전트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298094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</a:rPr>
              <a:t>• 단일 세션 내 운영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</a:rPr>
              <a:t>• 결과만 보고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</a:rPr>
              <a:t>• Explore / Plan / Custom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063240" y="2606040"/>
            <a:ext cx="2468880" cy="1005840"/>
          </a:xfrm>
          <a:prstGeom prst="rect">
            <a:avLst/>
          </a:prstGeom>
          <a:solidFill>
            <a:srgbClr val="FFF8E8"/>
          </a:solidFill>
          <a:ln w="9525">
            <a:solidFill>
              <a:srgbClr val="D0E4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063240" y="2606040"/>
            <a:ext cx="2468880" cy="36576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54680" y="2679192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A8800"/>
                </a:solidFill>
              </a:rPr>
              <a:t>👥  에이전트 팀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154680" y="298094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</a:rPr>
              <a:t>• 독립 세션 간 협업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</a:rPr>
              <a:t>• 팀원 간 직접 소통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</a:rPr>
              <a:t>• 공유 태스크 목록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669280" y="2606040"/>
            <a:ext cx="2468880" cy="1005840"/>
          </a:xfrm>
          <a:prstGeom prst="rect">
            <a:avLst/>
          </a:prstGeom>
          <a:solidFill>
            <a:srgbClr val="F0F0FF"/>
          </a:solidFill>
          <a:ln w="9525">
            <a:solidFill>
              <a:srgbClr val="D0E4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669280" y="2606040"/>
            <a:ext cx="2468880" cy="36576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60720" y="2679192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60CC"/>
                </a:solidFill>
              </a:rPr>
              <a:t>🌳  Worktree 격리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760720" y="298094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</a:rPr>
              <a:t>• 병렬 실행 + 충돌 방지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</a:rPr>
              <a:t>• 독립 브랜치/디렉토리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</a:rPr>
              <a:t>• isolation: worktree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65760" y="3794760"/>
            <a:ext cx="8412480" cy="36576"/>
          </a:xfrm>
          <a:prstGeom prst="rect">
            <a:avLst/>
          </a:prstGeom>
          <a:solidFill>
            <a:srgbClr val="C0D4E8"/>
          </a:solidFill>
          <a:ln w="12700">
            <a:solidFill>
              <a:srgbClr val="C0D4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8587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BB"/>
                </a:solidFill>
              </a:rPr>
              <a:t>← 단순 · 저비용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400800" y="38587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899BB"/>
                </a:solidFill>
              </a:rPr>
              <a:t>복잡 · 고비용 →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74320" y="4160520"/>
            <a:ext cx="8595360" cy="548640"/>
          </a:xfrm>
          <a:prstGeom prst="rect">
            <a:avLst/>
          </a:prstGeom>
          <a:solidFill>
            <a:srgbClr val="EEF0F8"/>
          </a:solidFill>
          <a:ln w="12700">
            <a:solidFill>
              <a:srgbClr val="C0D4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22452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5566"/>
                </a:solidFill>
              </a:rPr>
              <a:t>🔗  MCP (Model Context Protocol) — Slack · GitHub · Jira · Database · Browser · Custom Tools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1B2A3E"/>
          </a:solidFill>
          <a:ln w="12700">
            <a:solidFill>
              <a:srgbClr val="1B2A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C9A7"/>
                </a:solidFill>
              </a:rPr>
              <a:t>Key Takeaways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320040" cy="320040"/>
          </a:xfrm>
          <a:prstGeom prst="ellipse">
            <a:avLst/>
          </a:prstGeom>
          <a:solidFill>
            <a:srgbClr val="00C9A7">
              <a:alpha val="4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01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97840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</a:rPr>
              <a:t>에이전트 팀 = AI 엔지니어링 팀. 서로 토론하고 협업하는 멀티에이전트 시스템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444752"/>
            <a:ext cx="320040" cy="320040"/>
          </a:xfrm>
          <a:prstGeom prst="ellipse">
            <a:avLst/>
          </a:prstGeom>
          <a:solidFill>
            <a:srgbClr val="00C9A7">
              <a:alpha val="4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447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146304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</a:rPr>
              <a:t>서브에이전트(결과 보고) vs 에이전트 팀(상호 소통). 복잡도에 따라 선택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929384"/>
            <a:ext cx="320040" cy="320040"/>
          </a:xfrm>
          <a:prstGeom prst="ellipse">
            <a:avLst/>
          </a:prstGeom>
          <a:solidFill>
            <a:srgbClr val="00C9A7">
              <a:alpha val="4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92938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14400" y="194767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</a:rPr>
              <a:t>Worktree 격리로 병렬 실행 + 파일 충돌 Zero 달성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414016"/>
            <a:ext cx="320040" cy="320040"/>
          </a:xfrm>
          <a:prstGeom prst="ellipse">
            <a:avLst/>
          </a:prstGeom>
          <a:solidFill>
            <a:srgbClr val="00C9A7">
              <a:alpha val="4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41401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14400" y="2432304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</a:rPr>
              <a:t>Agent SDK로 프로그래밍 방식 완전 제어 — CI/CD와 프로덕션 자동화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898648"/>
            <a:ext cx="320040" cy="320040"/>
          </a:xfrm>
          <a:prstGeom prst="ellipse">
            <a:avLst/>
          </a:prstGeom>
          <a:solidFill>
            <a:srgbClr val="00C9A7">
              <a:alpha val="4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8986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14400" y="2916936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</a:rPr>
              <a:t>3~5명 팀원, CLAUDE.md 활용, 지속 모니터링이 베스트 프랙티스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5478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A7C0"/>
                </a:solidFill>
              </a:rPr>
              <a:t>참고 자료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38587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7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code.claude.com/docs/en/agent-teams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7200" y="41148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7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code.claude.com/docs/en/sub-agents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" y="43708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7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platform.claude.com/docs/en/agent-sdk/overview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7200" y="4572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A7C0"/>
                </a:solidFill>
              </a:rPr>
              <a:t>Claude Code 에이전트 팀 리서치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4828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566"/>
                </a:solidFill>
              </a:rPr>
              <a:t>2026.03.11  |  Auto Research Pipeline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Code 에이전트 팀</dc:title>
  <dc:subject>PptxGenJS Presentation</dc:subject>
  <dc:creator>Auto Research</dc:creator>
  <cp:lastModifiedBy>Auto Research</cp:lastModifiedBy>
  <cp:revision>1</cp:revision>
  <dcterms:created xsi:type="dcterms:W3CDTF">2026-03-10T21:09:06Z</dcterms:created>
  <dcterms:modified xsi:type="dcterms:W3CDTF">2026-03-10T21:09:06Z</dcterms:modified>
</cp:coreProperties>
</file>