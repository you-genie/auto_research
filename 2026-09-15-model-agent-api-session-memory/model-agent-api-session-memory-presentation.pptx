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Chat Completions는 세션을 서버에서 관리하지 않지만 Responses API는 한다. Claude Messages API는 안 하지만 Managed Agents는 한다. 같은 회사 안에서도 API마다 상태 소유권이 다르다는 점에서 출발한다.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번째가 실무에서 가장 자주 사고가 나는 지점이다. 답을 먼저 말하면 '당신이 고르는 것'이고, 고를 수 있다는 사실 자체를 모르는 경우가 많다.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서버 세션은 모델이 기억한다는 뜻이 아니라 누가 로그를 보관하느냐의 문제다. 그래서 토큰은 매 턴 다시 낸다. 세션(단기)과 메모리(장기)는 별개 제품이라 조합이 자유롭다.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L0~L2는 '이번 대화'의 축, L3는 '대화들 사이'의 축이라 직교한다. L0 모델 API에 L3 메모리를 붙이는 게 가장 흔한 프로덕션 패턴이다.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문서는 previous_response_id 체인의 모든 이전 입력 토큰이 입력 토큰으로 과금된다고 명시한다. 서버 세션은 네트워크 페이로드를 줄일 뿐 컨텍스트 비용을 줄이지 않는다. 비용을 실제로 줄이는 건 prompt caching과 compaction이다.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Responses는 previous_response_id로 체이닝, Conversations는 자체 식별자를 가진 장기 객체다. Conversation 객체와 그 안의 아이템은 응답의 30일 TTL 적용 대상이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'클라이언트가 관리하는 목록 + 서버가 수행하는 컨텍스트 최적화'. 저장 주체는 클라이언트에 남기면서 어려운 부분만 서버로 옮긴 절충안이다. ZDR을 유지하면서 장기 실행 에이전트를 돌릴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tools, system_instruction, generation_config는 interaction 스코프라 매 턴 다시 명시해야 한다. store:false를 주면 무상태가 되지만 체이닝과 백그라운드 실행을 못 쓴다. 앞으로 모든 신규 모델·기능은 Interactions API에서 출시된다.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Responses API를 Foundry에서 쓰면 서비스가 메시지 이력 저장용 데이터 스토어를 만드는데, 이 데이터는 고객 Azure 테넌트의 Foundry 리소스 내부, 해당 리소스와 같은 지리에 저장되고 기본 AES-256 암호화된다.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AWS 안에서도 구형 Bedrock Agents의 InvokeAgent는 sessionId 재사용 시 서버가 세션을 유지하는 자동 주입형이다. 경로마다 다르다는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'무상태 선택 가능' 컬럼을 주목하게 한다. 거버넌스 제약이 있는 조직은 이 컬럼이 X인 제품을 바로 제외할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budget.max_list_cost는 부동소수점 반올림을 피하려고 미국 센트 단위 문자열로 받는다('2500' = $25.00).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메모리 store는 워크스페이스 스코프이고 세션 생성 시 resources[]로만 붙일 수 있다. 실행 중 추가·제거는 지원되지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Managed Agents만의 문제가 아니라 L3 장기 메모리 전반의 구조적 위험이다. 메모리는 세션 경계를 넘는 쓰기 채널이기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이력을 내 손에 두고 싶으면 SDK, 인프라를 아예 안 만들고 싶으면 Managed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Builder는 2026-11-30 종료 예정이고, OpenAI는 ChatKit SDK + Agents SDK 기반 자체 서버 구현을 권장한다. ChatKit 자체는 독립 제품으로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세션 헤더로 같은 microVM에 라우팅하므로 클라이언트가 세션 ID를 이후 요청에 계속 넣어야 어피니티가 유지된다. 모델 무관이라는 점이 크로스오버의 핵심 재료다.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L2 상태를 제공하면서 물리적 저장소 소유권은 고객에게 남기는 유일한 메이저 옵션이다.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scope를 명시하지 않으면 자동으로 user_id로 키가 매겨지고, 같은 스코프끼리만 통합 대상이 된다. 2026-01-28부터 Sessions·Memory Bank·Code Execution 과금이 시작됐다.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 다 Apache-2.0이고 MCP 생태계에 연결되지만 방식은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리서치 전체의 핵심 주장이다.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AgentCore Runtime이 Bedrock·Claude·Gemini·OpenAI 모델을 모두 지원한다는 공식 문서가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질문의 답이 '안 붙였으면 어디에도 안 쌓인다'라는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SDK 세션을 쓰면 모델 API는 무상태 모드로. 모델 API 서버 세션을 쓰면 SDK는 그걸 래핑하는 구현만. Gemini Interactions처럼 tools가 승계되지 않는 API에서는 설정 누락까지 겹친다.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락인이 강한 쪽은 그만큼 인프라를 안 만들어도 된다. 자체 구현 쪽은 자유롭지만 샌드박스·재개·감사 로그를 전부 직접 만들어야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Managed Agents가 ZDR·HIPAA BAA 비적용이라는 공식 고지는 예외가 아니라 L2 계층의 일반 법칙이다.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서버 세션 자체는 비용을 줄이지 않는다는 점을 다시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모델을 자주 갈아탈 예정이라면 AgentCore Runtime이나 자체 루프 + MCP 메모리. 개인화가 제품 핵심이면 전용 L3가 반드시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개 질문으로 스택이 결정된다. 마지막 질문이 L3 여부다.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문장으로 전체를 회수한다. 특히 마지막이 실무 사고를 가장 많이 막아준다.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 질문 — '우리는 이미 Chat Completions로 만들었는데 옮겨야 하나?' → 이력 관리가 잘 돌고 있다면 급하지 않다. 옮길 이유는 멀티 디바이스 동기화, 서버측 compaction, 새 기능 접근성 셋 중 하나가 필요할 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Malgun Gothic"/>
              </a:rPr>
              <a:t>누가 대화를 기억하는가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5D9EC"/>
                </a:solidFill>
                <a:latin typeface="Malgun Gothic"/>
              </a:rPr>
              <a:t>상용 모델 API와 에이전트 API의 세션·메모리 소유권 전면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977639"/>
            <a:ext cx="2011680" cy="41148"/>
          </a:xfrm>
          <a:prstGeom prst="rect">
            <a:avLst/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FBCD8"/>
                </a:solidFill>
                <a:latin typeface="Malgun Gothic"/>
              </a:rPr>
              <a:t>OpenAI · Anthropic · Google · AWS · Microsoft   |   2026년 9월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오늘 답할 세 가지 질문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474720" cy="356616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A7FB5"/>
                </a:solidFill>
                <a:latin typeface="Malgun Gothic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22222"/>
                </a:solidFill>
                <a:latin typeface="Malgun Gothic"/>
              </a:rPr>
              <a:t>모델 API는
누가 관리하나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690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Chat Completions · Messages
Converse · generateContent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83080"/>
            <a:ext cx="3474720" cy="356616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574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B4E8E"/>
                </a:solidFill>
                <a:latin typeface="Malgun Gothi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22222"/>
                </a:solidFill>
                <a:latin typeface="Malgun Gothic"/>
              </a:rPr>
              <a:t>에이전트 API는
누가 관리하나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0690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Managed Agents · AgentCore
Foundry · Agent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783080"/>
            <a:ext cx="3474720" cy="356616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574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26B1F"/>
                </a:solidFill>
                <a:latin typeface="Malgun Gothic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3464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22222"/>
                </a:solidFill>
                <a:latin typeface="Malgun Gothic"/>
              </a:rPr>
              <a:t>같이 쓰면
기억은 어디에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0690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추론 · 루프 · 기억이
서로 다른 회사일 수 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6B1F"/>
                </a:solidFill>
                <a:latin typeface="Malgun Gothic"/>
              </a:rPr>
              <a:t>세 번째가 실무 사고의 90%를 차지한다 — 고를 수 있다는 사실 자체를 모르는 경우가 많다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결론 먼저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이 세 문장만 기억해도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777240" cy="105156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8745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4E79"/>
                </a:solidFill>
                <a:latin typeface="Malgun Gothic"/>
              </a:rPr>
              <a:t>모델은 언제나 무상태다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591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algun Gothic"/>
              </a:rPr>
              <a:t>'서버 세션'은 모델이 기억한다는 뜻이 아니라 누가 로그를 보관하느냐의 문제. 토큰은 매 턴 다시 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777240" cy="105156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46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4E79"/>
                </a:solidFill>
                <a:latin typeface="Malgun Gothic"/>
              </a:rPr>
              <a:t>모든 벤더가 같은 사다리를 올랐다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7307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algun Gothic"/>
              </a:rPr>
              <a:t>무상태 모델 → 상태 저장 모델 → 상태 저장 런타임 → 장기 메모리. 이름만 다르고 구조는 동일하다.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26280"/>
            <a:ext cx="777240" cy="105156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6177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4E79"/>
                </a:solidFill>
                <a:latin typeface="Malgun Gothic"/>
              </a:rPr>
              <a:t>세션과 메모리는 직교한다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102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algun Gothic"/>
              </a:rPr>
              <a:t>그래서 'OpenAI 모델 + AWS 메모리' 같은 조합이 실제로 돈다. 단, 이력의 소유자는 하나여야 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7FA8CE"/>
                </a:solidFill>
                <a:latin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상태 소유권 4단계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5D9EC"/>
                </a:solidFill>
                <a:latin typeface="Malgun Gothic"/>
              </a:rPr>
              <a:t>벤더 용어의 홍수를 관통하는 단일 프레임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상태 소유권 사다리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위로 갈수록 서버가 더 많이 가진다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956048"/>
            <a:ext cx="10241280" cy="9144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A5A5A"/>
                </a:solidFill>
                <a:latin typeface="Malgun Gothic"/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50474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2222"/>
                </a:solidFill>
                <a:latin typeface="Malgun Gothic"/>
              </a:rPr>
              <a:t>완전 무상태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54589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클라이언트가 전체 대화를 매 턴 재전송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524865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Malgun Gothic"/>
              </a:rPr>
              <a:t>Chat Completions · Messages · Converse · generateContent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922776"/>
            <a:ext cx="9948672" cy="9144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0416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A7FB5"/>
                </a:solidFill>
                <a:latin typeface="Malgun Gothic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40142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2222"/>
                </a:solidFill>
                <a:latin typeface="Malgun Gothic"/>
              </a:rPr>
              <a:t>대화 로그 보관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442569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서버가 transcript 저장, 클라이언트는 포인터만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421538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7FB5"/>
                </a:solidFill>
                <a:latin typeface="Malgun Gothic"/>
              </a:rPr>
              <a:t>Responses/Conversations · Interactions · Bedrock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1016" y="2889504"/>
            <a:ext cx="9656063" cy="91440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00837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B4E8E"/>
                </a:solidFill>
                <a:latin typeface="Malgun Gothic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29809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2222"/>
                </a:solidFill>
                <a:latin typeface="Malgun Gothic"/>
              </a:rPr>
              <a:t>실행 상태 보관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33924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대화 + 샌드박스 파일시스템 + 툴 상태까지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1576" y="31821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4E8E"/>
                </a:solidFill>
                <a:latin typeface="Malgun Gothic"/>
              </a:rPr>
              <a:t>Managed Agents · Foundry threads · AgentCore · Agent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63624" y="1856232"/>
            <a:ext cx="9363455" cy="91440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97510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26B1F"/>
                </a:solidFill>
                <a:latin typeface="Malgun Gothic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344" y="19476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2222"/>
                </a:solidFill>
                <a:latin typeface="Malgun Gothic"/>
              </a:rPr>
              <a:t>장기 기억 추출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2344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세션 경계를 넘어 사실·선호·요약을 영구 보관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4184" y="2148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26B1F"/>
                </a:solidFill>
                <a:latin typeface="Malgun Gothic"/>
              </a:rPr>
              <a:t>AgentCore Memory · Memory Bank · memory_stores · mem0/Zep</a:t>
            </a:r>
          </a:p>
        </p:txBody>
      </p:sp>
      <p:sp>
        <p:nvSpPr>
          <p:cNvPr id="25" name="Up Arrow 24"/>
          <p:cNvSpPr/>
          <p:nvPr/>
        </p:nvSpPr>
        <p:spPr>
          <a:xfrm>
            <a:off x="11201400" y="1783080"/>
            <a:ext cx="384048" cy="4114800"/>
          </a:xfrm>
          <a:prstGeom prst="up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59893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7FB5"/>
                </a:solidFill>
                <a:latin typeface="Malgun Gothic"/>
              </a:rPr>
              <a:t>서버 소유 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5332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6B1F"/>
                </a:solidFill>
                <a:latin typeface="Malgun Gothic"/>
              </a:rPr>
              <a:t>L0~L2는 '이번 대화'의 축, L3는 '대화들 사이'의 축 — 서로 직교한다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대전제 — 모델은 언제나 무상태다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서버 세션은 '보관 책임의 이동'이지 '기억의 획득'이 아니다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17373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A5A5A"/>
                </a:solidFill>
                <a:latin typeface="Malgun Gothic"/>
              </a:rPr>
              <a:t>L0 · 무상태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2860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애플리케이션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전체 배열 보유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83280" y="2587752"/>
            <a:ext cx="146304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2331720"/>
            <a:ext cx="27432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[t1…tN] 전부 전송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55279" y="2587752"/>
            <a:ext cx="91440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2331720"/>
            <a:ext cx="21945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모델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(무상태)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39312"/>
            <a:ext cx="10789920" cy="173736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7FB5"/>
                </a:solidFill>
                <a:latin typeface="Malgun Gothic"/>
              </a:rPr>
              <a:t>L1 · 서버 상태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79392"/>
            <a:ext cx="22860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애플리케이션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새 턴만 전송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83280" y="4535424"/>
            <a:ext cx="1463040" cy="365760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4279392"/>
            <a:ext cx="27432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서버가 t1…tN 조회 후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앞에 prepend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55279" y="4535424"/>
            <a:ext cx="914400" cy="365760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4279392"/>
            <a:ext cx="21945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모델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(무상태)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623560"/>
            <a:ext cx="10789920" cy="68580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B32D2D"/>
                </a:solidFill>
                <a:latin typeface="Malgun Gothic"/>
              </a:rPr>
              <a:t>모델이 보는 프롬프트 크기는 완전히 동일 → 입력 토큰은 매 턴 다시 과금된다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7FA8CE"/>
                </a:solidFill>
                <a:latin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모델 API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5D9EC"/>
                </a:solidFill>
                <a:latin typeface="Malgun Gothic"/>
              </a:rPr>
              <a:t>벤더별로 어디까지 올라갔나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OpenAI — 한 회사 안에 L0·L1이 공존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0789920" cy="10972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0195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A5A5A"/>
                </a:solidFill>
                <a:latin typeface="Malgun Gothic"/>
              </a:rPr>
              <a:t>Chat Completions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9572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매 요청에 전체 messages 배열 재전송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1005840" cy="548640"/>
          </a:xfrm>
          <a:prstGeom prst="roundRect">
            <a:avLst/>
          </a:prstGeom>
          <a:solidFill>
            <a:srgbClr val="5A5A5A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algun Gothic"/>
              </a:rPr>
              <a:t>완전 무상태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029968"/>
            <a:ext cx="21031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5A5A5A"/>
                </a:solidFill>
                <a:latin typeface="Malgun Gothic"/>
              </a:rPr>
              <a:t>보존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35808"/>
            <a:ext cx="10789920" cy="10972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A7FB5"/>
                </a:solidFill>
                <a:latin typeface="Malgun Gothic"/>
              </a:rPr>
              <a:t>Responses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9417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previous_response_id로 체이닝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310128"/>
            <a:ext cx="1005840" cy="548640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015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algun Gothic"/>
              </a:rPr>
              <a:t>store 기본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328416"/>
            <a:ext cx="21031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4A7FB5"/>
                </a:solidFill>
                <a:latin typeface="Malgun Gothic"/>
              </a:rPr>
              <a:t>응답 30일 보존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34256"/>
            <a:ext cx="10789920" cy="10972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988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Malgun Gothic"/>
              </a:rPr>
              <a:t>Conversations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9262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conversation ID를 /responses에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608576"/>
            <a:ext cx="1005840" cy="54864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L1+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000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algun Gothic"/>
              </a:rPr>
              <a:t>장기 대화 객체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626864"/>
            <a:ext cx="21031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Malgun Gothic"/>
              </a:rPr>
              <a:t>30일 TTL 미적용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6B1F"/>
                </a:solidFill>
                <a:latin typeface="Malgun Gothic"/>
              </a:rPr>
              <a:t>데이터를 남기기 싫으면 store: false 또는 Chat Completions — 선택지가 벤더 안에 다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Anthropic — L0 고정, 대신 서버가 '편집'한다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120640" cy="2194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A5A5A"/>
                </a:solidFill>
                <a:latin typeface="Malgun Gothic"/>
              </a:rPr>
              <a:t>저장 주체 = 클라이언트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Messages API는 상태 저장 옵션이 없다.
매 요청에 전체 messages 배열 전송.
→ ZDR 유지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37360"/>
            <a:ext cx="5120640" cy="219456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7FB5"/>
                </a:solidFill>
                <a:latin typeface="Malgun Gothic"/>
              </a:rPr>
              <a:t>편집 주체 =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context editing: 오래된 tool result 제거
compaction: 요약 블록 이전 전부 드롭
→ 컨텍스트 엔지니어링만 위임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10789920" cy="91440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100" b="1">
                <a:solidFill>
                  <a:srgbClr val="6B4E8E"/>
                </a:solidFill>
                <a:latin typeface="Malgun Gothic"/>
              </a:rPr>
              <a:t>"클라이언트가 관리하는 목록 + 서버가 수행하는 컨텍스트 최적화"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49240"/>
            <a:ext cx="25603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6B4E8E"/>
                </a:solidFill>
                <a:latin typeface="Malgun Gothic"/>
              </a:rPr>
              <a:t>context-management-2025-06-27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5349240"/>
            <a:ext cx="25603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6B4E8E"/>
                </a:solidFill>
                <a:latin typeface="Malgun Gothic"/>
              </a:rPr>
              <a:t>clear_tool_uses_20250919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349240"/>
            <a:ext cx="25603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6B4E8E"/>
                </a:solidFill>
                <a:latin typeface="Malgun Gothic"/>
              </a:rPr>
              <a:t>compact-2026-01-12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5349240"/>
            <a:ext cx="25603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6B4E8E"/>
                </a:solidFill>
                <a:latin typeface="Malgun Gothic"/>
              </a:rPr>
              <a:t>compact_20260112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35040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compaction 트리거 기본 input_tokens 150,000 (최소 50,000)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Gemini — 상태 저장을 기본값으로 삼은 첫 모델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291840" cy="14630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22222"/>
                </a:solidFill>
                <a:latin typeface="Malgun Gothic"/>
              </a:rPr>
              <a:t>generateContent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>무상태 · 클라이언트가 전체 이력 보유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343400" y="2651760"/>
            <a:ext cx="1188720" cy="384048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0" y="2103120"/>
            <a:ext cx="5577840" cy="146304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F4E79"/>
                </a:solidFill>
                <a:latin typeface="Malgun Gothic"/>
              </a:rPr>
              <a:t>Interactions API  ·  GA 2026-06</a:t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Malgun Gothic"/>
              </a:rPr>
              <a:t>previous_interaction_id · store 기본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2194560" cy="566928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보존 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4105655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유료 55일 (7/14/28 조정) · 무료 1일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90872"/>
            <a:ext cx="2194560" cy="566928"/>
          </a:xfrm>
          <a:prstGeom prst="roundRect">
            <a:avLst/>
          </a:prstGeom>
          <a:solidFill>
            <a:srgbClr val="5A5A5A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무상태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81888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store: false — 단 체이닝·백그라운드 실행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04104"/>
            <a:ext cx="2194560" cy="566928"/>
          </a:xfrm>
          <a:prstGeom prst="roundRect">
            <a:avLst/>
          </a:prstGeom>
          <a:solidFill>
            <a:srgbClr val="B32D2D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함정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tools · system_instruction · generation_config 는 승계되지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Azure — 같은 API 모양, 다른 데이터 경계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20240"/>
            <a:ext cx="4297680" cy="3108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A5A5A"/>
                </a:solidFill>
                <a:latin typeface="Malgun Gothic"/>
              </a:rPr>
              <a:t>OpenAI 직접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3749039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>Responses API</a:t>
            </a:r>
          </a:p>
        </p:txBody>
      </p:sp>
      <p:sp>
        <p:nvSpPr>
          <p:cNvPr id="7" name="Down Arrow 6"/>
          <p:cNvSpPr/>
          <p:nvPr/>
        </p:nvSpPr>
        <p:spPr>
          <a:xfrm>
            <a:off x="3063240" y="3611880"/>
            <a:ext cx="365760" cy="502920"/>
          </a:xfrm>
          <a:prstGeom prst="down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4206240"/>
            <a:ext cx="3749039" cy="6400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OpenAI 클라우드에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920240"/>
            <a:ext cx="4297680" cy="310896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488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4E79"/>
                </a:solidFill>
                <a:latin typeface="Malgun Gothic"/>
              </a:rPr>
              <a:t>Azure 경유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788920"/>
            <a:ext cx="3749039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>Responses API (동일 표면)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8240" y="3611880"/>
            <a:ext cx="365760" cy="502920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0" y="4206240"/>
            <a:ext cx="3749039" cy="6400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4E79"/>
                </a:solidFill>
                <a:latin typeface="Malgun Gothic"/>
              </a:rPr>
              <a:t>고객 테넌트 · 동일 지리 · AES-256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6B1F"/>
                </a:solidFill>
                <a:latin typeface="Malgun Gothic"/>
              </a:rPr>
              <a:t>규제 산업이 Azure를 고르는 이유가 여기 압축돼 있다 — 실행은 맡기고 저장은 소유한다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AWS Bedrock — 상태를 별도 API로 떼어냈다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4023360" cy="18288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>
                <a:solidFill>
                  <a:srgbClr val="222222"/>
                </a:solidFill>
                <a:latin typeface="Malgun Gothic"/>
              </a:rPr>
              <a:t>Converse API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algun Gothic"/>
              </a:rPr>
              <a:t>완전 무상태 · 호출자가 messages 관리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algun Gothic"/>
              </a:rPr>
              <a:t>Bedrock은 이력을 보관하지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251460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5A5A5A"/>
                </a:solidFill>
                <a:latin typeface="Malgun Gothic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937760" cy="1828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>
                <a:solidFill>
                  <a:srgbClr val="1F4E79"/>
                </a:solidFill>
                <a:latin typeface="Malgun Gothic"/>
              </a:rPr>
              <a:t>Session Management API</a:t>
            </a:r>
          </a:p>
          <a:p>
            <a:pPr algn="ctr"/>
            <a:r>
              <a:rPr sz="1600" b="0">
                <a:solidFill>
                  <a:srgbClr val="1F4E79"/>
                </a:solidFill>
                <a:latin typeface="Malgun Gothic"/>
              </a:rPr>
              <a:t/>
            </a:r>
          </a:p>
          <a:p>
            <a:pPr algn="ctr"/>
            <a:r>
              <a:rPr sz="1600" b="0">
                <a:solidFill>
                  <a:srgbClr val="1F4E79"/>
                </a:solidFill>
                <a:latin typeface="Malgun Gothic"/>
              </a:rPr>
              <a:t>별도 서비스 · 명시적 저장형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4E79"/>
                </a:solidFill>
                <a:latin typeface="Malgun Gothic"/>
              </a:rPr>
              <a:t>CreateSession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Malgun Gothic"/>
              </a:rPr>
              <a:t>세션 생성 · ID/ARN 반환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51960" y="4416552"/>
            <a:ext cx="201168" cy="320040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40690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4E79"/>
                </a:solidFill>
                <a:latin typeface="Malgun Gothic"/>
              </a:rPr>
              <a:t>CreateInvocation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Malgun Gothic"/>
              </a:rPr>
              <a:t>관련 상호작용 그룹 생성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9560" y="4416552"/>
            <a:ext cx="201168" cy="320040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40690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4E79"/>
                </a:solidFill>
                <a:latin typeface="Malgun Gothic"/>
              </a:rPr>
              <a:t>PutInvocationStep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Malgun Gothic"/>
              </a:rPr>
              <a:t>상태 체크포인트 저장 (텍스트·이미지)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40680"/>
            <a:ext cx="10515600" cy="73152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26B1F"/>
                </a:solidFill>
                <a:latin typeface="Malgun Gothic"/>
              </a:rPr>
              <a:t>AWS의 L1은 '자동 주입형'이 아니라 개발자가 직접 쓰고 읽는 체크포인트 스토어 (LangGraph·LlamaIndex 용도)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모델 API 종합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11개 API · 저장 주체와 무상태 선택 가능 여부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017520" cy="384048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1572768"/>
            <a:ext cx="777240" cy="384048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572768"/>
            <a:ext cx="2011680" cy="384048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저장 주체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572768"/>
            <a:ext cx="2834640" cy="384048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이어붙이는 방식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08008" y="1572768"/>
            <a:ext cx="1234440" cy="384048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보존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42448" y="1572768"/>
            <a:ext cx="1188720" cy="384048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무상태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5681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OpenAI Chat Completions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56816"/>
            <a:ext cx="777240" cy="3886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5A5A5A"/>
                </a:solidFill>
                <a:latin typeface="Malgun Gothic"/>
              </a:rPr>
              <a:t>L0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95681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클라이언트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195681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전체 messages 재전송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8008" y="195681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42448" y="195681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항상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34543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F4E79"/>
                </a:solidFill>
                <a:latin typeface="Malgun Gothic"/>
              </a:rPr>
              <a:t>OpenAI Responses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4448" y="2345436"/>
            <a:ext cx="777240" cy="3886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</a:rPr>
              <a:t>L1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234543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OpenAI 서버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34543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previous_response_id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8008" y="234543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30일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42448" y="234543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store:false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73405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F4E79"/>
                </a:solidFill>
                <a:latin typeface="Malgun Gothic"/>
              </a:rPr>
              <a:t>OpenAI Conversations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4448" y="2734056"/>
            <a:ext cx="777240" cy="3886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</a:rPr>
              <a:t>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273405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OpenAI 서버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368" y="273405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conversation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8008" y="273405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TTL 미적용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42448" y="273405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12267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Anthropic Messages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84448" y="3122676"/>
            <a:ext cx="777240" cy="3886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5A5A5A"/>
                </a:solidFill>
                <a:latin typeface="Malgun Gothic"/>
              </a:rPr>
              <a:t>L0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12267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클라이언트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368" y="312267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전체 messages 재전송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2267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없음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42448" y="312267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항상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51129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Anthropic + compaction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84448" y="3511296"/>
            <a:ext cx="777240" cy="3886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5A5A5A"/>
                </a:solidFill>
                <a:latin typeface="Malgun Gothic"/>
              </a:rPr>
              <a:t>L0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61688" y="351129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클라이언트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73368" y="351129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재전송 + 서버가 앞부분 드롭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351129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없음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42448" y="351129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항상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89991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Gemini generateContent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84448" y="3899916"/>
            <a:ext cx="777240" cy="3886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5A5A5A"/>
                </a:solidFill>
                <a:latin typeface="Malgun Gothic"/>
              </a:rPr>
              <a:t>L0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1688" y="389991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클라이언트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389991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전체 contents 재전송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08008" y="389991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없음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42448" y="389991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항상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28853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F4E79"/>
                </a:solidFill>
                <a:latin typeface="Malgun Gothic"/>
              </a:rPr>
              <a:t>Gemini Interactions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84448" y="4288536"/>
            <a:ext cx="777240" cy="3886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</a:rPr>
              <a:t>L1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61688" y="428853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Google 서버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73368" y="428853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previous_interaction_id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08008" y="428853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55일 / 1일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428853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store:false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467715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F4E79"/>
                </a:solidFill>
                <a:latin typeface="Malgun Gothic"/>
              </a:rPr>
              <a:t>Azure OpenAI Responses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84448" y="4677156"/>
            <a:ext cx="777240" cy="3886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</a:rPr>
              <a:t>L1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61688" y="467715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고객 Azure 테넌트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73368" y="467715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previous_response_id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08008" y="467715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30일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442448" y="467715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store:false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06577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Bedrock Converse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84448" y="5065776"/>
            <a:ext cx="777240" cy="3886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5A5A5A"/>
                </a:solidFill>
                <a:latin typeface="Malgun Gothic"/>
              </a:rPr>
              <a:t>L0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61688" y="506577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클라이언트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73368" y="506577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전체 messages 재전송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08008" y="506577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없음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42448" y="506577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항상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" y="545439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F4E79"/>
                </a:solidFill>
                <a:latin typeface="Malgun Gothic"/>
              </a:rPr>
              <a:t>Bedrock Session Mgmt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84448" y="5454396"/>
            <a:ext cx="777240" cy="3886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</a:rPr>
              <a:t>L1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61688" y="545439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AWS(고객 계정)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73368" y="545439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명시적 put/get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08008" y="545439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설정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42448" y="545439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안 쓰면 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6928" y="5843016"/>
            <a:ext cx="30175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F4E79"/>
                </a:solidFill>
                <a:latin typeface="Malgun Gothic"/>
              </a:rPr>
              <a:t>Bedrock InvokeAgent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584448" y="5843016"/>
            <a:ext cx="777240" cy="3886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</a:rPr>
              <a:t>L1~L2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61688" y="5843016"/>
            <a:ext cx="201168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AWS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73368" y="5843016"/>
            <a:ext cx="28346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sessionId 재사용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208008" y="5843016"/>
            <a:ext cx="123444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세션 정책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442448" y="5843016"/>
            <a:ext cx="1188720" cy="3886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22222"/>
                </a:solidFill>
                <a:latin typeface="Malgun Gothic"/>
              </a:rPr>
              <a:t>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7FA8CE"/>
                </a:solidFill>
                <a:latin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에이전트 API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5D9EC"/>
                </a:solidFill>
                <a:latin typeface="Malgun Gothic"/>
              </a:rPr>
              <a:t>모델 API는 추론 1회를, 에이전트 API는 루프 전체를 판다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Claude Managed Agents — L2+L3를 한 제품으로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2026-04 출시 · 베타 헤더 managed-agents-2026-04-01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560320" cy="146304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6B4E8E"/>
                </a:solidFill>
                <a:latin typeface="Malgun Gothic"/>
              </a:rPr>
              <a:t>Agent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모델 · 시스템 프롬프트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툴 · MCP · 스킬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73552" y="2377440"/>
            <a:ext cx="164592" cy="274320"/>
          </a:xfrm>
          <a:prstGeom prst="right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783080"/>
            <a:ext cx="2560320" cy="146304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6B4E8E"/>
                </a:solidFill>
                <a:latin typeface="Malgun Gothic"/>
              </a:rPr>
              <a:t>Environment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클라우드 샌드박스 또는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self-hosted 샌드박스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62472" y="2377440"/>
            <a:ext cx="164592" cy="274320"/>
          </a:xfrm>
          <a:prstGeom prst="right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2560320" cy="146304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6B4E8E"/>
                </a:solidFill>
                <a:latin typeface="Malgun Gothic"/>
              </a:rPr>
              <a:t>Session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environment 안의 인스턴스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대화 이력을 보유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51392" y="2377440"/>
            <a:ext cx="164592" cy="274320"/>
          </a:xfrm>
          <a:prstGeom prst="right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59" y="1783080"/>
            <a:ext cx="2560320" cy="146304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6B4E8E"/>
                </a:solidFill>
                <a:latin typeface="Malgun Gothic"/>
              </a:rPr>
              <a:t>Events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유저 턴 · 툴 결과</a:t>
            </a:r>
          </a:p>
          <a:p>
            <a:pPr algn="ctr"/>
            <a:r>
              <a:rPr sz="1500" b="0">
                <a:solidFill>
                  <a:srgbClr val="6B4E8E"/>
                </a:solidFill>
                <a:latin typeface="Malgun Gothic"/>
              </a:rPr>
              <a:t>상태 업데이트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0440"/>
            <a:ext cx="10789920" cy="685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4E79"/>
                </a:solidFill>
                <a:latin typeface="Malgun Gothic"/>
              </a:rPr>
              <a:t>POST /v1/sessions  →  POST /v1/sessions/{id}/events  →  SSE 스트리밍   |   이벤트 이력은 서버에 영속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80560"/>
            <a:ext cx="2377440" cy="566928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initial_events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60857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Malgun Gothic"/>
              </a:rPr>
              <a:t>생성+시작 1회 · 최대 50개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480560"/>
            <a:ext cx="2377440" cy="566928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budget.max_list_cost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60857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Malgun Gothic"/>
              </a:rPr>
              <a:t>센트 단위 문자열 · 상한 시 budget_reached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93792"/>
            <a:ext cx="2377440" cy="566928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agent_with_overrides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53218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Malgun Gothic"/>
              </a:rPr>
              <a:t>세션 단위 오버라이드 · 병합 아닌 전체 치환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5193792"/>
            <a:ext cx="2377440" cy="566928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vault_ids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3218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Malgun Gothic"/>
              </a:rPr>
              <a:t>MCP OAuth 자격증명 위임 · 토큰 갱신 대행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memory_stores — 파일시스템으로서의 장기 기억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베타 헤더 agent-memory-2026-07-22 (세션 헤더와 섞으면 400)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394960" cy="228600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6B1F"/>
                </a:solidFill>
                <a:latin typeface="Malgun Gothic"/>
              </a:rPr>
              <a:t>샌드박스 안 디렉터리로 마운트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/mnt/memory/&lt;slug&gt;/
에이전트가 평소 쓰던 파일 툴로 읽고 쓴다
마운트 설명이 시스템 프롬프트에 자동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120640" cy="22860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4E79"/>
                </a:solidFill>
                <a:latin typeface="Malgun Gothic"/>
              </a:rPr>
              <a:t>감사 추적 · 동시성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모든 변경 → 불변 memory version (memver_)
규제 대응용 redact 엔드포인트
동시 쓰기는 content_sha256 precondition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43400"/>
            <a:ext cx="25603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C26B1F"/>
                </a:solidFill>
                <a:latin typeface="Malgun Gothic"/>
              </a:rPr>
              <a:t>8개</a:t>
            </a:r>
          </a:p>
          <a:p>
            <a:pPr algn="ctr"/>
            <a:r>
              <a:rPr sz="1900" b="0">
                <a:solidFill>
                  <a:srgbClr val="C26B1F"/>
                </a:solidFill>
                <a:latin typeface="Malgun Gothic"/>
              </a:rPr>
              <a:t>세션당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343400"/>
            <a:ext cx="25603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C26B1F"/>
                </a:solidFill>
                <a:latin typeface="Malgun Gothic"/>
              </a:rPr>
              <a:t>100 kB</a:t>
            </a:r>
          </a:p>
          <a:p>
            <a:pPr algn="ctr"/>
            <a:r>
              <a:rPr sz="1900" b="0">
                <a:solidFill>
                  <a:srgbClr val="C26B1F"/>
                </a:solidFill>
                <a:latin typeface="Malgun Gothic"/>
              </a:rPr>
              <a:t>메모리 1개당 상한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343400"/>
            <a:ext cx="25603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C26B1F"/>
                </a:solidFill>
                <a:latin typeface="Malgun Gothic"/>
              </a:rPr>
              <a:t>10,000개</a:t>
            </a:r>
          </a:p>
          <a:p>
            <a:pPr algn="ctr"/>
            <a:r>
              <a:rPr sz="1900" b="0">
                <a:solidFill>
                  <a:srgbClr val="C26B1F"/>
                </a:solidFill>
                <a:latin typeface="Malgun Gothic"/>
              </a:rPr>
              <a:t>store당 메모리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4343400"/>
            <a:ext cx="25603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C26B1F"/>
                </a:solidFill>
                <a:latin typeface="Malgun Gothic"/>
              </a:rPr>
              <a:t>30일</a:t>
            </a:r>
          </a:p>
          <a:p>
            <a:pPr algn="ctr"/>
            <a:r>
              <a:rPr sz="1900" b="0">
                <a:solidFill>
                  <a:srgbClr val="C26B1F"/>
                </a:solidFill>
                <a:latin typeface="Malgun Gothic"/>
              </a:rPr>
              <a:t>버전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algun Gothic"/>
              </a:rPr>
              <a:t>권장: 큰 파일 몇 개가 아니라 작고 초점 맞춘 파일 여러 개로 구조화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32D2D"/>
                </a:solidFill>
                <a:latin typeface="Malgun Gothic"/>
              </a:rPr>
              <a:t>경고 — 메모리는 인젝션의 '지속성'을 만든다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017520" cy="137160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22222"/>
                </a:solidFill>
                <a:latin typeface="Malgun Gothic"/>
              </a:rPr>
              <a:t>세션 1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신뢰할 수 없는 입력 처리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(웹 콘텐츠 · 유저 프롬프트)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86200" y="2423160"/>
            <a:ext cx="822960" cy="384048"/>
          </a:xfrm>
          <a:prstGeom prst="rightArrow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2040" y="1920240"/>
            <a:ext cx="3017520" cy="1371600"/>
          </a:xfrm>
          <a:prstGeom prst="roundRect">
            <a:avLst/>
          </a:prstGeom>
          <a:solidFill>
            <a:srgbClr val="B32D2D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memory_store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악성 내용이 기록됨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(기본값 read_write)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092440" y="2423160"/>
            <a:ext cx="822960" cy="384048"/>
          </a:xfrm>
          <a:prstGeom prst="rightArrow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98280" y="1920240"/>
            <a:ext cx="2377440" cy="137160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22222"/>
                </a:solidFill>
                <a:latin typeface="Malgun Gothic"/>
              </a:rPr>
              <a:t>세션 2·3·4…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신뢰된 기억으로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읽는다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10789920" cy="82296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B32D2D"/>
                </a:solidFill>
                <a:latin typeface="Malgun Gothic"/>
              </a:rPr>
              <a:t>메모리는 세션 경계를 넘는 '쓰기 채널' — L3 장기 메모리 전반의 구조적 위험이다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algun Gothic"/>
              </a:rPr>
              <a:t>•  참조용 자료 · 공유 룩업 · 에이전트가 수정할 필요 없는 store → read_only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algun Gothic"/>
              </a:rPr>
              <a:t>•  쓰기가 필요한 세션에만 read_write를 허용해 증가 출처를 추적 가능하게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algun Gothic"/>
              </a:rPr>
              <a:t>•  read_only는 파일시스템 레벨에서 강제되어 마운트 자체가 쓰기를 거부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같은 회사, 정반대의 소유권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Anthropic은 두 가지 상태 소유권을 동시에 판다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37760" cy="329184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B4E8E"/>
                </a:solidFill>
                <a:latin typeface="Malgun Gothic"/>
              </a:rPr>
              <a:t>Managed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· Anthropic 인프라에서 실행
· 대화 · 샌드박스 · 산출물 서버 보관
· 재개 · 스케줄 실행 내장
· ZDR · HIPAA BAA 적용 불가
· 인프라를 만들 필요가 없다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37760" cy="329184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4E79"/>
                </a:solidFill>
                <a:latin typeface="Malgun Gothic"/>
              </a:rPr>
              <a:t>Claude Agent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· 내 머신 / 내 서버에서 실행
· ~/.claude/projects/*.jsonl (append-only)
· resume · fork (새 session ID로 분기)
· 데이터가 내 손을 떠나지 않는다
· 샌드박스 · 감사 로그는 직접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6B1F"/>
                </a:solidFill>
                <a:latin typeface="Malgun Gothic"/>
              </a:rPr>
              <a:t>선택 기준은 '기능'이 아니라 '데이터가 어디 있어야 하는가'다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OpenAI Agents SDK — 세션 백엔드를 '고른다'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상태 소유권이 런타임 설정으로 내려온 사례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91640"/>
            <a:ext cx="3200400" cy="77724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에이전트 코드 (동일)</a:t>
            </a:r>
          </a:p>
        </p:txBody>
      </p:sp>
      <p:sp>
        <p:nvSpPr>
          <p:cNvPr id="6" name="Down Arrow 5"/>
          <p:cNvSpPr/>
          <p:nvPr/>
        </p:nvSpPr>
        <p:spPr>
          <a:xfrm>
            <a:off x="1481328" y="2606040"/>
            <a:ext cx="274320" cy="411480"/>
          </a:xfrm>
          <a:prstGeom prst="down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3154680"/>
            <a:ext cx="2103120" cy="10058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MemorySession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51960"/>
            <a:ext cx="2103120" cy="548640"/>
          </a:xfrm>
          <a:prstGeom prst="roundRect">
            <a:avLst/>
          </a:prstGeom>
          <a:solidFill>
            <a:srgbClr val="5A5A5A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프로세스 메모리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종료 시 소실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767328" y="2606040"/>
            <a:ext cx="274320" cy="411480"/>
          </a:xfrm>
          <a:prstGeom prst="down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2928" y="3154680"/>
            <a:ext cx="2103120" cy="10058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SQLiteSession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4251960"/>
            <a:ext cx="2103120" cy="548640"/>
          </a:xfrm>
          <a:prstGeom prst="roundRect">
            <a:avLst/>
          </a:prstGeom>
          <a:solidFill>
            <a:srgbClr val="5A5A5A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로컬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경로 지정 시 영속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53328" y="2606040"/>
            <a:ext cx="274320" cy="411480"/>
          </a:xfrm>
          <a:prstGeom prst="down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8928" y="3154680"/>
            <a:ext cx="2103120" cy="100584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Redis · SQLAlchemy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MongoDB · Dapr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4251960"/>
            <a:ext cx="2103120" cy="548640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자체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공유 · 저지연 · 기존 DB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339327" y="2606040"/>
            <a:ext cx="274320" cy="411480"/>
          </a:xfrm>
          <a:prstGeom prst="downArrow">
            <a:avLst/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4927" y="3154680"/>
            <a:ext cx="2103120" cy="100584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OpenAIConversations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251960"/>
            <a:ext cx="2103120" cy="548640"/>
          </a:xfrm>
          <a:prstGeom prst="roundRect">
            <a:avLst/>
          </a:prstGeom>
          <a:solidFill>
            <a:srgbClr val="C26B1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OpenAI 서버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Conversations API 동기화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625328" y="2606040"/>
            <a:ext cx="274320" cy="411480"/>
          </a:xfrm>
          <a:prstGeom prst="down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10928" y="3154680"/>
            <a:ext cx="2103120" cy="100584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OpenAIResponses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CompactionSession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4251960"/>
            <a:ext cx="2103120" cy="548640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래핑한 하위 세션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턴마다 자동 압축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623560"/>
            <a:ext cx="10881360" cy="68580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C26B1F"/>
                </a:solidFill>
                <a:latin typeface="Malgun Gothic"/>
              </a:rPr>
              <a:t>한 줄만 바꾸면 기억의 소유권이 로컬 ↔ 자체 DB ↔ OpenAI 서버로 이동한다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AWS AgentCore — 런타임(L2)과 메모리(L3)를 분리 판매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394960" cy="30175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4E79"/>
                </a:solidFill>
                <a:latin typeface="Malgun Gothic"/>
              </a:rPr>
              <a:t>AgentCore Runtime  ·  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· 세션마다 전용 microVM (컴퓨트·메모리·FS 격리)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986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· 세션 헤더로 동일 microVM 라우팅 → 어피니티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7413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· 최대 8시간 실행 · 15분 무활동 시 회수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496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· ARM64 · HTTP + A2A 네이티브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114800"/>
            <a:ext cx="4846320" cy="457200"/>
          </a:xfrm>
          <a:prstGeom prst="roundRect">
            <a:avLst/>
          </a:prstGeom>
          <a:solidFill>
            <a:srgbClr val="C26B1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모델 무관: Bedrock · Claude · Gemini · 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91640"/>
            <a:ext cx="5029200" cy="301752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19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26B1F"/>
                </a:solidFill>
                <a:latin typeface="Malgun Gothic"/>
              </a:rPr>
              <a:t>AgentCore Memory  ·  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395728"/>
            <a:ext cx="1691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불변·타임스탬프 · actorId + sessionId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944368"/>
            <a:ext cx="1691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718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단기→장기 · 변환 규칙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493008"/>
            <a:ext cx="1691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Namespace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구조화 경로 · 조회·필터·접근제어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041648"/>
            <a:ext cx="1691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Memory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0690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5A5A"/>
                </a:solidFill>
                <a:latin typeface="Malgun Gothic"/>
              </a:rPr>
              <a:t>구조화된 · 정보 단위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377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Malgun Gothic"/>
              </a:rPr>
              <a:t>단기: CreateEvent / GetEvent / ListEvents / DeleteEvent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21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Malgun Gothic"/>
              </a:rPr>
              <a:t>장기: RetrieveMemoryRecords / ListMemoryRecords / DeleteMemoryRecords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760720"/>
            <a:ext cx="10789920" cy="566928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6B4E8E"/>
                </a:solidFill>
                <a:latin typeface="Malgun Gothic"/>
              </a:rPr>
              <a:t>2026 업데이트: 03월 스트리밍 알림  ·  05~06월 strict metadata  ·  09월 IngestData(단기 이벤트 없이 직접 주입)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Azure Foundry Agent Service — thread/run + BYO 스토리지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4206240" cy="20116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F4E79"/>
                </a:solidFill>
                <a:latin typeface="Malgun Gothic"/>
              </a:rPr>
              <a:t>Thread</a:t>
            </a:r>
          </a:p>
          <a:p>
            <a:pPr algn="ctr"/>
            <a:r>
              <a:rPr sz="1700" b="0">
                <a:solidFill>
                  <a:srgbClr val="1F4E79"/>
                </a:solidFill>
                <a:latin typeface="Malgun Gothic"/>
              </a:rPr>
              <a:t/>
            </a:r>
          </a:p>
          <a:p>
            <a:pPr algn="ctr"/>
            <a:r>
              <a:rPr sz="1700" b="0">
                <a:solidFill>
                  <a:srgbClr val="1F4E79"/>
                </a:solidFill>
                <a:latin typeface="Malgun Gothic"/>
              </a:rPr>
              <a:t>명시적 삭제 전까지 유지</a:t>
            </a:r>
          </a:p>
          <a:p>
            <a:pPr algn="ctr"/>
            <a:r>
              <a:rPr sz="1700" b="0">
                <a:solidFill>
                  <a:srgbClr val="1F4E79"/>
                </a:solidFill>
                <a:latin typeface="Malgun Gothic"/>
              </a:rPr>
              <a:t>최대 100,000 메시지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257800" y="2651760"/>
            <a:ext cx="822960" cy="38404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029200" cy="20116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F4E79"/>
                </a:solidFill>
                <a:latin typeface="Malgun Gothic"/>
              </a:rPr>
              <a:t>Run</a:t>
            </a:r>
          </a:p>
          <a:p>
            <a:pPr algn="ctr"/>
            <a:r>
              <a:rPr sz="1700" b="0">
                <a:solidFill>
                  <a:srgbClr val="1F4E79"/>
                </a:solidFill>
                <a:latin typeface="Malgun Gothic"/>
              </a:rPr>
              <a:t/>
            </a:r>
          </a:p>
          <a:p>
            <a:pPr algn="ctr"/>
            <a:r>
              <a:rPr sz="1700" b="0">
                <a:solidFill>
                  <a:srgbClr val="1F4E79"/>
                </a:solidFill>
                <a:latin typeface="Malgun Gothic"/>
              </a:rPr>
              <a:t>에이전트를 스레드에 대해 기동</a:t>
            </a:r>
          </a:p>
          <a:p>
            <a:pPr algn="ctr"/>
            <a:r>
              <a:rPr sz="1700" b="0">
                <a:solidFill>
                  <a:srgbClr val="1F4E79"/>
                </a:solidFill>
                <a:latin typeface="Malgun Gothic"/>
              </a:rPr>
              <a:t>새 메시지를 스레드에 덧붙임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3977639"/>
            <a:ext cx="457200" cy="457200"/>
          </a:xfrm>
          <a:prstGeom prst="downArrow">
            <a:avLst/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572000"/>
            <a:ext cx="8138160" cy="105156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C26B1F"/>
                </a:solidFill>
                <a:latin typeface="Malgun Gothic"/>
              </a:rPr>
              <a:t>고객 소유 Azure Cosmos DB  ·  enterprise_memory</a:t>
            </a:r>
          </a:p>
          <a:p>
            <a:pPr algn="ctr"/>
            <a:r>
              <a:rPr sz="1400" b="0">
                <a:solidFill>
                  <a:srgbClr val="C26B1F"/>
                </a:solidFill>
                <a:latin typeface="Malgun Gothic"/>
              </a:rPr>
              <a:t>thread-message-store  |  system-thread-message-store  |  agent-entity-store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80644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algun Gothic"/>
              </a:rPr>
              <a:t>최소 3,000 RU/s 필요  ·  non-OpenAI 모델 지원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Vertex Agent Engine — Sessions(L2) + Memory Bank(L3)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4846320" cy="15544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F4E79"/>
                </a:solidFill>
                <a:latin typeface="Malgun Gothic"/>
              </a:rPr>
              <a:t>Sessions</a:t>
            </a:r>
          </a:p>
          <a:p>
            <a:pPr algn="ctr"/>
            <a:r>
              <a:rPr sz="1900" b="0">
                <a:solidFill>
                  <a:srgbClr val="1F4E79"/>
                </a:solidFill>
                <a:latin typeface="Malgun Gothic"/>
              </a:rPr>
              <a:t>단기 대화 컨텍스트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4846320" cy="155448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C26B1F"/>
                </a:solidFill>
                <a:latin typeface="Malgun Gothic"/>
              </a:rPr>
              <a:t>Memory Bank</a:t>
            </a:r>
          </a:p>
          <a:p>
            <a:pPr algn="ctr"/>
            <a:r>
              <a:rPr sz="1900" b="0">
                <a:solidFill>
                  <a:srgbClr val="C26B1F"/>
                </a:solidFill>
                <a:latin typeface="Malgun Gothic"/>
              </a:rPr>
              <a:t>세션을 넘는 장기 저장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3017520" cy="548640"/>
          </a:xfrm>
          <a:prstGeom prst="roundRect">
            <a:avLst/>
          </a:prstGeom>
          <a:solidFill>
            <a:srgbClr val="C26B1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GenerateMemories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3730752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세션·턴 종료 시점에 대화에서 사실 자동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3017520" cy="548640"/>
          </a:xfrm>
          <a:prstGeom prst="roundRect">
            <a:avLst/>
          </a:prstGeom>
          <a:solidFill>
            <a:srgbClr val="C26B1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RetrieveMemories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4416552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Malgun Gothic"/>
              </a:rPr>
              <a:t>전체 조회 또는 유사도 검색 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10515600" cy="68580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6B4E8E"/>
                </a:solidFill>
                <a:latin typeface="Malgun Gothic"/>
              </a:rPr>
              <a:t>scope 딕셔너리가 멀티테넌시 경계 — 미지정 시 {"user_id": …}로 자동 키잉, 같은 스코프끼리만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6B1F"/>
                </a:solidFill>
                <a:latin typeface="Malgun Gothic"/>
              </a:rPr>
              <a:t>Agent Engine SDK는 ADK 없이도, 프레임워크 없이 REST로도 쓸 수 있다 → 크로스오버 가능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서드파티 메모리 3파전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모델·프레임워크·클라우드를 갈아치워도 기억이 남는 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74720" cy="32004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A7FB5"/>
                </a:solidFill>
                <a:latin typeface="Malgun Gothic"/>
              </a:rPr>
              <a:t>mem0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algun Gothic"/>
              </a:rPr>
              <a:t>범용 메모리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5A5A"/>
                </a:solidFill>
                <a:latin typeface="Malgun Gothic"/>
              </a:rPr>
              <a:t>add · update · delete · retrieve
서비스 무관 · 어떤 오케스트레이터 뒤에도
OpenMemory MCP (로컬 우선)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83080"/>
            <a:ext cx="3474720" cy="320040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B4E8E"/>
                </a:solidFill>
                <a:latin typeface="Malgun Gothic"/>
              </a:rPr>
              <a:t>Zep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algun Gothic"/>
              </a:rPr>
              <a:t>시간 인식 지식 그래프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5A5A"/>
                </a:solidFill>
                <a:latin typeface="Malgun Gothic"/>
              </a:rPr>
              <a:t>Graphiti 엔진
사실의 학습 시점과 관계를 보존
공식 MCP 서버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474720" cy="320040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11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26B1F"/>
                </a:solidFill>
                <a:latin typeface="Malgun Gothic"/>
              </a:rPr>
              <a:t>Letta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51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algun Gothic"/>
              </a:rPr>
              <a:t>상태 저장 에이전트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200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5A5A"/>
                </a:solidFill>
                <a:latin typeface="Malgun Gothic"/>
              </a:rPr>
              <a:t>구 MemGPT
OS식 계층 메모리를 에이전트가 직접 편집
MCP 클라이언트로 동작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12080"/>
            <a:ext cx="107899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F4E79"/>
                </a:solidFill>
                <a:latin typeface="Malgun Gothic"/>
              </a:rPr>
              <a:t>메모리를 MCP 툴로 노출하면 — 락인 회피의 가장 강력한 선택지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7FA8CE"/>
                </a:solidFill>
                <a:latin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같이 쓰면 기억은 어디에?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5D9EC"/>
                </a:solidFill>
                <a:latin typeface="Malgun Gothic"/>
              </a:rPr>
              <a:t>가장 중요한 섹션 — 세 계층은 직교한다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세 계층은 직교한다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각 열에서 하나씩 고르면 그것이 곧 아키텍처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74720" cy="868680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① 추론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algun Gothic"/>
              </a:rPr>
              <a:t>모델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347472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OpenAI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56432"/>
            <a:ext cx="347472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Anthropic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69664"/>
            <a:ext cx="347472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82896"/>
            <a:ext cx="347472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Bedrock 모델군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7952" y="3977639"/>
            <a:ext cx="25603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3474720" cy="868680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② 루프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algun Gothic"/>
              </a:rPr>
              <a:t>에이전트 런타임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743200"/>
            <a:ext cx="3474720" cy="566928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OpenAI Agents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456432"/>
            <a:ext cx="3474720" cy="566928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Claude Agent 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169664"/>
            <a:ext cx="3474720" cy="566928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AgentCore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882896"/>
            <a:ext cx="3474720" cy="566928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Agent Engine / Foundry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82712" y="3977639"/>
            <a:ext cx="25603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691640"/>
            <a:ext cx="3474720" cy="868680"/>
          </a:xfrm>
          <a:prstGeom prst="roundRect">
            <a:avLst/>
          </a:prstGeom>
          <a:solidFill>
            <a:srgbClr val="C26B1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③ 기억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algun Gothic"/>
              </a:rPr>
              <a:t>세션·메모리 저장소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743200"/>
            <a:ext cx="3474720" cy="566928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로컬 SQLite · Redis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456432"/>
            <a:ext cx="3474720" cy="566928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OpenAI Conversations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169664"/>
            <a:ext cx="3474720" cy="566928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AgentCore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882896"/>
            <a:ext cx="3474720" cy="566928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Memory Bank · 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69280"/>
            <a:ext cx="10789920" cy="7315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>
                <a:solidFill>
                  <a:srgbClr val="1F4E79"/>
                </a:solidFill>
                <a:latin typeface="Malgun Gothic"/>
              </a:rPr>
              <a:t>"메모리가 어디 있냐"에는 단일 답이 없다 — 세 개의 답이 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실제로 성립하는 7가지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추론 · 세션 · 메모리가 서로 다른 회사일 수 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12064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조합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1645920"/>
            <a:ext cx="20116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추론 위치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9248" y="1645920"/>
            <a:ext cx="20116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세션 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0928" y="1645920"/>
            <a:ext cx="192024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장기 메모리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51206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OpenAI Agents SDK + OpenAIConversationsSession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2103120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2103120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OpenAI 서버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10928" y="2103120"/>
            <a:ext cx="19202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없음/서드파티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33472"/>
            <a:ext cx="51206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OpenAI Agents SDK + Claude 모델(LiteLLM) +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7568" y="2633472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Anthropic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633472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내 Redis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10928" y="2633472"/>
            <a:ext cx="19202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서드파티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63824"/>
            <a:ext cx="5120640" cy="530352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C26B1F"/>
                </a:solidFill>
                <a:latin typeface="Malgun Gothic"/>
              </a:rPr>
              <a:t>AgentCore Runtime + OpenAI 모델 + AgentCore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87568" y="3163824"/>
            <a:ext cx="2011680" cy="530352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OpenAI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3163824"/>
            <a:ext cx="2011680" cy="530352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AWS microVM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3163824"/>
            <a:ext cx="1920240" cy="530352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C26B1F"/>
                </a:solidFill>
                <a:latin typeface="Malgun Gothic"/>
              </a:rPr>
              <a:t>AWS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94176"/>
            <a:ext cx="51206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임의 프레임워크 + Vertex Memory Bank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87568" y="3694176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아무 데나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3694176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프레임워크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3694176"/>
            <a:ext cx="19202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Google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24528"/>
            <a:ext cx="51206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Azure Foundry + non-OpenAI 모델 + BYO Cosmos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7568" y="4224528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Azure 카탈로그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4224528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내 Cosmos 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4224528"/>
            <a:ext cx="19202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스레드 누적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54880"/>
            <a:ext cx="51206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아무 모델 + mem0 / Zep MCP 서버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87568" y="4754880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아무 데나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4754880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프레임워크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4754880"/>
            <a:ext cx="19202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MCP 뒤 어디든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85232"/>
            <a:ext cx="51206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LangGraph / LlamaIndex + Bedrock Session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87568" y="5285232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Bedrock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9248" y="5285232"/>
            <a:ext cx="20116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AWS(고객 계정)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10928" y="5285232"/>
            <a:ext cx="19202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직접 구현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6B1F"/>
                </a:solidFill>
                <a:latin typeface="Malgun Gothic"/>
              </a:rPr>
              <a:t>3번을 보라 — 추론은 OpenAI, 세션은 AWS microVM, 장기 메모리도 AWS. 세 개가 다른 회사다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판별 규칙 — 세 가지 질문이면 끝난다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0789920" cy="109728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084832"/>
            <a:ext cx="594360" cy="594360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7FB5"/>
                </a:solidFill>
                <a:latin typeface="Malgun Gothic"/>
              </a:rPr>
              <a:t>대화 이력(transcript)은 누가 보관하는가?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8716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→ 에이전트 런타임의 세션 백엔드 설정이 결정한다. 모델 API가 아니다.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10789920" cy="109728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410712"/>
            <a:ext cx="594360" cy="594360"/>
          </a:xfrm>
          <a:prstGeom prst="roundRect">
            <a:avLst/>
          </a:prstGeom>
          <a:solidFill>
            <a:srgbClr val="6B4E8E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3756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B4E8E"/>
                </a:solidFill>
                <a:latin typeface="Malgun Gothic"/>
              </a:rPr>
              <a:t>툴 실행 산출물(파일 등)은 어디 남는가?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130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→ 샌드박스 소유자가 결정한다. Anthropic · AWS · 내 디스크.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80560"/>
            <a:ext cx="10789920" cy="109728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594360" cy="594360"/>
          </a:xfrm>
          <a:prstGeom prst="roundRect">
            <a:avLst/>
          </a:prstGeom>
          <a:solidFill>
            <a:srgbClr val="C26B1F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6344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26B1F"/>
                </a:solidFill>
                <a:latin typeface="Malgun Gothic"/>
              </a:rPr>
              <a:t>세션을 넘는 사실·선호는 어디 쌓이는가?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3892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Malgun Gothic"/>
              </a:rPr>
              <a:t>→ 명시적으로 붙인 L3 제품이 결정한다. 안 붙였으면 어디에도 안 쌓인다.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760720"/>
            <a:ext cx="10789920" cy="68580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B32D2D"/>
                </a:solidFill>
                <a:latin typeface="Malgun Gothic"/>
              </a:rPr>
              <a:t>이 셋이 서로 다른 곳일 수 있다 — 많은 팀이 '에이전트가 알아서 기억한다'고 착각한다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32D2D"/>
                </a:solidFill>
                <a:latin typeface="Malgun Gothic"/>
              </a:rPr>
              <a:t>안티패턴 — 이중 기록 (double bookkeeping)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206240" cy="128016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22222"/>
                </a:solidFill>
                <a:latin typeface="Malgun Gothic"/>
              </a:rPr>
              <a:t>SDK 세션 객체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로컬 이력을 prepend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783080"/>
            <a:ext cx="4206240" cy="128016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22222"/>
                </a:solidFill>
                <a:latin typeface="Malgun Gothic"/>
              </a:rPr>
              <a:t>모델 API 서버 세션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Malgun Gothic"/>
              </a:rPr>
              <a:t>저장 이력을 prepend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5212080" y="2194560"/>
            <a:ext cx="1828800" cy="457200"/>
          </a:xfrm>
          <a:prstGeom prst="leftRightArrow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3337560"/>
            <a:ext cx="7406640" cy="868680"/>
          </a:xfrm>
          <a:prstGeom prst="roundRect">
            <a:avLst/>
          </a:prstGeom>
          <a:solidFill>
            <a:srgbClr val="B32D2D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같은 턴이 프롬프트에 두 번 들어간다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434840"/>
            <a:ext cx="2651760" cy="82296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2D2D"/>
                </a:solidFill>
                <a:latin typeface="Malgun Gothic"/>
              </a:rPr>
              <a:t>중복 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434840"/>
            <a:ext cx="2651760" cy="82296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2D2D"/>
                </a:solidFill>
                <a:latin typeface="Malgun Gothic"/>
              </a:rPr>
              <a:t>예상보다 큰</a:t>
            </a:r>
          </a:p>
          <a:p>
            <a:pPr algn="ctr"/>
            <a:r>
              <a:rPr sz="1200" b="0">
                <a:solidFill>
                  <a:srgbClr val="B32D2D"/>
                </a:solidFill>
                <a:latin typeface="Malgun Gothic"/>
              </a:rPr>
              <a:t>입력 토큰 청구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434840"/>
            <a:ext cx="2651760" cy="82296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2D2D"/>
                </a:solidFill>
                <a:latin typeface="Malgun Gothic"/>
              </a:rPr>
              <a:t>툴 호출</a:t>
            </a:r>
          </a:p>
          <a:p>
            <a:pPr algn="ctr"/>
            <a:r>
              <a:rPr sz="1200" b="0">
                <a:solidFill>
                  <a:srgbClr val="B32D2D"/>
                </a:solidFill>
                <a:latin typeface="Malgun Gothic"/>
              </a:rPr>
              <a:t>순서 불일치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607040" cy="77724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26B1F"/>
                </a:solidFill>
                <a:latin typeface="Malgun Gothic"/>
              </a:rPr>
              <a:t>원칙: 대화 이력의 소유자는 정확히 하나여야 한다   |   단, L3 장기 메모리는 '이력'이 아니라 '추출된 사실'이므로 예외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이식성 스펙트럼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좋고 나쁨의 축이 아니라 '교환'의 축이다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332720" cy="411480"/>
          </a:xfrm>
          <a:prstGeom prst="rect">
            <a:avLst/>
          </a:prstGeom>
          <a:gradFill rotWithShape="1">
            <a:gsLst>
              <a:gs pos="0">
                <a:srgbClr val="4A7FB5"/>
              </a:gs>
              <a:gs pos="100000">
                <a:srgbClr val="C26B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2377440" y="2788920"/>
            <a:ext cx="274320" cy="365760"/>
          </a:xfrm>
          <a:prstGeom prst="down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3200400" cy="173736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22222"/>
                </a:solidFill>
                <a:latin typeface="Malgun Gothic"/>
              </a:rPr>
              <a:t>가장 이식성 높음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L0 모델 API + 자체 세션 저장소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+ MCP 메모리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4A7FB5"/>
                </a:solidFill>
                <a:latin typeface="Malgun Gothic"/>
              </a:rPr>
              <a:t>운영 부담 ↑
직접 만들 게 많다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2788920"/>
            <a:ext cx="274320" cy="365760"/>
          </a:xfrm>
          <a:prstGeom prst="down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3291840"/>
            <a:ext cx="3200400" cy="173736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22222"/>
                </a:solidFill>
                <a:latin typeface="Malgun Gothic"/>
              </a:rPr>
              <a:t>중간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프레임워크 무관 런타임/메모리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AgentCore · Agent Engine · Foundry BYO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212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6B4E8E"/>
                </a:solidFill>
                <a:latin typeface="Malgun Gothic"/>
              </a:rPr>
              <a:t>균형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418319" y="2788920"/>
            <a:ext cx="274320" cy="365760"/>
          </a:xfrm>
          <a:prstGeom prst="downArrow">
            <a:avLst/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3291840"/>
            <a:ext cx="3200400" cy="173736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22222"/>
                </a:solidFill>
                <a:latin typeface="Malgun Gothic"/>
              </a:rPr>
              <a:t>가장 락인 강함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벤더 통합 에이전트 + 내장 메모리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algun Gothic"/>
              </a:rPr>
              <a:t>Managed Agents + memory_stores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212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26B1F"/>
                </a:solidFill>
                <a:latin typeface="Malgun Gothic"/>
              </a:rPr>
              <a:t>운영 부담 ↓
인프라를 안 만든다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7FA8CE"/>
                </a:solidFill>
                <a:latin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실무에서 어떻게 고를 것인가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5D9EC"/>
                </a:solidFill>
                <a:latin typeface="Malgun Gothic"/>
              </a:rPr>
              <a:t>거버넌스 → 비용 → 락인 순으로 자른다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거버넌스가 가장 많이 자른다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한 번에 가장 많은 선택지를 제거하는 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301752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요구사항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1691640"/>
            <a:ext cx="457200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가능한 선택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691640"/>
            <a:ext cx="38404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불가능한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017520" cy="9601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Malgun Gothic"/>
              </a:rPr>
              <a:t>Zero Data Retention 필수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2148840"/>
            <a:ext cx="4572000" cy="9601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L0 모델 API + compaction, 자체 세션 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2148840"/>
            <a:ext cx="3840480" cy="96012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Managed Agents(공식 비적용), 서버 저장 모드 전반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08960"/>
            <a:ext cx="3017520" cy="9601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Malgun Gothic"/>
              </a:rPr>
              <a:t>데이터가 자사 테넌트에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3108960"/>
            <a:ext cx="4572000" cy="9601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Azure Responses/Foundry BYO, AgentCore(고객 계정)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3108960"/>
            <a:ext cx="3840480" cy="96012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OpenAI Conversations, Gemini Interactions 기본값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9080"/>
            <a:ext cx="3017520" cy="9601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Malgun Gothic"/>
              </a:rPr>
              <a:t>특정 지리에 고정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448" y="4069080"/>
            <a:ext cx="4572000" cy="9601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Azure(리소스 동일 지리), Anthropic inference_geo 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4069080"/>
            <a:ext cx="3840480" cy="96012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지역 미지정 기본 라우팅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29200"/>
            <a:ext cx="3017520" cy="9601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Malgun Gothic"/>
              </a:rPr>
              <a:t>감사 추적 · 소급 삭제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4448" y="5029200"/>
            <a:ext cx="4572000" cy="96012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Anthropic memory versions + redact, AgentCore 불변 이벤트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5029200"/>
            <a:ext cx="3840480" cy="960120"/>
          </a:xfrm>
          <a:prstGeom prst="roundRect">
            <a:avLst/>
          </a:prstGeom>
          <a:solidFill>
            <a:srgbClr val="FCEFEF"/>
          </a:solidFill>
          <a:ln w="15875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Malgun Gothic"/>
              </a:rPr>
              <a:t>단순 로컬 파일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6B1F"/>
                </a:solidFill>
                <a:latin typeface="Malgun Gothic"/>
              </a:rPr>
              <a:t>툴 실행이 서버로 가면 상태도 서버로 간다 — L2 계층의 일반 법칙이다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비용은 '저장'이 아니라 '재전송'에서 나온다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0789920" cy="11430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7FB5"/>
                </a:solidFill>
                <a:latin typeface="Malgun Gothic"/>
              </a:rPr>
              <a:t>Prompt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957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긴 접두사 재사용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6596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Anthropic: compaction 블록·시스템 프롬프트에 cache_control
Gemini: 2.5+ implicit caching 기본, 상태/무상태 모두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35808"/>
            <a:ext cx="10789920" cy="114300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72968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B4E8E"/>
                </a:solidFill>
                <a:latin typeface="Malgun Gothic"/>
              </a:rPr>
              <a:t>Compaction / context editing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9417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이력 자체를 줄인다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6440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Anthropic compact_20260112
OpenAI OpenAIResponsesCompactionSession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34256"/>
            <a:ext cx="10789920" cy="114300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71416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26B1F"/>
                </a:solidFill>
                <a:latin typeface="Malgun Gothic"/>
              </a:rPr>
              <a:t>장기 메모리로 옮기기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9262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Malgun Gothic"/>
              </a:rPr>
              <a:t>전체 대화 대신 사실만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56285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22222"/>
                </a:solidFill>
                <a:latin typeface="Malgun Gothic"/>
              </a:rPr>
              <a:t>AgentCore Memory · Memory Bank
Vertex는 유사도 검색으로 '관련된 기억만'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715000"/>
            <a:ext cx="10789920" cy="7315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4E79"/>
                </a:solidFill>
                <a:latin typeface="Malgun Gothic"/>
              </a:rPr>
              <a:t>에이전트 계층 고유 장치: Managed Agents budget.max_list_cost  ·  AgentCore 15분 유휴 회수 · 8시간 상한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상황별 권장 조합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단순 챗봇, 이력이 짧다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892040" y="1764792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0" y="1645920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L0 모델 API + 앱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13432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멀티 디바이스 동기화 채팅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2432304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2313432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OpenAI Conversations / Gemini Interactions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80944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규제 산업, 테넌트 밖 불가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3099816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0" y="2980944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Azure Foundry BYO Cosmos / AgentCore(고객 계정)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48456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ZDR 계약이 걸려 있음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92040" y="3767328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0" y="3648456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Anthropic Messages + compaction + 자체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15968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수 시간 자율 작업, 인프라 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92040" y="4434840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4315968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Claude Managed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83480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모델을 자주 갈아탈 예정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2040" y="5102352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4983480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AgentCore Runtime / 자체 루프 + MCP 메모리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650992"/>
            <a:ext cx="42062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</a:rPr>
              <a:t>개인화가 제품의 핵심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92040" y="5769864"/>
            <a:ext cx="457200" cy="329184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5650992"/>
            <a:ext cx="5943600" cy="566928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4E79"/>
                </a:solidFill>
                <a:latin typeface="Malgun Gothic"/>
              </a:rPr>
              <a:t>전용 L3 (AgentCore Memory · Memory Bank · Zep)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의사결정 플로차트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algun Gothic"/>
              </a:rPr>
              <a:t>왼쪽 = 아니오 · 아래 = 예 · 오른쪽 = 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627632"/>
            <a:ext cx="2926080" cy="73152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22222"/>
                </a:solidFill>
                <a:latin typeface="Malgun Gothic"/>
              </a:rPr>
              <a:t>서버가 대화를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보관해야 하나?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81912"/>
            <a:ext cx="320040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L0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Chat Completions · Messages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Converse · generateContent</a:t>
            </a:r>
          </a:p>
        </p:txBody>
      </p:sp>
      <p:sp>
        <p:nvSpPr>
          <p:cNvPr id="7" name="Left Arrow 6"/>
          <p:cNvSpPr/>
          <p:nvPr/>
        </p:nvSpPr>
        <p:spPr>
          <a:xfrm>
            <a:off x="3886200" y="1856232"/>
            <a:ext cx="621792" cy="274320"/>
          </a:xfrm>
          <a:prstGeom prst="lef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925312" y="2404872"/>
            <a:ext cx="310896" cy="292608"/>
          </a:xfrm>
          <a:prstGeom prst="down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2724912"/>
            <a:ext cx="2926080" cy="73152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22222"/>
                </a:solidFill>
                <a:latin typeface="Malgun Gothic"/>
              </a:rPr>
              <a:t>툴 실행도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서버가 하나?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9192"/>
            <a:ext cx="3200400" cy="82296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4E79"/>
                </a:solidFill>
                <a:latin typeface="Malgun Gothic"/>
              </a:rPr>
              <a:t>L1</a:t>
            </a:r>
          </a:p>
          <a:p>
            <a:pPr algn="ctr"/>
            <a:r>
              <a:rPr sz="1000" b="0">
                <a:solidFill>
                  <a:srgbClr val="1F4E79"/>
                </a:solidFill>
                <a:latin typeface="Malgun Gothic"/>
              </a:rPr>
              <a:t>Responses · Conversations</a:t>
            </a:r>
          </a:p>
          <a:p>
            <a:pPr algn="ctr"/>
            <a:r>
              <a:rPr sz="1000" b="0">
                <a:solidFill>
                  <a:srgbClr val="1F4E79"/>
                </a:solidFill>
                <a:latin typeface="Malgun Gothic"/>
              </a:rPr>
              <a:t>Interactions · Bedrock Sessions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886200" y="2953512"/>
            <a:ext cx="621792" cy="274320"/>
          </a:xfrm>
          <a:prstGeom prst="lef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925312" y="3502152"/>
            <a:ext cx="310896" cy="292608"/>
          </a:xfrm>
          <a:prstGeom prst="down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3822191"/>
            <a:ext cx="2926080" cy="73152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22222"/>
                </a:solidFill>
                <a:latin typeface="Malgun Gothic"/>
              </a:rPr>
              <a:t>저장소를 내가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소유해야 하나?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6472"/>
            <a:ext cx="3200400" cy="82296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6B4E8E"/>
                </a:solidFill>
                <a:latin typeface="Malgun Gothic"/>
              </a:rPr>
              <a:t>L2 벤더형</a:t>
            </a:r>
          </a:p>
          <a:p>
            <a:pPr algn="ctr"/>
            <a:r>
              <a:rPr sz="1000" b="0">
                <a:solidFill>
                  <a:srgbClr val="6B4E8E"/>
                </a:solidFill>
                <a:latin typeface="Malgun Gothic"/>
              </a:rPr>
              <a:t>Managed Agents · Agent Engine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3886200" y="4050791"/>
            <a:ext cx="621792" cy="274320"/>
          </a:xfrm>
          <a:prstGeom prst="lef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3776472"/>
            <a:ext cx="3200400" cy="82296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6B4E8E"/>
                </a:solidFill>
                <a:latin typeface="Malgun Gothic"/>
              </a:rPr>
              <a:t>L2 BYO형</a:t>
            </a:r>
          </a:p>
          <a:p>
            <a:pPr algn="ctr"/>
            <a:r>
              <a:rPr sz="1000" b="0">
                <a:solidFill>
                  <a:srgbClr val="6B4E8E"/>
                </a:solidFill>
                <a:latin typeface="Malgun Gothic"/>
              </a:rPr>
              <a:t>Foundry + Cosmos · AgentCore</a:t>
            </a:r>
          </a:p>
          <a:p>
            <a:pPr algn="ctr"/>
            <a:r>
              <a:rPr sz="1000" b="0">
                <a:solidFill>
                  <a:srgbClr val="6B4E8E"/>
                </a:solidFill>
                <a:latin typeface="Malgun Gothic"/>
              </a:rPr>
              <a:t>Claude Agent SDK(로컬)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89520" y="4050791"/>
            <a:ext cx="566928" cy="274320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925312" y="4599431"/>
            <a:ext cx="310896" cy="292608"/>
          </a:xfrm>
          <a:prstGeom prst="downArrow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4919472"/>
            <a:ext cx="2926080" cy="731520"/>
          </a:xfrm>
          <a:prstGeom prst="roundRect">
            <a:avLst/>
          </a:prstGeom>
          <a:solidFill>
            <a:srgbClr val="F5F0FA"/>
          </a:solidFill>
          <a:ln w="15875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22222"/>
                </a:solidFill>
                <a:latin typeface="Malgun Gothic"/>
              </a:rPr>
              <a:t>세션을 넘어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기억해야 하나?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3752"/>
            <a:ext cx="320040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>끝</a:t>
            </a:r>
          </a:p>
          <a:p>
            <a:pPr algn="ctr"/>
            <a:r>
              <a:rPr sz="1000" b="0">
                <a:solidFill>
                  <a:srgbClr val="222222"/>
                </a:solidFill>
                <a:latin typeface="Malgun Gothic"/>
              </a:rPr>
              <a:t>세션 종료 시 소멸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3886200" y="5148072"/>
            <a:ext cx="621792" cy="274320"/>
          </a:xfrm>
          <a:prstGeom prst="lef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4873752"/>
            <a:ext cx="3200400" cy="822960"/>
          </a:xfrm>
          <a:prstGeom prst="roundRect">
            <a:avLst/>
          </a:prstGeom>
          <a:solidFill>
            <a:srgbClr val="FDF4E8"/>
          </a:solidFill>
          <a:ln w="15875">
            <a:solidFill>
              <a:srgbClr val="C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C26B1F"/>
                </a:solidFill>
                <a:latin typeface="Malgun Gothic"/>
              </a:rPr>
              <a:t>L3 추가</a:t>
            </a:r>
          </a:p>
          <a:p>
            <a:pPr algn="ctr"/>
            <a:r>
              <a:rPr sz="1000" b="0">
                <a:solidFill>
                  <a:srgbClr val="C26B1F"/>
                </a:solidFill>
                <a:latin typeface="Malgun Gothic"/>
              </a:rPr>
              <a:t>AgentCore Memory · Memory Bank</a:t>
            </a:r>
          </a:p>
          <a:p>
            <a:pPr algn="ctr"/>
            <a:r>
              <a:rPr sz="1000" b="0">
                <a:solidFill>
                  <a:srgbClr val="C26B1F"/>
                </a:solidFill>
                <a:latin typeface="Malgun Gothic"/>
              </a:rPr>
              <a:t>memory_stores · mem0 / Zep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89520" y="5148072"/>
            <a:ext cx="566928" cy="274320"/>
          </a:xfrm>
          <a:prstGeom prst="rightArrow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989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A5A5A"/>
                </a:solidFill>
                <a:latin typeface="Malgun Gothic"/>
              </a:rPr>
              <a:t>← 아니오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989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B4E8E"/>
                </a:solidFill>
                <a:latin typeface="Malgun Gothic"/>
              </a:rPr>
              <a:t>↓ 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989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A7FB5"/>
                </a:solidFill>
                <a:latin typeface="Malgun Gothic"/>
              </a:rPr>
              <a:t>예 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Malgun Gothic"/>
              </a:rPr>
              <a:t>기억할 다섯 문장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685800" cy="6858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783080"/>
            <a:ext cx="9875520" cy="685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모델은 무상태다 — 서버 세션은 보관 책임의 이동이지 기억의 획득이 아니다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0048"/>
            <a:ext cx="685800" cy="6858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2670048"/>
            <a:ext cx="9875520" cy="685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한 벤더 안에도 여러 단계가 공존한다 — OpenAI는 L0·L1, Anthropic은 L0·L2+L3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57015"/>
            <a:ext cx="685800" cy="6858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72768" y="3557015"/>
            <a:ext cx="9875520" cy="685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툴 실행이 서버로 가면 상태도 서버로 간다 — 그래서 거버넌스 문제가 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43984"/>
            <a:ext cx="685800" cy="6858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4443984"/>
            <a:ext cx="9875520" cy="685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세션(L0~L2)과 메모리(L3)는 직교한다 — 그래서 크로스 벤더 조합이 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330952"/>
            <a:ext cx="685800" cy="6858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5330952"/>
            <a:ext cx="9875520" cy="685800"/>
          </a:xfrm>
          <a:prstGeom prst="roundRect">
            <a:avLst/>
          </a:prstGeom>
          <a:solidFill>
            <a:srgbClr val="EEF4FB"/>
          </a:solidFill>
          <a:ln w="15875">
            <a:solidFill>
              <a:srgbClr val="4A7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이력의 소유자는 하나여야 한다 — 이중 기록은 중복 과금과 순서 꼬임을 부른다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lgun Gothic"/>
              </a:rP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2011680" cy="41148"/>
          </a:xfrm>
          <a:prstGeom prst="rect">
            <a:avLst/>
          </a:prstGeom>
          <a:solidFill>
            <a:srgbClr val="C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C5D9EC"/>
                </a:solidFill>
                <a:latin typeface="Malgun Gothic"/>
              </a:rPr>
              <a:t>상세 리포트 · 참고문헌 47건
model-agent-api-session-memory-blog.md  |  -references.xlsx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