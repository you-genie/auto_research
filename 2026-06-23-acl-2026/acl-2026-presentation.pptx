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논문 수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롱 페이퍼
(Vol.1)</c:v>
                  </c:pt>
                  <c:pt idx="1">
                    <c:v>인더스트리
(Vol.6)</c:v>
                  </c:pt>
                  <c:pt idx="2">
                    <c:v>학생 연구
워크숍</c:v>
                  </c:pt>
                  <c:pt idx="3">
                    <c:v>시스템
데모</c:v>
                  </c:pt>
                  <c:pt idx="4">
                    <c:v>숏 페이퍼
(Vol.2)</c:v>
                  </c:pt>
                  <c:pt idx="5">
                    <c:v>튜토리얼
추상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2223</c:v>
                </c:pt>
                <c:pt idx="1">
                  <c:v>155</c:v>
                </c:pt>
                <c:pt idx="2">
                  <c:v>110</c:v>
                </c:pt>
                <c:pt idx="3">
                  <c:v>86</c:v>
                </c:pt>
                <c:pt idx="4">
                  <c:v>75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채택 논문 수</c:v>
                </c:pt>
              </c:strCache>
            </c:strRef>
          </c:tx>
          <c:spPr>
            <a:solidFill>
              <a:srgbClr val="2E86AB"/>
            </a:solidFill>
            <a:ln w="38100" cap="flat">
              <a:solidFill>
                <a:srgbClr val="2E86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ACL 2022</c:v>
                  </c:pt>
                  <c:pt idx="1">
                    <c:v>ACL 2023</c:v>
                  </c:pt>
                  <c:pt idx="2">
                    <c:v>ACL 2024</c:v>
                  </c:pt>
                  <c:pt idx="3">
                    <c:v>ACL 2025</c:v>
                  </c:pt>
                  <c:pt idx="4">
                    <c:v>ACL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1300</c:v>
                </c:pt>
                <c:pt idx="1">
                  <c:v>2052</c:v>
                </c:pt>
                <c:pt idx="2">
                  <c:v>1915</c:v>
                </c:pt>
                <c:pt idx="3">
                  <c:v>3091</c:v>
                </c:pt>
                <c:pt idx="4">
                  <c:v>2656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제출 논문 수</c:v>
                </c:pt>
              </c:strCache>
            </c:strRef>
          </c:tx>
          <c:spPr>
            <a:solidFill>
              <a:srgbClr val="E07B39"/>
            </a:solidFill>
            <a:ln w="38100" cap="flat">
              <a:solidFill>
                <a:srgbClr val="E07B3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7B39"/>
              </a:solidFill>
              <a:ln w="9525" cap="flat">
                <a:solidFill>
                  <a:srgbClr val="E07B3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ACL 2022</c:v>
                  </c:pt>
                  <c:pt idx="1">
                    <c:v>ACL 2023</c:v>
                  </c:pt>
                  <c:pt idx="2">
                    <c:v>ACL 2024</c:v>
                  </c:pt>
                  <c:pt idx="3">
                    <c:v>ACL 2025</c:v>
                  </c:pt>
                  <c:pt idx="4">
                    <c:v>ACL 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/>
                </c:pt>
                <c:pt idx="2">
                  <c:v>4407</c:v>
                </c:pt>
                <c:pt idx="3">
                  <c:v>8360</c:v>
                </c:pt>
                <c:pt idx="4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제64회 ACL은 역대 최대 규모로, ACL Anthology에 2,656편이 등록됐습니다. 공식 수락률은 2026-06-23 현재 미공개입니다.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 슬라이드입니다. 총 20슬라이드 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 2026은 역대 최대 규모의 ACL 학회입니다. 공식 수락률은 아직 미공개이나, ACL Anthology에 이미 2,656편이 등록됐습니다.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 기반 리뷰 체계로 인해 제출-리뷰-커밋의 3단계 일정이 분리됩니다.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ARR은 2021년 도입된 상시 제출·리뷰 시스템입니다. 기존의 학회별 독립 제출 방식 대비, 리뷰를 여러 학회에 재활용할 수 있어 연구자 부담을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 2025는 8,360편 제출에 3,091편 채택(수락률 약 37%)이었습니다. ACL 2026 제출 총수는 아직 공개되지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NLP 커뮤니티가 LLM 붐과 함께 폭발적으로 성장했음을 보여줍니다. 제출 수 대비 채택률은 점차 낮아지는 추세입니다.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 분야 섹션 구분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5월 ARR 업데이트로 'Language Modeling'과 'Human-Centered NLP' 트랙이 신설됐습니다. LLM Agents도 독립 트랙으로 승격됐습니다.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DeepSeek-R1 등 추론 모델의 등장이 '생각을 너무 길게 하는 모델을 어떻게 압축하느냐'는 새 연구 방향을 낳았습니다.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전통 NLP 태스크들이 사라지는 것이 아니라, LLM의 범용 능력에 흡수되면서 독립 연구 논문 수가 줄어드는 양상입니다.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Best Paper Award는 아직 발표되지 않았습니다. 화제성과 연구 기여도 기준으로 선별했습니다.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 분야는 이번 ACL에서 가장 많은 논문이 집중된 영역 중 하나입니다. 단순 태스크 수행을 넘어 다중 에이전트 협력, 안전성, 자기 개선까지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안전성 연구가 단순 jailbreak 방지에서 나아가 에이전트 안전, 감정적 환각, 다국어 안전성 등으로 세분화되고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벤치마크 오염과 실제 성능 괴리 이슈가 2026년 주요 관심사로 부상했습니다. RIKEN AIP는 이번 ACL에 21편을 채택시켰습니다.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튜토리얼 중 3개(에이전트, 데이터, 추론)가 LLM 연구의 핵심 방향성과 직결됩니다. 나머지도 설명 가능성(지식 제어), 인문학(은유), 미래 사회(일의 미래)를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30여 개 워크숍 중 안전성·신뢰성(TrustNLP)과 평가 방법론(EvalEval) 워크숍의 존재가 이번 ACL 특별 테마와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테마는 단순한 기술적 해석을 넘어 LLM 시대의 책임감 있는 AI 개발에 대한 커뮤니티의 자기 성찰을 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키노트 중 Tania Lombrozo는 인지과학 전문가로 NLP와 인지과학의 연결이라는 학제간 관점을 제시할 것으로 예상됩니다. Linguistics Symposium은 LLM 시대 언어학의 역할을 재조명합니다.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 2026은 LLM 연구의 성숙화와 다양화를 보여주는 학회입니다. 단순한 성능 경쟁에서 나아가 안전성, 효율성, 설명 가능성, 다양성으로 연구 지평이 넓어지고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463040"/>
            <a:ext cx="8942832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47472"/>
            <a:ext cx="192024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74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NLP · CL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정리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제64회 ACL 연례 학회 — 채택 논문 · 연구 트렌드 · 핵심 논문 해설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187452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163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2,656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34381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총 채택 논문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87752" y="2724912"/>
            <a:ext cx="187452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87752" y="28163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2,223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87752" y="34381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롱 페이퍼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2724912"/>
            <a:ext cx="187452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28163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34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72584" y="34381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연구 트랙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7416" y="2724912"/>
            <a:ext cx="1874520" cy="13716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57416" y="281635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</a:rPr>
              <a:t>30+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57416" y="343814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워크숍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4622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2026년 7월 2~7일  |  미국 캘리포니아 샌디에이고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ACL 2026 개요 및 형식 정보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5389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일정 · 장소 · 프로그램 구성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2312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960120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6672" y="1051560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ARR 리뷰 프로세스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145389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제출 → 리뷰 → 커밋먼트 흐름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221992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2199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31343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채택 논문 현황 및 규모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1576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트랙별 분포 · 성장 추이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2312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2221992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22199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231343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연구 분야 분류 및 트렌드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715768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34개 트랙 분류 · 급부상 / 하락 분야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483864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8386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575304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대표 채택 논문 7선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Agents · Safety · Reasoning · Evaluation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82312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82312" y="3483864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48386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3575304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워크숍 · 튜토리얼 하이라이트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76672" y="3977640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30여 개 워크숍 · 6개 튜토리얼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745736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4745736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74573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05840" y="4837176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키노트 스피커 &amp; 특별 테마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5239512"/>
            <a:ext cx="3447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Explainability 특별 세션 · 패널 토론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745736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4745736"/>
            <a:ext cx="502920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45736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4837176"/>
            <a:ext cx="7607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키노트 스피커 &amp; 특별 테마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5840" y="5239512"/>
            <a:ext cx="7607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Explainability 특별 세션 · 패널 토론 · 4명 키노트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한눈에 보기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한눈에 보기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3931920" cy="40233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기본 정보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26464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명칭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14264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제64회 ACL 연례 학회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984248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84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일시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984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2026년 7월 2~7일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420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장소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2542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미국 캘리포니아 샌디에이고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99816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99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특별 테마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0998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NLP 모델의 설명 가능성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리뷰 체계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00200" y="3657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ACL Rolling Review (ARR)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15384"/>
            <a:ext cx="100584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15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PC Chairs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Liakata, Moreira, Zhang, Jurgens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914400"/>
            <a:ext cx="3977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914400"/>
            <a:ext cx="3977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91440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채택 논문 통계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426464"/>
            <a:ext cx="3794760" cy="438912"/>
          </a:xfrm>
          <a:prstGeom prst="rect">
            <a:avLst/>
          </a:prstGeom>
          <a:solidFill>
            <a:srgbClr val="CADC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4264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메인 트랙 합계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4264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2,656편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984248"/>
            <a:ext cx="3794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19842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롱 페이퍼 (Vol.1)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984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2,223편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542032"/>
            <a:ext cx="3794760" cy="438912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5420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인더스트리 트랙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5420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155편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3099816"/>
            <a:ext cx="3794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09981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학생 연구 워크숍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0998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110편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657600"/>
            <a:ext cx="3794760" cy="438912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657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시스템 데모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06640" y="3657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86편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4215384"/>
            <a:ext cx="3794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42153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숏 페이퍼 (Vol.2)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21538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75편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54880" y="47091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※ 공식 수락률 미공개 (2026-06-23 현재)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일정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제출 단계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54864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538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2026.01.05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46504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ARR 제출 마감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95728" y="914400"/>
            <a:ext cx="2331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리뷰 단계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95728" y="1417320"/>
            <a:ext cx="2331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1417320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453896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2026.03.10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174650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ARR 리뷰 완료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95728" y="2221992"/>
            <a:ext cx="2331720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5728" y="2221992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25856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2026.03.14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87168" y="2551176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커밋먼트 마감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37176" y="914400"/>
            <a:ext cx="233172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채택 단계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37176" y="1417320"/>
            <a:ext cx="2331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7176" y="1417320"/>
            <a:ext cx="54864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1453896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2026.04.04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8616" y="174650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채택 통보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37176" y="2221992"/>
            <a:ext cx="2331720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37176" y="2221992"/>
            <a:ext cx="54864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25856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2026.04.19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8616" y="2551176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카메라레디 마감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78624" y="914400"/>
            <a:ext cx="233172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914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학회 단계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78624" y="1417320"/>
            <a:ext cx="2331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78624" y="1417320"/>
            <a:ext cx="54864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1453896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2026.07.02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70064" y="1746504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튜토리얼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78624" y="2221992"/>
            <a:ext cx="2331720" cy="7498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78624" y="2221992"/>
            <a:ext cx="54864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0064" y="2258568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2026.07.03~04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70064" y="2551176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워크숍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278624" y="3026664"/>
            <a:ext cx="2331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3026664"/>
            <a:ext cx="54864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0064" y="306324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2026.07.05~07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70064" y="3355848"/>
            <a:ext cx="2203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메인 컨퍼런스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86000" y="1005840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681728" y="1005840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77456" y="1005840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★ ARR 기반 리뷰: 제출 → 리뷰 → 커밋먼트의 3단계로 분리. 한 번 받은 리뷰를 여러 학회에 재활용 가능.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Rolling Review (ARR) 프로세스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Rolling Review (ARR) 프로세스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09728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저자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ARR 제출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276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417320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Area Chair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배정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6148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417320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리뷰어 3명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독립 심사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5020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1417320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2336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메타리뷰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작성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3892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417320"/>
            <a:ext cx="109728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208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커밋먼트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결정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2764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1417320"/>
            <a:ext cx="109728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시니어 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최종 판단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16368" y="192024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792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1417320"/>
            <a:ext cx="109728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1453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89520" y="1801368"/>
            <a:ext cx="10972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채택 / 탈락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통보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2560320"/>
            <a:ext cx="1097280" cy="320040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OpenReview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108960"/>
            <a:ext cx="-292608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097280" y="3145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</a:rPr>
              <a:t>리뷰 재사용 → 다른 학회 커밋 가능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8640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♻ 리뷰 재사용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한 번의 리뷰로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여러 학회 지원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55848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447288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📅 상시 제출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447288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월별 마감으로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연중 제출 가능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54496" y="35661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45936" y="3621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⚡ 빠른 피드백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45936" y="398678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리뷰-커밋 분리로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부담 감소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채택 논문 규모 (ACL Anthology 기준)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채택 논문 규모 (ACL Anthology 기준)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960120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960120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051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총 채택 논문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13624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2,656편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63640" y="1764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ACL Anthology 기준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286000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286000"/>
            <a:ext cx="73152" cy="1170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3774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롱 페이퍼 비중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2688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86AB"/>
                </a:solidFill>
              </a:rPr>
              <a:t>83.7%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6364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2,223 / 2,656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611880"/>
            <a:ext cx="26060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61188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3703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인더스트리 트랙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63640" y="40142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155편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63640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산업계 연구 강세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※ 공식 수락률 미공개 (2026-06-23 현재) — 전체 제출 수 미발표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학회 규모 성장 추이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학회 규모 성장 추이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932688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960120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960120"/>
            <a:ext cx="73152" cy="11704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7B39"/>
                </a:solidFill>
              </a:rPr>
              <a:t>2× 급증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41732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2024→2025 제출 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4,407 → 8,360편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286000"/>
            <a:ext cx="73152" cy="1170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3774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86AB"/>
                </a:solidFill>
              </a:rPr>
              <a:t>최대 규모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274320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ACL 2026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롱 페이퍼 2,223편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3611880"/>
            <a:ext cx="24688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3611880"/>
            <a:ext cx="7315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703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↓ 수락률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40690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ACL 2024: 43.5%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ACL 2025: 37.0%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B4E"/>
          </a:solidFill>
          <a:ln w="12700">
            <a:solidFill>
              <a:srgbClr val="0D2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 분야 분류 및 트렌드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67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어떤 주제가 뜨고, 어떤 주제가 지는가?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Agents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288036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880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88036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880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288036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880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Multimodal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Efficiency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352044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52044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Multilingual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95160" y="3520440"/>
            <a:ext cx="196596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52044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Interpretability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주요 연구 트랙 (34개 분야)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주요 연구 트랙 (34개 분야)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697480" cy="42062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697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LLM 코어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41732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Language Modeling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9933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 Efficiency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569464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56946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Safety &amp; Alignment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45536"/>
            <a:ext cx="2697480" cy="493776"/>
          </a:xfrm>
          <a:prstGeom prst="rect">
            <a:avLst/>
          </a:prstGeom>
          <a:solidFill>
            <a:srgbClr val="CADC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145536"/>
            <a:ext cx="54864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14553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LLM Agents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3236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</a:rPr>
              <a:t>NEW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721608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2160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Retrieval-Augmented LMs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297680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2976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Code Models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914400"/>
            <a:ext cx="2697480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914400"/>
            <a:ext cx="2697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추론·이해·멀티모달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9272" y="1417320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141732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Math / Symbolic Reasoning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9272" y="1993392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9933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Multimodality &amp; Grounding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9272" y="2569464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56946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Question Answering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9272" y="3145536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4553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Interpretability &amp; Analysis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9272" y="3721608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372160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Discourse &amp; Pragmatics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9272" y="4297680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42976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Human-AI Interaction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27064" y="914400"/>
            <a:ext cx="26974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914400"/>
            <a:ext cx="26974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🌍 자원·응용·언어 다양성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27064" y="1417320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141732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Resources &amp; Evaluation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27064" y="1993392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9933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Ethics / Bias / Fairness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27064" y="2569464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2569464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Multilingualism &amp; Low-resource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27064" y="3145536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14553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NLP Applications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27064" y="3721608"/>
            <a:ext cx="2697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372160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Computational Social Science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27064" y="4297680"/>
            <a:ext cx="2697480" cy="493776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42976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Linguistic Theories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★ 2025년 ARR 업데이트로 'LLM Agents', 'Language Modeling', 'Human-Centered NLP' 트랙 신설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급부상하는 연구 주제 (ACL 2025 → 2026)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급부상하는 연구 주제 (ACL 2025 → 2026)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265176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LLM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" y="1481328"/>
            <a:ext cx="2432304" cy="32918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86AB"/>
                </a:solidFill>
              </a:rPr>
              <a:t>▲ 독립 트랙으로 확립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" y="1993392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멀티-에이전트 튜토리얼 신설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560320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871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에이전트 안전성 논문 급증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3127248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5409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도구 호출·계획 수립 연구 확대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694176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210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강화학습 기반 에이전트 개선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91440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914400"/>
            <a:ext cx="26517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🛡 Safety &amp; Alignment 다각화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19856" y="1481328"/>
            <a:ext cx="2432304" cy="32918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▲ 단순 jailbreak → 복합 안전성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856" y="1993392"/>
            <a:ext cx="18288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19202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Affective Hallucination (신개념)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9856" y="2560320"/>
            <a:ext cx="18288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4871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Agentic Safety 런타임 제어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9856" y="3127248"/>
            <a:ext cx="18288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05409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Multilingual Safety 취약성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9856" y="3694176"/>
            <a:ext cx="182880" cy="182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6210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런타임 반성·자기 수정 메커니즘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914400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08776" y="914400"/>
            <a:ext cx="26517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81928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Efficient Reasoning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18504" y="1481328"/>
            <a:ext cx="2432304" cy="32918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▲ DeepSeek-R1 이후 폭발적 증가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18504" y="1993392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192024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CoT 길이 최적화 (CoT-Valve)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18504" y="2560320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24871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추론 효율화 튜토리얼 신설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18504" y="3127248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74536" y="305409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과도한 사고(overthinking) 연구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18504" y="3694176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362102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예산 내 메타인지 제어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비중이 축소되는 분야 (ACL 2025 → 2026)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비중이 축소되는 분야 (ACL 2025 → 2026)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26517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전통 기계번역 (MT)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48132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51790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 범용 번역 성능 급상승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독립 MT 모델 연구 필요성 감소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7614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79806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MT 개선 연구가 LLM 파인튜닝으로 흡수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3401568"/>
            <a:ext cx="2432304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MT 워크숍 (IWSLT)은 유지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914400"/>
            <a:ext cx="26517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정보 추출 (IE) 단독 연구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9856" y="148132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75888" y="151790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NER·RE 특화 모델 필요성 감소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19856" y="212140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75888" y="21579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'LLM을 IE에 쓰기'가 주류 접근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19856" y="27614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75888" y="279806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 프롬프팅으로 대부분 처리 가능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9856" y="3401568"/>
            <a:ext cx="2432304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IE 자체는 LLM 연구에 흡수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91440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914400"/>
            <a:ext cx="26517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91440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📉 구문 분석 (Syntax/Parsing)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18504" y="148132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74536" y="151790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 모델 내재화로 파싱 대체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18504" y="212140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74536" y="21579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독립 파싱 논문 수 축소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18504" y="2761488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▾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74536" y="279806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언어학적 현상 연구는 LLM 분석으로 이동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18504" y="3401568"/>
            <a:ext cx="2432304" cy="329184"/>
          </a:xfrm>
          <a:prstGeom prst="rect">
            <a:avLst/>
          </a:prstGeom>
          <a:solidFill>
            <a:srgbClr val="CADCFC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34015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Syntax 트랙은 존속하나 축소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4315968"/>
            <a:ext cx="8321040" cy="640080"/>
          </a:xfrm>
          <a:prstGeom prst="rect">
            <a:avLst/>
          </a:prstGeom>
          <a:solidFill>
            <a:srgbClr val="F0F4F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315968"/>
            <a:ext cx="8046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⚠ 이 분야들은 '사라지는' 것이 아니라 LLM 연구에 흡수됩니다. LLM의 범용성 향상이 독립 연구 논문 수를 줄이는 주된 원인입니다.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대표 채택 논문 7선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LLM Agents · Safety · Reasoning · Evaluation · Multilingual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 Conference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31136" y="2926080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29260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13632" y="2926080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29260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RIKEN AIP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96128" y="2926080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29260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A*STAR CFAR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78624" y="2926080"/>
            <a:ext cx="155448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292608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Univ. Hamburg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※ 공식 Best Paper Award 미발표 (2026-07-07 시상 예정)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LLM Agents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LLM Agents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2651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98755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Security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978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CORBA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Contagious Recursive Blocking Attacks on Multi-Agent Systems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2468880" cy="23774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📍 A*STAR CFAR · 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4688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"Denial-of-Collaboration" 새 공격 유형 제안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3580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재귀적 통신 루프로 전체 시스템 마비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멀티-에이전트 협업 보안 취약점 실증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10128" y="932688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98755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Runtime Safety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1568" y="978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Safety Sidecar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01568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Reflection-Driven Runtime Control for Safer Agents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121408"/>
            <a:ext cx="2468880" cy="23774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📍 A*STAR CFAR · Main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01568" y="2560320"/>
            <a:ext cx="164592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0168" y="24688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모델 무관한(model-agnostic) 런타임 제어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127248"/>
            <a:ext cx="164592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0168" y="303580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반성적 개입(reflective intervention) 메커니즘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01568" y="3694176"/>
            <a:ext cx="164592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0168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에이전트 자율 행동 중 안전 규칙 준수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8776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08776" y="932688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54696" y="98755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54696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Tool Use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0216" y="978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Trajectory2Task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0216" y="14447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Training Robust Tool-Calling Agents with Synthesized Yet Verifiable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0216" y="2121408"/>
            <a:ext cx="2468880" cy="237744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212140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📍 Main Conference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0216" y="25603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4688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검증 가능한 합성 데이터로 에이전트 훈련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0216" y="312724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03580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복잡한 사용자 의도 처리 능력 개선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0216" y="369417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데이터 중심 AI + 에이전트 연구 교차점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Safety &amp; Alignment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Safety &amp; Alignment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26517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Being Kind Isn't Always Being Safe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Diagnosing Affective Hallucination in LLMs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2468880" cy="40233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9933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개념: Affective Hallucination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4688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LLM이 감정적으로 친절하려는 성향으로 사실에 반하는 내용 생성. DPO 파인튜닝으로 완화 가능.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84448"/>
            <a:ext cx="2468880" cy="2926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35844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📍 Findings of ACL: EACL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932688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987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MAPS Benchmark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4630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Multilingual Benchmark for Agent Performance and 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1993392"/>
            <a:ext cx="246888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19933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개념: Multilingual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01568" y="2487168"/>
            <a:ext cx="24688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영어 외 언어에서 에이전트 성능·안전성이 급격히 저하됨을 정량적으로 실증.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3584448"/>
            <a:ext cx="2468880" cy="2926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5844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📍 Findings of ACL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08776" y="932688"/>
            <a:ext cx="2651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932688"/>
            <a:ext cx="2651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987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Unleashing the Unseen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14630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Harnessing Benign Datasets for Jailbreaking LLMs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0216" y="1993392"/>
            <a:ext cx="246888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199339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개념: Jailbreak via Benign Data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2487168"/>
            <a:ext cx="24688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악성 데이터 없이 일반 데이터만으로 LLM 탈옥 가능. 기존 방어 방법의 맹점 노출.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0216" y="3584448"/>
            <a:ext cx="2468880" cy="29260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5844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📍 Findings of ACL 2026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548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안전성 연구가 단순 jailbreak 방지에서 에이전트 안전, 감정적 환각, 다국어 안전성으로 세분화되고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추론 · 평가 · 다국어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주목할 채택 논문 — 추론 · 평가 · 다국어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73152" cy="1965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1024128"/>
            <a:ext cx="9601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LLM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024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86AB"/>
                </a:solidFill>
              </a:rPr>
              <a:t>PHOTON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4356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Hierarchical Autoregressive Modeling for Lightspeed Language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계층적 오토레그레시브 아키텍처로 메모리 효율과 생성 속도를 동시 개선.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69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📍 RIKEN AIP · Main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82312" y="93268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82312" y="932688"/>
            <a:ext cx="73152" cy="1965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91272" y="1024128"/>
            <a:ext cx="9601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10241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024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When Benchmarks Leak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65192" y="14356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Inference-Time Decontamination for LLMs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5192" y="19385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추론 시점에서 테스트 데이터 오염을 감지·완화하는 실용적 방법 제안.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192" y="2569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📍 RIKEN AIP · Main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35808"/>
            <a:ext cx="73152" cy="1965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127248"/>
            <a:ext cx="960120" cy="274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127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Multilingual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1272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7B39"/>
                </a:solidFill>
              </a:rPr>
              <a:t>CommonLID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35387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Re-evaluating SOTA Language Identification on Web Data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40416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벤치마크 성능과 웹 규모 실제 성능 사이의 괴리를 정량적으로 실증.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672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📍 Univ. Hamburg · Main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82312" y="3035808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035808"/>
            <a:ext cx="73152" cy="1965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91272" y="3127248"/>
            <a:ext cx="9601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91272" y="3127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5192" y="312724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AdapTime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65192" y="35387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Enabling Adaptive Temporal Reasoning in LLMs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65192" y="40416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외부 도구 없이 LLM이 시간 추론을 동적으로 수행하는 적응형 파이프라인.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67258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📍 Main Conference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튜토리얼 (2026년 7월 2일)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튜토리얼 (2026년 7월 2일)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33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51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15087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효과적·효율적 멀티-에이전트 LM 시스템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9601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960120"/>
            <a:ext cx="26517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033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10515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051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</a:rPr>
              <a:t>Society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LLM 시대 미래의 일(Work)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27064" y="9601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960120"/>
            <a:ext cx="26517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033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64424" y="10515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64424" y="1051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36792" y="15087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LLM을 위한 데이터 프론티어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265176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8620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148840" y="28803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8803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Linguistics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" y="33375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은유와 NLP의 상호작용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19272" y="27889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9272" y="2788920"/>
            <a:ext cx="26517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28620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56632" y="28803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28803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</a:rPr>
              <a:t>Safety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0" y="33375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책임감 있는 생성 AI를 위한 지식 제어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27064" y="27889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27064" y="2788920"/>
            <a:ext cx="26517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28620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T6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964424" y="288036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4424" y="28803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Reasoning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36792" y="3337560"/>
            <a:ext cx="243230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LLM 추론의 최신 발전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451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★ 6개 튜토리얼 중 3개(T1 에이전트 · T3 데이터 · T6 추론)가 2026년 LLM 연구의 핵심 방향과 직결됩니다.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주요 워크숍 (30여 개)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주요 워크숍 (30여 개)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411480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LLM · 평가 중심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32688"/>
            <a:ext cx="411480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32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🌍 다양성 · 응용 중심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0817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408176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TrustNLP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7007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설명 가능성 · 공정성 · 견고성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4114800" cy="56692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084832"/>
            <a:ext cx="64008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21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SURGeLLM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LLM 시대 구조화 이해·검색·생성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76148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761488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98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SELVA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0540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효율성과 지속 가능성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438144"/>
            <a:ext cx="4114800" cy="56692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438144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EvalEval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30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평가 방법론 메타 평가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11480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114800"/>
            <a:ext cx="64008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MeLLMs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4074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다국어 LLM 전문 워크숍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40817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408176"/>
            <a:ext cx="64008" cy="5669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444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ALVR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170078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멀티모달 (언어+비전) — 7명 키노트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084832"/>
            <a:ext cx="4114800" cy="56692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084832"/>
            <a:ext cx="64008" cy="5669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12140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RAG4Reports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23774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다국어 RAG 실용화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76148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761488"/>
            <a:ext cx="64008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7980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C3NLP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054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문화 간 NLP 고려사항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438144"/>
            <a:ext cx="4114800" cy="566928"/>
          </a:xfrm>
          <a:prstGeom prst="rect">
            <a:avLst/>
          </a:prstGeom>
          <a:solidFill>
            <a:srgbClr val="F0F4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438144"/>
            <a:ext cx="64008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474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CLPsych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373075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정신 건강 NLP 응용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411480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114800"/>
            <a:ext cx="64008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151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AmericasNLP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44074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아메리카 원주민 언어 기술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특별 테마: NLP 모델의 설명 가능성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특별 테마: NLP 모델의 설명 가능성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of NLP Models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2651760" cy="3840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배경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2240280"/>
            <a:ext cx="182880" cy="182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LLM 블랙박스 우려 증가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825496"/>
            <a:ext cx="182880" cy="182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3405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EU AI Act 규제 환경 변화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3410712"/>
            <a:ext cx="182880" cy="182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1927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학계-산업계 관점 차이 부각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995928"/>
            <a:ext cx="182880" cy="182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044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모델 내부 메커니즘 이해 필요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1627632"/>
            <a:ext cx="26517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포함 연구 유형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20574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9856" y="2240280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2148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경험적 · 이론적 연구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19856" y="2825496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73405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서베이 및 포지션 페이퍼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9856" y="3410712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31927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메카니스틱 해석 가능성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9856" y="3995928"/>
            <a:ext cx="182880" cy="182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9044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프롬프팅 기반 설명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8776" y="1627632"/>
            <a:ext cx="2651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16276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특별 패널 (7/6 월)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08776" y="20574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18504" y="2240280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21488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"Explainability: Academic vs Industry"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18504" y="2825496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4536" y="273405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Tal Linzen (NYU/Google DeepMind)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18504" y="3410712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331927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Sameer Singh (UC Irvine)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18504" y="3995928"/>
            <a:ext cx="18288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4536" y="39044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Kamalika Das (산업계)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solidFill>
            <a:srgbClr val="CADC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73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이 테마는 LLM 시대 책임감 있는 AI 개발에 대한 커뮤니티의 자기 성찰을 반영합니다.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키노트 스피커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키노트 스피커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73152" cy="13258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051560"/>
            <a:ext cx="12344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051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7/5 (일) 09:30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6AB"/>
                </a:solidFill>
              </a:rPr>
              <a:t>Philip Resnik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" y="14538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University of Maryland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82312" y="9601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960120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16952" y="1051560"/>
            <a:ext cx="12344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05156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7/6 (월) 13:00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Yue Zhang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4538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Westlake University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4231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2316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514600"/>
            <a:ext cx="123444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514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7/6 (월) 16:45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Tania Lombrozo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" y="29169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Princeton University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" y="32461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★ 인지과학·심리학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82312" y="24231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423160"/>
            <a:ext cx="73152" cy="13258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6952" y="2514600"/>
            <a:ext cx="1234440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16952" y="25146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7/6 (월) 15:30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5146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7B39"/>
                </a:solidFill>
              </a:rPr>
              <a:t>Barbara Plank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83480" y="29169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LMU Munich (ACL 회장)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24612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★ Presidential Address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913632"/>
            <a:ext cx="8321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913632"/>
            <a:ext cx="73152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593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Linguistics Symposium  "Linguistics and NLP in the LLM Era"  (7/5 일)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4315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패널: Allyson Ettinger · Richard Futrell · Zoey Liu · Tom McCoy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572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주제: LLM 시대 언어학의 역할 재조명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ACL 2026 핵심 정리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33272"/>
            <a:ext cx="38404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역대 최대 규모 — 롱 페이퍼 2,223편 포함 총 2,656편 채택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00784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LLM Agents 독립 트랙 확립 — 에이전트 안전성·도구 호출·강화학습 폭발적 증가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84048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951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Safety 연구 다각화 — 정서적 환각 · 다국어 안전성 · Agentic Safety 세분화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384048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추론 효율화 — DeepSeek-R1 이후 CoT 압축·메타인지 연구 급증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3840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4E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6301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특별 테마 설명 가능성 — 학계-산업계 대화 본격화·패널 토론 신설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498848"/>
            <a:ext cx="827532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9884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※ Best Paper Award는 2026-07-07 시상 예정 (현재 미발표)  |  자료 기준일: 2026-06-23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 2026 완전 정리</dc:title>
  <dc:subject>PptxGenJS Presentation</dc:subject>
  <dc:creator>Research Producer</dc:creator>
  <cp:lastModifiedBy>Research Producer</cp:lastModifiedBy>
  <cp:revision>1</cp:revision>
  <dcterms:created xsi:type="dcterms:W3CDTF">2026-06-23T11:53:40Z</dcterms:created>
  <dcterms:modified xsi:type="dcterms:W3CDTF">2026-06-23T11:53:40Z</dcterms:modified>
</cp:coreProperties>
</file>