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2" r:id="rId23"/>
    <p:sldId id="262" r:id="rId8"/>
    <p:sldId id="263" r:id="rId9"/>
    <p:sldId id="264" r:id="rId10"/>
    <p:sldId id="265" r:id="rId11"/>
    <p:sldId id="266" r:id="rId12"/>
    <p:sldId id="270" r:id="rId21"/>
    <p:sldId id="271" r:id="rId22"/>
    <p:sldId id="273" r:id="rId24"/>
    <p:sldId id="274" r:id="rId25"/>
    <p:sldId id="275" r:id="rId26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7.xml"/><Relationship Id="rId24" Type="http://schemas.openxmlformats.org/officeDocument/2006/relationships/slide" Target="slides/slide15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Latent Reasoning은 LLM의 추론 과정을 자연어 토큰이 아닌 모델 내부의 연속 공간(hidden state)에서 직접 수행하는 접근 방식입니다. 오늘은 이 분야를 대표하는 5개 논문을 종합적으로 살펴보겠습니다.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Chain-of-Thought 추론은 모델의 풍부한 내부 표현을 15 bits짜리 토큰으로 강제 압축합니다. 2,560차원 FP16 hidden state는 40,960 bits의 정보를 담을 수 있는데, 이를 단일 토큰으로 줄이는 순간 막대한 정보 손실이 발생합니다.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표준 CoT는 세 가지 근본적 문제를 가집니다. 첫째, 매 step마다 하나의 토큰을 선택하므로 병렬 경로 탐색이 불가능합니다. 둘째, 언어 연결사가 추론 예산을 낭비합니다. 셋째, 자연어 토큰의 표현 대역폭은 hidden state의 1/2700에 불과합니다.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Rui-Jie Zhu et al.의 서베이(arXiv 2507.06203)는 Latent Reasoning을 두 축으로 분류합니다. Vertical Recurrent는 같은 레이어를 깊이 방향으로 반복하고, Horizontal Recurrent는 시퀀스 방향으로 hidden state를 전파합니다. Diffusion 기반 접근은 연속 공간에서 추론 경로를 탐색합니다.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Coconut의 핵심은 단순합니다. 일반 LLM은 hidden state를 vocab에 project해서 토큰을 고르고, 그 토큰을 다시 임베딩합니다. Coconut은 이 병목을 제거하고 마지막 레이어 hidden state를 그대로 다음 스텝의 입력으로 사용합니다. N번 반복 후 최종 답변만 자연어로 출력합니다.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Coconut은 점진적으로 CoT 스텝을 continuous thought로 교체하는 Multi-Stage Curriculum으로 학습합니다. 특히 주목할 점은 명시적인 BFS supervision 없이도 continuous thought가 여러 추론 경로를 동시에 인코딩하는 BFS-like behavior를 보인다는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HRM은 대뇌 피질 계층 구조에서 영감받은 두 모듈 아키텍처입니다. H-module은 고차원 장기 계획을 담당하고(Participation Ratio: 89.95), L-module은 빠른 세부 계산을 처리합니다(PR: 30.22). L-module이 fixed point에 수렴하면 H-module이 한 번 업데이트하고, L-module이 리셋되는 사이클로 작동합니다.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HRM의 결과는 충격적입니다. 27M 파라미터, 1,000 샘플, pretraining 없이 ARC-AGI-1에서 40.3%를 달성했습니다. Claude 3.7 Sonnet(21.2%)과 o3-mini-high(34.5%)를 압도합니다. Sudoku-Extreme과 Maze-Hard에서는 CoT 모델들이 0%를 기록하는 반면 HRM은 95%를 달성합니다.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 Thinking은 inference 방식만 바꾸는 training-free 방법입니다. argmax로 단 하나의 토큰을 선택하는 대신, vocabulary 전체에 걸친 확률 가중합으로 concept token을 구성합니다. 오늘 당장 기존 모델에 적용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AIME 2024는 미국수학경시대회 예선 문제로 최고 난이도 추론 벤치마크입니다. Soft Thinking은 여기서 +6.45%p를 달성합니다. 흥미롭게도 generation length도 11.6~22.4% 감소합니다.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Quiet-STaR는 '모든 텍스트에는 명시되지 않은 추론 과정이 잠재한다'는 가설에서 출발합니다. Task-specific fine-tuning 없이, 자연 텍스트 corpus만으로 Mistral-7B의 GSM8K를 5.9%에서 10.9%로 끌어올렸습니다.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흐름은 서로 다른 각도에서 같은 문제를 공략합니다. Coconut과 HRM은 학습이 필요하지만 stronger guarantee를 제공합니다. Soft Thinking은 즉시 적용 가능합니다. Quiet-STaR는 pretraining 단계에서 적용해 기반 능력 자체를 끌어올립니다.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미해결 과제는 해석성입니다. 내부 latent thought를 사람이 읽을 수 없으므로 디버깅과 alignment 감사가 불가능합니다. RLHF는 surface 토큰에만 작용하므로 misaligned latent reasoning이 탐지되지 않을 위험이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살펴본 5개 논문은 Latent Reasoning의 주요 흐름을 잘 대표합니다. Survey(분류 체계), Coconut(continuous feedback), HRM(architectural recurrence), Soft Thinking(training-free superposition), Quiet-STaR(self-supervised). 질문 있으시면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960120"/>
            <a:ext cx="73152" cy="3108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77240" y="100584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Reasoning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LLM이 토큰 없이 사고하는 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651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핵심 논문 종합 리뷰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Survey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67128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67128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31336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31336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95544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95544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 Thinking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59752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59752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Quiet-STaR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89520" y="47731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A8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2026.05.08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토큰으로 생각하면 안 되나?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931920" cy="1097280"/>
          </a:xfrm>
          <a:prstGeom prst="rect">
            <a:avLst/>
          </a:prstGeom>
          <a:solidFill>
            <a:srgbClr val="1A2F52"/>
          </a:solidFill>
          <a:ln w="1905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64008" cy="109728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033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 토큰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27101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bits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 step (log2 32k vocab)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221992"/>
            <a:ext cx="3931920" cy="1097280"/>
          </a:xfrm>
          <a:prstGeom prst="rect">
            <a:avLst/>
          </a:prstGeom>
          <a:solidFill>
            <a:srgbClr val="1A2F52"/>
          </a:solidFill>
          <a:ln w="1905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221992"/>
            <a:ext cx="64008" cy="10972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2951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Hidden State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25328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40,960 bits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85800" y="298094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 step (2,560-dim FP16)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483864"/>
            <a:ext cx="3931920" cy="109728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483864"/>
            <a:ext cx="64008" cy="10972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5570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대역폭 차이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794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x2,700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85800" y="42428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&gt; discrete token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9601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대역폭 비교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37760" y="1325880"/>
            <a:ext cx="45720" cy="256032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3931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bits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0" y="1325880"/>
            <a:ext cx="1645920" cy="25603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Hidden State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40,960 bits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20640" y="24231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x2,700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CoT가 부족한가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8229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1005840" cy="10972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00200" y="10515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압축 손실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00200" y="143560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Hidden state 40,960 bits -&gt; 토큰 15 bits  |  2,700배 표현 손실 발생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221992"/>
            <a:ext cx="8229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221992"/>
            <a:ext cx="1005840" cy="10972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221992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31343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Premature Commitment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00200" y="2697480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step 단일 경로 선택  |  병렬 탐색 원칙적으로 불가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83864"/>
            <a:ext cx="8229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483864"/>
            <a:ext cx="1005840" cy="109728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483864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600200" y="357530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Fluency 토큰 낭비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00200" y="39593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"we know that", "therefore" 등 언어 연결사가 추론 예산 소비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Reasoning의 3가지 흐름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960120"/>
            <a:ext cx="2633472" cy="3794760"/>
          </a:xfrm>
          <a:prstGeom prst="rect">
            <a:avLst/>
          </a:prstGeom>
          <a:solidFill>
            <a:srgbClr val="1A2F52"/>
          </a:solidFill>
          <a:ln w="1905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960120"/>
            <a:ext cx="2633472" cy="68580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960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33272" y="960120"/>
            <a:ext cx="1947672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Vertical Recurrent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" y="17373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레이어를 깊이 방향으로 반복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" y="2487168"/>
            <a:ext cx="2359152" cy="0"/>
          </a:xfrm>
          <a:prstGeom prst="line">
            <a:avLst/>
          </a:prstGeom>
          <a:noFill/>
          <a:ln w="12700">
            <a:solidFill>
              <a:srgbClr val="2A3F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" y="2542032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논문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4632" y="2788920"/>
            <a:ext cx="2359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  HRM  Universal Transformer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82112" y="960120"/>
            <a:ext cx="2633472" cy="3794760"/>
          </a:xfrm>
          <a:prstGeom prst="rect">
            <a:avLst/>
          </a:prstGeom>
          <a:solidFill>
            <a:srgbClr val="1A2F52"/>
          </a:solidFill>
          <a:ln w="1905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82112" y="960120"/>
            <a:ext cx="2633472" cy="6858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82112" y="960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867912" y="960120"/>
            <a:ext cx="1947672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Horizontal Recurrent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19272" y="17373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방향으로 hidden state 전파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19272" y="2487168"/>
            <a:ext cx="2359152" cy="0"/>
          </a:xfrm>
          <a:prstGeom prst="line">
            <a:avLst/>
          </a:prstGeom>
          <a:noFill/>
          <a:ln w="12700">
            <a:solidFill>
              <a:srgbClr val="2A3F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9272" y="2542032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논문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9272" y="2788920"/>
            <a:ext cx="2359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Mamba-2  TTT  Titans  RWKV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16752" y="960120"/>
            <a:ext cx="2633472" cy="379476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16752" y="960120"/>
            <a:ext cx="2633472" cy="6858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16752" y="960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702552" y="960120"/>
            <a:ext cx="1947672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Diffusion-based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53912" y="17373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공간에서 확산으로 추론 경로 탐색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53912" y="2487168"/>
            <a:ext cx="2359152" cy="0"/>
          </a:xfrm>
          <a:prstGeom prst="line">
            <a:avLst/>
          </a:prstGeom>
          <a:noFill/>
          <a:ln w="12700">
            <a:solidFill>
              <a:srgbClr val="2A3F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53912" y="2542032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논문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153912" y="2788920"/>
            <a:ext cx="2359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DiffuLLaMA  Dream  D3PM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arXiv:2507.06203 — A Survey on Latent Reasoning (Zhu et al., 33인 공저, 2025)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Coconut: Hidden State가 곧 생각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840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3840480" cy="2926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LLM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h_t -&gt; vocab proj -&gt; token -&gt; embed -&gt; h_{t+1}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7190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40,960 bits -&gt; 15 bits 병목 발생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084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 -&gt; re-encode = 정보 손실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8404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834640"/>
            <a:ext cx="3840480" cy="2926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834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 (COntinuous Chain Of THought)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32186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h_t -&gt; (직접) -&gt; e_{t+1}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360273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디코딩 단계 완전 제거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39684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N번 반복 후 자연어로 최종 답변 출력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0" y="960120"/>
            <a:ext cx="4114800" cy="3611880"/>
          </a:xfrm>
          <a:prstGeom prst="rect">
            <a:avLst/>
          </a:prstGeom>
          <a:solidFill>
            <a:srgbClr val="0F1E3C"/>
          </a:solidFill>
          <a:ln w="1905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9160" y="10789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아이디어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54880" y="14630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레이어 hidden state h_t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17373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다음 입력 임베딩 e_{t+1}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2286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Vocab projection 없음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25603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Detokenize 없음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2834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Re-embed 없음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0" y="3383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정보 손실 ZERO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arXiv:2412.06769 — Coconut (Meta FAIR + UCSD, COLM 2025)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Coconut: Multi-Stage Curriculum + 결과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CoT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3172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1개 -&gt; Latent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K개 -&gt; Latent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796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766560" y="960120"/>
            <a:ext cx="1874520" cy="822960"/>
          </a:xfrm>
          <a:prstGeom prst="rect">
            <a:avLst/>
          </a:prstGeom>
          <a:solidFill>
            <a:srgbClr val="F97316"/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K+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Latent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164592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Task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 CoT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Standard CoT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Coconut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GSM8K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~70%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~85%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~89%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ProntoQA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~45%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~72%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~78%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ProsQA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~55%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~68%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~74%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3703320"/>
            <a:ext cx="8229600" cy="82296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BFS Emergent Behavior: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명시적 supervision 없이 continuous thought가 여러 경로를 동시 인코딩 -&gt; 병렬 탐색 자발적 발현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Coconut: GPT-2 base / GSM8K -8.8%p / 상용 모델 격차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Base: GPT-2 (~124M)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3172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GSM8K c=2, 3 stage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ProntoQA/ProsQA c=1, 6 stage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796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766560" y="960120"/>
            <a:ext cx="1874520" cy="822960"/>
          </a:xfrm>
          <a:prstGeom prst="rect">
            <a:avLst/>
          </a:prstGeom>
          <a:solidFill>
            <a:srgbClr val="F97316"/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&lt;bot&gt;/&lt;eot&gt; special token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164592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GSM8K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Coconut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GPT-2 (~124M)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34.1%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CoT 42.9%보다 -8.8%p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CODI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LLaMA-3.2-1B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55.6%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Coconut의 GSM8K 약점 해결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GPT-4 + CoT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?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92%+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상용 모델과 큰 격차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3703320"/>
            <a:ext cx="8229600" cy="82296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thought 구간엔 loss 없음 → BFS-like behavior가 emergent. 다만 70B+ scale 검증 없음 (분야 최대 미해결 과제)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HRM: 뇌를 닮은 두 시간 스케일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931920" cy="2011680"/>
          </a:xfrm>
          <a:prstGeom prst="rect">
            <a:avLst/>
          </a:prstGeom>
          <a:solidFill>
            <a:srgbClr val="0F1E3C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3931920" cy="3657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H-module  (High-Level)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4173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역할: 느린 추상 plan 생성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7647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업데이트: T 타임스텝마다 1회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1122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Participation Ratio: 89.95 (고차원)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4597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뇌의 Prefrontal Cortex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3931920" cy="1828800"/>
          </a:xfrm>
          <a:prstGeom prst="rect">
            <a:avLst/>
          </a:prstGeom>
          <a:solidFill>
            <a:srgbClr val="0F1E3C"/>
          </a:solidFill>
          <a:ln w="2540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108960"/>
            <a:ext cx="3931920" cy="36576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108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L-module  (Low-Level)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66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역할: 빠른 세부 계산 처리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8862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업데이트: 매 타임스텝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206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Participation Ratio: 30.22 (저차원)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5262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뇌의 Sensory-Motor Cortex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96012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0060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Recurrent 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00600" y="1371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L-module -&gt; fixed point 수렴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16824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H-module 한 번 업데이트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19933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L-module 리셋 -&gt; 다음 사이클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00600" y="23042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Single forward pass -&gt; 최종 답변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292608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00600" y="29718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특징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333756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1-step gradient (IFT)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O(1)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3675888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Deep Supervision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안정화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00600" y="4014216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(Q-learning)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halting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00600" y="4352544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데이터: 1,000 샘플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pretraining 없음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arXiv:2506.21734 — HRM (Sapient Intelligence + Tsinghua University, 2025)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27M 파라미터로 Claude 3.7 격파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05840"/>
            <a:ext cx="2560320" cy="2194560"/>
          </a:xfrm>
          <a:prstGeom prst="rect">
            <a:avLst/>
          </a:prstGeom>
          <a:solidFill>
            <a:srgbClr val="1A2F52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515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40.3%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457200" y="21762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ARC-AGI-1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5237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27M params  |  1,000 samples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46120" y="115214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3.7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097280"/>
            <a:ext cx="2498547" cy="502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80859" y="115214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21.2%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46120" y="197510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o3-mini-high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09160" y="1920240"/>
            <a:ext cx="4066032" cy="50292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48344" y="197510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34.5%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46120" y="279806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 (27M)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2743200"/>
            <a:ext cx="4749597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31909" y="279806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40.3%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246120"/>
            <a:ext cx="8229600" cy="658368"/>
          </a:xfrm>
          <a:prstGeom prst="rect">
            <a:avLst/>
          </a:prstGeom>
          <a:solidFill>
            <a:srgbClr val="1A2F52"/>
          </a:solidFill>
          <a:ln w="12700">
            <a:solidFill>
              <a:srgbClr val="2A3F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741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Sudoku-Extreme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0" y="337413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HRM: </a:t>
            </a:r>
            <a:pPr indent="0" marL="0">
              <a:buNone/>
            </a:pPr>
            <a:r>
              <a:rPr lang="en-US" sz="13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~95%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 모델: </a:t>
            </a:r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8229600" cy="658368"/>
          </a:xfrm>
          <a:prstGeom prst="rect">
            <a:avLst/>
          </a:prstGeom>
          <a:solidFill>
            <a:srgbClr val="1A2F52"/>
          </a:solidFill>
          <a:ln w="12700">
            <a:solidFill>
              <a:srgbClr val="2A3F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1513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Maze-Hard 30x30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0" y="415137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HRM: </a:t>
            </a:r>
            <a:pPr indent="0" marL="0">
              <a:buNone/>
            </a:pPr>
            <a:r>
              <a:rPr lang="en-US" sz="13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~95%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 모델: </a:t>
            </a:r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0%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 Thinking: Training-free Latent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8404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3840480" cy="34747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추론 (argmax)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next_token = argmax(logits)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737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next_embed = E[next_token]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2402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단점: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 하나의 토큰 선택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경로 모두 폐기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960120"/>
            <a:ext cx="406908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960120"/>
            <a:ext cx="4069080" cy="347472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96012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 Thinking (weighted sum)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141732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probs = softmax(logits)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173736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e_next = probs @ E  # weighted sum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224028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vocab 전체 확률 가중합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경로가 superposition으로 살아있음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solidFill>
            <a:srgbClr val="0F1E3C"/>
          </a:solidFill>
          <a:ln w="19050">
            <a:solidFill>
              <a:srgbClr val="4FA3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e_next  =  </a:t>
            </a:r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p[k] * e(k)     (k = 1 ... |V|)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arXiv:2505.15778 — Soft Thinking (UCSB/UCSC/UCLA/Purdue/LMSYS/Microsoft, NeurIPS 2025)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AIME 2024에서 +6.45%p  (QwQ-32B 기준)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286000" cy="2103120"/>
          </a:xfrm>
          <a:prstGeom prst="rect">
            <a:avLst/>
          </a:prstGeom>
          <a:solidFill>
            <a:srgbClr val="1A2F52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33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AIME 2024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3502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+6.45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%p 향상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76.88% -&gt; 83.33%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987552"/>
          <a:ext cx="5715000" cy="310896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1645920"/>
                <a:gridCol w="868680"/>
              </a:tblGrid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벤치마크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Standard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Soft Thinking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향상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MATH-500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97.66%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98.00%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+0.34%p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AIME 2024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76.88%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83.33%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+6.45%p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GPQA-Diamond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64.17%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67.17%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+3.00%p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HumanEval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97.63%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98.17%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+0.54%p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GSM8K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96.67%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96.81%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+0.14%p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160520"/>
            <a:ext cx="8229600" cy="68580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4160520"/>
            <a:ext cx="7863840" cy="6858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Generation length 11.6~22.4% 감소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 정확도 UP  효율 UP  동시 달성  |  3개 모델에서 일관된 개선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Quiet-STaR: 모든 토큰에서 조용히 생각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65176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Think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5488" y="1572768"/>
            <a:ext cx="24323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&lt;startofthought&gt; 마커 발사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rationale 샘플 (출력 안 됨)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토큰 위치에서 병렬로 수행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65176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Talk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310128" y="1572768"/>
            <a:ext cx="24323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rationale 있는 next-token 분포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rationale 없는 분포를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mixing head로 조합 -&gt; p_final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960120"/>
            <a:ext cx="265176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Learn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144768" y="1572768"/>
            <a:ext cx="24323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 토큰 likelihood 개선 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REINFORCE로 reward 부여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더 좋은 rationale 자동 학습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206240"/>
            <a:ext cx="8321040" cy="731520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206240"/>
            <a:ext cx="8046720" cy="7315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Mistral-7B  (zero-shot, continued pretrain):  </a:t>
            </a:r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GSM8K  5.9% -&gt; 10.9%  </a:t>
            </a:r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 CommonsenseQA  36.3% -&gt; 47.2%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arXiv:2403.09629 — Quiet-STaR (ICLR 2025)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RecursiveMAS: Multi-Agent를 Latent로 묶기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840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3840480" cy="2926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Multi-Agent System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A -&gt; 텍스트 -&gt; Agent B -&gt; 텍스트 -&gt; ...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7190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경계마다 vocab projection 병목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084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수 x Round 수 만큼 토큰 손실 누적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8404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834640"/>
            <a:ext cx="3840480" cy="2926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834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RecursiveMAS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32186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A -&gt; (RecursiveLink) -&gt; Agent B -&gt; ...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360273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round만 텍스트로 디코딩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39684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통신은 모두 latent space에서 협업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0" y="960120"/>
            <a:ext cx="4114800" cy="3611880"/>
          </a:xfrm>
          <a:prstGeom prst="rect">
            <a:avLst/>
          </a:prstGeom>
          <a:solidFill>
            <a:srgbClr val="0F1E3C"/>
          </a:solidFill>
          <a:ln w="1905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9160" y="10789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RecursiveLink (lightweight)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54880" y="14630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Inner: R(h) = h + W2 sigma(W1 h)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17373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Outer: R(h) = W3 h + W2 sigma(W1 h)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2286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 LLM은 freeze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25603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RecursiveLink만 학습 (~13M, 0.31%)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2834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협업 패턴 모두 지원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0" y="3383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1.2-2.4x 가속 + 토큰 34-75% 감소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arXiv:2604.25917 — Recursive Multi-Agent Systems (UIUC + Stanford + MIT + NVIDIA, 2026-04)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RecursiveMAS: 9개 벤치마크 결과 + 비용 효율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Sequential / Plan-Critic-Solver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3172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Mixture / 도메인 전문가 + Aggregator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Distillation / Expert ↔ Learner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796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766560" y="960120"/>
            <a:ext cx="1874520" cy="822960"/>
          </a:xfrm>
          <a:prstGeom prst="rect">
            <a:avLst/>
          </a:prstGeom>
          <a:solidFill>
            <a:srgbClr val="F97316"/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Deliberation / Reflector + Tool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164592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벤치마크/설정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TextMAS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RecursiveMAS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MATH500 Scaled (acc)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85.8%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88.0%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+2.2%p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MATH500 Scaled (time)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6010s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2320s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2.6x ↓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MATH500 Scaled (tokens)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4100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893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78% ↓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3703320"/>
            <a:ext cx="8229600" cy="82296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+8.3% 정확도 / 1.2-2.4x 추론 가속 / 토큰 34.6-75.6% 감소 / 비용 $4.27 (vs LoRA $6.64, Full-SFT $9.67)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Latent를 해석하려는 시도 (Probing·Causal·Reward)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840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3840480" cy="2926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Dynamics (2602.08783, 2026-02) — 긍정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Causal probing + mechanistic tracing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7190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Coconut/CODI 직접 분석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084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 필수성·정보 전파·다중 가설 확증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8404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834640"/>
            <a:ext cx="3840480" cy="2926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834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Depth-Recurrent Decoding (2507.02199) — 회의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32186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Logit lens + Coda lens 비교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360273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Huginn-3.5B에서 interpretable CoT 증거 부족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39684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Probe disagreement 큼, depth 효과 marginal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0" y="960120"/>
            <a:ext cx="4114800" cy="3611880"/>
          </a:xfrm>
          <a:prstGeom prst="rect">
            <a:avLst/>
          </a:prstGeom>
          <a:solidFill>
            <a:srgbClr val="0F1E3C"/>
          </a:solidFill>
          <a:ln w="1905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9160" y="10789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LTO (2509.26314, ICLR 2026) — 활용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54880" y="14630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thought에 reward signal 자연 인코딩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17373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classifier로 정답률 예측 가능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2286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Unlocking Black Box (ACL ARR 2026)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25603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Structural+Causal+Geometric 3종 probe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2834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latent vector가 critical causal hub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0" y="3383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Training-free intervention으로 향상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Coconut의 한계 5번(해석성 부재)이 부분적으로 깨지는 중. Safety 관점에서는 양날의 검 (RLHF 사각지대)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Reasoning의 5가지 흐름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686800" cy="2926080"/>
        </p:xfrm>
        <a:graphic>
          <a:graphicData uri="http://schemas.openxmlformats.org/drawingml/2006/table">
            <a:tbl>
              <a:tblPr/>
              <a:tblGrid>
                <a:gridCol w="2468880"/>
                <a:gridCol w="1554480"/>
                <a:gridCol w="1828800"/>
                <a:gridCol w="1645920"/>
                <a:gridCol w="137160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논문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메커니즘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FA3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Continuous Feedback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Coconut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h_t -&gt; e_{t+1}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BFS emergent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BC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필요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9731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Concept Superposition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Soft Thinking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SUM p[k]*e(k)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Training-free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Architectural Recurrence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HRM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H/L 모듈 계층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소형 모델 가능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BC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필요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Self-supervised Thought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Quiet-STaR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REINFORCE reward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Pretrain 단계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BC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Pretrain 필요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Multi-Agent Latent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RecursiveMAS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RecursiveLink (Inner/Outer)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+8.3% / 토큰 -75%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BC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System-level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977640"/>
            <a:ext cx="8229600" cy="86868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3977640"/>
            <a:ext cx="7863840" cy="8686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동인: CoT 비효율 극복  |  Hidden state 대역폭 (~2,700x)  |  Test-time compute의 새 차원 (depth + agents)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5가지 열린 질문 (+ RecursiveMAS의 system-level 차원)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960120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960120"/>
            <a:ext cx="73152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1005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17957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해석성 (Interpretability)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54533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thought는 사람이 읽을 수 없음 -&gt; 디버깅 및 alignment 감사 불가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960120"/>
            <a:ext cx="73152" cy="11704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00600" y="1005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00600" y="117957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불안정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154533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Recurrent 구조의 gradient 폭발·소실 -&gt; 일반적 해법 미확립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57200" y="2286000"/>
            <a:ext cx="73152" cy="1170432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23317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250545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추론 확장성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287121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 step 확장 시 신호 감쇠 -&gt; 초기 latent 정보 희석 문제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286000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3152" cy="117043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800600" y="23317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250545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벤치마크 부족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00600" y="287121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벤치마크는 latent의 고유 강점 미측정 + multi-agent latent 협업 평가 부재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11880"/>
            <a:ext cx="82296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57200" y="3611880"/>
            <a:ext cx="73152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94360" y="36576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831336"/>
            <a:ext cx="8001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Safety &amp; Alignment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4197096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Internal thought = RLHF 사각지대 -&gt; latent multi-agent collusion 탐지 불가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011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자료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58952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60120"/>
            <a:ext cx="64008" cy="105156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332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Survey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arXiv:2507.06203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6184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Zhu et al., 33인 공저, UCSC·Fudan·M-A-P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960120"/>
            <a:ext cx="64008" cy="10515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0332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1325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arXiv:2412.06769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16184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Hao et al., Meta FAIR + UCSD (COLM 2025)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167128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167128"/>
            <a:ext cx="64008" cy="1051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240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arXiv:2506.21734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2825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Wang et al., Sapient Intelligence + Tsinghua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2167128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167128"/>
            <a:ext cx="64008" cy="10515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240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 Thinking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46320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arXiv:2505.15778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825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UCSB/UCSC/UCLA/Purdue/LMSYS/Microsoft (NeurIPS 2025)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374136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374136"/>
            <a:ext cx="64008" cy="105156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4472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Quiet-STaR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37398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arXiv:2403.09629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40325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Zelikman et al. (ICLR 2025)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3374136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A0BC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63440" y="3374136"/>
            <a:ext cx="64008" cy="1051560"/>
          </a:xfrm>
          <a:prstGeom prst="rect">
            <a:avLst/>
          </a:prstGeom>
          <a:solidFill>
            <a:srgbClr val="A0BCD8"/>
          </a:solidFill>
          <a:ln w="12700">
            <a:solidFill>
              <a:srgbClr val="A0BC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4472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RecursiveMAS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46320" y="37398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arXiv:2604.25917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40325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Yang et al., UIUC + Stanford + MIT + NVIDIA (2026-04)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4617720"/>
            <a:ext cx="8229600" cy="3840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177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신규 연구 종합 — 5개월에 쏟아진 12편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840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3840480" cy="2926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(2편)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Capabilities &amp; Limits (2602.01148)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7190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Exploration-Execution trade-off 정리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084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 Compression (2601.21576): ALiCoT 54.4x↑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8404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834640"/>
            <a:ext cx="3840480" cy="2926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834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학습 방법 (7편)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32186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Abstract CoT 11.6x↓, RLTT +14.4% MATH-500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360273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PLaT (planning), SIM-CoT (auxiliary decoder)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39684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Inference-Time Rethinking: 0.2B &gt; 3B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0" y="960120"/>
            <a:ext cx="4114800" cy="3611880"/>
          </a:xfrm>
          <a:prstGeom prst="rect">
            <a:avLst/>
          </a:prstGeom>
          <a:solidFill>
            <a:srgbClr val="0F1E3C"/>
          </a:solidFill>
          <a:ln w="1905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9160" y="10789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Looped 아키텍처 (1편)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54880" y="14630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Ouro 1.4B = 4B / 2.6B = 8B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17373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7.7T 토큰, HF 공개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2286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확장 (2편) + 입장/벤치마크 (2편)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25603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LaRA-VLA 90% latency↓ (ICML 2026)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2834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 Latents Unsilencing (MLLM SOTA)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0" y="3383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LongCoT: GPT 5.2 9.8% / Gemini 3 Pro 6.1%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1-5월에 분야가 단숨에 성숙기 진입. 이론 + 새 학습 + 도메인 확장 + 평가 표준화가 동시에 일어남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핵심 신규 연구 정확한 수치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3172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방법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Looped + 도메인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796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766560" y="960120"/>
            <a:ext cx="1874520" cy="822960"/>
          </a:xfrm>
          <a:prstGeom prst="rect">
            <a:avLst/>
          </a:prstGeom>
          <a:solidFill>
            <a:srgbClr val="F97316"/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164592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카테고리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수치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Abstract CoT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방법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2026-04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11.6x 토큰 감소, 성능 유지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RLTT (on Ouro)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방법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MATH-500 +14.4%, AIME24 +16.6%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LongCoT 벤치마크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2026-04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GPT 5.2: 9.8% / Gemini 3 Pro: 6.1%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3703320"/>
            <a:ext cx="8229600" cy="82296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Coconut(GPT-2, 2024-12)에서 출발한 분야가 2026 들어 이론적 한계 명료화 + 70B+ scale 진입 + production 적용 시그널까지 보이는 중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Latent Reasoning</dc:title>
  <dc:subject>PptxGenJS Presentation</dc:subject>
  <dc:creator>Research Producer</dc:creator>
  <cp:lastModifiedBy>Research Producer</cp:lastModifiedBy>
  <cp:revision>1</cp:revision>
  <dcterms:created xsi:type="dcterms:W3CDTF">2026-05-08T00:11:23Z</dcterms:created>
  <dcterms:modified xsi:type="dcterms:W3CDTF">2026-05-08T00:11:23Z</dcterms:modified>
</cp:coreProperties>
</file>