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슬라이드입니다. IntellAgent는 Plurai가 2025년 1월 공개한 대화형 AI 에이전트 평가용 오픈소스 멀티에이전트 프레임워크로, 정책 그래프 모델링·이벤트 자동 생성·대화 시뮬레이션·비평 진단을 결합합니다. 오늘 발표에서는 이 프레임워크의 문제의식, 아키텍처, 실험 결과, 실무 활용법을 순서대로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다룰 6개 주제입니다. 문제의식에서 시작해 IntellAgent의 개요, 4단계 아키텍처, 기존 방법과의 차별점, 실험 결과, 마지막으로 실무 활용과 한계까지 순서대로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섹션입니다. 대화형 에이전트 평가에서 기존 방법론이 가진 근본적 한계를 짚어보겠습니다.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τ-bench는 수작업 큐레이션에 의존해 항공 50개, 리테일 115개 샘플로 규모가 고정되어 있습니다. RAGAS는 RAG 파이프라인의 개별 컴포넌트 평가에 최적화되어 멀티턴 대화의 복잡성을 다루지 못하고, ALMITA는 고객지원 도메인에 특화되어 다른 도메인으로의 일반화가 검증되지 않았습니다. 세 방법 모두 공통적으로 이진 성공·실패 판정만 제공해 구체적으로 어떤 정책에서 실패했는지 세밀하게 진단하지 못한다는 한계를 가집니다.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섹션입니다. IntellAgent가 정확히 무엇이고 어떤 요소들을 결합했는지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IntellAgent는 크게 네 가지 요소를 결합합니다. 정책 그래프로 정책 간 관계를 구조화하고, 난이도를 조절하며 시나리오를 자동 생성하고, 시뮬레이션된 사용자 에이전트가 실제 챗봇과 동적으로 대화한 뒤, 비평 에이전트가 정책별·난이도별로 세분화된 진단을 제공합니다. 저장소는 Apache 2.0 라이선스로 공개되어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섹션입니다. IntellAgent의 4단계 파이프라인을 하나씩 상세히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파이프라인은 시스템 프롬프트를 입력으로 받아 정책 그래프를 구축하고, 그 그래프 위에서 난이도를 조절하며 이벤트를 생성한 뒤, 사용자 에이전트가 대상 챗봇과 대화 시뮬레이션을 진행하고, 마지막으로 비평 에이전트가 세분화된 진단을 내려 최종 리포트를 만드는 순서로 진행됩니다. 데이터베이스 스키마가 있는 복잡한 도메인에서는 심볼 표현을 실제 DB 행으로 인스턴스화하는 과정이 이벤트 생성 단계에 추가됩니다.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 그래프 구축은 LLM이 시스템 프롬프트를 흐름 단위로 분해하는 것에서 시작합니다. 각 흐름 안에서 개별 정책을 추출하고 난이도 가중치를 부여한 뒤, 정책 쌍마다 같은 대화에서 함께 등장할 가능성을 1에서 10 척도로 점수화해 엣지 가중치로 저장합니다. 오른쪽 그래프는 항공사 도메인의 정책 예시로, 보험 추가 금지·환불 규정·좌석등급 동일 규정·변경 불가 규정·사용자 동의 규정이 서로 얽혀 있는 모습을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 조절은 정책 그래프 위에서 가중 랜덤워크로 이루어집니다. 목표 복잡도 구간에서 값을 하나 샘플링한 뒤, 임의의 시작 정책부터 엣지 가중치에 비례한 확률로 인접 정책을 선택해나가며 누적 난이도가 목표값을 넘어설 때까지 반복합니다. 이 메커니즘 덕분에 난이도 2에서 11까지, 도메인당 최대 1000개 이상의 시나리오를 완전 자동으로 생성할 수 있었고, 이는 τ-bench의 50개·115개와 대비되는 규모입니다.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대화 시뮬레이션 단계에서는 사용자 에이전트가 이벤트에 담긴 정책·시나리오 정보를 받아 대상 챗봇과 실제로 대화를 시작합니다. 사용자 에이전트는 고정된 대사가 아니라 정책 목표를 바탕으로 매 턴마다 동적으로 발화를 생성합니다. 목표 달성이나 종료 조건에 도달하면 전체 대화 기록과 도구 사용 로그가 Critique Node로 전달됩니다. 내부적으로는 LangGraph 기반 상태 머신이 메시지 히스토리와 사용자의 내부 사고 과정, 비평 피드백을 함께 추적합니다.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비평 단계는 네 가지를 순서대로 판정합니다. 먼저 대화 종료 사유가 타당한지 검증하고, 실제로 대화에서 테스트된 정책이 무엇인지 식별한 뒤, 그중 챗봇이 지키지 않은 정책을 짚어내고, 마지막으로 정책별·난이도별 성능 리포트를 생성합니다. 이 세분화된 진단이 IntellAgent를 단순 pass/fail 벤치마크와 구별짓는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섹션입니다. IntellAgent와 기존 평가 방법들을 정면으로 비교해보겠습니다.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핵심 축에서 IntellAgent를 기존 방법과 비교하면 차이가 뚜렷합니다. 시나리오 생성은 완전 자동화되어 있고, 규모는 도메인당 1000개 이상으로 확장 가능하며, 진단은 정책별·난이도별로 세분화되어 있고, 난이도 자체를 그래프 랜덤워크로 연속적으로 조절할 수 있습니다. 특히 τ-bench는 IntellAgent가 완전히 대체한 것이 아니라, 같은 도메인 환경 위에서 훨씬 많은 시나리오를 자동 생성하는 방법을 제시했다는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섹션입니다. 논문이 보고한 실험 결과와 핵심 발견들을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먼저 검증한 것은 완전 합성 데이터만으로 만든 벤치마크가 실제 신호를 담고 있는가였습니다. IntellAgent 점수와 τ-bench 점수 사이의 피어슨 상관계수는 항공 도메인 0.98, 리테일 도메인 0.92로 나타났습니다. 이는 정책 그래프 기반 샘플링이 실제 모델 성능 차이를 왜곡 없이 재현한다는 강력한 근거입니다.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개 모델의 두 벤치마크 점수입니다. 절대 점수 자체는 채점 방식이 달라 직접 비교하기보다, 모델 간 상대적 순위를 보는 것이 핵심입니다. 두 벤치마크 모두에서 Claude-3.5-Sonnet과 GPT-4o가 상위권, Gemini-1.5-Flash가 하위권으로 나타나는 순위 일관성이 앞서 본 상관관계 수치로 뒷받침됩니다.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가지 핵심 발견을 소개합니다. 첫째, 모든 모델이 난이도 상승에 따라 성능이 저하되지만 그 패턴은 모델마다 다릅니다. 예를 들어 Gemini-1.5-Pro는 항공 도메인에서 난이도 10 수준까지는 GPT-4o-mini보다 우위를 보이다가 고난이도 구간에서 수렴하는 양상을 보였습니다. 둘째, 테스트한 모든 모델이 공통적으로 사용자 동의를 구하는 정책에서 취약했습니다. 이는 τ-bench의 이진 판정으로는 드러나지 않았던, 정책 단위 세분화 진단의 실무적 가치를 보여주는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섹션입니다. IntellAgent를 실제로 어떻게 사용하는지, 그리고 어떤 한계가 있는지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설치는 pip install 한 줄로 간단합니다. API 키를 config에 설정한 뒤 도메인별 config 파일을 지정해 실행하면 되고, 결과는 Streamlit 대시보드로 시각화할 수 있습니다. 주요 config 옵션으로는 프레임워크 자체가 쓰는 LLM과 평가 대상 챗봇의 LLM을 분리 설정할 수 있는 llm_intellagent와 llm_chat, 생성할 이벤트 개수, 비용 상한, 병렬 워커 수 등이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한계를 짚고 넘어가야 합니다. 정책 그래프의 가중치와 난이도 산정이 전적으로 LLM 판단에 의존하며 실제 프로덕션 트래픽 분포로 검증되지 않았고, 전 단계가 LLM 호출로 이루어지다 보니 대규모 벤치마크 생성 시 비용 부담이 있으며, 비평 에이전트 자체도 LLM이기 때문에 LLM으로 LLM을 평가하는 구조적 한계가 여전히 남아 있습니다. 논문 역시 결론부에서 실제 사용자 상호작용 데이터를 통합하는 것을 향후 과제로 언급하며 이 한계를 간접적으로 인정합니다.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 발표 이후 Plurai는 IntellAgent의 연구 성과를 상용 플랫폼으로 확장했습니다. 현재 회사는 스스로를 AI 에이전트 신뢰 플랫폼으로 소개하며 시뮬레이션, 평가, 가드레일을 결합한 상용 제품을 제공합니다. 회사가 제시하는 도입 성과 지표는 엣지케이스 커버리지 15배 확대, 프로덕션 준비 기간 7배 단축, 정책위반 및 할루시네이션 100배 감소인데, 이는 회사 자체 보고 수치이므로 참고용으로만 활용해야 합니다. 로드맵으로는 주요 에이전트 프레임워크와의 통합, 기존 데이터베이스 기반 이벤트 생성, 사용자 에이전트에 성격 차원을 추가하는 방향이 제시되어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IntellAgent는 정책이 서로 얽혀 있고 조합의 난이도가 연속적으로 변한다는 현실을 정책 그래프로 명시적으로 모델링하고, 난이도를 조절하며 자동으로 시나리오를 생성하며, 세분화된 진단으로 실패 지점을 정확히 짚어냅니다. τ-bench와의 강한 상관관계는 이 접근이 방향성 측면에서 신뢰할 만한 신호를 제공한다는 근거입니다. 다만 정책 그래프 가중치와 비평 판정이 모두 LLM에 의존하는 만큼, 평가자를 누가 평가하는가라는 질문은 여전히 열려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발표를 마치겠습니다. 참고문헌은 arXiv 논문, GitHub 저장소, 공식 문서, Plurai 웹사이트입니다.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C"/>
        </a:solidFill>
      </p:bgPr>
    </p:bg>
    <p:spTree>
      <p:nvGrpSpPr>
        <p:cNvPr id="1" name=""/>
        <p:cNvGrpSpPr/>
        <p:nvPr/>
      </p:nvGrpSpPr>
      <p:grpSpPr>
        <a:xfrm>
          <a:off x="0" y="0"/>
          <a:ext cx="0" cy="0"/>
          <a:chOff x="0" y="0"/>
          <a:chExt cx="0" cy="0"/>
        </a:xfrm>
      </p:grpSpPr>
      <p:sp>
        <p:nvSpPr>
          <p:cNvPr id="2" name="Shape 0"/>
          <p:cNvSpPr/>
          <p:nvPr/>
        </p:nvSpPr>
        <p:spPr>
          <a:xfrm>
            <a:off x="9692640" y="914400"/>
            <a:ext cx="128016" cy="128016"/>
          </a:xfrm>
          <a:prstGeom prst="ellipse">
            <a:avLst/>
          </a:prstGeom>
          <a:solidFill>
            <a:srgbClr val="F5A623"/>
          </a:solidFill>
          <a:ln/>
        </p:spPr>
      </p:sp>
      <p:sp>
        <p:nvSpPr>
          <p:cNvPr id="3" name="Shape 1"/>
          <p:cNvSpPr/>
          <p:nvPr/>
        </p:nvSpPr>
        <p:spPr>
          <a:xfrm>
            <a:off x="10241280" y="1783080"/>
            <a:ext cx="128016" cy="128016"/>
          </a:xfrm>
          <a:prstGeom prst="ellipse">
            <a:avLst/>
          </a:prstGeom>
          <a:solidFill>
            <a:srgbClr val="4F86F7"/>
          </a:solidFill>
          <a:ln/>
        </p:spPr>
      </p:sp>
      <p:sp>
        <p:nvSpPr>
          <p:cNvPr id="4" name="Shape 2"/>
          <p:cNvSpPr/>
          <p:nvPr/>
        </p:nvSpPr>
        <p:spPr>
          <a:xfrm>
            <a:off x="9692640" y="2651760"/>
            <a:ext cx="128016" cy="128016"/>
          </a:xfrm>
          <a:prstGeom prst="ellipse">
            <a:avLst/>
          </a:prstGeom>
          <a:solidFill>
            <a:srgbClr val="F5A623"/>
          </a:solidFill>
          <a:ln/>
        </p:spPr>
      </p:sp>
      <p:sp>
        <p:nvSpPr>
          <p:cNvPr id="5" name="Shape 3"/>
          <p:cNvSpPr/>
          <p:nvPr/>
        </p:nvSpPr>
        <p:spPr>
          <a:xfrm>
            <a:off x="10241280" y="3520440"/>
            <a:ext cx="128016" cy="128016"/>
          </a:xfrm>
          <a:prstGeom prst="ellipse">
            <a:avLst/>
          </a:prstGeom>
          <a:solidFill>
            <a:srgbClr val="4F86F7"/>
          </a:solidFill>
          <a:ln/>
        </p:spPr>
      </p:sp>
      <p:sp>
        <p:nvSpPr>
          <p:cNvPr id="6" name="Shape 4"/>
          <p:cNvSpPr/>
          <p:nvPr/>
        </p:nvSpPr>
        <p:spPr>
          <a:xfrm>
            <a:off x="9692640" y="4389120"/>
            <a:ext cx="128016" cy="128016"/>
          </a:xfrm>
          <a:prstGeom prst="ellipse">
            <a:avLst/>
          </a:prstGeom>
          <a:solidFill>
            <a:srgbClr val="F5A623"/>
          </a:solidFill>
          <a:ln/>
        </p:spPr>
      </p:sp>
      <p:sp>
        <p:nvSpPr>
          <p:cNvPr id="7" name="Shape 5"/>
          <p:cNvSpPr/>
          <p:nvPr/>
        </p:nvSpPr>
        <p:spPr>
          <a:xfrm>
            <a:off x="10241280" y="5257800"/>
            <a:ext cx="128016" cy="128016"/>
          </a:xfrm>
          <a:prstGeom prst="ellipse">
            <a:avLst/>
          </a:prstGeom>
          <a:solidFill>
            <a:srgbClr val="4F86F7"/>
          </a:solidFill>
          <a:ln/>
        </p:spPr>
      </p:sp>
      <p:sp>
        <p:nvSpPr>
          <p:cNvPr id="8" name="Shape 6"/>
          <p:cNvSpPr/>
          <p:nvPr/>
        </p:nvSpPr>
        <p:spPr>
          <a:xfrm>
            <a:off x="9829800" y="978408"/>
            <a:ext cx="502920" cy="804672"/>
          </a:xfrm>
          <a:prstGeom prst="line">
            <a:avLst/>
          </a:prstGeom>
          <a:noFill/>
          <a:ln w="19050">
            <a:solidFill>
              <a:srgbClr val="3A4A80"/>
            </a:solidFill>
            <a:prstDash val="solid"/>
          </a:ln>
        </p:spPr>
      </p:sp>
      <p:sp>
        <p:nvSpPr>
          <p:cNvPr id="9" name="Shape 7"/>
          <p:cNvSpPr/>
          <p:nvPr/>
        </p:nvSpPr>
        <p:spPr>
          <a:xfrm>
            <a:off x="10332720" y="1783080"/>
            <a:ext cx="-502920" cy="804672"/>
          </a:xfrm>
          <a:prstGeom prst="line">
            <a:avLst/>
          </a:prstGeom>
          <a:noFill/>
          <a:ln w="19050">
            <a:solidFill>
              <a:srgbClr val="3A4A80"/>
            </a:solidFill>
            <a:prstDash val="solid"/>
          </a:ln>
        </p:spPr>
      </p:sp>
      <p:sp>
        <p:nvSpPr>
          <p:cNvPr id="10" name="Shape 8"/>
          <p:cNvSpPr/>
          <p:nvPr/>
        </p:nvSpPr>
        <p:spPr>
          <a:xfrm>
            <a:off x="9829800" y="2651760"/>
            <a:ext cx="502920" cy="777240"/>
          </a:xfrm>
          <a:prstGeom prst="line">
            <a:avLst/>
          </a:prstGeom>
          <a:noFill/>
          <a:ln w="19050">
            <a:solidFill>
              <a:srgbClr val="3A4A80"/>
            </a:solidFill>
            <a:prstDash val="solid"/>
          </a:ln>
        </p:spPr>
      </p:sp>
      <p:sp>
        <p:nvSpPr>
          <p:cNvPr id="11" name="Shape 9"/>
          <p:cNvSpPr/>
          <p:nvPr/>
        </p:nvSpPr>
        <p:spPr>
          <a:xfrm>
            <a:off x="10332720" y="3429000"/>
            <a:ext cx="-502920" cy="777240"/>
          </a:xfrm>
          <a:prstGeom prst="line">
            <a:avLst/>
          </a:prstGeom>
          <a:noFill/>
          <a:ln w="19050">
            <a:solidFill>
              <a:srgbClr val="3A4A80"/>
            </a:solidFill>
            <a:prstDash val="solid"/>
          </a:ln>
        </p:spPr>
      </p:sp>
      <p:sp>
        <p:nvSpPr>
          <p:cNvPr id="12" name="Shape 10"/>
          <p:cNvSpPr/>
          <p:nvPr/>
        </p:nvSpPr>
        <p:spPr>
          <a:xfrm>
            <a:off x="9829800" y="4206240"/>
            <a:ext cx="502920" cy="777240"/>
          </a:xfrm>
          <a:prstGeom prst="line">
            <a:avLst/>
          </a:prstGeom>
          <a:noFill/>
          <a:ln w="19050">
            <a:solidFill>
              <a:srgbClr val="3A4A80"/>
            </a:solidFill>
            <a:prstDash val="solid"/>
          </a:ln>
        </p:spPr>
      </p:sp>
      <p:sp>
        <p:nvSpPr>
          <p:cNvPr id="13" name="Shape 11"/>
          <p:cNvSpPr/>
          <p:nvPr/>
        </p:nvSpPr>
        <p:spPr>
          <a:xfrm>
            <a:off x="822960" y="1965960"/>
            <a:ext cx="822960" cy="82296"/>
          </a:xfrm>
          <a:prstGeom prst="rect">
            <a:avLst/>
          </a:prstGeom>
          <a:solidFill>
            <a:srgbClr val="F5A623"/>
          </a:solidFill>
          <a:ln/>
        </p:spPr>
      </p:sp>
      <p:sp>
        <p:nvSpPr>
          <p:cNvPr id="14" name="Text 12"/>
          <p:cNvSpPr/>
          <p:nvPr/>
        </p:nvSpPr>
        <p:spPr>
          <a:xfrm>
            <a:off x="822960" y="2148840"/>
            <a:ext cx="8686800" cy="365760"/>
          </a:xfrm>
          <a:prstGeom prst="rect">
            <a:avLst/>
          </a:prstGeom>
          <a:noFill/>
          <a:ln/>
        </p:spPr>
        <p:txBody>
          <a:bodyPr wrap="square" lIns="0" tIns="0" rIns="0" bIns="0" rtlCol="0" anchor="ctr"/>
          <a:lstStyle/>
          <a:p>
            <a:pPr indent="0" marL="0">
              <a:buNone/>
            </a:pPr>
            <a:r>
              <a:rPr lang="en-US" sz="1400" spc="100" kern="0" dirty="0">
                <a:solidFill>
                  <a:srgbClr val="CBD8F0"/>
                </a:solidFill>
                <a:latin typeface="Calibri" pitchFamily="34" charset="0"/>
                <a:ea typeface="Calibri" pitchFamily="34" charset="-122"/>
                <a:cs typeface="Calibri" pitchFamily="34" charset="-120"/>
              </a:rPr>
              <a:t>정책 그래프 기반 대화형 에이전트 평가 프레임워크</a:t>
            </a:r>
            <a:endParaRPr lang="en-US" sz="1400" dirty="0"/>
          </a:p>
        </p:txBody>
      </p:sp>
      <p:sp>
        <p:nvSpPr>
          <p:cNvPr id="15" name="Text 13"/>
          <p:cNvSpPr/>
          <p:nvPr/>
        </p:nvSpPr>
        <p:spPr>
          <a:xfrm>
            <a:off x="777240" y="2514600"/>
            <a:ext cx="9601200" cy="13716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IntellAgent 완전 정복</a:t>
            </a:r>
            <a:endParaRPr lang="en-US" sz="4800" dirty="0"/>
          </a:p>
        </p:txBody>
      </p:sp>
      <p:sp>
        <p:nvSpPr>
          <p:cNvPr id="16" name="Text 14"/>
          <p:cNvSpPr/>
          <p:nvPr/>
        </p:nvSpPr>
        <p:spPr>
          <a:xfrm>
            <a:off x="822960" y="3703320"/>
            <a:ext cx="8961120" cy="640080"/>
          </a:xfrm>
          <a:prstGeom prst="rect">
            <a:avLst/>
          </a:prstGeom>
          <a:noFill/>
          <a:ln/>
        </p:spPr>
        <p:txBody>
          <a:bodyPr wrap="square" lIns="0" tIns="0" rIns="0" bIns="0" rtlCol="0" anchor="ctr"/>
          <a:lstStyle/>
          <a:p>
            <a:pPr indent="0" marL="0">
              <a:buNone/>
            </a:pPr>
            <a:r>
              <a:rPr lang="en-US" sz="1900" i="1" dirty="0">
                <a:solidFill>
                  <a:srgbClr val="F5A623"/>
                </a:solidFill>
                <a:latin typeface="Calibri" pitchFamily="34" charset="0"/>
                <a:ea typeface="Calibri" pitchFamily="34" charset="-122"/>
                <a:cs typeface="Calibri" pitchFamily="34" charset="-120"/>
              </a:rPr>
              <a:t>정책 그래프로 대화형 에이전트의 숨은 취약점을 찾아내는 법</a:t>
            </a:r>
            <a:endParaRPr lang="en-US" sz="1900" dirty="0"/>
          </a:p>
        </p:txBody>
      </p:sp>
      <p:sp>
        <p:nvSpPr>
          <p:cNvPr id="17" name="Text 15"/>
          <p:cNvSpPr/>
          <p:nvPr/>
        </p:nvSpPr>
        <p:spPr>
          <a:xfrm>
            <a:off x="822960" y="5989320"/>
            <a:ext cx="8229600" cy="548640"/>
          </a:xfrm>
          <a:prstGeom prst="rect">
            <a:avLst/>
          </a:prstGeom>
          <a:noFill/>
          <a:ln/>
        </p:spPr>
        <p:txBody>
          <a:bodyPr wrap="square" lIns="0" tIns="0" rIns="0" bIns="0" rtlCol="0" anchor="ctr"/>
          <a:lstStyle/>
          <a:p>
            <a:pPr indent="0" marL="0">
              <a:lnSpc>
                <a:spcPct val="130000"/>
              </a:lnSpc>
              <a:buNone/>
            </a:pPr>
            <a:r>
              <a:rPr lang="en-US" sz="1200" dirty="0">
                <a:solidFill>
                  <a:srgbClr val="8FA0D0"/>
                </a:solidFill>
                <a:latin typeface="Calibri" pitchFamily="34" charset="0"/>
                <a:ea typeface="Calibri" pitchFamily="34" charset="-122"/>
                <a:cs typeface="Calibri" pitchFamily="34" charset="-120"/>
              </a:rPr>
              <a:t>Elad Levi, Ilan Kadar (Plurai)  ·  arXiv:2501.11067</a:t>
            </a:r>
            <a:endParaRPr lang="en-US" sz="1200" dirty="0"/>
          </a:p>
          <a:p>
            <a:pPr indent="0" marL="0">
              <a:lnSpc>
                <a:spcPct val="130000"/>
              </a:lnSpc>
              <a:buNone/>
            </a:pPr>
            <a:r>
              <a:rPr lang="en-US" sz="1200" dirty="0">
                <a:solidFill>
                  <a:srgbClr val="8FA0D0"/>
                </a:solidFill>
                <a:latin typeface="Calibri" pitchFamily="34" charset="0"/>
                <a:ea typeface="Calibri" pitchFamily="34" charset="-122"/>
                <a:cs typeface="Calibri" pitchFamily="34" charset="-120"/>
              </a:rPr>
              <a:t>Auto Research  ·  2026-07-13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목차</a:t>
            </a:r>
            <a:endParaRPr lang="en-US" sz="3000" dirty="0"/>
          </a:p>
        </p:txBody>
      </p:sp>
      <p:sp>
        <p:nvSpPr>
          <p:cNvPr id="4" name="Shape 2"/>
          <p:cNvSpPr/>
          <p:nvPr/>
        </p:nvSpPr>
        <p:spPr>
          <a:xfrm>
            <a:off x="548640" y="169164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548640" y="1691640"/>
            <a:ext cx="82296" cy="1188720"/>
          </a:xfrm>
          <a:prstGeom prst="rect">
            <a:avLst/>
          </a:prstGeom>
          <a:solidFill>
            <a:srgbClr val="F5A623"/>
          </a:solidFill>
          <a:ln/>
        </p:spPr>
      </p:sp>
      <p:pic>
        <p:nvPicPr>
          <p:cNvPr id="6" name="Image 0" descr="preencoded.png">    </p:cNvPr>
          <p:cNvPicPr>
            <a:picLocks noChangeAspect="1"/>
          </p:cNvPicPr>
          <p:nvPr/>
        </p:nvPicPr>
        <p:blipFill>
          <a:blip r:embed="rId1"/>
          <a:stretch>
            <a:fillRect/>
          </a:stretch>
        </p:blipFill>
        <p:spPr>
          <a:xfrm>
            <a:off x="822960" y="2029968"/>
            <a:ext cx="502920" cy="502920"/>
          </a:xfrm>
          <a:prstGeom prst="rect">
            <a:avLst/>
          </a:prstGeom>
        </p:spPr>
      </p:pic>
      <p:sp>
        <p:nvSpPr>
          <p:cNvPr id="7" name="Text 4"/>
          <p:cNvSpPr/>
          <p:nvPr/>
        </p:nvSpPr>
        <p:spPr>
          <a:xfrm>
            <a:off x="5029200" y="180136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01</a:t>
            </a:r>
            <a:endParaRPr lang="en-US" sz="2200" dirty="0"/>
          </a:p>
        </p:txBody>
      </p:sp>
      <p:sp>
        <p:nvSpPr>
          <p:cNvPr id="8" name="Text 5"/>
          <p:cNvSpPr/>
          <p:nvPr/>
        </p:nvSpPr>
        <p:spPr>
          <a:xfrm>
            <a:off x="1508760" y="185623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문제의식</a:t>
            </a:r>
            <a:endParaRPr lang="en-US" sz="1700" dirty="0"/>
          </a:p>
        </p:txBody>
      </p:sp>
      <p:sp>
        <p:nvSpPr>
          <p:cNvPr id="9" name="Text 6"/>
          <p:cNvSpPr/>
          <p:nvPr/>
        </p:nvSpPr>
        <p:spPr>
          <a:xfrm>
            <a:off x="1508760" y="228600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왜 기존 평가로는 부족한가</a:t>
            </a:r>
            <a:endParaRPr lang="en-US" sz="1150" dirty="0"/>
          </a:p>
        </p:txBody>
      </p:sp>
      <p:sp>
        <p:nvSpPr>
          <p:cNvPr id="10" name="Shape 7"/>
          <p:cNvSpPr/>
          <p:nvPr/>
        </p:nvSpPr>
        <p:spPr>
          <a:xfrm>
            <a:off x="6400800" y="169164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6400800" y="1691640"/>
            <a:ext cx="82296" cy="1188720"/>
          </a:xfrm>
          <a:prstGeom prst="rect">
            <a:avLst/>
          </a:prstGeom>
          <a:solidFill>
            <a:srgbClr val="F5A623"/>
          </a:solidFill>
          <a:ln/>
        </p:spPr>
      </p:sp>
      <p:pic>
        <p:nvPicPr>
          <p:cNvPr id="12" name="Image 1" descr="preencoded.png">    </p:cNvPr>
          <p:cNvPicPr>
            <a:picLocks noChangeAspect="1"/>
          </p:cNvPicPr>
          <p:nvPr/>
        </p:nvPicPr>
        <p:blipFill>
          <a:blip r:embed="rId2"/>
          <a:stretch>
            <a:fillRect/>
          </a:stretch>
        </p:blipFill>
        <p:spPr>
          <a:xfrm>
            <a:off x="6675120" y="2029968"/>
            <a:ext cx="502920" cy="502920"/>
          </a:xfrm>
          <a:prstGeom prst="rect">
            <a:avLst/>
          </a:prstGeom>
        </p:spPr>
      </p:pic>
      <p:sp>
        <p:nvSpPr>
          <p:cNvPr id="13" name="Text 9"/>
          <p:cNvSpPr/>
          <p:nvPr/>
        </p:nvSpPr>
        <p:spPr>
          <a:xfrm>
            <a:off x="10881360" y="180136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02</a:t>
            </a:r>
            <a:endParaRPr lang="en-US" sz="2200" dirty="0"/>
          </a:p>
        </p:txBody>
      </p:sp>
      <p:sp>
        <p:nvSpPr>
          <p:cNvPr id="14" name="Text 10"/>
          <p:cNvSpPr/>
          <p:nvPr/>
        </p:nvSpPr>
        <p:spPr>
          <a:xfrm>
            <a:off x="7360920" y="185623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IntellAgent란 무엇인가</a:t>
            </a:r>
            <a:endParaRPr lang="en-US" sz="1700" dirty="0"/>
          </a:p>
        </p:txBody>
      </p:sp>
      <p:sp>
        <p:nvSpPr>
          <p:cNvPr id="15" name="Text 11"/>
          <p:cNvSpPr/>
          <p:nvPr/>
        </p:nvSpPr>
        <p:spPr>
          <a:xfrm>
            <a:off x="7360920" y="228600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무엇을 결합한 프레임워크인가</a:t>
            </a:r>
            <a:endParaRPr lang="en-US" sz="1150" dirty="0"/>
          </a:p>
        </p:txBody>
      </p:sp>
      <p:sp>
        <p:nvSpPr>
          <p:cNvPr id="16" name="Shape 12"/>
          <p:cNvSpPr/>
          <p:nvPr/>
        </p:nvSpPr>
        <p:spPr>
          <a:xfrm>
            <a:off x="548640" y="310896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7" name="Shape 13"/>
          <p:cNvSpPr/>
          <p:nvPr/>
        </p:nvSpPr>
        <p:spPr>
          <a:xfrm>
            <a:off x="548640" y="3108960"/>
            <a:ext cx="82296" cy="1188720"/>
          </a:xfrm>
          <a:prstGeom prst="rect">
            <a:avLst/>
          </a:prstGeom>
          <a:solidFill>
            <a:srgbClr val="F5A623"/>
          </a:solidFill>
          <a:ln/>
        </p:spPr>
      </p:sp>
      <p:pic>
        <p:nvPicPr>
          <p:cNvPr id="18" name="Image 2" descr="preencoded.png">    </p:cNvPr>
          <p:cNvPicPr>
            <a:picLocks noChangeAspect="1"/>
          </p:cNvPicPr>
          <p:nvPr/>
        </p:nvPicPr>
        <p:blipFill>
          <a:blip r:embed="rId3"/>
          <a:stretch>
            <a:fillRect/>
          </a:stretch>
        </p:blipFill>
        <p:spPr>
          <a:xfrm>
            <a:off x="822960" y="3447288"/>
            <a:ext cx="502920" cy="502920"/>
          </a:xfrm>
          <a:prstGeom prst="rect">
            <a:avLst/>
          </a:prstGeom>
        </p:spPr>
      </p:pic>
      <p:sp>
        <p:nvSpPr>
          <p:cNvPr id="19" name="Text 14"/>
          <p:cNvSpPr/>
          <p:nvPr/>
        </p:nvSpPr>
        <p:spPr>
          <a:xfrm>
            <a:off x="5029200" y="321868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03</a:t>
            </a:r>
            <a:endParaRPr lang="en-US" sz="2200" dirty="0"/>
          </a:p>
        </p:txBody>
      </p:sp>
      <p:sp>
        <p:nvSpPr>
          <p:cNvPr id="20" name="Text 15"/>
          <p:cNvSpPr/>
          <p:nvPr/>
        </p:nvSpPr>
        <p:spPr>
          <a:xfrm>
            <a:off x="1508760" y="327355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핵심 아키텍처</a:t>
            </a:r>
            <a:endParaRPr lang="en-US" sz="1700" dirty="0"/>
          </a:p>
        </p:txBody>
      </p:sp>
      <p:sp>
        <p:nvSpPr>
          <p:cNvPr id="21" name="Text 16"/>
          <p:cNvSpPr/>
          <p:nvPr/>
        </p:nvSpPr>
        <p:spPr>
          <a:xfrm>
            <a:off x="1508760" y="370332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4단계 파이프라인 상세</a:t>
            </a:r>
            <a:endParaRPr lang="en-US" sz="1150" dirty="0"/>
          </a:p>
        </p:txBody>
      </p:sp>
      <p:sp>
        <p:nvSpPr>
          <p:cNvPr id="22" name="Shape 17"/>
          <p:cNvSpPr/>
          <p:nvPr/>
        </p:nvSpPr>
        <p:spPr>
          <a:xfrm>
            <a:off x="6400800" y="310896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23" name="Shape 18"/>
          <p:cNvSpPr/>
          <p:nvPr/>
        </p:nvSpPr>
        <p:spPr>
          <a:xfrm>
            <a:off x="6400800" y="3108960"/>
            <a:ext cx="82296" cy="1188720"/>
          </a:xfrm>
          <a:prstGeom prst="rect">
            <a:avLst/>
          </a:prstGeom>
          <a:solidFill>
            <a:srgbClr val="F5A623"/>
          </a:solidFill>
          <a:ln/>
        </p:spPr>
      </p:sp>
      <p:pic>
        <p:nvPicPr>
          <p:cNvPr id="24" name="Image 3" descr="preencoded.png">    </p:cNvPr>
          <p:cNvPicPr>
            <a:picLocks noChangeAspect="1"/>
          </p:cNvPicPr>
          <p:nvPr/>
        </p:nvPicPr>
        <p:blipFill>
          <a:blip r:embed="rId4"/>
          <a:stretch>
            <a:fillRect/>
          </a:stretch>
        </p:blipFill>
        <p:spPr>
          <a:xfrm>
            <a:off x="6675120" y="3447288"/>
            <a:ext cx="502920" cy="502920"/>
          </a:xfrm>
          <a:prstGeom prst="rect">
            <a:avLst/>
          </a:prstGeom>
        </p:spPr>
      </p:pic>
      <p:sp>
        <p:nvSpPr>
          <p:cNvPr id="25" name="Text 19"/>
          <p:cNvSpPr/>
          <p:nvPr/>
        </p:nvSpPr>
        <p:spPr>
          <a:xfrm>
            <a:off x="10881360" y="321868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04</a:t>
            </a:r>
            <a:endParaRPr lang="en-US" sz="2200" dirty="0"/>
          </a:p>
        </p:txBody>
      </p:sp>
      <p:sp>
        <p:nvSpPr>
          <p:cNvPr id="26" name="Text 20"/>
          <p:cNvSpPr/>
          <p:nvPr/>
        </p:nvSpPr>
        <p:spPr>
          <a:xfrm>
            <a:off x="7360920" y="327355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차별점</a:t>
            </a:r>
            <a:endParaRPr lang="en-US" sz="1700" dirty="0"/>
          </a:p>
        </p:txBody>
      </p:sp>
      <p:sp>
        <p:nvSpPr>
          <p:cNvPr id="27" name="Text 21"/>
          <p:cNvSpPr/>
          <p:nvPr/>
        </p:nvSpPr>
        <p:spPr>
          <a:xfrm>
            <a:off x="7360920" y="370332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기존 방법 대비 무엇이 다른가</a:t>
            </a:r>
            <a:endParaRPr lang="en-US" sz="1150" dirty="0"/>
          </a:p>
        </p:txBody>
      </p:sp>
      <p:sp>
        <p:nvSpPr>
          <p:cNvPr id="28" name="Shape 22"/>
          <p:cNvSpPr/>
          <p:nvPr/>
        </p:nvSpPr>
        <p:spPr>
          <a:xfrm>
            <a:off x="548640" y="452628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29" name="Shape 23"/>
          <p:cNvSpPr/>
          <p:nvPr/>
        </p:nvSpPr>
        <p:spPr>
          <a:xfrm>
            <a:off x="548640" y="4526280"/>
            <a:ext cx="82296" cy="1188720"/>
          </a:xfrm>
          <a:prstGeom prst="rect">
            <a:avLst/>
          </a:prstGeom>
          <a:solidFill>
            <a:srgbClr val="F5A623"/>
          </a:solidFill>
          <a:ln/>
        </p:spPr>
      </p:sp>
      <p:pic>
        <p:nvPicPr>
          <p:cNvPr id="30" name="Image 4" descr="preencoded.png">    </p:cNvPr>
          <p:cNvPicPr>
            <a:picLocks noChangeAspect="1"/>
          </p:cNvPicPr>
          <p:nvPr/>
        </p:nvPicPr>
        <p:blipFill>
          <a:blip r:embed="rId5"/>
          <a:stretch>
            <a:fillRect/>
          </a:stretch>
        </p:blipFill>
        <p:spPr>
          <a:xfrm>
            <a:off x="822960" y="4864608"/>
            <a:ext cx="502920" cy="502920"/>
          </a:xfrm>
          <a:prstGeom prst="rect">
            <a:avLst/>
          </a:prstGeom>
        </p:spPr>
      </p:pic>
      <p:sp>
        <p:nvSpPr>
          <p:cNvPr id="31" name="Text 24"/>
          <p:cNvSpPr/>
          <p:nvPr/>
        </p:nvSpPr>
        <p:spPr>
          <a:xfrm>
            <a:off x="5029200" y="463600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05</a:t>
            </a:r>
            <a:endParaRPr lang="en-US" sz="2200" dirty="0"/>
          </a:p>
        </p:txBody>
      </p:sp>
      <p:sp>
        <p:nvSpPr>
          <p:cNvPr id="32" name="Text 25"/>
          <p:cNvSpPr/>
          <p:nvPr/>
        </p:nvSpPr>
        <p:spPr>
          <a:xfrm>
            <a:off x="1508760" y="469087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실험 결과</a:t>
            </a:r>
            <a:endParaRPr lang="en-US" sz="1700" dirty="0"/>
          </a:p>
        </p:txBody>
      </p:sp>
      <p:sp>
        <p:nvSpPr>
          <p:cNvPr id="33" name="Text 26"/>
          <p:cNvSpPr/>
          <p:nvPr/>
        </p:nvSpPr>
        <p:spPr>
          <a:xfrm>
            <a:off x="1508760" y="512064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무엇을 발견했는가</a:t>
            </a:r>
            <a:endParaRPr lang="en-US" sz="1150" dirty="0"/>
          </a:p>
        </p:txBody>
      </p:sp>
      <p:sp>
        <p:nvSpPr>
          <p:cNvPr id="34" name="Shape 27"/>
          <p:cNvSpPr/>
          <p:nvPr/>
        </p:nvSpPr>
        <p:spPr>
          <a:xfrm>
            <a:off x="6400800" y="4526280"/>
            <a:ext cx="5394960" cy="118872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35" name="Shape 28"/>
          <p:cNvSpPr/>
          <p:nvPr/>
        </p:nvSpPr>
        <p:spPr>
          <a:xfrm>
            <a:off x="6400800" y="4526280"/>
            <a:ext cx="82296" cy="1188720"/>
          </a:xfrm>
          <a:prstGeom prst="rect">
            <a:avLst/>
          </a:prstGeom>
          <a:solidFill>
            <a:srgbClr val="F5A623"/>
          </a:solidFill>
          <a:ln/>
        </p:spPr>
      </p:sp>
      <p:pic>
        <p:nvPicPr>
          <p:cNvPr id="36" name="Image 5" descr="preencoded.png">    </p:cNvPr>
          <p:cNvPicPr>
            <a:picLocks noChangeAspect="1"/>
          </p:cNvPicPr>
          <p:nvPr/>
        </p:nvPicPr>
        <p:blipFill>
          <a:blip r:embed="rId6"/>
          <a:stretch>
            <a:fillRect/>
          </a:stretch>
        </p:blipFill>
        <p:spPr>
          <a:xfrm>
            <a:off x="6675120" y="4864608"/>
            <a:ext cx="502920" cy="502920"/>
          </a:xfrm>
          <a:prstGeom prst="rect">
            <a:avLst/>
          </a:prstGeom>
        </p:spPr>
      </p:pic>
      <p:sp>
        <p:nvSpPr>
          <p:cNvPr id="37" name="Text 29"/>
          <p:cNvSpPr/>
          <p:nvPr/>
        </p:nvSpPr>
        <p:spPr>
          <a:xfrm>
            <a:off x="10881360" y="4636008"/>
            <a:ext cx="822960" cy="457200"/>
          </a:xfrm>
          <a:prstGeom prst="rect">
            <a:avLst/>
          </a:prstGeom>
          <a:noFill/>
          <a:ln/>
        </p:spPr>
        <p:txBody>
          <a:bodyPr wrap="square" lIns="0" tIns="0" rIns="0" bIns="0" rtlCol="0" anchor="ctr"/>
          <a:lstStyle/>
          <a:p>
            <a:pPr algn="r" indent="0" marL="0">
              <a:buNone/>
            </a:pPr>
            <a:r>
              <a:rPr lang="en-US" sz="2200" b="1" dirty="0">
                <a:solidFill>
                  <a:srgbClr val="D8DEEF"/>
                </a:solidFill>
                <a:latin typeface="Georgia" pitchFamily="34" charset="0"/>
                <a:ea typeface="Georgia" pitchFamily="34" charset="-122"/>
                <a:cs typeface="Georgia" pitchFamily="34" charset="-120"/>
              </a:rPr>
              <a:t>06</a:t>
            </a:r>
            <a:endParaRPr lang="en-US" sz="2200" dirty="0"/>
          </a:p>
        </p:txBody>
      </p:sp>
      <p:sp>
        <p:nvSpPr>
          <p:cNvPr id="38" name="Text 30"/>
          <p:cNvSpPr/>
          <p:nvPr/>
        </p:nvSpPr>
        <p:spPr>
          <a:xfrm>
            <a:off x="7360920" y="4690872"/>
            <a:ext cx="3383280" cy="457200"/>
          </a:xfrm>
          <a:prstGeom prst="rect">
            <a:avLst/>
          </a:prstGeom>
          <a:noFill/>
          <a:ln/>
        </p:spPr>
        <p:txBody>
          <a:bodyPr wrap="square" lIns="0" tIns="0" rIns="0" bIns="0" rtlCol="0" anchor="ctr"/>
          <a:lstStyle/>
          <a:p>
            <a:pPr indent="0" marL="0">
              <a:buNone/>
            </a:pPr>
            <a:r>
              <a:rPr lang="en-US" sz="1700" b="1" dirty="0">
                <a:solidFill>
                  <a:srgbClr val="1A2144"/>
                </a:solidFill>
                <a:latin typeface="Calibri" pitchFamily="34" charset="0"/>
                <a:ea typeface="Calibri" pitchFamily="34" charset="-122"/>
                <a:cs typeface="Calibri" pitchFamily="34" charset="-120"/>
              </a:rPr>
              <a:t>실무 활용과 한계</a:t>
            </a:r>
            <a:endParaRPr lang="en-US" sz="1700" dirty="0"/>
          </a:p>
        </p:txBody>
      </p:sp>
      <p:sp>
        <p:nvSpPr>
          <p:cNvPr id="39" name="Text 31"/>
          <p:cNvSpPr/>
          <p:nvPr/>
        </p:nvSpPr>
        <p:spPr>
          <a:xfrm>
            <a:off x="7360920" y="5120640"/>
            <a:ext cx="3474720" cy="457200"/>
          </a:xfrm>
          <a:prstGeom prst="rect">
            <a:avLst/>
          </a:prstGeom>
          <a:noFill/>
          <a:ln/>
        </p:spPr>
        <p:txBody>
          <a:bodyPr wrap="square" lIns="0" tIns="0" rIns="0" bIns="0" rtlCol="0" anchor="ctr"/>
          <a:lstStyle/>
          <a:p>
            <a:pPr indent="0" marL="0">
              <a:buNone/>
            </a:pPr>
            <a:r>
              <a:rPr lang="en-US" sz="1150" dirty="0">
                <a:solidFill>
                  <a:srgbClr val="5B6584"/>
                </a:solidFill>
                <a:latin typeface="Calibri" pitchFamily="34" charset="0"/>
                <a:ea typeface="Calibri" pitchFamily="34" charset="-122"/>
                <a:cs typeface="Calibri" pitchFamily="34" charset="-120"/>
              </a:rPr>
              <a:t>설치·한계·회사 현황</a:t>
            </a:r>
            <a:endParaRPr lang="en-US" sz="1150" dirty="0"/>
          </a:p>
        </p:txBody>
      </p:sp>
      <p:sp>
        <p:nvSpPr>
          <p:cNvPr id="40" name="Text 32"/>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41" name="Text 33"/>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01</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왜 기존 평가로는</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부족한가</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정적 벤치마크와 수작업 테스트가 놓치는 것들</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문제의식</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기존 평가 방법의 한계</a:t>
            </a:r>
            <a:endParaRPr lang="en-US" sz="3000" dirty="0"/>
          </a:p>
        </p:txBody>
      </p:sp>
      <p:sp>
        <p:nvSpPr>
          <p:cNvPr id="4" name="Shape 2"/>
          <p:cNvSpPr/>
          <p:nvPr/>
        </p:nvSpPr>
        <p:spPr>
          <a:xfrm>
            <a:off x="548640" y="1737360"/>
            <a:ext cx="3520440" cy="320040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548640" y="1737360"/>
            <a:ext cx="3520440" cy="109728"/>
          </a:xfrm>
          <a:prstGeom prst="rect">
            <a:avLst/>
          </a:prstGeom>
          <a:solidFill>
            <a:srgbClr val="E15554"/>
          </a:solidFill>
          <a:ln/>
        </p:spPr>
      </p:sp>
      <p:pic>
        <p:nvPicPr>
          <p:cNvPr id="6" name="Image 0" descr="preencoded.png">    </p:cNvPr>
          <p:cNvPicPr>
            <a:picLocks noChangeAspect="1"/>
          </p:cNvPicPr>
          <p:nvPr/>
        </p:nvPicPr>
        <p:blipFill>
          <a:blip r:embed="rId1"/>
          <a:stretch>
            <a:fillRect/>
          </a:stretch>
        </p:blipFill>
        <p:spPr>
          <a:xfrm>
            <a:off x="868680" y="2148840"/>
            <a:ext cx="548640" cy="548640"/>
          </a:xfrm>
          <a:prstGeom prst="rect">
            <a:avLst/>
          </a:prstGeom>
        </p:spPr>
      </p:pic>
      <p:sp>
        <p:nvSpPr>
          <p:cNvPr id="7" name="Text 4"/>
          <p:cNvSpPr/>
          <p:nvPr/>
        </p:nvSpPr>
        <p:spPr>
          <a:xfrm>
            <a:off x="868680" y="2834640"/>
            <a:ext cx="2880360" cy="457200"/>
          </a:xfrm>
          <a:prstGeom prst="rect">
            <a:avLst/>
          </a:prstGeom>
          <a:noFill/>
          <a:ln/>
        </p:spPr>
        <p:txBody>
          <a:bodyPr wrap="square" lIns="0" tIns="0" rIns="0" bIns="0" rtlCol="0" anchor="ctr"/>
          <a:lstStyle/>
          <a:p>
            <a:pPr indent="0" marL="0">
              <a:buNone/>
            </a:pPr>
            <a:r>
              <a:rPr lang="en-US" sz="2000" b="1" dirty="0">
                <a:solidFill>
                  <a:srgbClr val="1A2144"/>
                </a:solidFill>
                <a:latin typeface="Georgia" pitchFamily="34" charset="0"/>
                <a:ea typeface="Georgia" pitchFamily="34" charset="-122"/>
                <a:cs typeface="Georgia" pitchFamily="34" charset="-120"/>
              </a:rPr>
              <a:t>τ-bench</a:t>
            </a:r>
            <a:endParaRPr lang="en-US" sz="2000" dirty="0"/>
          </a:p>
        </p:txBody>
      </p:sp>
      <p:sp>
        <p:nvSpPr>
          <p:cNvPr id="8" name="Text 5"/>
          <p:cNvSpPr/>
          <p:nvPr/>
        </p:nvSpPr>
        <p:spPr>
          <a:xfrm>
            <a:off x="868680" y="3310128"/>
            <a:ext cx="2880360" cy="365760"/>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수작업 큐레이션</a:t>
            </a:r>
            <a:endParaRPr lang="en-US" sz="1250" dirty="0"/>
          </a:p>
        </p:txBody>
      </p:sp>
      <p:sp>
        <p:nvSpPr>
          <p:cNvPr id="9" name="Text 6"/>
          <p:cNvSpPr/>
          <p:nvPr/>
        </p:nvSpPr>
        <p:spPr>
          <a:xfrm>
            <a:off x="868680" y="3794760"/>
            <a:ext cx="2880360" cy="100584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항공 50개 · 리테일 115개</a:t>
            </a:r>
            <a:endParaRPr lang="en-US" sz="1250" dirty="0"/>
          </a:p>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샘플 규모 고정</a:t>
            </a:r>
            <a:endParaRPr lang="en-US" sz="1250" dirty="0"/>
          </a:p>
        </p:txBody>
      </p:sp>
      <p:sp>
        <p:nvSpPr>
          <p:cNvPr id="10" name="Shape 7"/>
          <p:cNvSpPr/>
          <p:nvPr/>
        </p:nvSpPr>
        <p:spPr>
          <a:xfrm>
            <a:off x="4389120" y="1737360"/>
            <a:ext cx="3520440" cy="320040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389120" y="1737360"/>
            <a:ext cx="3520440" cy="109728"/>
          </a:xfrm>
          <a:prstGeom prst="rect">
            <a:avLst/>
          </a:prstGeom>
          <a:solidFill>
            <a:srgbClr val="E15554"/>
          </a:solidFill>
          <a:ln/>
        </p:spPr>
      </p:sp>
      <p:pic>
        <p:nvPicPr>
          <p:cNvPr id="12" name="Image 1" descr="preencoded.png">    </p:cNvPr>
          <p:cNvPicPr>
            <a:picLocks noChangeAspect="1"/>
          </p:cNvPicPr>
          <p:nvPr/>
        </p:nvPicPr>
        <p:blipFill>
          <a:blip r:embed="rId2"/>
          <a:stretch>
            <a:fillRect/>
          </a:stretch>
        </p:blipFill>
        <p:spPr>
          <a:xfrm>
            <a:off x="4709160" y="2148840"/>
            <a:ext cx="548640" cy="548640"/>
          </a:xfrm>
          <a:prstGeom prst="rect">
            <a:avLst/>
          </a:prstGeom>
        </p:spPr>
      </p:pic>
      <p:sp>
        <p:nvSpPr>
          <p:cNvPr id="13" name="Text 9"/>
          <p:cNvSpPr/>
          <p:nvPr/>
        </p:nvSpPr>
        <p:spPr>
          <a:xfrm>
            <a:off x="4709160" y="2834640"/>
            <a:ext cx="2880360" cy="457200"/>
          </a:xfrm>
          <a:prstGeom prst="rect">
            <a:avLst/>
          </a:prstGeom>
          <a:noFill/>
          <a:ln/>
        </p:spPr>
        <p:txBody>
          <a:bodyPr wrap="square" lIns="0" tIns="0" rIns="0" bIns="0" rtlCol="0" anchor="ctr"/>
          <a:lstStyle/>
          <a:p>
            <a:pPr indent="0" marL="0">
              <a:buNone/>
            </a:pPr>
            <a:r>
              <a:rPr lang="en-US" sz="2000" b="1" dirty="0">
                <a:solidFill>
                  <a:srgbClr val="1A2144"/>
                </a:solidFill>
                <a:latin typeface="Georgia" pitchFamily="34" charset="0"/>
                <a:ea typeface="Georgia" pitchFamily="34" charset="-122"/>
                <a:cs typeface="Georgia" pitchFamily="34" charset="-120"/>
              </a:rPr>
              <a:t>RAGAS</a:t>
            </a:r>
            <a:endParaRPr lang="en-US" sz="2000" dirty="0"/>
          </a:p>
        </p:txBody>
      </p:sp>
      <p:sp>
        <p:nvSpPr>
          <p:cNvPr id="14" name="Text 10"/>
          <p:cNvSpPr/>
          <p:nvPr/>
        </p:nvSpPr>
        <p:spPr>
          <a:xfrm>
            <a:off x="4709160" y="3310128"/>
            <a:ext cx="2880360" cy="365760"/>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컴포넌트 단위 평가</a:t>
            </a:r>
            <a:endParaRPr lang="en-US" sz="1250" dirty="0"/>
          </a:p>
        </p:txBody>
      </p:sp>
      <p:sp>
        <p:nvSpPr>
          <p:cNvPr id="15" name="Text 11"/>
          <p:cNvSpPr/>
          <p:nvPr/>
        </p:nvSpPr>
        <p:spPr>
          <a:xfrm>
            <a:off x="4709160" y="3794760"/>
            <a:ext cx="2880360" cy="100584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RAG 검색·생성 평가에 한정</a:t>
            </a:r>
            <a:endParaRPr lang="en-US" sz="1250" dirty="0"/>
          </a:p>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멀티턴 대화 미대응</a:t>
            </a:r>
            <a:endParaRPr lang="en-US" sz="1250" dirty="0"/>
          </a:p>
        </p:txBody>
      </p:sp>
      <p:sp>
        <p:nvSpPr>
          <p:cNvPr id="16" name="Shape 12"/>
          <p:cNvSpPr/>
          <p:nvPr/>
        </p:nvSpPr>
        <p:spPr>
          <a:xfrm>
            <a:off x="8229600" y="1737360"/>
            <a:ext cx="3520440" cy="320040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7" name="Shape 13"/>
          <p:cNvSpPr/>
          <p:nvPr/>
        </p:nvSpPr>
        <p:spPr>
          <a:xfrm>
            <a:off x="8229600" y="1737360"/>
            <a:ext cx="3520440" cy="109728"/>
          </a:xfrm>
          <a:prstGeom prst="rect">
            <a:avLst/>
          </a:prstGeom>
          <a:solidFill>
            <a:srgbClr val="E15554"/>
          </a:solidFill>
          <a:ln/>
        </p:spPr>
      </p:sp>
      <p:pic>
        <p:nvPicPr>
          <p:cNvPr id="18" name="Image 2" descr="preencoded.png">    </p:cNvPr>
          <p:cNvPicPr>
            <a:picLocks noChangeAspect="1"/>
          </p:cNvPicPr>
          <p:nvPr/>
        </p:nvPicPr>
        <p:blipFill>
          <a:blip r:embed="rId3"/>
          <a:stretch>
            <a:fillRect/>
          </a:stretch>
        </p:blipFill>
        <p:spPr>
          <a:xfrm>
            <a:off x="8549640" y="2148840"/>
            <a:ext cx="548640" cy="548640"/>
          </a:xfrm>
          <a:prstGeom prst="rect">
            <a:avLst/>
          </a:prstGeom>
        </p:spPr>
      </p:pic>
      <p:sp>
        <p:nvSpPr>
          <p:cNvPr id="19" name="Text 14"/>
          <p:cNvSpPr/>
          <p:nvPr/>
        </p:nvSpPr>
        <p:spPr>
          <a:xfrm>
            <a:off x="8549640" y="2834640"/>
            <a:ext cx="2880360" cy="457200"/>
          </a:xfrm>
          <a:prstGeom prst="rect">
            <a:avLst/>
          </a:prstGeom>
          <a:noFill/>
          <a:ln/>
        </p:spPr>
        <p:txBody>
          <a:bodyPr wrap="square" lIns="0" tIns="0" rIns="0" bIns="0" rtlCol="0" anchor="ctr"/>
          <a:lstStyle/>
          <a:p>
            <a:pPr indent="0" marL="0">
              <a:buNone/>
            </a:pPr>
            <a:r>
              <a:rPr lang="en-US" sz="2000" b="1" dirty="0">
                <a:solidFill>
                  <a:srgbClr val="1A2144"/>
                </a:solidFill>
                <a:latin typeface="Georgia" pitchFamily="34" charset="0"/>
                <a:ea typeface="Georgia" pitchFamily="34" charset="-122"/>
                <a:cs typeface="Georgia" pitchFamily="34" charset="-120"/>
              </a:rPr>
              <a:t>ALMITA</a:t>
            </a:r>
            <a:endParaRPr lang="en-US" sz="2000" dirty="0"/>
          </a:p>
        </p:txBody>
      </p:sp>
      <p:sp>
        <p:nvSpPr>
          <p:cNvPr id="20" name="Text 15"/>
          <p:cNvSpPr/>
          <p:nvPr/>
        </p:nvSpPr>
        <p:spPr>
          <a:xfrm>
            <a:off x="8549640" y="3310128"/>
            <a:ext cx="2880360" cy="365760"/>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도메인 특화</a:t>
            </a:r>
            <a:endParaRPr lang="en-US" sz="1250" dirty="0"/>
          </a:p>
        </p:txBody>
      </p:sp>
      <p:sp>
        <p:nvSpPr>
          <p:cNvPr id="21" name="Text 16"/>
          <p:cNvSpPr/>
          <p:nvPr/>
        </p:nvSpPr>
        <p:spPr>
          <a:xfrm>
            <a:off x="8549640" y="3794760"/>
            <a:ext cx="2880360" cy="1005840"/>
          </a:xfrm>
          <a:prstGeom prst="rect">
            <a:avLst/>
          </a:prstGeom>
          <a:noFill/>
          <a:ln/>
        </p:spPr>
        <p:txBody>
          <a:bodyPr wrap="square" lIns="0" tIns="0" rIns="0" bIns="0" rtlCol="0" anchor="ctr"/>
          <a:lstStyle/>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고객지원 중심 설계</a:t>
            </a:r>
            <a:endParaRPr lang="en-US" sz="1250" dirty="0"/>
          </a:p>
          <a:p>
            <a:pPr indent="0" marL="0">
              <a:lnSpc>
                <a:spcPct val="125000"/>
              </a:lnSpc>
              <a:buNone/>
            </a:pPr>
            <a:r>
              <a:rPr lang="en-US" sz="1250" dirty="0">
                <a:solidFill>
                  <a:srgbClr val="5B6584"/>
                </a:solidFill>
                <a:latin typeface="Calibri" pitchFamily="34" charset="0"/>
                <a:ea typeface="Calibri" pitchFamily="34" charset="-122"/>
                <a:cs typeface="Calibri" pitchFamily="34" charset="-120"/>
              </a:rPr>
              <a:t>타 도메인 일반화 미검증</a:t>
            </a:r>
            <a:endParaRPr lang="en-US" sz="1250" dirty="0"/>
          </a:p>
        </p:txBody>
      </p:sp>
      <p:sp>
        <p:nvSpPr>
          <p:cNvPr id="22" name="Text 17"/>
          <p:cNvSpPr/>
          <p:nvPr/>
        </p:nvSpPr>
        <p:spPr>
          <a:xfrm>
            <a:off x="548640" y="5166360"/>
            <a:ext cx="11064240" cy="457200"/>
          </a:xfrm>
          <a:prstGeom prst="rect">
            <a:avLst/>
          </a:prstGeom>
          <a:noFill/>
          <a:ln/>
        </p:spPr>
        <p:txBody>
          <a:bodyPr wrap="square" lIns="0" tIns="0" rIns="0" bIns="0" rtlCol="0" anchor="ctr"/>
          <a:lstStyle/>
          <a:p>
            <a:pPr indent="0" marL="0">
              <a:buNone/>
            </a:pPr>
            <a:r>
              <a:rPr lang="en-US" sz="1450" b="1" dirty="0">
                <a:solidFill>
                  <a:srgbClr val="1A2144"/>
                </a:solidFill>
                <a:latin typeface="Calibri" pitchFamily="34" charset="0"/>
                <a:ea typeface="Calibri" pitchFamily="34" charset="-122"/>
                <a:cs typeface="Calibri" pitchFamily="34" charset="-120"/>
              </a:rPr>
              <a:t>공통 결과: </a:t>
            </a:r>
            <a:pPr indent="0" marL="0">
              <a:buNone/>
            </a:pPr>
            <a:r>
              <a:rPr lang="en-US" sz="1450" dirty="0">
                <a:solidFill>
                  <a:srgbClr val="5B6584"/>
                </a:solidFill>
                <a:latin typeface="Calibri" pitchFamily="34" charset="0"/>
                <a:ea typeface="Calibri" pitchFamily="34" charset="-122"/>
                <a:cs typeface="Calibri" pitchFamily="34" charset="-120"/>
              </a:rPr>
              <a:t>이진 성공/실패 판정 → 어떤 정책에서, 왜 실패했는지 알 수 없다</a:t>
            </a:r>
            <a:endParaRPr lang="en-US" sz="1450" dirty="0"/>
          </a:p>
        </p:txBody>
      </p:sp>
      <p:sp>
        <p:nvSpPr>
          <p:cNvPr id="23" name="Text 18"/>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24" name="Text 19"/>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02</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IntellAgent란</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무엇인가</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정책 그래프 · 이벤트 생성 · 대화 시뮬레이션의 결합</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IntellAgent 개요</a:t>
            </a:r>
            <a:endParaRPr lang="en-US" sz="3000" dirty="0"/>
          </a:p>
        </p:txBody>
      </p:sp>
      <p:sp>
        <p:nvSpPr>
          <p:cNvPr id="4" name="Text 2"/>
          <p:cNvSpPr/>
          <p:nvPr/>
        </p:nvSpPr>
        <p:spPr>
          <a:xfrm>
            <a:off x="548640" y="1600200"/>
            <a:ext cx="10972800" cy="822960"/>
          </a:xfrm>
          <a:prstGeom prst="rect">
            <a:avLst/>
          </a:prstGeom>
          <a:noFill/>
          <a:ln/>
        </p:spPr>
        <p:txBody>
          <a:bodyPr wrap="square" lIns="0" tIns="0" rIns="0" bIns="0" rtlCol="0" anchor="ctr"/>
          <a:lstStyle/>
          <a:p>
            <a:pPr indent="0" marL="0">
              <a:lnSpc>
                <a:spcPct val="130000"/>
              </a:lnSpc>
              <a:buNone/>
            </a:pPr>
            <a:r>
              <a:rPr lang="en-US" sz="1500" dirty="0">
                <a:solidFill>
                  <a:srgbClr val="CBD8F0"/>
                </a:solidFill>
                <a:latin typeface="Calibri" pitchFamily="34" charset="0"/>
                <a:ea typeface="Calibri" pitchFamily="34" charset="-122"/>
                <a:cs typeface="Calibri" pitchFamily="34" charset="-120"/>
              </a:rPr>
              <a:t>정책 기반 그래프 모델링 + 현실적 이벤트 생성 + 대화형 사용자-에이전트 시뮬레이션을 결합한</a:t>
            </a:r>
            <a:endParaRPr lang="en-US" sz="1500" dirty="0"/>
          </a:p>
          <a:p>
            <a:pPr indent="0" marL="0">
              <a:lnSpc>
                <a:spcPct val="130000"/>
              </a:lnSpc>
              <a:buNone/>
            </a:pPr>
            <a:r>
              <a:rPr lang="en-US" sz="1500" dirty="0">
                <a:solidFill>
                  <a:srgbClr val="CBD8F0"/>
                </a:solidFill>
                <a:latin typeface="Calibri" pitchFamily="34" charset="0"/>
                <a:ea typeface="Calibri" pitchFamily="34" charset="-122"/>
                <a:cs typeface="Calibri" pitchFamily="34" charset="-120"/>
              </a:rPr>
              <a:t>오픈소스 멀티에이전트 평가 프레임워크</a:t>
            </a:r>
            <a:endParaRPr lang="en-US" sz="1500" dirty="0"/>
          </a:p>
        </p:txBody>
      </p:sp>
      <p:sp>
        <p:nvSpPr>
          <p:cNvPr id="5" name="Shape 3"/>
          <p:cNvSpPr/>
          <p:nvPr/>
        </p:nvSpPr>
        <p:spPr>
          <a:xfrm>
            <a:off x="548640" y="2697480"/>
            <a:ext cx="2606040" cy="2331720"/>
          </a:xfrm>
          <a:prstGeom prst="rect">
            <a:avLst/>
          </a:prstGeom>
          <a:solidFill>
            <a:srgbClr val="1D2B5C"/>
          </a:solidFill>
          <a:ln w="12700">
            <a:solidFill>
              <a:srgbClr val="2A3868"/>
            </a:solidFill>
            <a:prstDash val="solid"/>
          </a:ln>
        </p:spPr>
      </p:sp>
      <p:pic>
        <p:nvPicPr>
          <p:cNvPr id="6" name="Image 0" descr="preencoded.png">    </p:cNvPr>
          <p:cNvPicPr>
            <a:picLocks noChangeAspect="1"/>
          </p:cNvPicPr>
          <p:nvPr/>
        </p:nvPicPr>
        <p:blipFill>
          <a:blip r:embed="rId1"/>
          <a:stretch>
            <a:fillRect/>
          </a:stretch>
        </p:blipFill>
        <p:spPr>
          <a:xfrm>
            <a:off x="1559052" y="3017520"/>
            <a:ext cx="585216" cy="585216"/>
          </a:xfrm>
          <a:prstGeom prst="rect">
            <a:avLst/>
          </a:prstGeom>
        </p:spPr>
      </p:pic>
      <p:sp>
        <p:nvSpPr>
          <p:cNvPr id="7" name="Text 4"/>
          <p:cNvSpPr/>
          <p:nvPr/>
        </p:nvSpPr>
        <p:spPr>
          <a:xfrm>
            <a:off x="685800" y="3749040"/>
            <a:ext cx="233172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정책 그래프</a:t>
            </a:r>
            <a:endParaRPr lang="en-US" sz="1550" dirty="0"/>
          </a:p>
        </p:txBody>
      </p:sp>
      <p:sp>
        <p:nvSpPr>
          <p:cNvPr id="8" name="Text 5"/>
          <p:cNvSpPr/>
          <p:nvPr/>
        </p:nvSpPr>
        <p:spPr>
          <a:xfrm>
            <a:off x="685800" y="4206240"/>
            <a:ext cx="2331720" cy="731520"/>
          </a:xfrm>
          <a:prstGeom prst="rect">
            <a:avLst/>
          </a:prstGeom>
          <a:noFill/>
          <a:ln/>
        </p:spPr>
        <p:txBody>
          <a:bodyPr wrap="square" lIns="0" tIns="0" rIns="0" bIns="0" rtlCol="0" anchor="ctr"/>
          <a:lstStyle/>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정책을 노드, 공존확률을</a:t>
            </a:r>
            <a:endParaRPr lang="en-US" sz="1150" dirty="0"/>
          </a:p>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엣지로 모델링</a:t>
            </a:r>
            <a:endParaRPr lang="en-US" sz="1150" dirty="0"/>
          </a:p>
        </p:txBody>
      </p:sp>
      <p:sp>
        <p:nvSpPr>
          <p:cNvPr id="9" name="Shape 6"/>
          <p:cNvSpPr/>
          <p:nvPr/>
        </p:nvSpPr>
        <p:spPr>
          <a:xfrm>
            <a:off x="3410712" y="2697480"/>
            <a:ext cx="2606040" cy="2331720"/>
          </a:xfrm>
          <a:prstGeom prst="rect">
            <a:avLst/>
          </a:prstGeom>
          <a:solidFill>
            <a:srgbClr val="1D2B5C"/>
          </a:solidFill>
          <a:ln w="12700">
            <a:solidFill>
              <a:srgbClr val="2A3868"/>
            </a:solidFill>
            <a:prstDash val="solid"/>
          </a:ln>
        </p:spPr>
      </p:sp>
      <p:pic>
        <p:nvPicPr>
          <p:cNvPr id="10" name="Image 1" descr="preencoded.png">    </p:cNvPr>
          <p:cNvPicPr>
            <a:picLocks noChangeAspect="1"/>
          </p:cNvPicPr>
          <p:nvPr/>
        </p:nvPicPr>
        <p:blipFill>
          <a:blip r:embed="rId2"/>
          <a:stretch>
            <a:fillRect/>
          </a:stretch>
        </p:blipFill>
        <p:spPr>
          <a:xfrm>
            <a:off x="4421124" y="3017520"/>
            <a:ext cx="585216" cy="585216"/>
          </a:xfrm>
          <a:prstGeom prst="rect">
            <a:avLst/>
          </a:prstGeom>
        </p:spPr>
      </p:pic>
      <p:sp>
        <p:nvSpPr>
          <p:cNvPr id="11" name="Text 7"/>
          <p:cNvSpPr/>
          <p:nvPr/>
        </p:nvSpPr>
        <p:spPr>
          <a:xfrm>
            <a:off x="3547872" y="3749040"/>
            <a:ext cx="233172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난이도 조절</a:t>
            </a:r>
            <a:endParaRPr lang="en-US" sz="1550" dirty="0"/>
          </a:p>
        </p:txBody>
      </p:sp>
      <p:sp>
        <p:nvSpPr>
          <p:cNvPr id="12" name="Text 8"/>
          <p:cNvSpPr/>
          <p:nvPr/>
        </p:nvSpPr>
        <p:spPr>
          <a:xfrm>
            <a:off x="3547872" y="4206240"/>
            <a:ext cx="2331720" cy="731520"/>
          </a:xfrm>
          <a:prstGeom prst="rect">
            <a:avLst/>
          </a:prstGeom>
          <a:noFill/>
          <a:ln/>
        </p:spPr>
        <p:txBody>
          <a:bodyPr wrap="square" lIns="0" tIns="0" rIns="0" bIns="0" rtlCol="0" anchor="ctr"/>
          <a:lstStyle/>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그래프 랜덤워크로</a:t>
            </a:r>
            <a:endParaRPr lang="en-US" sz="1150" dirty="0"/>
          </a:p>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연속적 난이도 생성</a:t>
            </a:r>
            <a:endParaRPr lang="en-US" sz="1150" dirty="0"/>
          </a:p>
        </p:txBody>
      </p:sp>
      <p:sp>
        <p:nvSpPr>
          <p:cNvPr id="13" name="Shape 9"/>
          <p:cNvSpPr/>
          <p:nvPr/>
        </p:nvSpPr>
        <p:spPr>
          <a:xfrm>
            <a:off x="6272784" y="2697480"/>
            <a:ext cx="2606040" cy="2331720"/>
          </a:xfrm>
          <a:prstGeom prst="rect">
            <a:avLst/>
          </a:prstGeom>
          <a:solidFill>
            <a:srgbClr val="1D2B5C"/>
          </a:solidFill>
          <a:ln w="12700">
            <a:solidFill>
              <a:srgbClr val="2A3868"/>
            </a:solidFill>
            <a:prstDash val="solid"/>
          </a:ln>
        </p:spPr>
      </p:sp>
      <p:pic>
        <p:nvPicPr>
          <p:cNvPr id="14" name="Image 2" descr="preencoded.png">    </p:cNvPr>
          <p:cNvPicPr>
            <a:picLocks noChangeAspect="1"/>
          </p:cNvPicPr>
          <p:nvPr/>
        </p:nvPicPr>
        <p:blipFill>
          <a:blip r:embed="rId3"/>
          <a:stretch>
            <a:fillRect/>
          </a:stretch>
        </p:blipFill>
        <p:spPr>
          <a:xfrm>
            <a:off x="7283196" y="3017520"/>
            <a:ext cx="585216" cy="585216"/>
          </a:xfrm>
          <a:prstGeom prst="rect">
            <a:avLst/>
          </a:prstGeom>
        </p:spPr>
      </p:pic>
      <p:sp>
        <p:nvSpPr>
          <p:cNvPr id="15" name="Text 10"/>
          <p:cNvSpPr/>
          <p:nvPr/>
        </p:nvSpPr>
        <p:spPr>
          <a:xfrm>
            <a:off x="6409944" y="3749040"/>
            <a:ext cx="233172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대화 시뮬레이션</a:t>
            </a:r>
            <a:endParaRPr lang="en-US" sz="1550" dirty="0"/>
          </a:p>
        </p:txBody>
      </p:sp>
      <p:sp>
        <p:nvSpPr>
          <p:cNvPr id="16" name="Text 11"/>
          <p:cNvSpPr/>
          <p:nvPr/>
        </p:nvSpPr>
        <p:spPr>
          <a:xfrm>
            <a:off x="6409944" y="4206240"/>
            <a:ext cx="2331720" cy="731520"/>
          </a:xfrm>
          <a:prstGeom prst="rect">
            <a:avLst/>
          </a:prstGeom>
          <a:noFill/>
          <a:ln/>
        </p:spPr>
        <p:txBody>
          <a:bodyPr wrap="square" lIns="0" tIns="0" rIns="0" bIns="0" rtlCol="0" anchor="ctr"/>
          <a:lstStyle/>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사용자 에이전트가 실제</a:t>
            </a:r>
            <a:endParaRPr lang="en-US" sz="1150" dirty="0"/>
          </a:p>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챗봇과 동적 대화</a:t>
            </a:r>
            <a:endParaRPr lang="en-US" sz="1150" dirty="0"/>
          </a:p>
        </p:txBody>
      </p:sp>
      <p:sp>
        <p:nvSpPr>
          <p:cNvPr id="17" name="Shape 12"/>
          <p:cNvSpPr/>
          <p:nvPr/>
        </p:nvSpPr>
        <p:spPr>
          <a:xfrm>
            <a:off x="9134856" y="2697480"/>
            <a:ext cx="2606040" cy="2331720"/>
          </a:xfrm>
          <a:prstGeom prst="rect">
            <a:avLst/>
          </a:prstGeom>
          <a:solidFill>
            <a:srgbClr val="1D2B5C"/>
          </a:solidFill>
          <a:ln w="12700">
            <a:solidFill>
              <a:srgbClr val="2A3868"/>
            </a:solidFill>
            <a:prstDash val="solid"/>
          </a:ln>
        </p:spPr>
      </p:sp>
      <p:pic>
        <p:nvPicPr>
          <p:cNvPr id="18" name="Image 3" descr="preencoded.png">    </p:cNvPr>
          <p:cNvPicPr>
            <a:picLocks noChangeAspect="1"/>
          </p:cNvPicPr>
          <p:nvPr/>
        </p:nvPicPr>
        <p:blipFill>
          <a:blip r:embed="rId4"/>
          <a:stretch>
            <a:fillRect/>
          </a:stretch>
        </p:blipFill>
        <p:spPr>
          <a:xfrm>
            <a:off x="10145268" y="3017520"/>
            <a:ext cx="585216" cy="585216"/>
          </a:xfrm>
          <a:prstGeom prst="rect">
            <a:avLst/>
          </a:prstGeom>
        </p:spPr>
      </p:pic>
      <p:sp>
        <p:nvSpPr>
          <p:cNvPr id="19" name="Text 13"/>
          <p:cNvSpPr/>
          <p:nvPr/>
        </p:nvSpPr>
        <p:spPr>
          <a:xfrm>
            <a:off x="9272016" y="3749040"/>
            <a:ext cx="233172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세분화 진단</a:t>
            </a:r>
            <a:endParaRPr lang="en-US" sz="1550" dirty="0"/>
          </a:p>
        </p:txBody>
      </p:sp>
      <p:sp>
        <p:nvSpPr>
          <p:cNvPr id="20" name="Text 14"/>
          <p:cNvSpPr/>
          <p:nvPr/>
        </p:nvSpPr>
        <p:spPr>
          <a:xfrm>
            <a:off x="9272016" y="4206240"/>
            <a:ext cx="2331720" cy="731520"/>
          </a:xfrm>
          <a:prstGeom prst="rect">
            <a:avLst/>
          </a:prstGeom>
          <a:noFill/>
          <a:ln/>
        </p:spPr>
        <p:txBody>
          <a:bodyPr wrap="square" lIns="0" tIns="0" rIns="0" bIns="0" rtlCol="0" anchor="ctr"/>
          <a:lstStyle/>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정책별·난이도별</a:t>
            </a:r>
            <a:endParaRPr lang="en-US" sz="1150" dirty="0"/>
          </a:p>
          <a:p>
            <a:pPr algn="ctr" indent="0" marL="0">
              <a:lnSpc>
                <a:spcPct val="120000"/>
              </a:lnSpc>
              <a:buNone/>
            </a:pPr>
            <a:r>
              <a:rPr lang="en-US" sz="1150" dirty="0">
                <a:solidFill>
                  <a:srgbClr val="CBD8F0"/>
                </a:solidFill>
                <a:latin typeface="Calibri" pitchFamily="34" charset="0"/>
                <a:ea typeface="Calibri" pitchFamily="34" charset="-122"/>
                <a:cs typeface="Calibri" pitchFamily="34" charset="-120"/>
              </a:rPr>
              <a:t>성능 리포트</a:t>
            </a:r>
            <a:endParaRPr lang="en-US" sz="1150" dirty="0"/>
          </a:p>
        </p:txBody>
      </p:sp>
      <p:pic>
        <p:nvPicPr>
          <p:cNvPr id="21" name="Image 4" descr="preencoded.png">    </p:cNvPr>
          <p:cNvPicPr>
            <a:picLocks noChangeAspect="1"/>
          </p:cNvPicPr>
          <p:nvPr/>
        </p:nvPicPr>
        <p:blipFill>
          <a:blip r:embed="rId5"/>
          <a:stretch>
            <a:fillRect/>
          </a:stretch>
        </p:blipFill>
        <p:spPr>
          <a:xfrm>
            <a:off x="594360" y="5532120"/>
            <a:ext cx="292608" cy="292608"/>
          </a:xfrm>
          <a:prstGeom prst="rect">
            <a:avLst/>
          </a:prstGeom>
        </p:spPr>
      </p:pic>
      <p:sp>
        <p:nvSpPr>
          <p:cNvPr id="22" name="Text 15"/>
          <p:cNvSpPr/>
          <p:nvPr/>
        </p:nvSpPr>
        <p:spPr>
          <a:xfrm>
            <a:off x="960120" y="5532120"/>
            <a:ext cx="7315200" cy="320040"/>
          </a:xfrm>
          <a:prstGeom prst="rect">
            <a:avLst/>
          </a:prstGeom>
          <a:noFill/>
          <a:ln/>
        </p:spPr>
        <p:txBody>
          <a:bodyPr wrap="square" lIns="0" tIns="0" rIns="0" bIns="0" rtlCol="0" anchor="ctr"/>
          <a:lstStyle/>
          <a:p>
            <a:pPr indent="0" marL="0">
              <a:buNone/>
            </a:pPr>
            <a:r>
              <a:rPr lang="en-US" sz="1200" dirty="0">
                <a:solidFill>
                  <a:srgbClr val="9AA8D8"/>
                </a:solidFill>
                <a:latin typeface="Calibri" pitchFamily="34" charset="0"/>
                <a:ea typeface="Calibri" pitchFamily="34" charset="-122"/>
                <a:cs typeface="Calibri" pitchFamily="34" charset="-120"/>
              </a:rPr>
              <a:t>github.com/plurai-ai/intellagent   ·   Apache 2.0 License</a:t>
            </a:r>
            <a:endParaRPr lang="en-US" sz="1200" dirty="0"/>
          </a:p>
        </p:txBody>
      </p:sp>
      <p:sp>
        <p:nvSpPr>
          <p:cNvPr id="23" name="Text 1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24" name="Text 17"/>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03</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핵심 아키텍처</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4단계 파이프라인</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정책 그래프 구축부터 세분화 진단까지</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PIPELINE OVERVIEW</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전체 파이프라인 흐름</a:t>
            </a:r>
            <a:endParaRPr lang="en-US" sz="3000" dirty="0"/>
          </a:p>
        </p:txBody>
      </p:sp>
      <p:sp>
        <p:nvSpPr>
          <p:cNvPr id="4" name="Shape 2"/>
          <p:cNvSpPr/>
          <p:nvPr/>
        </p:nvSpPr>
        <p:spPr>
          <a:xfrm>
            <a:off x="548640" y="2377440"/>
            <a:ext cx="1691640" cy="1371600"/>
          </a:xfrm>
          <a:prstGeom prst="rect">
            <a:avLst/>
          </a:prstGeom>
          <a:solidFill>
            <a:srgbClr val="E9ECF7"/>
          </a:solidFill>
          <a:ln w="19050">
            <a:solidFill>
              <a:srgbClr val="0F1A3C"/>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548640" y="2377440"/>
            <a:ext cx="1691640" cy="73152"/>
          </a:xfrm>
          <a:prstGeom prst="rect">
            <a:avLst/>
          </a:prstGeom>
          <a:solidFill>
            <a:srgbClr val="0F1A3C"/>
          </a:solidFill>
          <a:ln/>
        </p:spPr>
      </p:sp>
      <p:pic>
        <p:nvPicPr>
          <p:cNvPr id="6" name="Image 0" descr="preencoded.png">    </p:cNvPr>
          <p:cNvPicPr>
            <a:picLocks noChangeAspect="1"/>
          </p:cNvPicPr>
          <p:nvPr/>
        </p:nvPicPr>
        <p:blipFill>
          <a:blip r:embed="rId1"/>
          <a:stretch>
            <a:fillRect/>
          </a:stretch>
        </p:blipFill>
        <p:spPr>
          <a:xfrm>
            <a:off x="1175004" y="2633472"/>
            <a:ext cx="438912" cy="438912"/>
          </a:xfrm>
          <a:prstGeom prst="rect">
            <a:avLst/>
          </a:prstGeom>
        </p:spPr>
      </p:pic>
      <p:sp>
        <p:nvSpPr>
          <p:cNvPr id="7" name="Text 4"/>
          <p:cNvSpPr/>
          <p:nvPr/>
        </p:nvSpPr>
        <p:spPr>
          <a:xfrm>
            <a:off x="62179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시스템 프롬프트</a:t>
            </a:r>
            <a:endParaRPr lang="en-US" sz="1050" dirty="0"/>
          </a:p>
        </p:txBody>
      </p:sp>
      <p:sp>
        <p:nvSpPr>
          <p:cNvPr id="8" name="Text 5"/>
          <p:cNvSpPr/>
          <p:nvPr/>
        </p:nvSpPr>
        <p:spPr>
          <a:xfrm>
            <a:off x="548640" y="3803904"/>
            <a:ext cx="1691640" cy="274320"/>
          </a:xfrm>
          <a:prstGeom prst="rect">
            <a:avLst/>
          </a:prstGeom>
          <a:noFill/>
          <a:ln/>
        </p:spPr>
        <p:txBody>
          <a:bodyPr wrap="square" lIns="0" tIns="0" rIns="0" bIns="0" rtlCol="0" anchor="ctr"/>
          <a:lstStyle/>
          <a:p>
            <a:pPr algn="ctr" indent="0" marL="0">
              <a:buNone/>
            </a:pPr>
            <a:r>
              <a:rPr lang="en-US" sz="1000" i="1" dirty="0">
                <a:solidFill>
                  <a:srgbClr val="5B6584"/>
                </a:solidFill>
                <a:latin typeface="Calibri" pitchFamily="34" charset="0"/>
                <a:ea typeface="Calibri" pitchFamily="34" charset="-122"/>
                <a:cs typeface="Calibri" pitchFamily="34" charset="-120"/>
              </a:rPr>
              <a:t>입력</a:t>
            </a:r>
            <a:endParaRPr lang="en-US" sz="1000" dirty="0"/>
          </a:p>
        </p:txBody>
      </p:sp>
      <p:sp>
        <p:nvSpPr>
          <p:cNvPr id="9" name="Text 6"/>
          <p:cNvSpPr/>
          <p:nvPr/>
        </p:nvSpPr>
        <p:spPr>
          <a:xfrm>
            <a:off x="2240280" y="2862072"/>
            <a:ext cx="182880" cy="402336"/>
          </a:xfrm>
          <a:prstGeom prst="rect">
            <a:avLst/>
          </a:prstGeom>
          <a:noFill/>
          <a:ln/>
        </p:spPr>
        <p:txBody>
          <a:bodyPr wrap="square" lIns="0" tIns="0" rIns="0" bIns="0" rtlCol="0" anchor="ctr"/>
          <a:lstStyle/>
          <a:p>
            <a:pPr algn="ctr" indent="0" marL="0">
              <a:buNone/>
            </a:pPr>
            <a:r>
              <a:rPr lang="en-US" sz="1600" dirty="0">
                <a:solidFill>
                  <a:srgbClr val="AEB8D6"/>
                </a:solidFill>
              </a:rPr>
              <a:t>▶</a:t>
            </a:r>
            <a:endParaRPr lang="en-US" sz="1600" dirty="0"/>
          </a:p>
        </p:txBody>
      </p:sp>
      <p:sp>
        <p:nvSpPr>
          <p:cNvPr id="10" name="Shape 7"/>
          <p:cNvSpPr/>
          <p:nvPr/>
        </p:nvSpPr>
        <p:spPr>
          <a:xfrm>
            <a:off x="2423160" y="2377440"/>
            <a:ext cx="1691640" cy="1371600"/>
          </a:xfrm>
          <a:prstGeom prst="rect">
            <a:avLst/>
          </a:prstGeom>
          <a:solidFill>
            <a:srgbClr val="FFFFFF"/>
          </a:solidFill>
          <a:ln w="19050">
            <a:solidFill>
              <a:srgbClr val="F5A623"/>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2423160" y="2377440"/>
            <a:ext cx="1691640" cy="73152"/>
          </a:xfrm>
          <a:prstGeom prst="rect">
            <a:avLst/>
          </a:prstGeom>
          <a:solidFill>
            <a:srgbClr val="F5A623"/>
          </a:solidFill>
          <a:ln/>
        </p:spPr>
      </p:sp>
      <p:pic>
        <p:nvPicPr>
          <p:cNvPr id="12" name="Image 1" descr="preencoded.png">    </p:cNvPr>
          <p:cNvPicPr>
            <a:picLocks noChangeAspect="1"/>
          </p:cNvPicPr>
          <p:nvPr/>
        </p:nvPicPr>
        <p:blipFill>
          <a:blip r:embed="rId2"/>
          <a:stretch>
            <a:fillRect/>
          </a:stretch>
        </p:blipFill>
        <p:spPr>
          <a:xfrm>
            <a:off x="3049524" y="2633472"/>
            <a:ext cx="438912" cy="438912"/>
          </a:xfrm>
          <a:prstGeom prst="rect">
            <a:avLst/>
          </a:prstGeom>
        </p:spPr>
      </p:pic>
      <p:sp>
        <p:nvSpPr>
          <p:cNvPr id="13" name="Text 9"/>
          <p:cNvSpPr/>
          <p:nvPr/>
        </p:nvSpPr>
        <p:spPr>
          <a:xfrm>
            <a:off x="249631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정책 그래프 구축</a:t>
            </a:r>
            <a:endParaRPr lang="en-US" sz="1050" dirty="0"/>
          </a:p>
        </p:txBody>
      </p:sp>
      <p:sp>
        <p:nvSpPr>
          <p:cNvPr id="14" name="Text 10"/>
          <p:cNvSpPr/>
          <p:nvPr/>
        </p:nvSpPr>
        <p:spPr>
          <a:xfrm>
            <a:off x="4114800" y="2862072"/>
            <a:ext cx="182880" cy="402336"/>
          </a:xfrm>
          <a:prstGeom prst="rect">
            <a:avLst/>
          </a:prstGeom>
          <a:noFill/>
          <a:ln/>
        </p:spPr>
        <p:txBody>
          <a:bodyPr wrap="square" lIns="0" tIns="0" rIns="0" bIns="0" rtlCol="0" anchor="ctr"/>
          <a:lstStyle/>
          <a:p>
            <a:pPr algn="ctr" indent="0" marL="0">
              <a:buNone/>
            </a:pPr>
            <a:r>
              <a:rPr lang="en-US" sz="1600" dirty="0">
                <a:solidFill>
                  <a:srgbClr val="AEB8D6"/>
                </a:solidFill>
              </a:rPr>
              <a:t>▶</a:t>
            </a:r>
            <a:endParaRPr lang="en-US" sz="1600" dirty="0"/>
          </a:p>
        </p:txBody>
      </p:sp>
      <p:sp>
        <p:nvSpPr>
          <p:cNvPr id="15" name="Shape 11"/>
          <p:cNvSpPr/>
          <p:nvPr/>
        </p:nvSpPr>
        <p:spPr>
          <a:xfrm>
            <a:off x="4297680" y="2377440"/>
            <a:ext cx="1691640" cy="1371600"/>
          </a:xfrm>
          <a:prstGeom prst="rect">
            <a:avLst/>
          </a:prstGeom>
          <a:solidFill>
            <a:srgbClr val="FFFFFF"/>
          </a:solidFill>
          <a:ln w="19050">
            <a:solidFill>
              <a:srgbClr val="4F86F7"/>
            </a:solidFill>
            <a:prstDash val="solid"/>
          </a:ln>
          <a:effectLst>
            <a:outerShdw sx="100000" sy="100000" kx="0" ky="0" algn="bl" rotWithShape="0" blurRad="101600" dist="38100" dir="8100000">
              <a:srgbClr val="000000">
                <a:alpha val="25000"/>
              </a:srgbClr>
            </a:outerShdw>
          </a:effectLst>
        </p:spPr>
      </p:sp>
      <p:sp>
        <p:nvSpPr>
          <p:cNvPr id="16" name="Shape 12"/>
          <p:cNvSpPr/>
          <p:nvPr/>
        </p:nvSpPr>
        <p:spPr>
          <a:xfrm>
            <a:off x="4297680" y="2377440"/>
            <a:ext cx="1691640" cy="73152"/>
          </a:xfrm>
          <a:prstGeom prst="rect">
            <a:avLst/>
          </a:prstGeom>
          <a:solidFill>
            <a:srgbClr val="4F86F7"/>
          </a:solidFill>
          <a:ln/>
        </p:spPr>
      </p:sp>
      <p:pic>
        <p:nvPicPr>
          <p:cNvPr id="17" name="Image 2" descr="preencoded.png">    </p:cNvPr>
          <p:cNvPicPr>
            <a:picLocks noChangeAspect="1"/>
          </p:cNvPicPr>
          <p:nvPr/>
        </p:nvPicPr>
        <p:blipFill>
          <a:blip r:embed="rId3"/>
          <a:stretch>
            <a:fillRect/>
          </a:stretch>
        </p:blipFill>
        <p:spPr>
          <a:xfrm>
            <a:off x="4924044" y="2633472"/>
            <a:ext cx="438912" cy="438912"/>
          </a:xfrm>
          <a:prstGeom prst="rect">
            <a:avLst/>
          </a:prstGeom>
        </p:spPr>
      </p:pic>
      <p:sp>
        <p:nvSpPr>
          <p:cNvPr id="18" name="Text 13"/>
          <p:cNvSpPr/>
          <p:nvPr/>
        </p:nvSpPr>
        <p:spPr>
          <a:xfrm>
            <a:off x="437083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이벤트 생성</a:t>
            </a:r>
            <a:endParaRPr lang="en-US" sz="1050" dirty="0"/>
          </a:p>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(난이도 조절)</a:t>
            </a:r>
            <a:endParaRPr lang="en-US" sz="1050" dirty="0"/>
          </a:p>
        </p:txBody>
      </p:sp>
      <p:sp>
        <p:nvSpPr>
          <p:cNvPr id="19" name="Text 14"/>
          <p:cNvSpPr/>
          <p:nvPr/>
        </p:nvSpPr>
        <p:spPr>
          <a:xfrm>
            <a:off x="5989320" y="2862072"/>
            <a:ext cx="182880" cy="402336"/>
          </a:xfrm>
          <a:prstGeom prst="rect">
            <a:avLst/>
          </a:prstGeom>
          <a:noFill/>
          <a:ln/>
        </p:spPr>
        <p:txBody>
          <a:bodyPr wrap="square" lIns="0" tIns="0" rIns="0" bIns="0" rtlCol="0" anchor="ctr"/>
          <a:lstStyle/>
          <a:p>
            <a:pPr algn="ctr" indent="0" marL="0">
              <a:buNone/>
            </a:pPr>
            <a:r>
              <a:rPr lang="en-US" sz="1600" dirty="0">
                <a:solidFill>
                  <a:srgbClr val="AEB8D6"/>
                </a:solidFill>
              </a:rPr>
              <a:t>▶</a:t>
            </a:r>
            <a:endParaRPr lang="en-US" sz="1600" dirty="0"/>
          </a:p>
        </p:txBody>
      </p:sp>
      <p:sp>
        <p:nvSpPr>
          <p:cNvPr id="20" name="Shape 15"/>
          <p:cNvSpPr/>
          <p:nvPr/>
        </p:nvSpPr>
        <p:spPr>
          <a:xfrm>
            <a:off x="6172200" y="2377440"/>
            <a:ext cx="1691640" cy="1371600"/>
          </a:xfrm>
          <a:prstGeom prst="rect">
            <a:avLst/>
          </a:prstGeom>
          <a:solidFill>
            <a:srgbClr val="FFFFFF"/>
          </a:solidFill>
          <a:ln w="19050">
            <a:solidFill>
              <a:srgbClr val="8B5CF6"/>
            </a:solidFill>
            <a:prstDash val="solid"/>
          </a:ln>
          <a:effectLst>
            <a:outerShdw sx="100000" sy="100000" kx="0" ky="0" algn="bl" rotWithShape="0" blurRad="101600" dist="38100" dir="8100000">
              <a:srgbClr val="000000">
                <a:alpha val="25000"/>
              </a:srgbClr>
            </a:outerShdw>
          </a:effectLst>
        </p:spPr>
      </p:sp>
      <p:sp>
        <p:nvSpPr>
          <p:cNvPr id="21" name="Shape 16"/>
          <p:cNvSpPr/>
          <p:nvPr/>
        </p:nvSpPr>
        <p:spPr>
          <a:xfrm>
            <a:off x="6172200" y="2377440"/>
            <a:ext cx="1691640" cy="73152"/>
          </a:xfrm>
          <a:prstGeom prst="rect">
            <a:avLst/>
          </a:prstGeom>
          <a:solidFill>
            <a:srgbClr val="8B5CF6"/>
          </a:solidFill>
          <a:ln/>
        </p:spPr>
      </p:sp>
      <p:pic>
        <p:nvPicPr>
          <p:cNvPr id="22" name="Image 3" descr="preencoded.png">    </p:cNvPr>
          <p:cNvPicPr>
            <a:picLocks noChangeAspect="1"/>
          </p:cNvPicPr>
          <p:nvPr/>
        </p:nvPicPr>
        <p:blipFill>
          <a:blip r:embed="rId4"/>
          <a:stretch>
            <a:fillRect/>
          </a:stretch>
        </p:blipFill>
        <p:spPr>
          <a:xfrm>
            <a:off x="6798564" y="2633472"/>
            <a:ext cx="438912" cy="438912"/>
          </a:xfrm>
          <a:prstGeom prst="rect">
            <a:avLst/>
          </a:prstGeom>
        </p:spPr>
      </p:pic>
      <p:sp>
        <p:nvSpPr>
          <p:cNvPr id="23" name="Text 17"/>
          <p:cNvSpPr/>
          <p:nvPr/>
        </p:nvSpPr>
        <p:spPr>
          <a:xfrm>
            <a:off x="624535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대화 시뮬레이션</a:t>
            </a:r>
            <a:endParaRPr lang="en-US" sz="1050" dirty="0"/>
          </a:p>
        </p:txBody>
      </p:sp>
      <p:sp>
        <p:nvSpPr>
          <p:cNvPr id="24" name="Text 18"/>
          <p:cNvSpPr/>
          <p:nvPr/>
        </p:nvSpPr>
        <p:spPr>
          <a:xfrm>
            <a:off x="7863840" y="2862072"/>
            <a:ext cx="182880" cy="402336"/>
          </a:xfrm>
          <a:prstGeom prst="rect">
            <a:avLst/>
          </a:prstGeom>
          <a:noFill/>
          <a:ln/>
        </p:spPr>
        <p:txBody>
          <a:bodyPr wrap="square" lIns="0" tIns="0" rIns="0" bIns="0" rtlCol="0" anchor="ctr"/>
          <a:lstStyle/>
          <a:p>
            <a:pPr algn="ctr" indent="0" marL="0">
              <a:buNone/>
            </a:pPr>
            <a:r>
              <a:rPr lang="en-US" sz="1600" dirty="0">
                <a:solidFill>
                  <a:srgbClr val="AEB8D6"/>
                </a:solidFill>
              </a:rPr>
              <a:t>▶</a:t>
            </a:r>
            <a:endParaRPr lang="en-US" sz="1600" dirty="0"/>
          </a:p>
        </p:txBody>
      </p:sp>
      <p:sp>
        <p:nvSpPr>
          <p:cNvPr id="25" name="Shape 19"/>
          <p:cNvSpPr/>
          <p:nvPr/>
        </p:nvSpPr>
        <p:spPr>
          <a:xfrm>
            <a:off x="8046720" y="2377440"/>
            <a:ext cx="1691640" cy="1371600"/>
          </a:xfrm>
          <a:prstGeom prst="rect">
            <a:avLst/>
          </a:prstGeom>
          <a:solidFill>
            <a:srgbClr val="FFFFFF"/>
          </a:solidFill>
          <a:ln w="19050">
            <a:solidFill>
              <a:srgbClr val="34B27B"/>
            </a:solidFill>
            <a:prstDash val="solid"/>
          </a:ln>
          <a:effectLst>
            <a:outerShdw sx="100000" sy="100000" kx="0" ky="0" algn="bl" rotWithShape="0" blurRad="101600" dist="38100" dir="8100000">
              <a:srgbClr val="000000">
                <a:alpha val="25000"/>
              </a:srgbClr>
            </a:outerShdw>
          </a:effectLst>
        </p:spPr>
      </p:sp>
      <p:sp>
        <p:nvSpPr>
          <p:cNvPr id="26" name="Shape 20"/>
          <p:cNvSpPr/>
          <p:nvPr/>
        </p:nvSpPr>
        <p:spPr>
          <a:xfrm>
            <a:off x="8046720" y="2377440"/>
            <a:ext cx="1691640" cy="73152"/>
          </a:xfrm>
          <a:prstGeom prst="rect">
            <a:avLst/>
          </a:prstGeom>
          <a:solidFill>
            <a:srgbClr val="34B27B"/>
          </a:solidFill>
          <a:ln/>
        </p:spPr>
      </p:sp>
      <p:pic>
        <p:nvPicPr>
          <p:cNvPr id="27" name="Image 4" descr="preencoded.png">    </p:cNvPr>
          <p:cNvPicPr>
            <a:picLocks noChangeAspect="1"/>
          </p:cNvPicPr>
          <p:nvPr/>
        </p:nvPicPr>
        <p:blipFill>
          <a:blip r:embed="rId5"/>
          <a:stretch>
            <a:fillRect/>
          </a:stretch>
        </p:blipFill>
        <p:spPr>
          <a:xfrm>
            <a:off x="8673084" y="2633472"/>
            <a:ext cx="438912" cy="438912"/>
          </a:xfrm>
          <a:prstGeom prst="rect">
            <a:avLst/>
          </a:prstGeom>
        </p:spPr>
      </p:pic>
      <p:sp>
        <p:nvSpPr>
          <p:cNvPr id="28" name="Text 21"/>
          <p:cNvSpPr/>
          <p:nvPr/>
        </p:nvSpPr>
        <p:spPr>
          <a:xfrm>
            <a:off x="811987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비평 및 진단</a:t>
            </a:r>
            <a:endParaRPr lang="en-US" sz="1050" dirty="0"/>
          </a:p>
        </p:txBody>
      </p:sp>
      <p:sp>
        <p:nvSpPr>
          <p:cNvPr id="29" name="Text 22"/>
          <p:cNvSpPr/>
          <p:nvPr/>
        </p:nvSpPr>
        <p:spPr>
          <a:xfrm>
            <a:off x="9738360" y="2862072"/>
            <a:ext cx="182880" cy="402336"/>
          </a:xfrm>
          <a:prstGeom prst="rect">
            <a:avLst/>
          </a:prstGeom>
          <a:noFill/>
          <a:ln/>
        </p:spPr>
        <p:txBody>
          <a:bodyPr wrap="square" lIns="0" tIns="0" rIns="0" bIns="0" rtlCol="0" anchor="ctr"/>
          <a:lstStyle/>
          <a:p>
            <a:pPr algn="ctr" indent="0" marL="0">
              <a:buNone/>
            </a:pPr>
            <a:r>
              <a:rPr lang="en-US" sz="1600" dirty="0">
                <a:solidFill>
                  <a:srgbClr val="AEB8D6"/>
                </a:solidFill>
              </a:rPr>
              <a:t>▶</a:t>
            </a:r>
            <a:endParaRPr lang="en-US" sz="1600" dirty="0"/>
          </a:p>
        </p:txBody>
      </p:sp>
      <p:sp>
        <p:nvSpPr>
          <p:cNvPr id="30" name="Shape 23"/>
          <p:cNvSpPr/>
          <p:nvPr/>
        </p:nvSpPr>
        <p:spPr>
          <a:xfrm>
            <a:off x="9921240" y="2377440"/>
            <a:ext cx="1691640" cy="1371600"/>
          </a:xfrm>
          <a:prstGeom prst="rect">
            <a:avLst/>
          </a:prstGeom>
          <a:solidFill>
            <a:srgbClr val="E9ECF7"/>
          </a:solidFill>
          <a:ln w="19050">
            <a:solidFill>
              <a:srgbClr val="0F1A3C"/>
            </a:solidFill>
            <a:prstDash val="solid"/>
          </a:ln>
          <a:effectLst>
            <a:outerShdw sx="100000" sy="100000" kx="0" ky="0" algn="bl" rotWithShape="0" blurRad="101600" dist="38100" dir="8100000">
              <a:srgbClr val="000000">
                <a:alpha val="25000"/>
              </a:srgbClr>
            </a:outerShdw>
          </a:effectLst>
        </p:spPr>
      </p:sp>
      <p:sp>
        <p:nvSpPr>
          <p:cNvPr id="31" name="Shape 24"/>
          <p:cNvSpPr/>
          <p:nvPr/>
        </p:nvSpPr>
        <p:spPr>
          <a:xfrm>
            <a:off x="9921240" y="2377440"/>
            <a:ext cx="1691640" cy="73152"/>
          </a:xfrm>
          <a:prstGeom prst="rect">
            <a:avLst/>
          </a:prstGeom>
          <a:solidFill>
            <a:srgbClr val="0F1A3C"/>
          </a:solidFill>
          <a:ln/>
        </p:spPr>
      </p:sp>
      <p:pic>
        <p:nvPicPr>
          <p:cNvPr id="32" name="Image 5" descr="preencoded.png">    </p:cNvPr>
          <p:cNvPicPr>
            <a:picLocks noChangeAspect="1"/>
          </p:cNvPicPr>
          <p:nvPr/>
        </p:nvPicPr>
        <p:blipFill>
          <a:blip r:embed="rId6"/>
          <a:stretch>
            <a:fillRect/>
          </a:stretch>
        </p:blipFill>
        <p:spPr>
          <a:xfrm>
            <a:off x="10547604" y="2633472"/>
            <a:ext cx="438912" cy="438912"/>
          </a:xfrm>
          <a:prstGeom prst="rect">
            <a:avLst/>
          </a:prstGeom>
        </p:spPr>
      </p:pic>
      <p:sp>
        <p:nvSpPr>
          <p:cNvPr id="33" name="Text 25"/>
          <p:cNvSpPr/>
          <p:nvPr/>
        </p:nvSpPr>
        <p:spPr>
          <a:xfrm>
            <a:off x="9994392" y="3154680"/>
            <a:ext cx="1545336" cy="548640"/>
          </a:xfrm>
          <a:prstGeom prst="rect">
            <a:avLst/>
          </a:prstGeom>
          <a:noFill/>
          <a:ln/>
        </p:spPr>
        <p:txBody>
          <a:bodyPr wrap="square" lIns="0" tIns="0" rIns="0" bIns="0" rtlCol="0" anchor="ctr"/>
          <a:lstStyle/>
          <a:p>
            <a:pPr algn="ctr" indent="0" marL="0">
              <a:lnSpc>
                <a:spcPct val="110000"/>
              </a:lnSpc>
              <a:buNone/>
            </a:pPr>
            <a:r>
              <a:rPr lang="en-US" sz="1050" b="1" dirty="0">
                <a:solidFill>
                  <a:srgbClr val="1A2144"/>
                </a:solidFill>
                <a:latin typeface="Calibri" pitchFamily="34" charset="0"/>
                <a:ea typeface="Calibri" pitchFamily="34" charset="-122"/>
                <a:cs typeface="Calibri" pitchFamily="34" charset="-120"/>
              </a:rPr>
              <a:t>성능 리포트</a:t>
            </a:r>
            <a:endParaRPr lang="en-US" sz="1050" dirty="0"/>
          </a:p>
        </p:txBody>
      </p:sp>
      <p:sp>
        <p:nvSpPr>
          <p:cNvPr id="34" name="Text 26"/>
          <p:cNvSpPr/>
          <p:nvPr/>
        </p:nvSpPr>
        <p:spPr>
          <a:xfrm>
            <a:off x="9921240" y="3803904"/>
            <a:ext cx="1691640" cy="274320"/>
          </a:xfrm>
          <a:prstGeom prst="rect">
            <a:avLst/>
          </a:prstGeom>
          <a:noFill/>
          <a:ln/>
        </p:spPr>
        <p:txBody>
          <a:bodyPr wrap="square" lIns="0" tIns="0" rIns="0" bIns="0" rtlCol="0" anchor="ctr"/>
          <a:lstStyle/>
          <a:p>
            <a:pPr algn="ctr" indent="0" marL="0">
              <a:buNone/>
            </a:pPr>
            <a:r>
              <a:rPr lang="en-US" sz="1000" i="1" dirty="0">
                <a:solidFill>
                  <a:srgbClr val="5B6584"/>
                </a:solidFill>
                <a:latin typeface="Calibri" pitchFamily="34" charset="0"/>
                <a:ea typeface="Calibri" pitchFamily="34" charset="-122"/>
                <a:cs typeface="Calibri" pitchFamily="34" charset="-120"/>
              </a:rPr>
              <a:t>출력</a:t>
            </a:r>
            <a:endParaRPr lang="en-US" sz="1000" dirty="0"/>
          </a:p>
        </p:txBody>
      </p:sp>
      <p:sp>
        <p:nvSpPr>
          <p:cNvPr id="35" name="Text 27"/>
          <p:cNvSpPr/>
          <p:nvPr/>
        </p:nvSpPr>
        <p:spPr>
          <a:xfrm>
            <a:off x="548640" y="4343400"/>
            <a:ext cx="11064240" cy="365760"/>
          </a:xfrm>
          <a:prstGeom prst="rect">
            <a:avLst/>
          </a:prstGeom>
          <a:noFill/>
          <a:ln/>
        </p:spPr>
        <p:txBody>
          <a:bodyPr wrap="square" lIns="0" tIns="0" rIns="0" bIns="0" rtlCol="0" anchor="ctr"/>
          <a:lstStyle/>
          <a:p>
            <a:pPr indent="0" marL="0">
              <a:buNone/>
            </a:pPr>
            <a:r>
              <a:rPr lang="en-US" sz="1200" i="1" dirty="0">
                <a:solidFill>
                  <a:srgbClr val="5B6584"/>
                </a:solidFill>
                <a:latin typeface="Calibri" pitchFamily="34" charset="0"/>
                <a:ea typeface="Calibri" pitchFamily="34" charset="-122"/>
                <a:cs typeface="Calibri" pitchFamily="34" charset="-120"/>
              </a:rPr>
              <a:t>DB 스키마가 있는 도메인(항공사 등)은 이벤트 생성 단계에서 심볼 → 실제 DB 행으로 인스턴스화된다</a:t>
            </a:r>
            <a:endParaRPr lang="en-US" sz="1200" dirty="0"/>
          </a:p>
        </p:txBody>
      </p:sp>
      <p:sp>
        <p:nvSpPr>
          <p:cNvPr id="36" name="Text 28"/>
          <p:cNvSpPr/>
          <p:nvPr/>
        </p:nvSpPr>
        <p:spPr>
          <a:xfrm>
            <a:off x="548640" y="4828032"/>
            <a:ext cx="7315200" cy="292608"/>
          </a:xfrm>
          <a:prstGeom prst="rect">
            <a:avLst/>
          </a:prstGeom>
          <a:noFill/>
          <a:ln/>
        </p:spPr>
        <p:txBody>
          <a:bodyPr wrap="square" lIns="0" tIns="0" rIns="0" bIns="0" rtlCol="0" anchor="ctr"/>
          <a:lstStyle/>
          <a:p>
            <a:pPr indent="0" marL="0">
              <a:buNone/>
            </a:pPr>
            <a:r>
              <a:rPr lang="en-US" sz="1150" b="1" spc="100" kern="0" dirty="0">
                <a:solidFill>
                  <a:srgbClr val="F5A623"/>
                </a:solidFill>
                <a:latin typeface="Calibri" pitchFamily="34" charset="0"/>
                <a:ea typeface="Calibri" pitchFamily="34" charset="-122"/>
                <a:cs typeface="Calibri" pitchFamily="34" charset="-120"/>
              </a:rPr>
              <a:t>핵심 4단계 (위 파이프라인의 2~5번째 박스)</a:t>
            </a:r>
            <a:endParaRPr lang="en-US" sz="1150" dirty="0"/>
          </a:p>
        </p:txBody>
      </p:sp>
      <p:sp>
        <p:nvSpPr>
          <p:cNvPr id="37" name="Shape 29"/>
          <p:cNvSpPr/>
          <p:nvPr/>
        </p:nvSpPr>
        <p:spPr>
          <a:xfrm>
            <a:off x="2423160" y="5193792"/>
            <a:ext cx="329184" cy="329184"/>
          </a:xfrm>
          <a:prstGeom prst="ellipse">
            <a:avLst/>
          </a:prstGeom>
          <a:solidFill>
            <a:srgbClr val="F5A623"/>
          </a:solidFill>
          <a:ln/>
        </p:spPr>
      </p:sp>
      <p:sp>
        <p:nvSpPr>
          <p:cNvPr id="38" name="Text 30"/>
          <p:cNvSpPr/>
          <p:nvPr/>
        </p:nvSpPr>
        <p:spPr>
          <a:xfrm>
            <a:off x="2423160" y="51937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39" name="Text 31"/>
          <p:cNvSpPr/>
          <p:nvPr/>
        </p:nvSpPr>
        <p:spPr>
          <a:xfrm>
            <a:off x="2825496" y="5166360"/>
            <a:ext cx="1289304" cy="320040"/>
          </a:xfrm>
          <a:prstGeom prst="rect">
            <a:avLst/>
          </a:prstGeom>
          <a:noFill/>
          <a:ln/>
        </p:spPr>
        <p:txBody>
          <a:bodyPr wrap="square" lIns="0" tIns="0" rIns="0" bIns="0" rtlCol="0" anchor="ctr"/>
          <a:lstStyle/>
          <a:p>
            <a:pPr indent="0" marL="0">
              <a:buNone/>
            </a:pPr>
            <a:r>
              <a:rPr lang="en-US" sz="1200" b="1" dirty="0">
                <a:solidFill>
                  <a:srgbClr val="1A2144"/>
                </a:solidFill>
                <a:latin typeface="Calibri" pitchFamily="34" charset="0"/>
                <a:ea typeface="Calibri" pitchFamily="34" charset="-122"/>
                <a:cs typeface="Calibri" pitchFamily="34" charset="-120"/>
              </a:rPr>
              <a:t>정책 그래프 구축</a:t>
            </a:r>
            <a:endParaRPr lang="en-US" sz="1200" dirty="0"/>
          </a:p>
        </p:txBody>
      </p:sp>
      <p:sp>
        <p:nvSpPr>
          <p:cNvPr id="40" name="Text 32"/>
          <p:cNvSpPr/>
          <p:nvPr/>
        </p:nvSpPr>
        <p:spPr>
          <a:xfrm>
            <a:off x="2880360" y="5532120"/>
            <a:ext cx="1234440" cy="457200"/>
          </a:xfrm>
          <a:prstGeom prst="rect">
            <a:avLst/>
          </a:prstGeom>
          <a:noFill/>
          <a:ln/>
        </p:spPr>
        <p:txBody>
          <a:bodyPr wrap="square" lIns="0" tIns="0" rIns="0" bIns="0" rtlCol="0" anchor="ctr"/>
          <a:lstStyle/>
          <a:p>
            <a:pPr indent="0" marL="0">
              <a:lnSpc>
                <a:spcPct val="115000"/>
              </a:lnSpc>
              <a:buNone/>
            </a:pPr>
            <a:r>
              <a:rPr lang="en-US" sz="1050" dirty="0">
                <a:solidFill>
                  <a:srgbClr val="5B6584"/>
                </a:solidFill>
                <a:latin typeface="Calibri" pitchFamily="34" charset="0"/>
                <a:ea typeface="Calibri" pitchFamily="34" charset="-122"/>
                <a:cs typeface="Calibri" pitchFamily="34" charset="-120"/>
              </a:rPr>
              <a:t>노드=정책, 엣지=공존확률</a:t>
            </a:r>
            <a:endParaRPr lang="en-US" sz="1050" dirty="0"/>
          </a:p>
        </p:txBody>
      </p:sp>
      <p:sp>
        <p:nvSpPr>
          <p:cNvPr id="41" name="Shape 33"/>
          <p:cNvSpPr/>
          <p:nvPr/>
        </p:nvSpPr>
        <p:spPr>
          <a:xfrm>
            <a:off x="4297680" y="5193792"/>
            <a:ext cx="329184" cy="329184"/>
          </a:xfrm>
          <a:prstGeom prst="ellipse">
            <a:avLst/>
          </a:prstGeom>
          <a:solidFill>
            <a:srgbClr val="F5A623"/>
          </a:solidFill>
          <a:ln/>
        </p:spPr>
      </p:sp>
      <p:sp>
        <p:nvSpPr>
          <p:cNvPr id="42" name="Text 34"/>
          <p:cNvSpPr/>
          <p:nvPr/>
        </p:nvSpPr>
        <p:spPr>
          <a:xfrm>
            <a:off x="4297680" y="51937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43" name="Text 35"/>
          <p:cNvSpPr/>
          <p:nvPr/>
        </p:nvSpPr>
        <p:spPr>
          <a:xfrm>
            <a:off x="4700016" y="5166360"/>
            <a:ext cx="1289304" cy="320040"/>
          </a:xfrm>
          <a:prstGeom prst="rect">
            <a:avLst/>
          </a:prstGeom>
          <a:noFill/>
          <a:ln/>
        </p:spPr>
        <p:txBody>
          <a:bodyPr wrap="square" lIns="0" tIns="0" rIns="0" bIns="0" rtlCol="0" anchor="ctr"/>
          <a:lstStyle/>
          <a:p>
            <a:pPr indent="0" marL="0">
              <a:buNone/>
            </a:pPr>
            <a:r>
              <a:rPr lang="en-US" sz="1200" b="1" dirty="0">
                <a:solidFill>
                  <a:srgbClr val="1A2144"/>
                </a:solidFill>
                <a:latin typeface="Calibri" pitchFamily="34" charset="0"/>
                <a:ea typeface="Calibri" pitchFamily="34" charset="-122"/>
                <a:cs typeface="Calibri" pitchFamily="34" charset="-120"/>
              </a:rPr>
              <a:t>이벤트 생성</a:t>
            </a:r>
            <a:endParaRPr lang="en-US" sz="1200" dirty="0"/>
          </a:p>
        </p:txBody>
      </p:sp>
      <p:sp>
        <p:nvSpPr>
          <p:cNvPr id="44" name="Text 36"/>
          <p:cNvSpPr/>
          <p:nvPr/>
        </p:nvSpPr>
        <p:spPr>
          <a:xfrm>
            <a:off x="4754880" y="5532120"/>
            <a:ext cx="1234440" cy="457200"/>
          </a:xfrm>
          <a:prstGeom prst="rect">
            <a:avLst/>
          </a:prstGeom>
          <a:noFill/>
          <a:ln/>
        </p:spPr>
        <p:txBody>
          <a:bodyPr wrap="square" lIns="0" tIns="0" rIns="0" bIns="0" rtlCol="0" anchor="ctr"/>
          <a:lstStyle/>
          <a:p>
            <a:pPr indent="0" marL="0">
              <a:lnSpc>
                <a:spcPct val="115000"/>
              </a:lnSpc>
              <a:buNone/>
            </a:pPr>
            <a:r>
              <a:rPr lang="en-US" sz="1050" dirty="0">
                <a:solidFill>
                  <a:srgbClr val="5B6584"/>
                </a:solidFill>
                <a:latin typeface="Calibri" pitchFamily="34" charset="0"/>
                <a:ea typeface="Calibri" pitchFamily="34" charset="-122"/>
                <a:cs typeface="Calibri" pitchFamily="34" charset="-120"/>
              </a:rPr>
              <a:t>가중 랜덤워크로 난이도 조절</a:t>
            </a:r>
            <a:endParaRPr lang="en-US" sz="1050" dirty="0"/>
          </a:p>
        </p:txBody>
      </p:sp>
      <p:sp>
        <p:nvSpPr>
          <p:cNvPr id="45" name="Shape 37"/>
          <p:cNvSpPr/>
          <p:nvPr/>
        </p:nvSpPr>
        <p:spPr>
          <a:xfrm>
            <a:off x="6172200" y="5193792"/>
            <a:ext cx="329184" cy="329184"/>
          </a:xfrm>
          <a:prstGeom prst="ellipse">
            <a:avLst/>
          </a:prstGeom>
          <a:solidFill>
            <a:srgbClr val="F5A623"/>
          </a:solidFill>
          <a:ln/>
        </p:spPr>
      </p:sp>
      <p:sp>
        <p:nvSpPr>
          <p:cNvPr id="46" name="Text 38"/>
          <p:cNvSpPr/>
          <p:nvPr/>
        </p:nvSpPr>
        <p:spPr>
          <a:xfrm>
            <a:off x="6172200" y="51937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47" name="Text 39"/>
          <p:cNvSpPr/>
          <p:nvPr/>
        </p:nvSpPr>
        <p:spPr>
          <a:xfrm>
            <a:off x="6574536" y="5166360"/>
            <a:ext cx="1289304" cy="320040"/>
          </a:xfrm>
          <a:prstGeom prst="rect">
            <a:avLst/>
          </a:prstGeom>
          <a:noFill/>
          <a:ln/>
        </p:spPr>
        <p:txBody>
          <a:bodyPr wrap="square" lIns="0" tIns="0" rIns="0" bIns="0" rtlCol="0" anchor="ctr"/>
          <a:lstStyle/>
          <a:p>
            <a:pPr indent="0" marL="0">
              <a:buNone/>
            </a:pPr>
            <a:r>
              <a:rPr lang="en-US" sz="1200" b="1" dirty="0">
                <a:solidFill>
                  <a:srgbClr val="1A2144"/>
                </a:solidFill>
                <a:latin typeface="Calibri" pitchFamily="34" charset="0"/>
                <a:ea typeface="Calibri" pitchFamily="34" charset="-122"/>
                <a:cs typeface="Calibri" pitchFamily="34" charset="-120"/>
              </a:rPr>
              <a:t>대화 시뮬레이션</a:t>
            </a:r>
            <a:endParaRPr lang="en-US" sz="1200" dirty="0"/>
          </a:p>
        </p:txBody>
      </p:sp>
      <p:sp>
        <p:nvSpPr>
          <p:cNvPr id="48" name="Text 40"/>
          <p:cNvSpPr/>
          <p:nvPr/>
        </p:nvSpPr>
        <p:spPr>
          <a:xfrm>
            <a:off x="6629400" y="5532120"/>
            <a:ext cx="1234440" cy="457200"/>
          </a:xfrm>
          <a:prstGeom prst="rect">
            <a:avLst/>
          </a:prstGeom>
          <a:noFill/>
          <a:ln/>
        </p:spPr>
        <p:txBody>
          <a:bodyPr wrap="square" lIns="0" tIns="0" rIns="0" bIns="0" rtlCol="0" anchor="ctr"/>
          <a:lstStyle/>
          <a:p>
            <a:pPr indent="0" marL="0">
              <a:lnSpc>
                <a:spcPct val="115000"/>
              </a:lnSpc>
              <a:buNone/>
            </a:pPr>
            <a:r>
              <a:rPr lang="en-US" sz="1050" dirty="0">
                <a:solidFill>
                  <a:srgbClr val="5B6584"/>
                </a:solidFill>
                <a:latin typeface="Calibri" pitchFamily="34" charset="0"/>
                <a:ea typeface="Calibri" pitchFamily="34" charset="-122"/>
                <a:cs typeface="Calibri" pitchFamily="34" charset="-120"/>
              </a:rPr>
              <a:t>User Agent ↔ 대상 챗봇</a:t>
            </a:r>
            <a:endParaRPr lang="en-US" sz="1050" dirty="0"/>
          </a:p>
        </p:txBody>
      </p:sp>
      <p:sp>
        <p:nvSpPr>
          <p:cNvPr id="49" name="Shape 41"/>
          <p:cNvSpPr/>
          <p:nvPr/>
        </p:nvSpPr>
        <p:spPr>
          <a:xfrm>
            <a:off x="8046720" y="5193792"/>
            <a:ext cx="329184" cy="329184"/>
          </a:xfrm>
          <a:prstGeom prst="ellipse">
            <a:avLst/>
          </a:prstGeom>
          <a:solidFill>
            <a:srgbClr val="F5A623"/>
          </a:solidFill>
          <a:ln/>
        </p:spPr>
      </p:sp>
      <p:sp>
        <p:nvSpPr>
          <p:cNvPr id="50" name="Text 42"/>
          <p:cNvSpPr/>
          <p:nvPr/>
        </p:nvSpPr>
        <p:spPr>
          <a:xfrm>
            <a:off x="8046720" y="51937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51" name="Text 43"/>
          <p:cNvSpPr/>
          <p:nvPr/>
        </p:nvSpPr>
        <p:spPr>
          <a:xfrm>
            <a:off x="8449056" y="5166360"/>
            <a:ext cx="1289304" cy="320040"/>
          </a:xfrm>
          <a:prstGeom prst="rect">
            <a:avLst/>
          </a:prstGeom>
          <a:noFill/>
          <a:ln/>
        </p:spPr>
        <p:txBody>
          <a:bodyPr wrap="square" lIns="0" tIns="0" rIns="0" bIns="0" rtlCol="0" anchor="ctr"/>
          <a:lstStyle/>
          <a:p>
            <a:pPr indent="0" marL="0">
              <a:buNone/>
            </a:pPr>
            <a:r>
              <a:rPr lang="en-US" sz="1200" b="1" dirty="0">
                <a:solidFill>
                  <a:srgbClr val="1A2144"/>
                </a:solidFill>
                <a:latin typeface="Calibri" pitchFamily="34" charset="0"/>
                <a:ea typeface="Calibri" pitchFamily="34" charset="-122"/>
                <a:cs typeface="Calibri" pitchFamily="34" charset="-120"/>
              </a:rPr>
              <a:t>비평 및 진단</a:t>
            </a:r>
            <a:endParaRPr lang="en-US" sz="1200" dirty="0"/>
          </a:p>
        </p:txBody>
      </p:sp>
      <p:sp>
        <p:nvSpPr>
          <p:cNvPr id="52" name="Text 44"/>
          <p:cNvSpPr/>
          <p:nvPr/>
        </p:nvSpPr>
        <p:spPr>
          <a:xfrm>
            <a:off x="8503920" y="5532120"/>
            <a:ext cx="1234440" cy="457200"/>
          </a:xfrm>
          <a:prstGeom prst="rect">
            <a:avLst/>
          </a:prstGeom>
          <a:noFill/>
          <a:ln/>
        </p:spPr>
        <p:txBody>
          <a:bodyPr wrap="square" lIns="0" tIns="0" rIns="0" bIns="0" rtlCol="0" anchor="ctr"/>
          <a:lstStyle/>
          <a:p>
            <a:pPr indent="0" marL="0">
              <a:lnSpc>
                <a:spcPct val="115000"/>
              </a:lnSpc>
              <a:buNone/>
            </a:pPr>
            <a:r>
              <a:rPr lang="en-US" sz="1050" dirty="0">
                <a:solidFill>
                  <a:srgbClr val="5B6584"/>
                </a:solidFill>
                <a:latin typeface="Calibri" pitchFamily="34" charset="0"/>
                <a:ea typeface="Calibri" pitchFamily="34" charset="-122"/>
                <a:cs typeface="Calibri" pitchFamily="34" charset="-120"/>
              </a:rPr>
              <a:t>정책별·난이도별 리포트</a:t>
            </a:r>
            <a:endParaRPr lang="en-US" sz="1050" dirty="0"/>
          </a:p>
        </p:txBody>
      </p:sp>
      <p:sp>
        <p:nvSpPr>
          <p:cNvPr id="53" name="Text 45"/>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54" name="Text 46"/>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POLICY GRAPH CONSTRUCTION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1단계 · 정책 그래프 구축</a:t>
            </a:r>
            <a:endParaRPr lang="en-US" sz="3000" dirty="0"/>
          </a:p>
        </p:txBody>
      </p:sp>
      <p:sp>
        <p:nvSpPr>
          <p:cNvPr id="4" name="Shape 2"/>
          <p:cNvSpPr/>
          <p:nvPr/>
        </p:nvSpPr>
        <p:spPr>
          <a:xfrm>
            <a:off x="548640" y="1691640"/>
            <a:ext cx="5120640" cy="42062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868680" y="1965960"/>
            <a:ext cx="4480560" cy="182880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400" dirty="0">
                <a:solidFill>
                  <a:srgbClr val="1A2144"/>
                </a:solidFill>
                <a:latin typeface="Calibri" pitchFamily="34" charset="0"/>
                <a:ea typeface="Calibri" pitchFamily="34" charset="-122"/>
                <a:cs typeface="Calibri" pitchFamily="34" charset="-120"/>
              </a:rPr>
              <a:t>LLM이 시스템 프롬프트를 흐름(flow) 단위로 분해</a:t>
            </a:r>
            <a:endParaRPr lang="en-US" sz="1400" dirty="0"/>
          </a:p>
          <a:p>
            <a:pPr marL="342900" indent="-342900">
              <a:lnSpc>
                <a:spcPct val="125000"/>
              </a:lnSpc>
              <a:spcAft>
                <a:spcPts val="1400"/>
              </a:spcAft>
              <a:buSzPct val="100000"/>
              <a:buChar char="▸"/>
            </a:pPr>
            <a:r>
              <a:rPr lang="en-US" sz="1400" dirty="0">
                <a:solidFill>
                  <a:srgbClr val="1A2144"/>
                </a:solidFill>
                <a:latin typeface="Calibri" pitchFamily="34" charset="0"/>
                <a:ea typeface="Calibri" pitchFamily="34" charset="-122"/>
                <a:cs typeface="Calibri" pitchFamily="34" charset="-120"/>
              </a:rPr>
              <a:t>흐름별 개별 정책 추출 + 난이도 가중치 부여</a:t>
            </a:r>
            <a:endParaRPr lang="en-US" sz="1400" dirty="0"/>
          </a:p>
          <a:p>
            <a:pPr marL="342900" indent="-342900">
              <a:lnSpc>
                <a:spcPct val="125000"/>
              </a:lnSpc>
              <a:spcAft>
                <a:spcPts val="1400"/>
              </a:spcAft>
              <a:buSzPct val="100000"/>
              <a:buChar char="▸"/>
            </a:pPr>
            <a:r>
              <a:rPr lang="en-US" sz="1400" dirty="0">
                <a:solidFill>
                  <a:srgbClr val="1A2144"/>
                </a:solidFill>
                <a:latin typeface="Calibri" pitchFamily="34" charset="0"/>
                <a:ea typeface="Calibri" pitchFamily="34" charset="-122"/>
                <a:cs typeface="Calibri" pitchFamily="34" charset="-120"/>
              </a:rPr>
              <a:t>정책 쌍마다 공존 가능성을 1~10 척도로 점수화</a:t>
            </a:r>
            <a:endParaRPr lang="en-US" sz="1400" dirty="0"/>
          </a:p>
        </p:txBody>
      </p:sp>
      <p:sp>
        <p:nvSpPr>
          <p:cNvPr id="6" name="Shape 4"/>
          <p:cNvSpPr/>
          <p:nvPr/>
        </p:nvSpPr>
        <p:spPr>
          <a:xfrm>
            <a:off x="868680" y="3977640"/>
            <a:ext cx="4480560" cy="1691640"/>
          </a:xfrm>
          <a:prstGeom prst="rect">
            <a:avLst/>
          </a:prstGeom>
          <a:solidFill>
            <a:srgbClr val="F0F3FC"/>
          </a:solidFill>
          <a:ln/>
        </p:spPr>
      </p:sp>
      <p:sp>
        <p:nvSpPr>
          <p:cNvPr id="7" name="Text 5"/>
          <p:cNvSpPr/>
          <p:nvPr/>
        </p:nvSpPr>
        <p:spPr>
          <a:xfrm>
            <a:off x="1097280" y="4160520"/>
            <a:ext cx="4023360" cy="1371600"/>
          </a:xfrm>
          <a:prstGeom prst="rect">
            <a:avLst/>
          </a:prstGeom>
          <a:noFill/>
          <a:ln/>
        </p:spPr>
        <p:txBody>
          <a:bodyPr wrap="square" lIns="0" tIns="0" rIns="0" bIns="0" rtlCol="0" anchor="ctr"/>
          <a:lstStyle/>
          <a:p>
            <a:pPr indent="0" marL="0">
              <a:lnSpc>
                <a:spcPct val="120000"/>
              </a:lnSpc>
              <a:buNone/>
            </a:pPr>
            <a:r>
              <a:rPr lang="en-US" sz="1300" b="1" dirty="0">
                <a:solidFill>
                  <a:srgbClr val="F5A623"/>
                </a:solidFill>
                <a:latin typeface="Calibri" pitchFamily="34" charset="0"/>
                <a:ea typeface="Calibri" pitchFamily="34" charset="-122"/>
                <a:cs typeface="Calibri" pitchFamily="34" charset="-120"/>
              </a:rPr>
              <a:t>노드</a:t>
            </a:r>
            <a:endParaRPr lang="en-US" sz="1300" dirty="0"/>
          </a:p>
          <a:p>
            <a:pPr indent="0" marL="0">
              <a:lnSpc>
                <a:spcPct val="120000"/>
              </a:lnSpc>
              <a:spcAft>
                <a:spcPts val="800"/>
              </a:spcAft>
              <a:buNone/>
            </a:pPr>
            <a:r>
              <a:rPr lang="en-US" sz="1300" dirty="0">
                <a:solidFill>
                  <a:srgbClr val="1A2144"/>
                </a:solidFill>
                <a:latin typeface="Calibri" pitchFamily="34" charset="0"/>
                <a:ea typeface="Calibri" pitchFamily="34" charset="-122"/>
                <a:cs typeface="Calibri" pitchFamily="34" charset="-120"/>
              </a:rPr>
              <a:t>정책 + 난이도 가중치</a:t>
            </a:r>
            <a:endParaRPr lang="en-US" sz="1300" dirty="0"/>
          </a:p>
          <a:p>
            <a:pPr indent="0" marL="0">
              <a:lnSpc>
                <a:spcPct val="120000"/>
              </a:lnSpc>
              <a:buNone/>
            </a:pPr>
            <a:r>
              <a:rPr lang="en-US" sz="1300" b="1" dirty="0">
                <a:solidFill>
                  <a:srgbClr val="4F86F7"/>
                </a:solidFill>
                <a:latin typeface="Calibri" pitchFamily="34" charset="0"/>
                <a:ea typeface="Calibri" pitchFamily="34" charset="-122"/>
                <a:cs typeface="Calibri" pitchFamily="34" charset="-120"/>
              </a:rPr>
              <a:t>엣지</a:t>
            </a:r>
            <a:endParaRPr lang="en-US" sz="1300" dirty="0"/>
          </a:p>
          <a:p>
            <a:pPr indent="0" marL="0">
              <a:lnSpc>
                <a:spcPct val="120000"/>
              </a:lnSpc>
              <a:buNone/>
            </a:pPr>
            <a:r>
              <a:rPr lang="en-US" sz="1300" dirty="0">
                <a:solidFill>
                  <a:srgbClr val="1A2144"/>
                </a:solidFill>
                <a:latin typeface="Calibri" pitchFamily="34" charset="0"/>
                <a:ea typeface="Calibri" pitchFamily="34" charset="-122"/>
                <a:cs typeface="Calibri" pitchFamily="34" charset="-120"/>
              </a:rPr>
              <a:t>정책 간 공존 확률 (1~10)</a:t>
            </a:r>
            <a:endParaRPr lang="en-US" sz="1300" dirty="0"/>
          </a:p>
        </p:txBody>
      </p:sp>
      <p:sp>
        <p:nvSpPr>
          <p:cNvPr id="8" name="Shape 6"/>
          <p:cNvSpPr/>
          <p:nvPr/>
        </p:nvSpPr>
        <p:spPr>
          <a:xfrm>
            <a:off x="6400800" y="1691640"/>
            <a:ext cx="5257800" cy="4206240"/>
          </a:xfrm>
          <a:prstGeom prst="rect">
            <a:avLst/>
          </a:prstGeom>
          <a:solidFill>
            <a:srgbClr val="0F1A3C"/>
          </a:solidFill>
          <a:ln/>
        </p:spPr>
      </p:sp>
      <p:sp>
        <p:nvSpPr>
          <p:cNvPr id="9" name="Shape 7"/>
          <p:cNvSpPr/>
          <p:nvPr/>
        </p:nvSpPr>
        <p:spPr>
          <a:xfrm>
            <a:off x="7360920" y="2560320"/>
            <a:ext cx="3383280" cy="1554480"/>
          </a:xfrm>
          <a:prstGeom prst="line">
            <a:avLst/>
          </a:prstGeom>
          <a:noFill/>
          <a:ln w="19050">
            <a:solidFill>
              <a:srgbClr val="4A5A94"/>
            </a:solidFill>
            <a:prstDash val="solid"/>
          </a:ln>
        </p:spPr>
      </p:sp>
      <p:sp>
        <p:nvSpPr>
          <p:cNvPr id="10" name="Shape 8"/>
          <p:cNvSpPr/>
          <p:nvPr/>
        </p:nvSpPr>
        <p:spPr>
          <a:xfrm>
            <a:off x="7360920" y="2560320"/>
            <a:ext cx="457200" cy="1737360"/>
          </a:xfrm>
          <a:prstGeom prst="line">
            <a:avLst/>
          </a:prstGeom>
          <a:noFill/>
          <a:ln w="19050">
            <a:solidFill>
              <a:srgbClr val="4A5A94"/>
            </a:solidFill>
            <a:prstDash val="solid"/>
          </a:ln>
        </p:spPr>
      </p:sp>
      <p:sp>
        <p:nvSpPr>
          <p:cNvPr id="11" name="Shape 9"/>
          <p:cNvSpPr/>
          <p:nvPr/>
        </p:nvSpPr>
        <p:spPr>
          <a:xfrm>
            <a:off x="10744200" y="4114800"/>
            <a:ext cx="-731520" cy="-1600200"/>
          </a:xfrm>
          <a:prstGeom prst="line">
            <a:avLst/>
          </a:prstGeom>
          <a:noFill/>
          <a:ln w="19050">
            <a:solidFill>
              <a:srgbClr val="4A5A94"/>
            </a:solidFill>
            <a:prstDash val="solid"/>
          </a:ln>
        </p:spPr>
      </p:sp>
      <p:sp>
        <p:nvSpPr>
          <p:cNvPr id="12" name="Shape 10"/>
          <p:cNvSpPr/>
          <p:nvPr/>
        </p:nvSpPr>
        <p:spPr>
          <a:xfrm>
            <a:off x="7818120" y="4297680"/>
            <a:ext cx="1371600" cy="457200"/>
          </a:xfrm>
          <a:prstGeom prst="line">
            <a:avLst/>
          </a:prstGeom>
          <a:noFill/>
          <a:ln w="19050">
            <a:solidFill>
              <a:srgbClr val="4A5A94"/>
            </a:solidFill>
            <a:prstDash val="solid"/>
          </a:ln>
        </p:spPr>
      </p:sp>
      <p:sp>
        <p:nvSpPr>
          <p:cNvPr id="13" name="Shape 11"/>
          <p:cNvSpPr/>
          <p:nvPr/>
        </p:nvSpPr>
        <p:spPr>
          <a:xfrm>
            <a:off x="10012680" y="2514600"/>
            <a:ext cx="-822960" cy="2240280"/>
          </a:xfrm>
          <a:prstGeom prst="line">
            <a:avLst/>
          </a:prstGeom>
          <a:noFill/>
          <a:ln w="19050">
            <a:solidFill>
              <a:srgbClr val="4A5A94"/>
            </a:solidFill>
            <a:prstDash val="solid"/>
          </a:ln>
        </p:spPr>
      </p:sp>
      <p:sp>
        <p:nvSpPr>
          <p:cNvPr id="14" name="Shape 12"/>
          <p:cNvSpPr/>
          <p:nvPr/>
        </p:nvSpPr>
        <p:spPr>
          <a:xfrm>
            <a:off x="7040880" y="2240280"/>
            <a:ext cx="640080" cy="640080"/>
          </a:xfrm>
          <a:prstGeom prst="ellipse">
            <a:avLst/>
          </a:prstGeom>
          <a:solidFill>
            <a:srgbClr val="1D2B5C"/>
          </a:solidFill>
          <a:ln w="19050">
            <a:solidFill>
              <a:srgbClr val="F5A623"/>
            </a:solidFill>
            <a:prstDash val="solid"/>
          </a:ln>
        </p:spPr>
      </p:sp>
      <p:sp>
        <p:nvSpPr>
          <p:cNvPr id="15" name="Text 13"/>
          <p:cNvSpPr/>
          <p:nvPr/>
        </p:nvSpPr>
        <p:spPr>
          <a:xfrm>
            <a:off x="6537960" y="2898648"/>
            <a:ext cx="1645920" cy="502920"/>
          </a:xfrm>
          <a:prstGeom prst="rect">
            <a:avLst/>
          </a:prstGeom>
          <a:noFill/>
          <a:ln/>
        </p:spPr>
        <p:txBody>
          <a:bodyPr wrap="square" lIns="0" tIns="0" rIns="0" bIns="0" rtlCol="0" anchor="ctr"/>
          <a:lstStyle/>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보험</a:t>
            </a:r>
            <a:endParaRPr lang="en-US" sz="900" dirty="0"/>
          </a:p>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추가불가</a:t>
            </a:r>
            <a:endParaRPr lang="en-US" sz="900" dirty="0"/>
          </a:p>
        </p:txBody>
      </p:sp>
      <p:sp>
        <p:nvSpPr>
          <p:cNvPr id="16" name="Shape 14"/>
          <p:cNvSpPr/>
          <p:nvPr/>
        </p:nvSpPr>
        <p:spPr>
          <a:xfrm>
            <a:off x="9692640" y="2194560"/>
            <a:ext cx="640080" cy="640080"/>
          </a:xfrm>
          <a:prstGeom prst="ellipse">
            <a:avLst/>
          </a:prstGeom>
          <a:solidFill>
            <a:srgbClr val="1D2B5C"/>
          </a:solidFill>
          <a:ln w="19050">
            <a:solidFill>
              <a:srgbClr val="F5A623"/>
            </a:solidFill>
            <a:prstDash val="solid"/>
          </a:ln>
        </p:spPr>
      </p:sp>
      <p:sp>
        <p:nvSpPr>
          <p:cNvPr id="17" name="Text 15"/>
          <p:cNvSpPr/>
          <p:nvPr/>
        </p:nvSpPr>
        <p:spPr>
          <a:xfrm>
            <a:off x="9189720" y="2852928"/>
            <a:ext cx="1645920" cy="502920"/>
          </a:xfrm>
          <a:prstGeom prst="rect">
            <a:avLst/>
          </a:prstGeom>
          <a:noFill/>
          <a:ln/>
        </p:spPr>
        <p:txBody>
          <a:bodyPr wrap="square" lIns="0" tIns="0" rIns="0" bIns="0" rtlCol="0" anchor="ctr"/>
          <a:lstStyle/>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환불</a:t>
            </a:r>
            <a:endParaRPr lang="en-US" sz="900" dirty="0"/>
          </a:p>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5~7일</a:t>
            </a:r>
            <a:endParaRPr lang="en-US" sz="900" dirty="0"/>
          </a:p>
        </p:txBody>
      </p:sp>
      <p:sp>
        <p:nvSpPr>
          <p:cNvPr id="18" name="Shape 16"/>
          <p:cNvSpPr/>
          <p:nvPr/>
        </p:nvSpPr>
        <p:spPr>
          <a:xfrm>
            <a:off x="7498080" y="3977640"/>
            <a:ext cx="640080" cy="640080"/>
          </a:xfrm>
          <a:prstGeom prst="ellipse">
            <a:avLst/>
          </a:prstGeom>
          <a:solidFill>
            <a:srgbClr val="1D2B5C"/>
          </a:solidFill>
          <a:ln w="19050">
            <a:solidFill>
              <a:srgbClr val="F5A623"/>
            </a:solidFill>
            <a:prstDash val="solid"/>
          </a:ln>
        </p:spPr>
      </p:sp>
      <p:sp>
        <p:nvSpPr>
          <p:cNvPr id="19" name="Text 17"/>
          <p:cNvSpPr/>
          <p:nvPr/>
        </p:nvSpPr>
        <p:spPr>
          <a:xfrm>
            <a:off x="6995160" y="4636008"/>
            <a:ext cx="1645920" cy="502920"/>
          </a:xfrm>
          <a:prstGeom prst="rect">
            <a:avLst/>
          </a:prstGeom>
          <a:noFill/>
          <a:ln/>
        </p:spPr>
        <p:txBody>
          <a:bodyPr wrap="square" lIns="0" tIns="0" rIns="0" bIns="0" rtlCol="0" anchor="ctr"/>
          <a:lstStyle/>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좌석등급</a:t>
            </a:r>
            <a:endParaRPr lang="en-US" sz="900" dirty="0"/>
          </a:p>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동일</a:t>
            </a:r>
            <a:endParaRPr lang="en-US" sz="900" dirty="0"/>
          </a:p>
        </p:txBody>
      </p:sp>
      <p:sp>
        <p:nvSpPr>
          <p:cNvPr id="20" name="Shape 18"/>
          <p:cNvSpPr/>
          <p:nvPr/>
        </p:nvSpPr>
        <p:spPr>
          <a:xfrm>
            <a:off x="10424160" y="3794760"/>
            <a:ext cx="640080" cy="640080"/>
          </a:xfrm>
          <a:prstGeom prst="ellipse">
            <a:avLst/>
          </a:prstGeom>
          <a:solidFill>
            <a:srgbClr val="1D2B5C"/>
          </a:solidFill>
          <a:ln w="19050">
            <a:solidFill>
              <a:srgbClr val="F5A623"/>
            </a:solidFill>
            <a:prstDash val="solid"/>
          </a:ln>
        </p:spPr>
      </p:sp>
      <p:sp>
        <p:nvSpPr>
          <p:cNvPr id="21" name="Text 19"/>
          <p:cNvSpPr/>
          <p:nvPr/>
        </p:nvSpPr>
        <p:spPr>
          <a:xfrm>
            <a:off x="9921240" y="4453128"/>
            <a:ext cx="1645920" cy="502920"/>
          </a:xfrm>
          <a:prstGeom prst="rect">
            <a:avLst/>
          </a:prstGeom>
          <a:noFill/>
          <a:ln/>
        </p:spPr>
        <p:txBody>
          <a:bodyPr wrap="square" lIns="0" tIns="0" rIns="0" bIns="0" rtlCol="0" anchor="ctr"/>
          <a:lstStyle/>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이코노미</a:t>
            </a:r>
            <a:endParaRPr lang="en-US" sz="900" dirty="0"/>
          </a:p>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변경불가</a:t>
            </a:r>
            <a:endParaRPr lang="en-US" sz="900" dirty="0"/>
          </a:p>
        </p:txBody>
      </p:sp>
      <p:sp>
        <p:nvSpPr>
          <p:cNvPr id="22" name="Shape 20"/>
          <p:cNvSpPr/>
          <p:nvPr/>
        </p:nvSpPr>
        <p:spPr>
          <a:xfrm>
            <a:off x="8869680" y="4434840"/>
            <a:ext cx="640080" cy="640080"/>
          </a:xfrm>
          <a:prstGeom prst="ellipse">
            <a:avLst/>
          </a:prstGeom>
          <a:solidFill>
            <a:srgbClr val="1D2B5C"/>
          </a:solidFill>
          <a:ln w="19050">
            <a:solidFill>
              <a:srgbClr val="F5A623"/>
            </a:solidFill>
            <a:prstDash val="solid"/>
          </a:ln>
        </p:spPr>
      </p:sp>
      <p:sp>
        <p:nvSpPr>
          <p:cNvPr id="23" name="Text 21"/>
          <p:cNvSpPr/>
          <p:nvPr/>
        </p:nvSpPr>
        <p:spPr>
          <a:xfrm>
            <a:off x="8366760" y="5093208"/>
            <a:ext cx="1645920" cy="502920"/>
          </a:xfrm>
          <a:prstGeom prst="rect">
            <a:avLst/>
          </a:prstGeom>
          <a:noFill/>
          <a:ln/>
        </p:spPr>
        <p:txBody>
          <a:bodyPr wrap="square" lIns="0" tIns="0" rIns="0" bIns="0" rtlCol="0" anchor="ctr"/>
          <a:lstStyle/>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사용자</a:t>
            </a:r>
            <a:endParaRPr lang="en-US" sz="900" dirty="0"/>
          </a:p>
          <a:p>
            <a:pPr algn="ctr" indent="0" marL="0">
              <a:lnSpc>
                <a:spcPct val="105000"/>
              </a:lnSpc>
              <a:buNone/>
            </a:pPr>
            <a:r>
              <a:rPr lang="en-US" sz="900" dirty="0">
                <a:solidFill>
                  <a:srgbClr val="CBD8F0"/>
                </a:solidFill>
                <a:latin typeface="Calibri" pitchFamily="34" charset="0"/>
                <a:ea typeface="Calibri" pitchFamily="34" charset="-122"/>
                <a:cs typeface="Calibri" pitchFamily="34" charset="-120"/>
              </a:rPr>
              <a:t>동의필요</a:t>
            </a:r>
            <a:endParaRPr lang="en-US" sz="90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25" name="Text 23"/>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EVENT GENERATION &amp; DIFFICULTY CONTROL</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2단계 · 이벤트 생성과 난이도 조절</a:t>
            </a:r>
            <a:endParaRPr lang="en-US" sz="3000" dirty="0"/>
          </a:p>
        </p:txBody>
      </p:sp>
      <p:sp>
        <p:nvSpPr>
          <p:cNvPr id="4" name="Shape 2"/>
          <p:cNvSpPr/>
          <p:nvPr/>
        </p:nvSpPr>
        <p:spPr>
          <a:xfrm>
            <a:off x="548640" y="1691640"/>
            <a:ext cx="5577840" cy="42062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868680" y="1874520"/>
            <a:ext cx="3657600" cy="365760"/>
          </a:xfrm>
          <a:prstGeom prst="rect">
            <a:avLst/>
          </a:prstGeom>
          <a:noFill/>
          <a:ln/>
        </p:spPr>
        <p:txBody>
          <a:bodyPr wrap="square" lIns="0" tIns="0" rIns="0" bIns="0" rtlCol="0" anchor="ctr"/>
          <a:lstStyle/>
          <a:p>
            <a:pPr indent="0" marL="0">
              <a:buNone/>
            </a:pPr>
            <a:r>
              <a:rPr lang="en-US" sz="1250" b="1" dirty="0">
                <a:solidFill>
                  <a:srgbClr val="4F86F7"/>
                </a:solidFill>
                <a:latin typeface="Calibri" pitchFamily="34" charset="0"/>
                <a:ea typeface="Calibri" pitchFamily="34" charset="-122"/>
                <a:cs typeface="Calibri" pitchFamily="34" charset="-120"/>
              </a:rPr>
              <a:t>Algorithm 1</a:t>
            </a:r>
            <a:endParaRPr lang="en-US" sz="1250" dirty="0"/>
          </a:p>
        </p:txBody>
      </p:sp>
      <p:sp>
        <p:nvSpPr>
          <p:cNvPr id="6" name="Shape 4"/>
          <p:cNvSpPr/>
          <p:nvPr/>
        </p:nvSpPr>
        <p:spPr>
          <a:xfrm>
            <a:off x="868680" y="2286000"/>
            <a:ext cx="384048" cy="384048"/>
          </a:xfrm>
          <a:prstGeom prst="ellipse">
            <a:avLst/>
          </a:prstGeom>
          <a:solidFill>
            <a:srgbClr val="F5A623"/>
          </a:solidFill>
          <a:ln/>
        </p:spPr>
      </p:sp>
      <p:sp>
        <p:nvSpPr>
          <p:cNvPr id="7" name="Text 5"/>
          <p:cNvSpPr/>
          <p:nvPr/>
        </p:nvSpPr>
        <p:spPr>
          <a:xfrm>
            <a:off x="868680"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p:nvPr/>
        </p:nvSpPr>
        <p:spPr>
          <a:xfrm>
            <a:off x="1417320" y="2267712"/>
            <a:ext cx="4480560" cy="640080"/>
          </a:xfrm>
          <a:prstGeom prst="rect">
            <a:avLst/>
          </a:prstGeom>
          <a:noFill/>
          <a:ln/>
        </p:spPr>
        <p:txBody>
          <a:bodyPr wrap="square" lIns="0" tIns="0" rIns="0" bIns="0" rtlCol="0" anchor="ctr"/>
          <a:lstStyle/>
          <a:p>
            <a:pPr indent="0" marL="0">
              <a:lnSpc>
                <a:spcPct val="115000"/>
              </a:lnSpc>
              <a:buNone/>
            </a:pPr>
            <a:r>
              <a:rPr lang="en-US" sz="1250" dirty="0">
                <a:solidFill>
                  <a:srgbClr val="1A2144"/>
                </a:solidFill>
                <a:latin typeface="Calibri" pitchFamily="34" charset="0"/>
                <a:ea typeface="Calibri" pitchFamily="34" charset="-122"/>
                <a:cs typeface="Calibri" pitchFamily="34" charset="-120"/>
              </a:rPr>
              <a:t>목표 복잡도 구간 [n1, n2]에서 값 샘플링</a:t>
            </a:r>
            <a:endParaRPr lang="en-US" sz="1250" dirty="0"/>
          </a:p>
        </p:txBody>
      </p:sp>
      <p:sp>
        <p:nvSpPr>
          <p:cNvPr id="9" name="Shape 7"/>
          <p:cNvSpPr/>
          <p:nvPr/>
        </p:nvSpPr>
        <p:spPr>
          <a:xfrm>
            <a:off x="868680" y="3063240"/>
            <a:ext cx="384048" cy="384048"/>
          </a:xfrm>
          <a:prstGeom prst="ellipse">
            <a:avLst/>
          </a:prstGeom>
          <a:solidFill>
            <a:srgbClr val="F5A623"/>
          </a:solidFill>
          <a:ln/>
        </p:spPr>
      </p:sp>
      <p:sp>
        <p:nvSpPr>
          <p:cNvPr id="10" name="Text 8"/>
          <p:cNvSpPr/>
          <p:nvPr/>
        </p:nvSpPr>
        <p:spPr>
          <a:xfrm>
            <a:off x="86868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p:nvPr/>
        </p:nvSpPr>
        <p:spPr>
          <a:xfrm>
            <a:off x="1417320" y="3044952"/>
            <a:ext cx="4480560" cy="640080"/>
          </a:xfrm>
          <a:prstGeom prst="rect">
            <a:avLst/>
          </a:prstGeom>
          <a:noFill/>
          <a:ln/>
        </p:spPr>
        <p:txBody>
          <a:bodyPr wrap="square" lIns="0" tIns="0" rIns="0" bIns="0" rtlCol="0" anchor="ctr"/>
          <a:lstStyle/>
          <a:p>
            <a:pPr indent="0" marL="0">
              <a:lnSpc>
                <a:spcPct val="115000"/>
              </a:lnSpc>
              <a:buNone/>
            </a:pPr>
            <a:r>
              <a:rPr lang="en-US" sz="1250" dirty="0">
                <a:solidFill>
                  <a:srgbClr val="1A2144"/>
                </a:solidFill>
                <a:latin typeface="Calibri" pitchFamily="34" charset="0"/>
                <a:ea typeface="Calibri" pitchFamily="34" charset="-122"/>
                <a:cs typeface="Calibri" pitchFamily="34" charset="-120"/>
              </a:rPr>
              <a:t>그래프에서 시작 정책 무작위 선택</a:t>
            </a:r>
            <a:endParaRPr lang="en-US" sz="1250" dirty="0"/>
          </a:p>
        </p:txBody>
      </p:sp>
      <p:sp>
        <p:nvSpPr>
          <p:cNvPr id="12" name="Shape 10"/>
          <p:cNvSpPr/>
          <p:nvPr/>
        </p:nvSpPr>
        <p:spPr>
          <a:xfrm>
            <a:off x="868680" y="3840480"/>
            <a:ext cx="384048" cy="384048"/>
          </a:xfrm>
          <a:prstGeom prst="ellipse">
            <a:avLst/>
          </a:prstGeom>
          <a:solidFill>
            <a:srgbClr val="F5A623"/>
          </a:solidFill>
          <a:ln/>
        </p:spPr>
      </p:sp>
      <p:sp>
        <p:nvSpPr>
          <p:cNvPr id="13" name="Text 11"/>
          <p:cNvSpPr/>
          <p:nvPr/>
        </p:nvSpPr>
        <p:spPr>
          <a:xfrm>
            <a:off x="86868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p:nvPr/>
        </p:nvSpPr>
        <p:spPr>
          <a:xfrm>
            <a:off x="1417320" y="3822192"/>
            <a:ext cx="4480560" cy="640080"/>
          </a:xfrm>
          <a:prstGeom prst="rect">
            <a:avLst/>
          </a:prstGeom>
          <a:noFill/>
          <a:ln/>
        </p:spPr>
        <p:txBody>
          <a:bodyPr wrap="square" lIns="0" tIns="0" rIns="0" bIns="0" rtlCol="0" anchor="ctr"/>
          <a:lstStyle/>
          <a:p>
            <a:pPr indent="0" marL="0">
              <a:lnSpc>
                <a:spcPct val="115000"/>
              </a:lnSpc>
              <a:buNone/>
            </a:pPr>
            <a:r>
              <a:rPr lang="en-US" sz="1250" dirty="0">
                <a:solidFill>
                  <a:srgbClr val="1A2144"/>
                </a:solidFill>
                <a:latin typeface="Calibri" pitchFamily="34" charset="0"/>
                <a:ea typeface="Calibri" pitchFamily="34" charset="-122"/>
                <a:cs typeface="Calibri" pitchFamily="34" charset="-120"/>
              </a:rPr>
              <a:t>엣지 가중치 비례 확률로 가중 랜덤워크 수행</a:t>
            </a:r>
            <a:endParaRPr lang="en-US" sz="1250" dirty="0"/>
          </a:p>
        </p:txBody>
      </p:sp>
      <p:sp>
        <p:nvSpPr>
          <p:cNvPr id="15" name="Shape 13"/>
          <p:cNvSpPr/>
          <p:nvPr/>
        </p:nvSpPr>
        <p:spPr>
          <a:xfrm>
            <a:off x="868680" y="4617720"/>
            <a:ext cx="384048" cy="384048"/>
          </a:xfrm>
          <a:prstGeom prst="ellipse">
            <a:avLst/>
          </a:prstGeom>
          <a:solidFill>
            <a:srgbClr val="F5A623"/>
          </a:solidFill>
          <a:ln/>
        </p:spPr>
      </p:sp>
      <p:sp>
        <p:nvSpPr>
          <p:cNvPr id="16" name="Text 14"/>
          <p:cNvSpPr/>
          <p:nvPr/>
        </p:nvSpPr>
        <p:spPr>
          <a:xfrm>
            <a:off x="868680" y="4617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p:nvPr/>
        </p:nvSpPr>
        <p:spPr>
          <a:xfrm>
            <a:off x="1417320" y="4599432"/>
            <a:ext cx="4480560" cy="640080"/>
          </a:xfrm>
          <a:prstGeom prst="rect">
            <a:avLst/>
          </a:prstGeom>
          <a:noFill/>
          <a:ln/>
        </p:spPr>
        <p:txBody>
          <a:bodyPr wrap="square" lIns="0" tIns="0" rIns="0" bIns="0" rtlCol="0" anchor="ctr"/>
          <a:lstStyle/>
          <a:p>
            <a:pPr indent="0" marL="0">
              <a:lnSpc>
                <a:spcPct val="115000"/>
              </a:lnSpc>
              <a:buNone/>
            </a:pPr>
            <a:r>
              <a:rPr lang="en-US" sz="1250" dirty="0">
                <a:solidFill>
                  <a:srgbClr val="1A2144"/>
                </a:solidFill>
                <a:latin typeface="Calibri" pitchFamily="34" charset="0"/>
                <a:ea typeface="Calibri" pitchFamily="34" charset="-122"/>
                <a:cs typeface="Calibri" pitchFamily="34" charset="-120"/>
              </a:rPr>
              <a:t>누적 난이도가 목표값 초과할 때까지 반복</a:t>
            </a:r>
            <a:endParaRPr lang="en-US" sz="1250" dirty="0"/>
          </a:p>
        </p:txBody>
      </p:sp>
      <p:sp>
        <p:nvSpPr>
          <p:cNvPr id="18" name="Shape 16"/>
          <p:cNvSpPr/>
          <p:nvPr/>
        </p:nvSpPr>
        <p:spPr>
          <a:xfrm>
            <a:off x="6400800" y="1691640"/>
            <a:ext cx="5257800" cy="1280160"/>
          </a:xfrm>
          <a:prstGeom prst="rect">
            <a:avLst/>
          </a:prstGeom>
          <a:solidFill>
            <a:srgbClr val="0F1A3C"/>
          </a:solidFill>
          <a:ln/>
        </p:spPr>
      </p:sp>
      <p:sp>
        <p:nvSpPr>
          <p:cNvPr id="19" name="Shape 17"/>
          <p:cNvSpPr/>
          <p:nvPr/>
        </p:nvSpPr>
        <p:spPr>
          <a:xfrm>
            <a:off x="6400800" y="1691640"/>
            <a:ext cx="73152" cy="1280160"/>
          </a:xfrm>
          <a:prstGeom prst="rect">
            <a:avLst/>
          </a:prstGeom>
          <a:solidFill>
            <a:srgbClr val="4F86F7"/>
          </a:solidFill>
          <a:ln/>
        </p:spPr>
      </p:sp>
      <p:sp>
        <p:nvSpPr>
          <p:cNvPr id="20" name="Text 18"/>
          <p:cNvSpPr/>
          <p:nvPr/>
        </p:nvSpPr>
        <p:spPr>
          <a:xfrm>
            <a:off x="6766560" y="1856232"/>
            <a:ext cx="2377440" cy="7772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2~11</a:t>
            </a:r>
            <a:endParaRPr lang="en-US" sz="3400" dirty="0"/>
          </a:p>
        </p:txBody>
      </p:sp>
      <p:sp>
        <p:nvSpPr>
          <p:cNvPr id="21" name="Text 19"/>
          <p:cNvSpPr/>
          <p:nvPr/>
        </p:nvSpPr>
        <p:spPr>
          <a:xfrm>
            <a:off x="6766560" y="2532888"/>
            <a:ext cx="2743200" cy="365760"/>
          </a:xfrm>
          <a:prstGeom prst="rect">
            <a:avLst/>
          </a:prstGeom>
          <a:noFill/>
          <a:ln/>
        </p:spPr>
        <p:txBody>
          <a:bodyPr wrap="square" lIns="0" tIns="0" rIns="0" bIns="0" rtlCol="0" anchor="ctr"/>
          <a:lstStyle/>
          <a:p>
            <a:pPr indent="0" marL="0">
              <a:buNone/>
            </a:pPr>
            <a:r>
              <a:rPr lang="en-US" sz="1250" dirty="0">
                <a:solidFill>
                  <a:srgbClr val="CBD8F0"/>
                </a:solidFill>
                <a:latin typeface="Calibri" pitchFamily="34" charset="0"/>
                <a:ea typeface="Calibri" pitchFamily="34" charset="-122"/>
                <a:cs typeface="Calibri" pitchFamily="34" charset="-120"/>
              </a:rPr>
              <a:t>난이도 범위</a:t>
            </a:r>
            <a:endParaRPr lang="en-US" sz="1250" dirty="0"/>
          </a:p>
        </p:txBody>
      </p:sp>
      <p:sp>
        <p:nvSpPr>
          <p:cNvPr id="22" name="Text 20"/>
          <p:cNvSpPr/>
          <p:nvPr/>
        </p:nvSpPr>
        <p:spPr>
          <a:xfrm>
            <a:off x="-9144000" y="-9144000"/>
            <a:ext cx="91440" cy="91440"/>
          </a:xfrm>
          <a:prstGeom prst="rect">
            <a:avLst/>
          </a:prstGeom>
          <a:noFill/>
          <a:ln/>
        </p:spPr>
        <p:txBody>
          <a:bodyPr wrap="square" rtlCol="0" anchor="ctr"/>
          <a:lstStyle/>
          <a:p>
            <a:pPr indent="0" marL="0">
              <a:buNone/>
            </a:pPr>
            <a:r>
              <a:rPr lang="en-US" sz="100" dirty="0">
                <a:solidFill>
                  <a:srgbClr val="000000"/>
                </a:solidFill>
              </a:rPr>
              <a:t>vs τ-bench: 50 / 115</a:t>
            </a:r>
            <a:endParaRPr lang="en-US" sz="100" dirty="0"/>
          </a:p>
        </p:txBody>
      </p:sp>
      <p:sp>
        <p:nvSpPr>
          <p:cNvPr id="23" name="Shape 21"/>
          <p:cNvSpPr/>
          <p:nvPr/>
        </p:nvSpPr>
        <p:spPr>
          <a:xfrm>
            <a:off x="6400800" y="3136392"/>
            <a:ext cx="5257800" cy="1280160"/>
          </a:xfrm>
          <a:prstGeom prst="rect">
            <a:avLst/>
          </a:prstGeom>
          <a:solidFill>
            <a:srgbClr val="0F1A3C"/>
          </a:solidFill>
          <a:ln/>
        </p:spPr>
      </p:sp>
      <p:sp>
        <p:nvSpPr>
          <p:cNvPr id="24" name="Shape 22"/>
          <p:cNvSpPr/>
          <p:nvPr/>
        </p:nvSpPr>
        <p:spPr>
          <a:xfrm>
            <a:off x="6400800" y="3136392"/>
            <a:ext cx="73152" cy="1280160"/>
          </a:xfrm>
          <a:prstGeom prst="rect">
            <a:avLst/>
          </a:prstGeom>
          <a:solidFill>
            <a:srgbClr val="F5A623"/>
          </a:solidFill>
          <a:ln/>
        </p:spPr>
      </p:sp>
      <p:sp>
        <p:nvSpPr>
          <p:cNvPr id="25" name="Text 23"/>
          <p:cNvSpPr/>
          <p:nvPr/>
        </p:nvSpPr>
        <p:spPr>
          <a:xfrm>
            <a:off x="6766560" y="3300984"/>
            <a:ext cx="2377440" cy="7772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1,000+</a:t>
            </a:r>
            <a:endParaRPr lang="en-US" sz="3400" dirty="0"/>
          </a:p>
        </p:txBody>
      </p:sp>
      <p:sp>
        <p:nvSpPr>
          <p:cNvPr id="26" name="Text 24"/>
          <p:cNvSpPr/>
          <p:nvPr/>
        </p:nvSpPr>
        <p:spPr>
          <a:xfrm>
            <a:off x="6766560" y="3977640"/>
            <a:ext cx="2743200" cy="365760"/>
          </a:xfrm>
          <a:prstGeom prst="rect">
            <a:avLst/>
          </a:prstGeom>
          <a:noFill/>
          <a:ln/>
        </p:spPr>
        <p:txBody>
          <a:bodyPr wrap="square" lIns="0" tIns="0" rIns="0" bIns="0" rtlCol="0" anchor="ctr"/>
          <a:lstStyle/>
          <a:p>
            <a:pPr indent="0" marL="0">
              <a:buNone/>
            </a:pPr>
            <a:r>
              <a:rPr lang="en-US" sz="1250" dirty="0">
                <a:solidFill>
                  <a:srgbClr val="CBD8F0"/>
                </a:solidFill>
                <a:latin typeface="Calibri" pitchFamily="34" charset="0"/>
                <a:ea typeface="Calibri" pitchFamily="34" charset="-122"/>
                <a:cs typeface="Calibri" pitchFamily="34" charset="-120"/>
              </a:rPr>
              <a:t>도메인당 시나리오</a:t>
            </a:r>
            <a:endParaRPr lang="en-US" sz="1250" dirty="0"/>
          </a:p>
        </p:txBody>
      </p:sp>
      <p:sp>
        <p:nvSpPr>
          <p:cNvPr id="27" name="Text 25"/>
          <p:cNvSpPr/>
          <p:nvPr/>
        </p:nvSpPr>
        <p:spPr>
          <a:xfrm>
            <a:off x="9144000" y="3300984"/>
            <a:ext cx="2377440" cy="777240"/>
          </a:xfrm>
          <a:prstGeom prst="rect">
            <a:avLst/>
          </a:prstGeom>
          <a:noFill/>
          <a:ln/>
        </p:spPr>
        <p:txBody>
          <a:bodyPr wrap="square" lIns="0" tIns="0" rIns="0" bIns="0" rtlCol="0" anchor="ctr"/>
          <a:lstStyle/>
          <a:p>
            <a:pPr indent="0" marL="0">
              <a:buNone/>
            </a:pPr>
            <a:r>
              <a:rPr lang="en-US" sz="1100" i="1" dirty="0">
                <a:solidFill>
                  <a:srgbClr val="8FA0D0"/>
                </a:solidFill>
                <a:latin typeface="Calibri" pitchFamily="34" charset="0"/>
                <a:ea typeface="Calibri" pitchFamily="34" charset="-122"/>
                <a:cs typeface="Calibri" pitchFamily="34" charset="-120"/>
              </a:rPr>
              <a:t>vs τ-bench: 50 / 115</a:t>
            </a:r>
            <a:endParaRPr lang="en-US" sz="1100" dirty="0"/>
          </a:p>
        </p:txBody>
      </p:sp>
      <p:sp>
        <p:nvSpPr>
          <p:cNvPr id="28" name="Shape 26"/>
          <p:cNvSpPr/>
          <p:nvPr/>
        </p:nvSpPr>
        <p:spPr>
          <a:xfrm>
            <a:off x="6400800" y="4581144"/>
            <a:ext cx="5257800" cy="1280160"/>
          </a:xfrm>
          <a:prstGeom prst="rect">
            <a:avLst/>
          </a:prstGeom>
          <a:solidFill>
            <a:srgbClr val="0F1A3C"/>
          </a:solidFill>
          <a:ln/>
        </p:spPr>
      </p:sp>
      <p:sp>
        <p:nvSpPr>
          <p:cNvPr id="29" name="Shape 27"/>
          <p:cNvSpPr/>
          <p:nvPr/>
        </p:nvSpPr>
        <p:spPr>
          <a:xfrm>
            <a:off x="6400800" y="4581144"/>
            <a:ext cx="73152" cy="1280160"/>
          </a:xfrm>
          <a:prstGeom prst="rect">
            <a:avLst/>
          </a:prstGeom>
          <a:solidFill>
            <a:srgbClr val="4F86F7"/>
          </a:solidFill>
          <a:ln/>
        </p:spPr>
      </p:sp>
      <p:sp>
        <p:nvSpPr>
          <p:cNvPr id="30" name="Text 28"/>
          <p:cNvSpPr/>
          <p:nvPr/>
        </p:nvSpPr>
        <p:spPr>
          <a:xfrm>
            <a:off x="6766560" y="4745736"/>
            <a:ext cx="2377440" cy="7772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100%</a:t>
            </a:r>
            <a:endParaRPr lang="en-US" sz="3400" dirty="0"/>
          </a:p>
        </p:txBody>
      </p:sp>
      <p:sp>
        <p:nvSpPr>
          <p:cNvPr id="31" name="Text 29"/>
          <p:cNvSpPr/>
          <p:nvPr/>
        </p:nvSpPr>
        <p:spPr>
          <a:xfrm>
            <a:off x="6766560" y="5422392"/>
            <a:ext cx="2743200" cy="365760"/>
          </a:xfrm>
          <a:prstGeom prst="rect">
            <a:avLst/>
          </a:prstGeom>
          <a:noFill/>
          <a:ln/>
        </p:spPr>
        <p:txBody>
          <a:bodyPr wrap="square" lIns="0" tIns="0" rIns="0" bIns="0" rtlCol="0" anchor="ctr"/>
          <a:lstStyle/>
          <a:p>
            <a:pPr indent="0" marL="0">
              <a:buNone/>
            </a:pPr>
            <a:r>
              <a:rPr lang="en-US" sz="1250" dirty="0">
                <a:solidFill>
                  <a:srgbClr val="CBD8F0"/>
                </a:solidFill>
                <a:latin typeface="Calibri" pitchFamily="34" charset="0"/>
                <a:ea typeface="Calibri" pitchFamily="34" charset="-122"/>
                <a:cs typeface="Calibri" pitchFamily="34" charset="-120"/>
              </a:rPr>
              <a:t>자동 생성</a:t>
            </a:r>
            <a:endParaRPr lang="en-US" sz="1250" dirty="0"/>
          </a:p>
        </p:txBody>
      </p:sp>
      <p:sp>
        <p:nvSpPr>
          <p:cNvPr id="32" name="Text 30"/>
          <p:cNvSpPr/>
          <p:nvPr/>
        </p:nvSpPr>
        <p:spPr>
          <a:xfrm>
            <a:off x="-9144000" y="-9144000"/>
            <a:ext cx="91440" cy="91440"/>
          </a:xfrm>
          <a:prstGeom prst="rect">
            <a:avLst/>
          </a:prstGeom>
          <a:noFill/>
          <a:ln/>
        </p:spPr>
        <p:txBody>
          <a:bodyPr wrap="square" rtlCol="0" anchor="ctr"/>
          <a:lstStyle/>
          <a:p>
            <a:pPr indent="0" marL="0">
              <a:buNone/>
            </a:pPr>
            <a:r>
              <a:rPr lang="en-US" sz="100" dirty="0">
                <a:solidFill>
                  <a:srgbClr val="000000"/>
                </a:solidFill>
              </a:rPr>
              <a:t>vs τ-bench: 50 / 115</a:t>
            </a:r>
            <a:endParaRPr lang="en-US" sz="100" dirty="0"/>
          </a:p>
        </p:txBody>
      </p:sp>
      <p:sp>
        <p:nvSpPr>
          <p:cNvPr id="33" name="Text 31"/>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34" name="Text 32"/>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DIALOG SIMULATION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3단계 · 대화 시뮬레이션</a:t>
            </a:r>
            <a:endParaRPr lang="en-US" sz="3000" dirty="0"/>
          </a:p>
        </p:txBody>
      </p:sp>
      <p:sp>
        <p:nvSpPr>
          <p:cNvPr id="4" name="Shape 2"/>
          <p:cNvSpPr/>
          <p:nvPr/>
        </p:nvSpPr>
        <p:spPr>
          <a:xfrm>
            <a:off x="822960" y="1920240"/>
            <a:ext cx="3200400" cy="1920240"/>
          </a:xfrm>
          <a:prstGeom prst="rect">
            <a:avLst/>
          </a:prstGeom>
          <a:solidFill>
            <a:srgbClr val="1D2B5C"/>
          </a:solidFill>
          <a:ln w="12700">
            <a:solidFill>
              <a:srgbClr val="2A3868"/>
            </a:solidFill>
            <a:prstDash val="solid"/>
          </a:ln>
        </p:spPr>
      </p:sp>
      <p:pic>
        <p:nvPicPr>
          <p:cNvPr id="5" name="Image 0" descr="preencoded.png">    </p:cNvPr>
          <p:cNvPicPr>
            <a:picLocks noChangeAspect="1"/>
          </p:cNvPicPr>
          <p:nvPr/>
        </p:nvPicPr>
        <p:blipFill>
          <a:blip r:embed="rId1"/>
          <a:stretch>
            <a:fillRect/>
          </a:stretch>
        </p:blipFill>
        <p:spPr>
          <a:xfrm>
            <a:off x="2148840" y="2148840"/>
            <a:ext cx="548640" cy="548640"/>
          </a:xfrm>
          <a:prstGeom prst="rect">
            <a:avLst/>
          </a:prstGeom>
        </p:spPr>
      </p:pic>
      <p:sp>
        <p:nvSpPr>
          <p:cNvPr id="6" name="Text 3"/>
          <p:cNvSpPr/>
          <p:nvPr/>
        </p:nvSpPr>
        <p:spPr>
          <a:xfrm>
            <a:off x="914400" y="278892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User Agent</a:t>
            </a:r>
            <a:endParaRPr lang="en-US" sz="1500" dirty="0"/>
          </a:p>
        </p:txBody>
      </p:sp>
      <p:sp>
        <p:nvSpPr>
          <p:cNvPr id="7" name="Text 4"/>
          <p:cNvSpPr/>
          <p:nvPr/>
        </p:nvSpPr>
        <p:spPr>
          <a:xfrm>
            <a:off x="914400" y="3182112"/>
            <a:ext cx="3017520" cy="594360"/>
          </a:xfrm>
          <a:prstGeom prst="rect">
            <a:avLst/>
          </a:prstGeom>
          <a:noFill/>
          <a:ln/>
        </p:spPr>
        <p:txBody>
          <a:bodyPr wrap="square" lIns="0" tIns="0" rIns="0" bIns="0" rtlCol="0" anchor="ctr"/>
          <a:lstStyle/>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시뮬레이션된 사용자</a:t>
            </a:r>
            <a:endParaRPr lang="en-US" sz="1050" dirty="0"/>
          </a:p>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정책 목표 기반 동적 발화</a:t>
            </a:r>
            <a:endParaRPr lang="en-US" sz="1050" dirty="0"/>
          </a:p>
        </p:txBody>
      </p:sp>
      <p:sp>
        <p:nvSpPr>
          <p:cNvPr id="8" name="Text 5"/>
          <p:cNvSpPr/>
          <p:nvPr/>
        </p:nvSpPr>
        <p:spPr>
          <a:xfrm>
            <a:off x="4023360" y="2560320"/>
            <a:ext cx="685800" cy="548640"/>
          </a:xfrm>
          <a:prstGeom prst="rect">
            <a:avLst/>
          </a:prstGeom>
          <a:noFill/>
          <a:ln/>
        </p:spPr>
        <p:txBody>
          <a:bodyPr wrap="square" lIns="0" tIns="0" rIns="0" bIns="0" rtlCol="0" anchor="ctr"/>
          <a:lstStyle/>
          <a:p>
            <a:pPr algn="ctr" indent="0" marL="0">
              <a:buNone/>
            </a:pPr>
            <a:r>
              <a:rPr lang="en-US" sz="2400" dirty="0">
                <a:solidFill>
                  <a:srgbClr val="F5A623"/>
                </a:solidFill>
              </a:rPr>
              <a:t>⇄</a:t>
            </a:r>
            <a:endParaRPr lang="en-US" sz="2400" dirty="0"/>
          </a:p>
        </p:txBody>
      </p:sp>
      <p:sp>
        <p:nvSpPr>
          <p:cNvPr id="9" name="Shape 6"/>
          <p:cNvSpPr/>
          <p:nvPr/>
        </p:nvSpPr>
        <p:spPr>
          <a:xfrm>
            <a:off x="4709160" y="1920240"/>
            <a:ext cx="3200400" cy="1920240"/>
          </a:xfrm>
          <a:prstGeom prst="rect">
            <a:avLst/>
          </a:prstGeom>
          <a:solidFill>
            <a:srgbClr val="1D2B5C"/>
          </a:solidFill>
          <a:ln w="12700">
            <a:solidFill>
              <a:srgbClr val="2A3868"/>
            </a:solidFill>
            <a:prstDash val="solid"/>
          </a:ln>
        </p:spPr>
      </p:sp>
      <p:pic>
        <p:nvPicPr>
          <p:cNvPr id="10" name="Image 1" descr="preencoded.png">    </p:cNvPr>
          <p:cNvPicPr>
            <a:picLocks noChangeAspect="1"/>
          </p:cNvPicPr>
          <p:nvPr/>
        </p:nvPicPr>
        <p:blipFill>
          <a:blip r:embed="rId2"/>
          <a:stretch>
            <a:fillRect/>
          </a:stretch>
        </p:blipFill>
        <p:spPr>
          <a:xfrm>
            <a:off x="6035040" y="2148840"/>
            <a:ext cx="548640" cy="548640"/>
          </a:xfrm>
          <a:prstGeom prst="rect">
            <a:avLst/>
          </a:prstGeom>
        </p:spPr>
      </p:pic>
      <p:sp>
        <p:nvSpPr>
          <p:cNvPr id="11" name="Text 7"/>
          <p:cNvSpPr/>
          <p:nvPr/>
        </p:nvSpPr>
        <p:spPr>
          <a:xfrm>
            <a:off x="4800600" y="278892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대상 챗봇</a:t>
            </a:r>
            <a:endParaRPr lang="en-US" sz="1500" dirty="0"/>
          </a:p>
        </p:txBody>
      </p:sp>
      <p:sp>
        <p:nvSpPr>
          <p:cNvPr id="12" name="Text 8"/>
          <p:cNvSpPr/>
          <p:nvPr/>
        </p:nvSpPr>
        <p:spPr>
          <a:xfrm>
            <a:off x="4800600" y="3182112"/>
            <a:ext cx="3017520" cy="594360"/>
          </a:xfrm>
          <a:prstGeom prst="rect">
            <a:avLst/>
          </a:prstGeom>
          <a:noFill/>
          <a:ln/>
        </p:spPr>
        <p:txBody>
          <a:bodyPr wrap="square" lIns="0" tIns="0" rIns="0" bIns="0" rtlCol="0" anchor="ctr"/>
          <a:lstStyle/>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평가 대상</a:t>
            </a:r>
            <a:endParaRPr lang="en-US" sz="1050" dirty="0"/>
          </a:p>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도구 호출 포함 응답</a:t>
            </a:r>
            <a:endParaRPr lang="en-US" sz="1050" dirty="0"/>
          </a:p>
        </p:txBody>
      </p:sp>
      <p:sp>
        <p:nvSpPr>
          <p:cNvPr id="13" name="Text 9"/>
          <p:cNvSpPr/>
          <p:nvPr/>
        </p:nvSpPr>
        <p:spPr>
          <a:xfrm>
            <a:off x="7909560" y="2560320"/>
            <a:ext cx="685800" cy="548640"/>
          </a:xfrm>
          <a:prstGeom prst="rect">
            <a:avLst/>
          </a:prstGeom>
          <a:noFill/>
          <a:ln/>
        </p:spPr>
        <p:txBody>
          <a:bodyPr wrap="square" lIns="0" tIns="0" rIns="0" bIns="0" rtlCol="0" anchor="ctr"/>
          <a:lstStyle/>
          <a:p>
            <a:pPr algn="ctr" indent="0" marL="0">
              <a:buNone/>
            </a:pPr>
            <a:r>
              <a:rPr lang="en-US" sz="2400" dirty="0">
                <a:solidFill>
                  <a:srgbClr val="F5A623"/>
                </a:solidFill>
              </a:rPr>
              <a:t>⇄</a:t>
            </a:r>
            <a:endParaRPr lang="en-US" sz="2400" dirty="0"/>
          </a:p>
        </p:txBody>
      </p:sp>
      <p:sp>
        <p:nvSpPr>
          <p:cNvPr id="14" name="Shape 10"/>
          <p:cNvSpPr/>
          <p:nvPr/>
        </p:nvSpPr>
        <p:spPr>
          <a:xfrm>
            <a:off x="8595360" y="1920240"/>
            <a:ext cx="3200400" cy="1920240"/>
          </a:xfrm>
          <a:prstGeom prst="rect">
            <a:avLst/>
          </a:prstGeom>
          <a:solidFill>
            <a:srgbClr val="1D2B5C"/>
          </a:solidFill>
          <a:ln w="12700">
            <a:solidFill>
              <a:srgbClr val="2A3868"/>
            </a:solidFill>
            <a:prstDash val="solid"/>
          </a:ln>
        </p:spPr>
      </p:sp>
      <p:pic>
        <p:nvPicPr>
          <p:cNvPr id="15" name="Image 2" descr="preencoded.png">    </p:cNvPr>
          <p:cNvPicPr>
            <a:picLocks noChangeAspect="1"/>
          </p:cNvPicPr>
          <p:nvPr/>
        </p:nvPicPr>
        <p:blipFill>
          <a:blip r:embed="rId3"/>
          <a:stretch>
            <a:fillRect/>
          </a:stretch>
        </p:blipFill>
        <p:spPr>
          <a:xfrm>
            <a:off x="9921240" y="2148840"/>
            <a:ext cx="548640" cy="548640"/>
          </a:xfrm>
          <a:prstGeom prst="rect">
            <a:avLst/>
          </a:prstGeom>
        </p:spPr>
      </p:pic>
      <p:sp>
        <p:nvSpPr>
          <p:cNvPr id="16" name="Text 11"/>
          <p:cNvSpPr/>
          <p:nvPr/>
        </p:nvSpPr>
        <p:spPr>
          <a:xfrm>
            <a:off x="8686800" y="278892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Critique Node</a:t>
            </a:r>
            <a:endParaRPr lang="en-US" sz="1500" dirty="0"/>
          </a:p>
        </p:txBody>
      </p:sp>
      <p:sp>
        <p:nvSpPr>
          <p:cNvPr id="17" name="Text 12"/>
          <p:cNvSpPr/>
          <p:nvPr/>
        </p:nvSpPr>
        <p:spPr>
          <a:xfrm>
            <a:off x="8686800" y="3182112"/>
            <a:ext cx="3017520" cy="594360"/>
          </a:xfrm>
          <a:prstGeom prst="rect">
            <a:avLst/>
          </a:prstGeom>
          <a:noFill/>
          <a:ln/>
        </p:spPr>
        <p:txBody>
          <a:bodyPr wrap="square" lIns="0" tIns="0" rIns="0" bIns="0" rtlCol="0" anchor="ctr"/>
          <a:lstStyle/>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종료 사유 검증</a:t>
            </a:r>
            <a:endParaRPr lang="en-US" sz="1050" dirty="0"/>
          </a:p>
          <a:p>
            <a:pPr algn="ctr" indent="0" marL="0">
              <a:lnSpc>
                <a:spcPct val="115000"/>
              </a:lnSpc>
              <a:buNone/>
            </a:pPr>
            <a:r>
              <a:rPr lang="en-US" sz="1050" dirty="0">
                <a:solidFill>
                  <a:srgbClr val="CBD8F0"/>
                </a:solidFill>
                <a:latin typeface="Calibri" pitchFamily="34" charset="0"/>
                <a:ea typeface="Calibri" pitchFamily="34" charset="-122"/>
                <a:cs typeface="Calibri" pitchFamily="34" charset="-120"/>
              </a:rPr>
              <a:t>정책 준수 판정</a:t>
            </a:r>
            <a:endParaRPr lang="en-US" sz="1050" dirty="0"/>
          </a:p>
        </p:txBody>
      </p:sp>
      <p:sp>
        <p:nvSpPr>
          <p:cNvPr id="18" name="Shape 13"/>
          <p:cNvSpPr/>
          <p:nvPr/>
        </p:nvSpPr>
        <p:spPr>
          <a:xfrm>
            <a:off x="822960" y="4251960"/>
            <a:ext cx="10515600" cy="1600200"/>
          </a:xfrm>
          <a:prstGeom prst="rect">
            <a:avLst/>
          </a:prstGeom>
          <a:solidFill>
            <a:srgbClr val="13214A"/>
          </a:solidFill>
          <a:ln w="12700">
            <a:solidFill>
              <a:srgbClr val="2A3868"/>
            </a:solidFill>
            <a:prstDash val="solid"/>
          </a:ln>
        </p:spPr>
      </p:sp>
      <p:sp>
        <p:nvSpPr>
          <p:cNvPr id="19" name="Text 14"/>
          <p:cNvSpPr/>
          <p:nvPr/>
        </p:nvSpPr>
        <p:spPr>
          <a:xfrm>
            <a:off x="1143000" y="4416552"/>
            <a:ext cx="9875520" cy="1298448"/>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CBD8F0"/>
                </a:solidFill>
                <a:latin typeface="Calibri" pitchFamily="34" charset="0"/>
                <a:ea typeface="Calibri" pitchFamily="34" charset="-122"/>
                <a:cs typeface="Calibri" pitchFamily="34" charset="-120"/>
              </a:rPr>
              <a:t>①  이벤트의 정책·시나리오 정보 수신</a:t>
            </a:r>
            <a:endParaRPr lang="en-US" sz="1250" dirty="0"/>
          </a:p>
          <a:p>
            <a:pPr indent="0" marL="0">
              <a:lnSpc>
                <a:spcPct val="115000"/>
              </a:lnSpc>
              <a:spcAft>
                <a:spcPts val="600"/>
              </a:spcAft>
              <a:buNone/>
            </a:pPr>
            <a:r>
              <a:rPr lang="en-US" sz="1250" dirty="0">
                <a:solidFill>
                  <a:srgbClr val="CBD8F0"/>
                </a:solidFill>
                <a:latin typeface="Calibri" pitchFamily="34" charset="0"/>
                <a:ea typeface="Calibri" pitchFamily="34" charset="-122"/>
                <a:cs typeface="Calibri" pitchFamily="34" charset="-120"/>
              </a:rPr>
              <a:t>②  사용자 ↔ 챗봇 발화 반복 (도구 호출 포함)</a:t>
            </a:r>
            <a:endParaRPr lang="en-US" sz="1250" dirty="0"/>
          </a:p>
          <a:p>
            <a:pPr indent="0" marL="0">
              <a:lnSpc>
                <a:spcPct val="115000"/>
              </a:lnSpc>
              <a:spcAft>
                <a:spcPts val="600"/>
              </a:spcAft>
              <a:buNone/>
            </a:pPr>
            <a:r>
              <a:rPr lang="en-US" sz="1250" dirty="0">
                <a:solidFill>
                  <a:srgbClr val="CBD8F0"/>
                </a:solidFill>
                <a:latin typeface="Calibri" pitchFamily="34" charset="0"/>
                <a:ea typeface="Calibri" pitchFamily="34" charset="-122"/>
                <a:cs typeface="Calibri" pitchFamily="34" charset="-120"/>
              </a:rPr>
              <a:t>③  목표 달성 또는 종료 조건까지 진행</a:t>
            </a:r>
            <a:endParaRPr lang="en-US" sz="1250" dirty="0"/>
          </a:p>
          <a:p>
            <a:pPr indent="0" marL="0">
              <a:lnSpc>
                <a:spcPct val="115000"/>
              </a:lnSpc>
              <a:buNone/>
            </a:pPr>
            <a:r>
              <a:rPr lang="en-US" sz="1250" b="1" dirty="0">
                <a:solidFill>
                  <a:srgbClr val="F5A623"/>
                </a:solidFill>
                <a:latin typeface="Calibri" pitchFamily="34" charset="0"/>
                <a:ea typeface="Calibri" pitchFamily="34" charset="-122"/>
                <a:cs typeface="Calibri" pitchFamily="34" charset="-120"/>
              </a:rPr>
              <a:t>④  전체 기록을 Critique Node로 전달</a:t>
            </a:r>
            <a:endParaRPr lang="en-US" sz="1250" dirty="0"/>
          </a:p>
        </p:txBody>
      </p:sp>
      <p:sp>
        <p:nvSpPr>
          <p:cNvPr id="20" name="Text 15"/>
          <p:cNvSpPr/>
          <p:nvPr/>
        </p:nvSpPr>
        <p:spPr>
          <a:xfrm>
            <a:off x="822960" y="6053328"/>
            <a:ext cx="10515600" cy="365760"/>
          </a:xfrm>
          <a:prstGeom prst="rect">
            <a:avLst/>
          </a:prstGeom>
          <a:noFill/>
          <a:ln/>
        </p:spPr>
        <p:txBody>
          <a:bodyPr wrap="square" lIns="0" tIns="0" rIns="0" bIns="0" rtlCol="0" anchor="ctr"/>
          <a:lstStyle/>
          <a:p>
            <a:pPr indent="0" marL="0">
              <a:buNone/>
            </a:pPr>
            <a:r>
              <a:rPr lang="en-US" sz="1100" i="1" dirty="0">
                <a:solidFill>
                  <a:srgbClr val="AAB8E0"/>
                </a:solidFill>
                <a:latin typeface="Calibri" pitchFamily="34" charset="0"/>
                <a:ea typeface="Calibri" pitchFamily="34" charset="-122"/>
                <a:cs typeface="Calibri" pitchFamily="34" charset="-120"/>
              </a:rPr>
              <a:t>LangGraph 기반 상태 머신(DialogState)이 메시지 히스토리·사용자 사고 과정·비평 피드백을 추적 · 동기/비동기/배치 실행 지원</a:t>
            </a:r>
            <a:endParaRPr lang="en-US" sz="1100" dirty="0"/>
          </a:p>
        </p:txBody>
      </p:sp>
      <p:sp>
        <p:nvSpPr>
          <p:cNvPr id="21" name="Text 1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22" name="Text 17"/>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DIALOG CRITIQUE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4단계 · 비평 및 세부 진단</a:t>
            </a:r>
            <a:endParaRPr lang="en-US" sz="3000" dirty="0"/>
          </a:p>
        </p:txBody>
      </p:sp>
      <p:sp>
        <p:nvSpPr>
          <p:cNvPr id="4" name="Shape 2"/>
          <p:cNvSpPr/>
          <p:nvPr/>
        </p:nvSpPr>
        <p:spPr>
          <a:xfrm>
            <a:off x="548640" y="1783080"/>
            <a:ext cx="2606040" cy="32918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1531620" y="2103120"/>
            <a:ext cx="640080" cy="640080"/>
          </a:xfrm>
          <a:prstGeom prst="ellipse">
            <a:avLst/>
          </a:prstGeom>
          <a:solidFill>
            <a:srgbClr val="0F1A3C"/>
          </a:solidFill>
          <a:ln/>
        </p:spPr>
      </p:sp>
      <p:sp>
        <p:nvSpPr>
          <p:cNvPr id="6" name="Text 4"/>
          <p:cNvSpPr/>
          <p:nvPr/>
        </p:nvSpPr>
        <p:spPr>
          <a:xfrm>
            <a:off x="1531620" y="2103120"/>
            <a:ext cx="640080" cy="640080"/>
          </a:xfrm>
          <a:prstGeom prst="rect">
            <a:avLst/>
          </a:prstGeom>
          <a:noFill/>
          <a:ln/>
        </p:spPr>
        <p:txBody>
          <a:bodyPr wrap="square" lIns="0" tIns="0" rIns="0" bIns="0" rtlCol="0" anchor="ctr"/>
          <a:lstStyle/>
          <a:p>
            <a:pPr algn="ctr" indent="0" marL="0">
              <a:buNone/>
            </a:pPr>
            <a:r>
              <a:rPr lang="en-US" sz="2200" b="1" dirty="0">
                <a:solidFill>
                  <a:srgbClr val="F5A623"/>
                </a:solidFill>
              </a:rPr>
              <a:t>1</a:t>
            </a:r>
            <a:endParaRPr lang="en-US" sz="2200" dirty="0"/>
          </a:p>
        </p:txBody>
      </p:sp>
      <p:pic>
        <p:nvPicPr>
          <p:cNvPr id="7" name="Image 0" descr="preencoded.png">    </p:cNvPr>
          <p:cNvPicPr>
            <a:picLocks noChangeAspect="1"/>
          </p:cNvPicPr>
          <p:nvPr/>
        </p:nvPicPr>
        <p:blipFill>
          <a:blip r:embed="rId1"/>
          <a:stretch>
            <a:fillRect/>
          </a:stretch>
        </p:blipFill>
        <p:spPr>
          <a:xfrm>
            <a:off x="1595628" y="2971800"/>
            <a:ext cx="512064" cy="512064"/>
          </a:xfrm>
          <a:prstGeom prst="rect">
            <a:avLst/>
          </a:prstGeom>
        </p:spPr>
      </p:pic>
      <p:sp>
        <p:nvSpPr>
          <p:cNvPr id="8" name="Text 5"/>
          <p:cNvSpPr/>
          <p:nvPr/>
        </p:nvSpPr>
        <p:spPr>
          <a:xfrm>
            <a:off x="685800" y="3657600"/>
            <a:ext cx="2331720" cy="457200"/>
          </a:xfrm>
          <a:prstGeom prst="rect">
            <a:avLst/>
          </a:prstGeom>
          <a:noFill/>
          <a:ln/>
        </p:spPr>
        <p:txBody>
          <a:bodyPr wrap="square" lIns="0" tIns="0" rIns="0" bIns="0" rtlCol="0" anchor="ctr"/>
          <a:lstStyle/>
          <a:p>
            <a:pPr algn="ctr" indent="0" marL="0">
              <a:buNone/>
            </a:pPr>
            <a:r>
              <a:rPr lang="en-US" sz="1350" b="1" dirty="0">
                <a:solidFill>
                  <a:srgbClr val="1A2144"/>
                </a:solidFill>
                <a:latin typeface="Calibri" pitchFamily="34" charset="0"/>
                <a:ea typeface="Calibri" pitchFamily="34" charset="-122"/>
                <a:cs typeface="Calibri" pitchFamily="34" charset="-120"/>
              </a:rPr>
              <a:t>종료 사유 검증</a:t>
            </a:r>
            <a:endParaRPr lang="en-US" sz="1350" dirty="0"/>
          </a:p>
        </p:txBody>
      </p:sp>
      <p:sp>
        <p:nvSpPr>
          <p:cNvPr id="9" name="Text 6"/>
          <p:cNvSpPr/>
          <p:nvPr/>
        </p:nvSpPr>
        <p:spPr>
          <a:xfrm>
            <a:off x="685800" y="4114800"/>
            <a:ext cx="23317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대화 종료가 타당한지 확인</a:t>
            </a:r>
            <a:endParaRPr lang="en-US" sz="1050" dirty="0"/>
          </a:p>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부적절하면 피드백 후 재시도</a:t>
            </a:r>
            <a:endParaRPr lang="en-US" sz="1050" dirty="0"/>
          </a:p>
        </p:txBody>
      </p:sp>
      <p:sp>
        <p:nvSpPr>
          <p:cNvPr id="10" name="Text 7"/>
          <p:cNvSpPr/>
          <p:nvPr/>
        </p:nvSpPr>
        <p:spPr>
          <a:xfrm>
            <a:off x="3172968" y="3154680"/>
            <a:ext cx="219456" cy="457200"/>
          </a:xfrm>
          <a:prstGeom prst="rect">
            <a:avLst/>
          </a:prstGeom>
          <a:noFill/>
          <a:ln/>
        </p:spPr>
        <p:txBody>
          <a:bodyPr wrap="square" lIns="0" tIns="0" rIns="0" bIns="0" rtlCol="0" anchor="ctr"/>
          <a:lstStyle/>
          <a:p>
            <a:pPr algn="ctr" indent="0" marL="0">
              <a:buNone/>
            </a:pPr>
            <a:r>
              <a:rPr lang="en-US" sz="1400" dirty="0">
                <a:solidFill>
                  <a:srgbClr val="AEB8D6"/>
                </a:solidFill>
              </a:rPr>
              <a:t>▶</a:t>
            </a:r>
            <a:endParaRPr lang="en-US" sz="1400" dirty="0"/>
          </a:p>
        </p:txBody>
      </p:sp>
      <p:sp>
        <p:nvSpPr>
          <p:cNvPr id="11" name="Shape 8"/>
          <p:cNvSpPr/>
          <p:nvPr/>
        </p:nvSpPr>
        <p:spPr>
          <a:xfrm>
            <a:off x="3410712" y="1783080"/>
            <a:ext cx="2606040" cy="32918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2" name="Shape 9"/>
          <p:cNvSpPr/>
          <p:nvPr/>
        </p:nvSpPr>
        <p:spPr>
          <a:xfrm>
            <a:off x="4393692" y="2103120"/>
            <a:ext cx="640080" cy="640080"/>
          </a:xfrm>
          <a:prstGeom prst="ellipse">
            <a:avLst/>
          </a:prstGeom>
          <a:solidFill>
            <a:srgbClr val="0F1A3C"/>
          </a:solidFill>
          <a:ln/>
        </p:spPr>
      </p:sp>
      <p:sp>
        <p:nvSpPr>
          <p:cNvPr id="13" name="Text 10"/>
          <p:cNvSpPr/>
          <p:nvPr/>
        </p:nvSpPr>
        <p:spPr>
          <a:xfrm>
            <a:off x="4393692" y="2103120"/>
            <a:ext cx="640080" cy="640080"/>
          </a:xfrm>
          <a:prstGeom prst="rect">
            <a:avLst/>
          </a:prstGeom>
          <a:noFill/>
          <a:ln/>
        </p:spPr>
        <p:txBody>
          <a:bodyPr wrap="square" lIns="0" tIns="0" rIns="0" bIns="0" rtlCol="0" anchor="ctr"/>
          <a:lstStyle/>
          <a:p>
            <a:pPr algn="ctr" indent="0" marL="0">
              <a:buNone/>
            </a:pPr>
            <a:r>
              <a:rPr lang="en-US" sz="2200" b="1" dirty="0">
                <a:solidFill>
                  <a:srgbClr val="F5A623"/>
                </a:solidFill>
              </a:rPr>
              <a:t>2</a:t>
            </a:r>
            <a:endParaRPr lang="en-US" sz="2200" dirty="0"/>
          </a:p>
        </p:txBody>
      </p:sp>
      <p:pic>
        <p:nvPicPr>
          <p:cNvPr id="14" name="Image 1" descr="preencoded.png">    </p:cNvPr>
          <p:cNvPicPr>
            <a:picLocks noChangeAspect="1"/>
          </p:cNvPicPr>
          <p:nvPr/>
        </p:nvPicPr>
        <p:blipFill>
          <a:blip r:embed="rId2"/>
          <a:stretch>
            <a:fillRect/>
          </a:stretch>
        </p:blipFill>
        <p:spPr>
          <a:xfrm>
            <a:off x="4457700" y="2971800"/>
            <a:ext cx="512064" cy="512064"/>
          </a:xfrm>
          <a:prstGeom prst="rect">
            <a:avLst/>
          </a:prstGeom>
        </p:spPr>
      </p:pic>
      <p:sp>
        <p:nvSpPr>
          <p:cNvPr id="15" name="Text 11"/>
          <p:cNvSpPr/>
          <p:nvPr/>
        </p:nvSpPr>
        <p:spPr>
          <a:xfrm>
            <a:off x="3547872" y="3657600"/>
            <a:ext cx="2331720" cy="457200"/>
          </a:xfrm>
          <a:prstGeom prst="rect">
            <a:avLst/>
          </a:prstGeom>
          <a:noFill/>
          <a:ln/>
        </p:spPr>
        <p:txBody>
          <a:bodyPr wrap="square" lIns="0" tIns="0" rIns="0" bIns="0" rtlCol="0" anchor="ctr"/>
          <a:lstStyle/>
          <a:p>
            <a:pPr algn="ctr" indent="0" marL="0">
              <a:buNone/>
            </a:pPr>
            <a:r>
              <a:rPr lang="en-US" sz="1350" b="1" dirty="0">
                <a:solidFill>
                  <a:srgbClr val="1A2144"/>
                </a:solidFill>
                <a:latin typeface="Calibri" pitchFamily="34" charset="0"/>
                <a:ea typeface="Calibri" pitchFamily="34" charset="-122"/>
                <a:cs typeface="Calibri" pitchFamily="34" charset="-120"/>
              </a:rPr>
              <a:t>테스트 정책 식별</a:t>
            </a:r>
            <a:endParaRPr lang="en-US" sz="1350" dirty="0"/>
          </a:p>
        </p:txBody>
      </p:sp>
      <p:sp>
        <p:nvSpPr>
          <p:cNvPr id="16" name="Text 12"/>
          <p:cNvSpPr/>
          <p:nvPr/>
        </p:nvSpPr>
        <p:spPr>
          <a:xfrm>
            <a:off x="3547872" y="4114800"/>
            <a:ext cx="23317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실제 대화에서 검증된</a:t>
            </a:r>
            <a:endParaRPr lang="en-US" sz="1050" dirty="0"/>
          </a:p>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정책 부분집합 파악</a:t>
            </a:r>
            <a:endParaRPr lang="en-US" sz="1050" dirty="0"/>
          </a:p>
        </p:txBody>
      </p:sp>
      <p:sp>
        <p:nvSpPr>
          <p:cNvPr id="17" name="Text 13"/>
          <p:cNvSpPr/>
          <p:nvPr/>
        </p:nvSpPr>
        <p:spPr>
          <a:xfrm>
            <a:off x="6035040" y="3154680"/>
            <a:ext cx="219456" cy="457200"/>
          </a:xfrm>
          <a:prstGeom prst="rect">
            <a:avLst/>
          </a:prstGeom>
          <a:noFill/>
          <a:ln/>
        </p:spPr>
        <p:txBody>
          <a:bodyPr wrap="square" lIns="0" tIns="0" rIns="0" bIns="0" rtlCol="0" anchor="ctr"/>
          <a:lstStyle/>
          <a:p>
            <a:pPr algn="ctr" indent="0" marL="0">
              <a:buNone/>
            </a:pPr>
            <a:r>
              <a:rPr lang="en-US" sz="1400" dirty="0">
                <a:solidFill>
                  <a:srgbClr val="AEB8D6"/>
                </a:solidFill>
              </a:rPr>
              <a:t>▶</a:t>
            </a:r>
            <a:endParaRPr lang="en-US" sz="1400" dirty="0"/>
          </a:p>
        </p:txBody>
      </p:sp>
      <p:sp>
        <p:nvSpPr>
          <p:cNvPr id="18" name="Shape 14"/>
          <p:cNvSpPr/>
          <p:nvPr/>
        </p:nvSpPr>
        <p:spPr>
          <a:xfrm>
            <a:off x="6272784" y="1783080"/>
            <a:ext cx="2606040" cy="32918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9" name="Shape 15"/>
          <p:cNvSpPr/>
          <p:nvPr/>
        </p:nvSpPr>
        <p:spPr>
          <a:xfrm>
            <a:off x="7255764" y="2103120"/>
            <a:ext cx="640080" cy="640080"/>
          </a:xfrm>
          <a:prstGeom prst="ellipse">
            <a:avLst/>
          </a:prstGeom>
          <a:solidFill>
            <a:srgbClr val="0F1A3C"/>
          </a:solidFill>
          <a:ln/>
        </p:spPr>
      </p:sp>
      <p:sp>
        <p:nvSpPr>
          <p:cNvPr id="20" name="Text 16"/>
          <p:cNvSpPr/>
          <p:nvPr/>
        </p:nvSpPr>
        <p:spPr>
          <a:xfrm>
            <a:off x="7255764" y="2103120"/>
            <a:ext cx="640080" cy="640080"/>
          </a:xfrm>
          <a:prstGeom prst="rect">
            <a:avLst/>
          </a:prstGeom>
          <a:noFill/>
          <a:ln/>
        </p:spPr>
        <p:txBody>
          <a:bodyPr wrap="square" lIns="0" tIns="0" rIns="0" bIns="0" rtlCol="0" anchor="ctr"/>
          <a:lstStyle/>
          <a:p>
            <a:pPr algn="ctr" indent="0" marL="0">
              <a:buNone/>
            </a:pPr>
            <a:r>
              <a:rPr lang="en-US" sz="2200" b="1" dirty="0">
                <a:solidFill>
                  <a:srgbClr val="F5A623"/>
                </a:solidFill>
              </a:rPr>
              <a:t>3</a:t>
            </a:r>
            <a:endParaRPr lang="en-US" sz="2200" dirty="0"/>
          </a:p>
        </p:txBody>
      </p:sp>
      <p:pic>
        <p:nvPicPr>
          <p:cNvPr id="21" name="Image 2" descr="preencoded.png">    </p:cNvPr>
          <p:cNvPicPr>
            <a:picLocks noChangeAspect="1"/>
          </p:cNvPicPr>
          <p:nvPr/>
        </p:nvPicPr>
        <p:blipFill>
          <a:blip r:embed="rId3"/>
          <a:stretch>
            <a:fillRect/>
          </a:stretch>
        </p:blipFill>
        <p:spPr>
          <a:xfrm>
            <a:off x="7319772" y="2971800"/>
            <a:ext cx="512064" cy="512064"/>
          </a:xfrm>
          <a:prstGeom prst="rect">
            <a:avLst/>
          </a:prstGeom>
        </p:spPr>
      </p:pic>
      <p:sp>
        <p:nvSpPr>
          <p:cNvPr id="22" name="Text 17"/>
          <p:cNvSpPr/>
          <p:nvPr/>
        </p:nvSpPr>
        <p:spPr>
          <a:xfrm>
            <a:off x="6409944" y="3657600"/>
            <a:ext cx="2331720" cy="457200"/>
          </a:xfrm>
          <a:prstGeom prst="rect">
            <a:avLst/>
          </a:prstGeom>
          <a:noFill/>
          <a:ln/>
        </p:spPr>
        <p:txBody>
          <a:bodyPr wrap="square" lIns="0" tIns="0" rIns="0" bIns="0" rtlCol="0" anchor="ctr"/>
          <a:lstStyle/>
          <a:p>
            <a:pPr algn="ctr" indent="0" marL="0">
              <a:buNone/>
            </a:pPr>
            <a:r>
              <a:rPr lang="en-US" sz="1350" b="1" dirty="0">
                <a:solidFill>
                  <a:srgbClr val="1A2144"/>
                </a:solidFill>
                <a:latin typeface="Calibri" pitchFamily="34" charset="0"/>
                <a:ea typeface="Calibri" pitchFamily="34" charset="-122"/>
                <a:cs typeface="Calibri" pitchFamily="34" charset="-120"/>
              </a:rPr>
              <a:t>위반 정책 파악</a:t>
            </a:r>
            <a:endParaRPr lang="en-US" sz="1350" dirty="0"/>
          </a:p>
        </p:txBody>
      </p:sp>
      <p:sp>
        <p:nvSpPr>
          <p:cNvPr id="23" name="Text 18"/>
          <p:cNvSpPr/>
          <p:nvPr/>
        </p:nvSpPr>
        <p:spPr>
          <a:xfrm>
            <a:off x="6409944" y="4114800"/>
            <a:ext cx="23317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챗봇이 지키지 않은</a:t>
            </a:r>
            <a:endParaRPr lang="en-US" sz="1050" dirty="0"/>
          </a:p>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정책 부분집합 판정</a:t>
            </a:r>
            <a:endParaRPr lang="en-US" sz="1050" dirty="0"/>
          </a:p>
        </p:txBody>
      </p:sp>
      <p:sp>
        <p:nvSpPr>
          <p:cNvPr id="24" name="Text 19"/>
          <p:cNvSpPr/>
          <p:nvPr/>
        </p:nvSpPr>
        <p:spPr>
          <a:xfrm>
            <a:off x="8897112" y="3154680"/>
            <a:ext cx="219456" cy="457200"/>
          </a:xfrm>
          <a:prstGeom prst="rect">
            <a:avLst/>
          </a:prstGeom>
          <a:noFill/>
          <a:ln/>
        </p:spPr>
        <p:txBody>
          <a:bodyPr wrap="square" lIns="0" tIns="0" rIns="0" bIns="0" rtlCol="0" anchor="ctr"/>
          <a:lstStyle/>
          <a:p>
            <a:pPr algn="ctr" indent="0" marL="0">
              <a:buNone/>
            </a:pPr>
            <a:r>
              <a:rPr lang="en-US" sz="1400" dirty="0">
                <a:solidFill>
                  <a:srgbClr val="AEB8D6"/>
                </a:solidFill>
              </a:rPr>
              <a:t>▶</a:t>
            </a:r>
            <a:endParaRPr lang="en-US" sz="1400" dirty="0"/>
          </a:p>
        </p:txBody>
      </p:sp>
      <p:sp>
        <p:nvSpPr>
          <p:cNvPr id="25" name="Shape 20"/>
          <p:cNvSpPr/>
          <p:nvPr/>
        </p:nvSpPr>
        <p:spPr>
          <a:xfrm>
            <a:off x="9134856" y="1783080"/>
            <a:ext cx="2606040" cy="329184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26" name="Shape 21"/>
          <p:cNvSpPr/>
          <p:nvPr/>
        </p:nvSpPr>
        <p:spPr>
          <a:xfrm>
            <a:off x="10117836" y="2103120"/>
            <a:ext cx="640080" cy="640080"/>
          </a:xfrm>
          <a:prstGeom prst="ellipse">
            <a:avLst/>
          </a:prstGeom>
          <a:solidFill>
            <a:srgbClr val="0F1A3C"/>
          </a:solidFill>
          <a:ln/>
        </p:spPr>
      </p:sp>
      <p:sp>
        <p:nvSpPr>
          <p:cNvPr id="27" name="Text 22"/>
          <p:cNvSpPr/>
          <p:nvPr/>
        </p:nvSpPr>
        <p:spPr>
          <a:xfrm>
            <a:off x="10117836" y="2103120"/>
            <a:ext cx="640080" cy="640080"/>
          </a:xfrm>
          <a:prstGeom prst="rect">
            <a:avLst/>
          </a:prstGeom>
          <a:noFill/>
          <a:ln/>
        </p:spPr>
        <p:txBody>
          <a:bodyPr wrap="square" lIns="0" tIns="0" rIns="0" bIns="0" rtlCol="0" anchor="ctr"/>
          <a:lstStyle/>
          <a:p>
            <a:pPr algn="ctr" indent="0" marL="0">
              <a:buNone/>
            </a:pPr>
            <a:r>
              <a:rPr lang="en-US" sz="2200" b="1" dirty="0">
                <a:solidFill>
                  <a:srgbClr val="F5A623"/>
                </a:solidFill>
              </a:rPr>
              <a:t>4</a:t>
            </a:r>
            <a:endParaRPr lang="en-US" sz="2200" dirty="0"/>
          </a:p>
        </p:txBody>
      </p:sp>
      <p:pic>
        <p:nvPicPr>
          <p:cNvPr id="28" name="Image 3" descr="preencoded.png">    </p:cNvPr>
          <p:cNvPicPr>
            <a:picLocks noChangeAspect="1"/>
          </p:cNvPicPr>
          <p:nvPr/>
        </p:nvPicPr>
        <p:blipFill>
          <a:blip r:embed="rId4"/>
          <a:stretch>
            <a:fillRect/>
          </a:stretch>
        </p:blipFill>
        <p:spPr>
          <a:xfrm>
            <a:off x="10181844" y="2971800"/>
            <a:ext cx="512064" cy="512064"/>
          </a:xfrm>
          <a:prstGeom prst="rect">
            <a:avLst/>
          </a:prstGeom>
        </p:spPr>
      </p:pic>
      <p:sp>
        <p:nvSpPr>
          <p:cNvPr id="29" name="Text 23"/>
          <p:cNvSpPr/>
          <p:nvPr/>
        </p:nvSpPr>
        <p:spPr>
          <a:xfrm>
            <a:off x="9272016" y="3657600"/>
            <a:ext cx="2331720" cy="457200"/>
          </a:xfrm>
          <a:prstGeom prst="rect">
            <a:avLst/>
          </a:prstGeom>
          <a:noFill/>
          <a:ln/>
        </p:spPr>
        <p:txBody>
          <a:bodyPr wrap="square" lIns="0" tIns="0" rIns="0" bIns="0" rtlCol="0" anchor="ctr"/>
          <a:lstStyle/>
          <a:p>
            <a:pPr algn="ctr" indent="0" marL="0">
              <a:buNone/>
            </a:pPr>
            <a:r>
              <a:rPr lang="en-US" sz="1350" b="1" dirty="0">
                <a:solidFill>
                  <a:srgbClr val="1A2144"/>
                </a:solidFill>
                <a:latin typeface="Calibri" pitchFamily="34" charset="0"/>
                <a:ea typeface="Calibri" pitchFamily="34" charset="-122"/>
                <a:cs typeface="Calibri" pitchFamily="34" charset="-120"/>
              </a:rPr>
              <a:t>리포트 생성</a:t>
            </a:r>
            <a:endParaRPr lang="en-US" sz="1350" dirty="0"/>
          </a:p>
        </p:txBody>
      </p:sp>
      <p:sp>
        <p:nvSpPr>
          <p:cNvPr id="30" name="Text 24"/>
          <p:cNvSpPr/>
          <p:nvPr/>
        </p:nvSpPr>
        <p:spPr>
          <a:xfrm>
            <a:off x="9272016" y="4114800"/>
            <a:ext cx="2331720" cy="822960"/>
          </a:xfrm>
          <a:prstGeom prst="rect">
            <a:avLst/>
          </a:prstGeom>
          <a:noFill/>
          <a:ln/>
        </p:spPr>
        <p:txBody>
          <a:bodyPr wrap="square" lIns="0" tIns="0" rIns="0" bIns="0" rtlCol="0" anchor="ctr"/>
          <a:lstStyle/>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정책별·난이도별</a:t>
            </a:r>
            <a:endParaRPr lang="en-US" sz="1050" dirty="0"/>
          </a:p>
          <a:p>
            <a:pPr algn="ctr" indent="0" marL="0">
              <a:lnSpc>
                <a:spcPct val="120000"/>
              </a:lnSpc>
              <a:buNone/>
            </a:pPr>
            <a:r>
              <a:rPr lang="en-US" sz="1050" dirty="0">
                <a:solidFill>
                  <a:srgbClr val="5B6584"/>
                </a:solidFill>
                <a:latin typeface="Calibri" pitchFamily="34" charset="0"/>
                <a:ea typeface="Calibri" pitchFamily="34" charset="-122"/>
                <a:cs typeface="Calibri" pitchFamily="34" charset="-120"/>
              </a:rPr>
              <a:t>세분화 성능 리포트</a:t>
            </a:r>
            <a:endParaRPr lang="en-US" sz="1050" dirty="0"/>
          </a:p>
        </p:txBody>
      </p:sp>
      <p:sp>
        <p:nvSpPr>
          <p:cNvPr id="31" name="Text 25"/>
          <p:cNvSpPr/>
          <p:nvPr/>
        </p:nvSpPr>
        <p:spPr>
          <a:xfrm>
            <a:off x="548640" y="5349240"/>
            <a:ext cx="11064240" cy="457200"/>
          </a:xfrm>
          <a:prstGeom prst="rect">
            <a:avLst/>
          </a:prstGeom>
          <a:noFill/>
          <a:ln/>
        </p:spPr>
        <p:txBody>
          <a:bodyPr wrap="square" lIns="0" tIns="0" rIns="0" bIns="0" rtlCol="0" anchor="ctr"/>
          <a:lstStyle/>
          <a:p>
            <a:pPr indent="0" marL="0">
              <a:buNone/>
            </a:pPr>
            <a:r>
              <a:rPr lang="en-US" sz="1400" b="1" dirty="0">
                <a:solidFill>
                  <a:srgbClr val="1A2144"/>
                </a:solidFill>
                <a:latin typeface="Calibri" pitchFamily="34" charset="0"/>
                <a:ea typeface="Calibri" pitchFamily="34" charset="-122"/>
                <a:cs typeface="Calibri" pitchFamily="34" charset="-120"/>
              </a:rPr>
              <a:t>핵심 차별점: </a:t>
            </a:r>
            <a:pPr indent="0" marL="0">
              <a:buNone/>
            </a:pPr>
            <a:r>
              <a:rPr lang="en-US" sz="1400" dirty="0">
                <a:solidFill>
                  <a:srgbClr val="5B6584"/>
                </a:solidFill>
                <a:latin typeface="Calibri" pitchFamily="34" charset="0"/>
                <a:ea typeface="Calibri" pitchFamily="34" charset="-122"/>
                <a:cs typeface="Calibri" pitchFamily="34" charset="-120"/>
              </a:rPr>
              <a:t>"몇 점을 받았나"가 아니라 "정확히 어떤 정책 조합·난이도에서 무너지는가"를 답한다</a:t>
            </a:r>
            <a:endParaRPr lang="en-US" sz="1400" dirty="0"/>
          </a:p>
        </p:txBody>
      </p:sp>
      <p:sp>
        <p:nvSpPr>
          <p:cNvPr id="32" name="Text 2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33" name="Text 27"/>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04</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기존 방법 대비</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차별점</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무엇이 근본적으로 다른가</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평가 방법 비교</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103120"/>
                <a:gridCol w="2148840"/>
                <a:gridCol w="2148840"/>
                <a:gridCol w="2148840"/>
                <a:gridCol w="2606040"/>
              </a:tblGrid>
              <a:tr h="77724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항목</a:t>
                      </a:r>
                      <a:endParaRPr lang="en-US" sz="12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수작업 테스트</a:t>
                      </a:r>
                      <a:endParaRPr lang="en-US" sz="12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τ-bench</a:t>
                      </a:r>
                      <a:endParaRPr lang="en-US" sz="12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RAGAS</a:t>
                      </a:r>
                      <a:endParaRPr lang="en-US" sz="12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IntellAgent</a:t>
                      </a:r>
                      <a:endParaRPr lang="en-US" sz="12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5A623"/>
                    </a:solidFill>
                  </a:tcPr>
                </a:tc>
              </a:tr>
              <a:tr h="777240">
                <a:tc>
                  <a:txBody>
                    <a:bodyPr/>
                    <a:lstStyle/>
                    <a:p>
                      <a:pPr algn="l" indent="0" marL="0">
                        <a:buNone/>
                      </a:pPr>
                      <a:r>
                        <a:rPr lang="en-US" sz="1150" dirty="0">
                          <a:solidFill>
                            <a:srgbClr val="1A2144"/>
                          </a:solidFill>
                          <a:latin typeface="Calibri" pitchFamily="34" charset="0"/>
                          <a:ea typeface="Calibri" pitchFamily="34" charset="-122"/>
                          <a:cs typeface="Calibri" pitchFamily="34" charset="-120"/>
                        </a:rPr>
                        <a:t>시나리오 생성</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사람이 직접 작성</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수작업 큐레이션</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RAG 파이프라인 한정</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정책 그래프 자동 생성</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1D2B5C"/>
                    </a:solidFill>
                  </a:tcPr>
                </a:tc>
              </a:tr>
              <a:tr h="777240">
                <a:tc>
                  <a:txBody>
                    <a:bodyPr/>
                    <a:lstStyle/>
                    <a:p>
                      <a:pPr algn="l" indent="0" marL="0">
                        <a:buNone/>
                      </a:pPr>
                      <a:r>
                        <a:rPr lang="en-US" sz="1150" dirty="0">
                          <a:solidFill>
                            <a:srgbClr val="1A2144"/>
                          </a:solidFill>
                          <a:latin typeface="Calibri" pitchFamily="34" charset="0"/>
                          <a:ea typeface="Calibri" pitchFamily="34" charset="-122"/>
                          <a:cs typeface="Calibri" pitchFamily="34" charset="-120"/>
                        </a:rPr>
                        <a:t>규모 확장성</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매우 낮음</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낮음 (50~115개)</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중간</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도메인당 1,000개+</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1D2B5C"/>
                    </a:solidFill>
                  </a:tcPr>
                </a:tc>
              </a:tr>
              <a:tr h="777240">
                <a:tc>
                  <a:txBody>
                    <a:bodyPr/>
                    <a:lstStyle/>
                    <a:p>
                      <a:pPr algn="l" indent="0" marL="0">
                        <a:buNone/>
                      </a:pPr>
                      <a:r>
                        <a:rPr lang="en-US" sz="1150" dirty="0">
                          <a:solidFill>
                            <a:srgbClr val="1A2144"/>
                          </a:solidFill>
                          <a:latin typeface="Calibri" pitchFamily="34" charset="0"/>
                          <a:ea typeface="Calibri" pitchFamily="34" charset="-122"/>
                          <a:cs typeface="Calibri" pitchFamily="34" charset="-120"/>
                        </a:rPr>
                        <a:t>진단 세밀도</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낮음 (합/불합)</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낮음 (이진 판정)</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컴포넌트 단위</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정책별·난이도별</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1D2B5C"/>
                    </a:solidFill>
                  </a:tcPr>
                </a:tc>
              </a:tr>
              <a:tr h="777240">
                <a:tc>
                  <a:txBody>
                    <a:bodyPr/>
                    <a:lstStyle/>
                    <a:p>
                      <a:pPr algn="l" indent="0" marL="0">
                        <a:buNone/>
                      </a:pPr>
                      <a:r>
                        <a:rPr lang="en-US" sz="1150" dirty="0">
                          <a:solidFill>
                            <a:srgbClr val="1A2144"/>
                          </a:solidFill>
                          <a:latin typeface="Calibri" pitchFamily="34" charset="0"/>
                          <a:ea typeface="Calibri" pitchFamily="34" charset="-122"/>
                          <a:cs typeface="Calibri" pitchFamily="34" charset="-120"/>
                        </a:rPr>
                        <a:t>난이도 제어</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불가</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불가 (고정 샘플)</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dirty="0">
                          <a:solidFill>
                            <a:srgbClr val="1A2144"/>
                          </a:solidFill>
                          <a:latin typeface="Calibri" pitchFamily="34" charset="0"/>
                          <a:ea typeface="Calibri" pitchFamily="34" charset="-122"/>
                          <a:cs typeface="Calibri" pitchFamily="34" charset="-120"/>
                        </a:rPr>
                        <a:t>해당 없음</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그래프 랜덤워크로 조절</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1D2B5C"/>
                    </a:solidFill>
                  </a:tcPr>
                </a:tc>
              </a:tr>
            </a:tbl>
          </a:graphicData>
        </a:graphic>
      </p:graphicFrame>
      <p:sp>
        <p:nvSpPr>
          <p:cNvPr id="5" name="Text 2"/>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6" name="Text 3"/>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05</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실험 결과</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τ-bench 상관관계부터 정책별 취약점까지</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CORRELATION WITH Τ-BENCH</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τ-bench와의 상관관계</a:t>
            </a:r>
            <a:endParaRPr lang="en-US" sz="3000" dirty="0"/>
          </a:p>
        </p:txBody>
      </p:sp>
      <p:sp>
        <p:nvSpPr>
          <p:cNvPr id="4" name="Text 2"/>
          <p:cNvSpPr/>
          <p:nvPr/>
        </p:nvSpPr>
        <p:spPr>
          <a:xfrm>
            <a:off x="548640" y="1600200"/>
            <a:ext cx="10972800" cy="457200"/>
          </a:xfrm>
          <a:prstGeom prst="rect">
            <a:avLst/>
          </a:prstGeom>
          <a:noFill/>
          <a:ln/>
        </p:spPr>
        <p:txBody>
          <a:bodyPr wrap="square" lIns="0" tIns="0" rIns="0" bIns="0" rtlCol="0" anchor="ctr"/>
          <a:lstStyle/>
          <a:p>
            <a:pPr indent="0" marL="0">
              <a:buNone/>
            </a:pPr>
            <a:r>
              <a:rPr lang="en-US" sz="1450" dirty="0">
                <a:solidFill>
                  <a:srgbClr val="5B6584"/>
                </a:solidFill>
                <a:latin typeface="Calibri" pitchFamily="34" charset="0"/>
                <a:ea typeface="Calibri" pitchFamily="34" charset="-122"/>
                <a:cs typeface="Calibri" pitchFamily="34" charset="-120"/>
              </a:rPr>
              <a:t>완전 합성 데이터만으로도 기존 수작업 벤치마크와 강한 신호 일치</a:t>
            </a:r>
            <a:endParaRPr lang="en-US" sz="1450" dirty="0"/>
          </a:p>
        </p:txBody>
      </p:sp>
      <p:sp>
        <p:nvSpPr>
          <p:cNvPr id="5" name="Shape 3"/>
          <p:cNvSpPr/>
          <p:nvPr/>
        </p:nvSpPr>
        <p:spPr>
          <a:xfrm>
            <a:off x="822960" y="2286000"/>
            <a:ext cx="4937760" cy="2103120"/>
          </a:xfrm>
          <a:prstGeom prst="rect">
            <a:avLst/>
          </a:prstGeom>
          <a:solidFill>
            <a:srgbClr val="0F1A3C"/>
          </a:solidFill>
          <a:ln/>
        </p:spPr>
      </p:sp>
      <p:sp>
        <p:nvSpPr>
          <p:cNvPr id="6" name="Shape 4"/>
          <p:cNvSpPr/>
          <p:nvPr/>
        </p:nvSpPr>
        <p:spPr>
          <a:xfrm>
            <a:off x="822960" y="2286000"/>
            <a:ext cx="91440" cy="2103120"/>
          </a:xfrm>
          <a:prstGeom prst="rect">
            <a:avLst/>
          </a:prstGeom>
          <a:solidFill>
            <a:srgbClr val="F5A623"/>
          </a:solidFill>
          <a:ln/>
        </p:spPr>
      </p:sp>
      <p:sp>
        <p:nvSpPr>
          <p:cNvPr id="7" name="Text 5"/>
          <p:cNvSpPr/>
          <p:nvPr/>
        </p:nvSpPr>
        <p:spPr>
          <a:xfrm>
            <a:off x="1280160" y="2423160"/>
            <a:ext cx="2377440" cy="128016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0.98</a:t>
            </a:r>
            <a:endParaRPr lang="en-US" sz="6000" dirty="0"/>
          </a:p>
        </p:txBody>
      </p:sp>
      <p:sp>
        <p:nvSpPr>
          <p:cNvPr id="8" name="Text 6"/>
          <p:cNvSpPr/>
          <p:nvPr/>
        </p:nvSpPr>
        <p:spPr>
          <a:xfrm>
            <a:off x="3657600" y="2423160"/>
            <a:ext cx="1828800" cy="1280160"/>
          </a:xfrm>
          <a:prstGeom prst="rect">
            <a:avLst/>
          </a:prstGeom>
          <a:noFill/>
          <a:ln/>
        </p:spPr>
        <p:txBody>
          <a:bodyPr wrap="square" lIns="0" tIns="0" rIns="0" bIns="0" rtlCol="0" anchor="ctr"/>
          <a:lstStyle/>
          <a:p>
            <a:pPr indent="0" marL="0">
              <a:lnSpc>
                <a:spcPct val="120000"/>
              </a:lnSpc>
              <a:buNone/>
            </a:pPr>
            <a:r>
              <a:rPr lang="en-US" sz="1350" dirty="0">
                <a:solidFill>
                  <a:srgbClr val="CBD8F0"/>
                </a:solidFill>
                <a:latin typeface="Calibri" pitchFamily="34" charset="0"/>
                <a:ea typeface="Calibri" pitchFamily="34" charset="-122"/>
                <a:cs typeface="Calibri" pitchFamily="34" charset="-120"/>
              </a:rPr>
              <a:t>항공 도메인</a:t>
            </a:r>
            <a:endParaRPr lang="en-US" sz="1350" dirty="0"/>
          </a:p>
          <a:p>
            <a:pPr indent="0" marL="0">
              <a:lnSpc>
                <a:spcPct val="120000"/>
              </a:lnSpc>
              <a:buNone/>
            </a:pPr>
            <a:r>
              <a:rPr lang="en-US" sz="1350" dirty="0">
                <a:solidFill>
                  <a:srgbClr val="CBD8F0"/>
                </a:solidFill>
                <a:latin typeface="Calibri" pitchFamily="34" charset="0"/>
                <a:ea typeface="Calibri" pitchFamily="34" charset="-122"/>
                <a:cs typeface="Calibri" pitchFamily="34" charset="-120"/>
              </a:rPr>
              <a:t>Pearson 상관계수</a:t>
            </a:r>
            <a:endParaRPr lang="en-US" sz="1350" dirty="0"/>
          </a:p>
        </p:txBody>
      </p:sp>
      <p:sp>
        <p:nvSpPr>
          <p:cNvPr id="9" name="Shape 7"/>
          <p:cNvSpPr/>
          <p:nvPr/>
        </p:nvSpPr>
        <p:spPr>
          <a:xfrm>
            <a:off x="6126480" y="2286000"/>
            <a:ext cx="4937760" cy="2103120"/>
          </a:xfrm>
          <a:prstGeom prst="rect">
            <a:avLst/>
          </a:prstGeom>
          <a:solidFill>
            <a:srgbClr val="0F1A3C"/>
          </a:solidFill>
          <a:ln/>
        </p:spPr>
      </p:sp>
      <p:sp>
        <p:nvSpPr>
          <p:cNvPr id="10" name="Shape 8"/>
          <p:cNvSpPr/>
          <p:nvPr/>
        </p:nvSpPr>
        <p:spPr>
          <a:xfrm>
            <a:off x="6126480" y="2286000"/>
            <a:ext cx="91440" cy="2103120"/>
          </a:xfrm>
          <a:prstGeom prst="rect">
            <a:avLst/>
          </a:prstGeom>
          <a:solidFill>
            <a:srgbClr val="4F86F7"/>
          </a:solidFill>
          <a:ln/>
        </p:spPr>
      </p:sp>
      <p:sp>
        <p:nvSpPr>
          <p:cNvPr id="11" name="Text 9"/>
          <p:cNvSpPr/>
          <p:nvPr/>
        </p:nvSpPr>
        <p:spPr>
          <a:xfrm>
            <a:off x="6583680" y="2423160"/>
            <a:ext cx="2377440" cy="128016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0.92</a:t>
            </a:r>
            <a:endParaRPr lang="en-US" sz="6000" dirty="0"/>
          </a:p>
        </p:txBody>
      </p:sp>
      <p:sp>
        <p:nvSpPr>
          <p:cNvPr id="12" name="Text 10"/>
          <p:cNvSpPr/>
          <p:nvPr/>
        </p:nvSpPr>
        <p:spPr>
          <a:xfrm>
            <a:off x="8961120" y="2423160"/>
            <a:ext cx="1828800" cy="1280160"/>
          </a:xfrm>
          <a:prstGeom prst="rect">
            <a:avLst/>
          </a:prstGeom>
          <a:noFill/>
          <a:ln/>
        </p:spPr>
        <p:txBody>
          <a:bodyPr wrap="square" lIns="0" tIns="0" rIns="0" bIns="0" rtlCol="0" anchor="ctr"/>
          <a:lstStyle/>
          <a:p>
            <a:pPr indent="0" marL="0">
              <a:lnSpc>
                <a:spcPct val="120000"/>
              </a:lnSpc>
              <a:buNone/>
            </a:pPr>
            <a:r>
              <a:rPr lang="en-US" sz="1350" dirty="0">
                <a:solidFill>
                  <a:srgbClr val="CBD8F0"/>
                </a:solidFill>
                <a:latin typeface="Calibri" pitchFamily="34" charset="0"/>
                <a:ea typeface="Calibri" pitchFamily="34" charset="-122"/>
                <a:cs typeface="Calibri" pitchFamily="34" charset="-120"/>
              </a:rPr>
              <a:t>리테일 도메인</a:t>
            </a:r>
            <a:endParaRPr lang="en-US" sz="1350" dirty="0"/>
          </a:p>
          <a:p>
            <a:pPr indent="0" marL="0">
              <a:lnSpc>
                <a:spcPct val="120000"/>
              </a:lnSpc>
              <a:buNone/>
            </a:pPr>
            <a:r>
              <a:rPr lang="en-US" sz="1350" dirty="0">
                <a:solidFill>
                  <a:srgbClr val="CBD8F0"/>
                </a:solidFill>
                <a:latin typeface="Calibri" pitchFamily="34" charset="0"/>
                <a:ea typeface="Calibri" pitchFamily="34" charset="-122"/>
                <a:cs typeface="Calibri" pitchFamily="34" charset="-120"/>
              </a:rPr>
              <a:t>Pearson 상관계수</a:t>
            </a:r>
            <a:endParaRPr lang="en-US" sz="1350" dirty="0"/>
          </a:p>
        </p:txBody>
      </p:sp>
      <p:sp>
        <p:nvSpPr>
          <p:cNvPr id="13" name="Shape 11"/>
          <p:cNvSpPr/>
          <p:nvPr/>
        </p:nvSpPr>
        <p:spPr>
          <a:xfrm>
            <a:off x="822960" y="4754880"/>
            <a:ext cx="10515600" cy="1325880"/>
          </a:xfrm>
          <a:prstGeom prst="rect">
            <a:avLst/>
          </a:prstGeom>
          <a:solidFill>
            <a:srgbClr val="FFF6E6"/>
          </a:solidFill>
          <a:ln w="12700">
            <a:solidFill>
              <a:srgbClr val="F0D9A6"/>
            </a:solidFill>
            <a:prstDash val="solid"/>
          </a:ln>
        </p:spPr>
      </p:sp>
      <p:pic>
        <p:nvPicPr>
          <p:cNvPr id="14" name="Image 0" descr="preencoded.png">    </p:cNvPr>
          <p:cNvPicPr>
            <a:picLocks noChangeAspect="1"/>
          </p:cNvPicPr>
          <p:nvPr/>
        </p:nvPicPr>
        <p:blipFill>
          <a:blip r:embed="rId1"/>
          <a:stretch>
            <a:fillRect/>
          </a:stretch>
        </p:blipFill>
        <p:spPr>
          <a:xfrm>
            <a:off x="1097280" y="5029200"/>
            <a:ext cx="502920" cy="502920"/>
          </a:xfrm>
          <a:prstGeom prst="rect">
            <a:avLst/>
          </a:prstGeom>
        </p:spPr>
      </p:pic>
      <p:sp>
        <p:nvSpPr>
          <p:cNvPr id="15" name="Text 12"/>
          <p:cNvSpPr/>
          <p:nvPr/>
        </p:nvSpPr>
        <p:spPr>
          <a:xfrm>
            <a:off x="1828800" y="4983480"/>
            <a:ext cx="9235440" cy="914400"/>
          </a:xfrm>
          <a:prstGeom prst="rect">
            <a:avLst/>
          </a:prstGeom>
          <a:noFill/>
          <a:ln/>
        </p:spPr>
        <p:txBody>
          <a:bodyPr wrap="square" lIns="0" tIns="0" rIns="0" bIns="0" rtlCol="0" anchor="ctr"/>
          <a:lstStyle/>
          <a:p>
            <a:pPr indent="0" marL="0">
              <a:lnSpc>
                <a:spcPct val="130000"/>
              </a:lnSpc>
              <a:buNone/>
            </a:pPr>
            <a:r>
              <a:rPr lang="en-US" sz="1300" dirty="0">
                <a:solidFill>
                  <a:srgbClr val="1A2144"/>
                </a:solidFill>
                <a:latin typeface="Calibri" pitchFamily="34" charset="0"/>
                <a:ea typeface="Calibri" pitchFamily="34" charset="-122"/>
                <a:cs typeface="Calibri" pitchFamily="34" charset="-120"/>
              </a:rPr>
              <a:t>합성 시나리오만으로 구성했음에도 실제 모델 성능 차이를 왜곡 없이 재현 → 정책 그래프 기반 샘플링의 신뢰성 확인</a:t>
            </a:r>
            <a:endParaRPr lang="en-US" sz="1300" dirty="0"/>
          </a:p>
        </p:txBody>
      </p:sp>
      <p:sp>
        <p:nvSpPr>
          <p:cNvPr id="16" name="Text 13"/>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17" name="Text 14"/>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MODEL COMPARISON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모델별 성능 비교</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0881360" cy="914400"/>
        </p:xfrm>
        <a:graphic>
          <a:graphicData uri="http://schemas.openxmlformats.org/drawingml/2006/table">
            <a:tbl>
              <a:tblPr/>
              <a:tblGrid>
                <a:gridCol w="2834640"/>
                <a:gridCol w="1965960"/>
                <a:gridCol w="2057400"/>
                <a:gridCol w="1965960"/>
                <a:gridCol w="2057400"/>
              </a:tblGrid>
              <a:tr h="51206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모델</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τ-bench</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항공</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IntellAgent</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항공</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τ-bench</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리테일</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IntellAgent</a:t>
                      </a:r>
                      <a:endParaRPr lang="en-US" sz="1150" dirty="0">
                        <a:latin typeface="Calibri" charset="0"/>
                        <a:ea typeface="Calibri" charset="0"/>
                        <a:cs typeface="Calibri" charset="0"/>
                      </a:endParaRPr>
                    </a:p>
                    <a:p>
                      <a:pPr algn="ctr" indent="0" marL="0">
                        <a:buNone/>
                      </a:pPr>
                      <a:r>
                        <a:rPr lang="en-US" sz="1150" b="1" dirty="0">
                          <a:solidFill>
                            <a:srgbClr val="FFFFFF"/>
                          </a:solidFill>
                          <a:latin typeface="Calibri" pitchFamily="34" charset="0"/>
                          <a:ea typeface="Calibri" pitchFamily="34" charset="-122"/>
                          <a:cs typeface="Calibri" pitchFamily="34" charset="-120"/>
                        </a:rPr>
                        <a:t>리테일</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0F1A3C"/>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Claude-3.5-Sonnet</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0.46</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0.69</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0.71</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GPT-4o</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0.51</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Gemini-1.5-Pro</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0.43</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GPT-4o-mini</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0.46</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Claude-3.5-Haiku</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1A2144"/>
                          </a:solidFill>
                          <a:latin typeface="Calibri" pitchFamily="34" charset="0"/>
                          <a:ea typeface="Calibri" pitchFamily="34" charset="-122"/>
                          <a:cs typeface="Calibri" pitchFamily="34" charset="-120"/>
                        </a:rPr>
                        <a:t>Gemini-1.5-Flash</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algn="ctr" indent="0" marL="0">
                        <a:buNone/>
                      </a:pPr>
                      <a:r>
                        <a:rPr lang="en-US" sz="1200" dirty="0">
                          <a:solidFill>
                            <a:srgbClr val="1A2144"/>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r>
            </a:tbl>
          </a:graphicData>
        </a:graphic>
      </p:graphicFrame>
      <p:sp>
        <p:nvSpPr>
          <p:cNvPr id="5" name="Text 2"/>
          <p:cNvSpPr/>
          <p:nvPr/>
        </p:nvSpPr>
        <p:spPr>
          <a:xfrm>
            <a:off x="548640" y="5486400"/>
            <a:ext cx="10881360" cy="365760"/>
          </a:xfrm>
          <a:prstGeom prst="rect">
            <a:avLst/>
          </a:prstGeom>
          <a:noFill/>
          <a:ln/>
        </p:spPr>
        <p:txBody>
          <a:bodyPr wrap="square" lIns="0" tIns="0" rIns="0" bIns="0" rtlCol="0" anchor="ctr"/>
          <a:lstStyle/>
          <a:p>
            <a:pPr indent="0" marL="0">
              <a:buNone/>
            </a:pPr>
            <a:r>
              <a:rPr lang="en-US" sz="1200" i="1" dirty="0">
                <a:solidFill>
                  <a:srgbClr val="5B6584"/>
                </a:solidFill>
                <a:latin typeface="Calibri" pitchFamily="34" charset="0"/>
                <a:ea typeface="Calibri" pitchFamily="34" charset="-122"/>
                <a:cs typeface="Calibri" pitchFamily="34" charset="-120"/>
              </a:rPr>
              <a:t>두 벤치마크 모두 Claude-3.5-Sonnet · GPT-4o 상위권, Gemini-1.5-Flash 하위권 — 순위 일관성 확인</a:t>
            </a:r>
            <a:endParaRPr lang="en-US" sz="1200" dirty="0"/>
          </a:p>
        </p:txBody>
      </p:sp>
      <p:sp>
        <p:nvSpPr>
          <p:cNvPr id="6" name="Text 3"/>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7" name="Text 4"/>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핵심 발견</a:t>
            </a:r>
            <a:endParaRPr lang="en-US" sz="3000" dirty="0"/>
          </a:p>
        </p:txBody>
      </p:sp>
      <p:sp>
        <p:nvSpPr>
          <p:cNvPr id="4" name="Shape 2"/>
          <p:cNvSpPr/>
          <p:nvPr/>
        </p:nvSpPr>
        <p:spPr>
          <a:xfrm>
            <a:off x="640080" y="1737360"/>
            <a:ext cx="5212080" cy="4114800"/>
          </a:xfrm>
          <a:prstGeom prst="rect">
            <a:avLst/>
          </a:prstGeom>
          <a:solidFill>
            <a:srgbClr val="1D2B5C"/>
          </a:solidFill>
          <a:ln/>
        </p:spPr>
      </p:sp>
      <p:pic>
        <p:nvPicPr>
          <p:cNvPr id="5" name="Image 0" descr="preencoded.png">    </p:cNvPr>
          <p:cNvPicPr>
            <a:picLocks noChangeAspect="1"/>
          </p:cNvPicPr>
          <p:nvPr/>
        </p:nvPicPr>
        <p:blipFill>
          <a:blip r:embed="rId1"/>
          <a:stretch>
            <a:fillRect/>
          </a:stretch>
        </p:blipFill>
        <p:spPr>
          <a:xfrm>
            <a:off x="914400" y="1965960"/>
            <a:ext cx="502920" cy="502920"/>
          </a:xfrm>
          <a:prstGeom prst="rect">
            <a:avLst/>
          </a:prstGeom>
        </p:spPr>
      </p:pic>
      <p:sp>
        <p:nvSpPr>
          <p:cNvPr id="6" name="Text 3"/>
          <p:cNvSpPr/>
          <p:nvPr/>
        </p:nvSpPr>
        <p:spPr>
          <a:xfrm>
            <a:off x="1554480" y="2011680"/>
            <a:ext cx="41148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난이도별 성능 저하 패턴</a:t>
            </a:r>
            <a:endParaRPr lang="en-US" sz="1600" dirty="0"/>
          </a:p>
        </p:txBody>
      </p:sp>
      <p:sp>
        <p:nvSpPr>
          <p:cNvPr id="7" name="Text 4"/>
          <p:cNvSpPr/>
          <p:nvPr/>
        </p:nvSpPr>
        <p:spPr>
          <a:xfrm>
            <a:off x="914400" y="2651760"/>
            <a:ext cx="4663440" cy="548640"/>
          </a:xfrm>
          <a:prstGeom prst="rect">
            <a:avLst/>
          </a:prstGeom>
          <a:noFill/>
          <a:ln/>
        </p:spPr>
        <p:txBody>
          <a:bodyPr wrap="square" lIns="0" tIns="0" rIns="0" bIns="0" rtlCol="0" anchor="ctr"/>
          <a:lstStyle/>
          <a:p>
            <a:pPr indent="0" marL="0">
              <a:lnSpc>
                <a:spcPct val="125000"/>
              </a:lnSpc>
              <a:buNone/>
            </a:pPr>
            <a:r>
              <a:rPr lang="en-US" sz="1200" dirty="0">
                <a:solidFill>
                  <a:srgbClr val="CBD8F0"/>
                </a:solidFill>
                <a:latin typeface="Calibri" pitchFamily="34" charset="0"/>
                <a:ea typeface="Calibri" pitchFamily="34" charset="-122"/>
                <a:cs typeface="Calibri" pitchFamily="34" charset="-120"/>
              </a:rPr>
              <a:t>모든 모델이 난이도 상승에 따라 성능 저하 — 그러나 저하 패턴은 모델마다 상이</a:t>
            </a:r>
            <a:endParaRPr lang="en-US" sz="1200" dirty="0"/>
          </a:p>
        </p:txBody>
      </p:sp>
      <p:sp>
        <p:nvSpPr>
          <p:cNvPr id="8" name="Shape 5"/>
          <p:cNvSpPr/>
          <p:nvPr/>
        </p:nvSpPr>
        <p:spPr>
          <a:xfrm>
            <a:off x="914400" y="3337560"/>
            <a:ext cx="4663440" cy="2331720"/>
          </a:xfrm>
          <a:prstGeom prst="rect">
            <a:avLst/>
          </a:prstGeom>
          <a:solidFill>
            <a:srgbClr val="13214A"/>
          </a:solidFill>
          <a:ln/>
        </p:spPr>
      </p:sp>
      <p:sp>
        <p:nvSpPr>
          <p:cNvPr id="9" name="Text 6"/>
          <p:cNvSpPr/>
          <p:nvPr/>
        </p:nvSpPr>
        <p:spPr>
          <a:xfrm>
            <a:off x="1143000" y="3566160"/>
            <a:ext cx="4206240" cy="1920240"/>
          </a:xfrm>
          <a:prstGeom prst="rect">
            <a:avLst/>
          </a:prstGeom>
          <a:noFill/>
          <a:ln/>
        </p:spPr>
        <p:txBody>
          <a:bodyPr wrap="square" lIns="0" tIns="0" rIns="0" bIns="0" rtlCol="0" anchor="ctr"/>
          <a:lstStyle/>
          <a:p>
            <a:pPr indent="0" marL="0">
              <a:lnSpc>
                <a:spcPct val="130000"/>
              </a:lnSpc>
              <a:buNone/>
            </a:pPr>
            <a:r>
              <a:rPr lang="en-US" sz="1200" b="1" dirty="0">
                <a:solidFill>
                  <a:srgbClr val="F5A623"/>
                </a:solidFill>
                <a:latin typeface="Calibri" pitchFamily="34" charset="0"/>
                <a:ea typeface="Calibri" pitchFamily="34" charset="-122"/>
                <a:cs typeface="Calibri" pitchFamily="34" charset="-120"/>
              </a:rPr>
              <a:t>Gemini-1.5-Pro</a:t>
            </a:r>
            <a:endParaRPr lang="en-US" sz="1200" dirty="0"/>
          </a:p>
          <a:p>
            <a:pPr indent="0" marL="0">
              <a:lnSpc>
                <a:spcPct val="130000"/>
              </a:lnSpc>
              <a:spcAft>
                <a:spcPts val="1000"/>
              </a:spcAft>
              <a:buNone/>
            </a:pPr>
            <a:r>
              <a:rPr lang="en-US" sz="1200" dirty="0">
                <a:solidFill>
                  <a:srgbClr val="CBD8F0"/>
                </a:solidFill>
                <a:latin typeface="Calibri" pitchFamily="34" charset="0"/>
                <a:ea typeface="Calibri" pitchFamily="34" charset="-122"/>
                <a:cs typeface="Calibri" pitchFamily="34" charset="-120"/>
              </a:rPr>
              <a:t>항공 도메인 난이도 10 수준까지 GPT-4o-mini보다 우위</a:t>
            </a:r>
            <a:endParaRPr lang="en-US" sz="1200" dirty="0"/>
          </a:p>
          <a:p>
            <a:pPr indent="0" marL="0">
              <a:lnSpc>
                <a:spcPct val="130000"/>
              </a:lnSpc>
              <a:buNone/>
            </a:pPr>
            <a:r>
              <a:rPr lang="en-US" sz="1200" dirty="0">
                <a:solidFill>
                  <a:srgbClr val="CBD8F0"/>
                </a:solidFill>
                <a:latin typeface="Calibri" pitchFamily="34" charset="0"/>
                <a:ea typeface="Calibri" pitchFamily="34" charset="-122"/>
                <a:cs typeface="Calibri" pitchFamily="34" charset="-120"/>
              </a:rPr>
              <a:t>고난이도 구간에서는 두 모델 성능이 수렴</a:t>
            </a:r>
            <a:endParaRPr lang="en-US" sz="1200" dirty="0"/>
          </a:p>
        </p:txBody>
      </p:sp>
      <p:sp>
        <p:nvSpPr>
          <p:cNvPr id="10" name="Shape 7"/>
          <p:cNvSpPr/>
          <p:nvPr/>
        </p:nvSpPr>
        <p:spPr>
          <a:xfrm>
            <a:off x="6309360" y="1737360"/>
            <a:ext cx="5212080" cy="4114800"/>
          </a:xfrm>
          <a:prstGeom prst="rect">
            <a:avLst/>
          </a:prstGeom>
          <a:solidFill>
            <a:srgbClr val="1D2B5C"/>
          </a:solidFill>
          <a:ln/>
        </p:spPr>
      </p:sp>
      <p:pic>
        <p:nvPicPr>
          <p:cNvPr id="11" name="Image 1" descr="preencoded.png">    </p:cNvPr>
          <p:cNvPicPr>
            <a:picLocks noChangeAspect="1"/>
          </p:cNvPicPr>
          <p:nvPr/>
        </p:nvPicPr>
        <p:blipFill>
          <a:blip r:embed="rId2"/>
          <a:stretch>
            <a:fillRect/>
          </a:stretch>
        </p:blipFill>
        <p:spPr>
          <a:xfrm>
            <a:off x="6583680" y="1965960"/>
            <a:ext cx="502920" cy="502920"/>
          </a:xfrm>
          <a:prstGeom prst="rect">
            <a:avLst/>
          </a:prstGeom>
        </p:spPr>
      </p:pic>
      <p:sp>
        <p:nvSpPr>
          <p:cNvPr id="12" name="Text 8"/>
          <p:cNvSpPr/>
          <p:nvPr/>
        </p:nvSpPr>
        <p:spPr>
          <a:xfrm>
            <a:off x="7223760" y="2011680"/>
            <a:ext cx="41148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공통 취약 정책: 사용자 동의</a:t>
            </a:r>
            <a:endParaRPr lang="en-US" sz="1600" dirty="0"/>
          </a:p>
        </p:txBody>
      </p:sp>
      <p:sp>
        <p:nvSpPr>
          <p:cNvPr id="13" name="Text 9"/>
          <p:cNvSpPr/>
          <p:nvPr/>
        </p:nvSpPr>
        <p:spPr>
          <a:xfrm>
            <a:off x="6583680" y="2651760"/>
            <a:ext cx="4663440" cy="731520"/>
          </a:xfrm>
          <a:prstGeom prst="rect">
            <a:avLst/>
          </a:prstGeom>
          <a:noFill/>
          <a:ln/>
        </p:spPr>
        <p:txBody>
          <a:bodyPr wrap="square" lIns="0" tIns="0" rIns="0" bIns="0" rtlCol="0" anchor="ctr"/>
          <a:lstStyle/>
          <a:p>
            <a:pPr indent="0" marL="0">
              <a:lnSpc>
                <a:spcPct val="125000"/>
              </a:lnSpc>
              <a:buNone/>
            </a:pPr>
            <a:r>
              <a:rPr lang="en-US" sz="1200" dirty="0">
                <a:solidFill>
                  <a:srgbClr val="CBD8F0"/>
                </a:solidFill>
                <a:latin typeface="Calibri" pitchFamily="34" charset="0"/>
                <a:ea typeface="Calibri" pitchFamily="34" charset="-122"/>
                <a:cs typeface="Calibri" pitchFamily="34" charset="-120"/>
              </a:rPr>
              <a:t>테스트한 모든 모델이 사용자 동의(user consent)를 요구하는 정책에서 공통적으로 어려움을 겪음</a:t>
            </a:r>
            <a:endParaRPr lang="en-US" sz="1200" dirty="0"/>
          </a:p>
        </p:txBody>
      </p:sp>
      <p:sp>
        <p:nvSpPr>
          <p:cNvPr id="14" name="Shape 10"/>
          <p:cNvSpPr/>
          <p:nvPr/>
        </p:nvSpPr>
        <p:spPr>
          <a:xfrm>
            <a:off x="6583680" y="3520440"/>
            <a:ext cx="4663440" cy="2148840"/>
          </a:xfrm>
          <a:prstGeom prst="rect">
            <a:avLst/>
          </a:prstGeom>
          <a:solidFill>
            <a:srgbClr val="13214A"/>
          </a:solidFill>
          <a:ln/>
        </p:spPr>
      </p:sp>
      <p:sp>
        <p:nvSpPr>
          <p:cNvPr id="15" name="Text 11"/>
          <p:cNvSpPr/>
          <p:nvPr/>
        </p:nvSpPr>
        <p:spPr>
          <a:xfrm>
            <a:off x="6812280" y="3703320"/>
            <a:ext cx="4206240" cy="1828800"/>
          </a:xfrm>
          <a:prstGeom prst="rect">
            <a:avLst/>
          </a:prstGeom>
          <a:noFill/>
          <a:ln/>
        </p:spPr>
        <p:txBody>
          <a:bodyPr wrap="square" lIns="0" tIns="0" rIns="0" bIns="0" rtlCol="0" anchor="ctr"/>
          <a:lstStyle/>
          <a:p>
            <a:pPr indent="0" marL="0">
              <a:lnSpc>
                <a:spcPct val="130000"/>
              </a:lnSpc>
              <a:buNone/>
            </a:pPr>
            <a:r>
              <a:rPr lang="en-US" sz="1150" dirty="0">
                <a:solidFill>
                  <a:srgbClr val="CBD8F0"/>
                </a:solidFill>
                <a:latin typeface="Calibri" pitchFamily="34" charset="0"/>
                <a:ea typeface="Calibri" pitchFamily="34" charset="-122"/>
                <a:cs typeface="Calibri" pitchFamily="34" charset="-120"/>
              </a:rPr>
              <a:t>"예약 변경 전 사용자에게 명시적으로 확인받아야 한다"는 유형의 정책을, 모델이 도구 호출을 서두르며 놓치는 경우가 빈번했다. τ-bench의 이진 판정에서는 드러나지 않던, 정책 단위 세분화 진단이 밝혀낸 발견이다.</a:t>
            </a:r>
            <a:endParaRPr lang="en-US" sz="1150" dirty="0"/>
          </a:p>
        </p:txBody>
      </p:sp>
      <p:sp>
        <p:nvSpPr>
          <p:cNvPr id="16" name="Text 12"/>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17" name="Text 13"/>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7955280" y="1005840"/>
            <a:ext cx="3840480" cy="4754880"/>
          </a:xfrm>
          <a:prstGeom prst="rect">
            <a:avLst/>
          </a:prstGeom>
          <a:noFill/>
          <a:ln/>
        </p:spPr>
        <p:txBody>
          <a:bodyPr wrap="square" lIns="0" tIns="0" rIns="0" bIns="0" rtlCol="0" anchor="ctr"/>
          <a:lstStyle/>
          <a:p>
            <a:pPr algn="r" indent="0" marL="0">
              <a:buNone/>
            </a:pPr>
            <a:r>
              <a:rPr lang="en-US" sz="26000" b="1" dirty="0">
                <a:solidFill>
                  <a:srgbClr val="16234F"/>
                </a:solidFill>
                <a:latin typeface="Georgia" pitchFamily="34" charset="0"/>
                <a:ea typeface="Georgia" pitchFamily="34" charset="-122"/>
                <a:cs typeface="Georgia" pitchFamily="34" charset="-120"/>
              </a:rPr>
              <a:t>06</a:t>
            </a:r>
            <a:endParaRPr lang="en-US" sz="26000" dirty="0"/>
          </a:p>
        </p:txBody>
      </p:sp>
      <p:sp>
        <p:nvSpPr>
          <p:cNvPr id="3" name="Shape 1"/>
          <p:cNvSpPr/>
          <p:nvPr/>
        </p:nvSpPr>
        <p:spPr>
          <a:xfrm>
            <a:off x="822960" y="2880360"/>
            <a:ext cx="822960" cy="82296"/>
          </a:xfrm>
          <a:prstGeom prst="rect">
            <a:avLst/>
          </a:prstGeom>
          <a:solidFill>
            <a:srgbClr val="F5A623"/>
          </a:solidFill>
          <a:ln/>
        </p:spPr>
      </p:sp>
      <p:pic>
        <p:nvPicPr>
          <p:cNvPr id="4" name="Image 0" descr="preencoded.png">    </p:cNvPr>
          <p:cNvPicPr>
            <a:picLocks noChangeAspect="1"/>
          </p:cNvPicPr>
          <p:nvPr/>
        </p:nvPicPr>
        <p:blipFill>
          <a:blip r:embed="rId1"/>
          <a:stretch>
            <a:fillRect/>
          </a:stretch>
        </p:blipFill>
        <p:spPr>
          <a:xfrm>
            <a:off x="822960" y="1965960"/>
            <a:ext cx="640080" cy="640080"/>
          </a:xfrm>
          <a:prstGeom prst="rect">
            <a:avLst/>
          </a:prstGeom>
        </p:spPr>
      </p:pic>
      <p:sp>
        <p:nvSpPr>
          <p:cNvPr id="5" name="Text 2"/>
          <p:cNvSpPr/>
          <p:nvPr/>
        </p:nvSpPr>
        <p:spPr>
          <a:xfrm>
            <a:off x="777240" y="3108960"/>
            <a:ext cx="8961120" cy="11887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실무 활용과</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한계</a:t>
            </a:r>
            <a:endParaRPr lang="en-US" sz="4000" dirty="0"/>
          </a:p>
        </p:txBody>
      </p:sp>
      <p:sp>
        <p:nvSpPr>
          <p:cNvPr id="6" name="Text 3"/>
          <p:cNvSpPr/>
          <p:nvPr/>
        </p:nvSpPr>
        <p:spPr>
          <a:xfrm>
            <a:off x="822960" y="4160520"/>
            <a:ext cx="8595360" cy="822960"/>
          </a:xfrm>
          <a:prstGeom prst="rect">
            <a:avLst/>
          </a:prstGeom>
          <a:noFill/>
          <a:ln/>
        </p:spPr>
        <p:txBody>
          <a:bodyPr wrap="square" lIns="0" tIns="0" rIns="0" bIns="0" rtlCol="0" anchor="ctr"/>
          <a:lstStyle/>
          <a:p>
            <a:pPr indent="0" marL="0">
              <a:buNone/>
            </a:pPr>
            <a:r>
              <a:rPr lang="en-US" sz="1600" dirty="0">
                <a:solidFill>
                  <a:srgbClr val="CBD8F0"/>
                </a:solidFill>
                <a:latin typeface="Calibri" pitchFamily="34" charset="0"/>
                <a:ea typeface="Calibri" pitchFamily="34" charset="-122"/>
                <a:cs typeface="Calibri" pitchFamily="34" charset="-120"/>
              </a:rPr>
              <a:t>설치·사용법부터 구조적 한계까지</a:t>
            </a:r>
            <a:endParaRPr lang="en-US" sz="1600" dirty="0"/>
          </a:p>
        </p:txBody>
      </p:sp>
      <p:sp>
        <p:nvSpPr>
          <p:cNvPr id="7"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5"/>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INSTALLATION &amp; USAGE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설치와 사용법</a:t>
            </a:r>
            <a:endParaRPr lang="en-US" sz="3000" dirty="0"/>
          </a:p>
        </p:txBody>
      </p:sp>
      <p:sp>
        <p:nvSpPr>
          <p:cNvPr id="4" name="Shape 2"/>
          <p:cNvSpPr/>
          <p:nvPr/>
        </p:nvSpPr>
        <p:spPr>
          <a:xfrm>
            <a:off x="548640" y="1691640"/>
            <a:ext cx="5486400" cy="4160520"/>
          </a:xfrm>
          <a:prstGeom prst="rect">
            <a:avLst/>
          </a:prstGeom>
          <a:solidFill>
            <a:srgbClr val="0F1A3C"/>
          </a:solidFill>
          <a:ln/>
        </p:spPr>
      </p:sp>
      <p:sp>
        <p:nvSpPr>
          <p:cNvPr id="5" name="Text 3"/>
          <p:cNvSpPr/>
          <p:nvPr/>
        </p:nvSpPr>
        <p:spPr>
          <a:xfrm>
            <a:off x="822960" y="1920240"/>
            <a:ext cx="3657600" cy="320040"/>
          </a:xfrm>
          <a:prstGeom prst="rect">
            <a:avLst/>
          </a:prstGeom>
          <a:noFill/>
          <a:ln/>
        </p:spPr>
        <p:txBody>
          <a:bodyPr wrap="square" lIns="0" tIns="0" rIns="0" bIns="0" rtlCol="0" anchor="ctr"/>
          <a:lstStyle/>
          <a:p>
            <a:pPr indent="0" marL="0">
              <a:buNone/>
            </a:pPr>
            <a:r>
              <a:rPr lang="en-US" sz="1200" dirty="0">
                <a:solidFill>
                  <a:srgbClr val="F5A623"/>
                </a:solidFill>
                <a:latin typeface="Consolas" pitchFamily="34" charset="0"/>
                <a:ea typeface="Consolas" pitchFamily="34" charset="-122"/>
                <a:cs typeface="Consolas" pitchFamily="34" charset="-120"/>
              </a:rPr>
              <a:t>$ 설치</a:t>
            </a:r>
            <a:endParaRPr lang="en-US" sz="1200" dirty="0"/>
          </a:p>
        </p:txBody>
      </p:sp>
      <p:sp>
        <p:nvSpPr>
          <p:cNvPr id="6" name="Text 4"/>
          <p:cNvSpPr/>
          <p:nvPr/>
        </p:nvSpPr>
        <p:spPr>
          <a:xfrm>
            <a:off x="822960" y="2240280"/>
            <a:ext cx="4937760" cy="868680"/>
          </a:xfrm>
          <a:prstGeom prst="rect">
            <a:avLst/>
          </a:prstGeom>
          <a:noFill/>
          <a:ln/>
        </p:spPr>
        <p:txBody>
          <a:bodyPr wrap="square" lIns="0" tIns="0" rIns="0" bIns="0" rtlCol="0" anchor="ctr"/>
          <a:lstStyle/>
          <a:p>
            <a:pPr indent="0" marL="0">
              <a:lnSpc>
                <a:spcPct val="130000"/>
              </a:lnSpc>
              <a:buNone/>
            </a:pPr>
            <a:r>
              <a:rPr lang="en-US" sz="1200" dirty="0">
                <a:solidFill>
                  <a:srgbClr val="9AE6B4"/>
                </a:solidFill>
                <a:latin typeface="Consolas" pitchFamily="34" charset="0"/>
                <a:ea typeface="Consolas" pitchFamily="34" charset="-122"/>
                <a:cs typeface="Consolas" pitchFamily="34" charset="-120"/>
              </a:rPr>
              <a:t>git clone plurai-ai/intellagent</a:t>
            </a:r>
            <a:endParaRPr lang="en-US" sz="1200" dirty="0"/>
          </a:p>
          <a:p>
            <a:pPr indent="0" marL="0">
              <a:lnSpc>
                <a:spcPct val="130000"/>
              </a:lnSpc>
              <a:buNone/>
            </a:pPr>
            <a:r>
              <a:rPr lang="en-US" sz="1200" dirty="0">
                <a:solidFill>
                  <a:srgbClr val="9AE6B4"/>
                </a:solidFill>
                <a:latin typeface="Consolas" pitchFamily="34" charset="0"/>
                <a:ea typeface="Consolas" pitchFamily="34" charset="-122"/>
                <a:cs typeface="Consolas" pitchFamily="34" charset="-120"/>
              </a:rPr>
              <a:t>cd intellagent</a:t>
            </a:r>
            <a:endParaRPr lang="en-US" sz="1200" dirty="0"/>
          </a:p>
          <a:p>
            <a:pPr indent="0" marL="0">
              <a:lnSpc>
                <a:spcPct val="130000"/>
              </a:lnSpc>
              <a:buNone/>
            </a:pPr>
            <a:r>
              <a:rPr lang="en-US" sz="1200" dirty="0">
                <a:solidFill>
                  <a:srgbClr val="9AE6B4"/>
                </a:solidFill>
                <a:latin typeface="Consolas" pitchFamily="34" charset="0"/>
                <a:ea typeface="Consolas" pitchFamily="34" charset="-122"/>
                <a:cs typeface="Consolas" pitchFamily="34" charset="-120"/>
              </a:rPr>
              <a:t>pip install -r requirements.txt</a:t>
            </a:r>
            <a:endParaRPr lang="en-US" sz="1200" dirty="0"/>
          </a:p>
        </p:txBody>
      </p:sp>
      <p:sp>
        <p:nvSpPr>
          <p:cNvPr id="7" name="Text 5"/>
          <p:cNvSpPr/>
          <p:nvPr/>
        </p:nvSpPr>
        <p:spPr>
          <a:xfrm>
            <a:off x="822960" y="3291840"/>
            <a:ext cx="4114800" cy="320040"/>
          </a:xfrm>
          <a:prstGeom prst="rect">
            <a:avLst/>
          </a:prstGeom>
          <a:noFill/>
          <a:ln/>
        </p:spPr>
        <p:txBody>
          <a:bodyPr wrap="square" lIns="0" tIns="0" rIns="0" bIns="0" rtlCol="0" anchor="ctr"/>
          <a:lstStyle/>
          <a:p>
            <a:pPr indent="0" marL="0">
              <a:buNone/>
            </a:pPr>
            <a:r>
              <a:rPr lang="en-US" sz="1200" dirty="0">
                <a:solidFill>
                  <a:srgbClr val="F5A623"/>
                </a:solidFill>
                <a:latin typeface="Consolas" pitchFamily="34" charset="0"/>
                <a:ea typeface="Consolas" pitchFamily="34" charset="-122"/>
                <a:cs typeface="Consolas" pitchFamily="34" charset="-120"/>
              </a:rPr>
              <a:t>$ 실행 (도메인별 config)</a:t>
            </a:r>
            <a:endParaRPr lang="en-US" sz="1200" dirty="0"/>
          </a:p>
        </p:txBody>
      </p:sp>
      <p:sp>
        <p:nvSpPr>
          <p:cNvPr id="8" name="Text 6"/>
          <p:cNvSpPr/>
          <p:nvPr/>
        </p:nvSpPr>
        <p:spPr>
          <a:xfrm>
            <a:off x="822960" y="3611880"/>
            <a:ext cx="4937760" cy="914400"/>
          </a:xfrm>
          <a:prstGeom prst="rect">
            <a:avLst/>
          </a:prstGeom>
          <a:noFill/>
          <a:ln/>
        </p:spPr>
        <p:txBody>
          <a:bodyPr wrap="square" lIns="0" tIns="0" rIns="0" bIns="0" rtlCol="0" anchor="ctr"/>
          <a:lstStyle/>
          <a:p>
            <a:pPr indent="0" marL="0">
              <a:lnSpc>
                <a:spcPct val="130000"/>
              </a:lnSpc>
              <a:buNone/>
            </a:pPr>
            <a:r>
              <a:rPr lang="en-US" sz="1150" dirty="0">
                <a:solidFill>
                  <a:srgbClr val="9AE6B4"/>
                </a:solidFill>
                <a:latin typeface="Consolas" pitchFamily="34" charset="0"/>
                <a:ea typeface="Consolas" pitchFamily="34" charset="-122"/>
                <a:cs typeface="Consolas" pitchFamily="34" charset="-120"/>
              </a:rPr>
              <a:t>python run.py \</a:t>
            </a:r>
            <a:endParaRPr lang="en-US" sz="1150" dirty="0"/>
          </a:p>
          <a:p>
            <a:pPr indent="0" marL="0">
              <a:lnSpc>
                <a:spcPct val="130000"/>
              </a:lnSpc>
              <a:buNone/>
            </a:pPr>
            <a:r>
              <a:rPr lang="en-US" sz="1150" dirty="0">
                <a:solidFill>
                  <a:srgbClr val="9AE6B4"/>
                </a:solidFill>
                <a:latin typeface="Consolas" pitchFamily="34" charset="0"/>
                <a:ea typeface="Consolas" pitchFamily="34" charset="-122"/>
                <a:cs typeface="Consolas" pitchFamily="34" charset="-120"/>
              </a:rPr>
              <a:t>  --output_path results/airline \</a:t>
            </a:r>
            <a:endParaRPr lang="en-US" sz="1150" dirty="0"/>
          </a:p>
          <a:p>
            <a:pPr indent="0" marL="0">
              <a:lnSpc>
                <a:spcPct val="130000"/>
              </a:lnSpc>
              <a:buNone/>
            </a:pPr>
            <a:r>
              <a:rPr lang="en-US" sz="1150" dirty="0">
                <a:solidFill>
                  <a:srgbClr val="9AE6B4"/>
                </a:solidFill>
                <a:latin typeface="Consolas" pitchFamily="34" charset="0"/>
                <a:ea typeface="Consolas" pitchFamily="34" charset="-122"/>
                <a:cs typeface="Consolas" pitchFamily="34" charset="-120"/>
              </a:rPr>
              <a:t>  --config_path config/config_airline.yml</a:t>
            </a:r>
            <a:endParaRPr lang="en-US" sz="1150" dirty="0"/>
          </a:p>
        </p:txBody>
      </p:sp>
      <p:sp>
        <p:nvSpPr>
          <p:cNvPr id="9" name="Text 7"/>
          <p:cNvSpPr/>
          <p:nvPr/>
        </p:nvSpPr>
        <p:spPr>
          <a:xfrm>
            <a:off x="822960" y="4709160"/>
            <a:ext cx="3657600" cy="320040"/>
          </a:xfrm>
          <a:prstGeom prst="rect">
            <a:avLst/>
          </a:prstGeom>
          <a:noFill/>
          <a:ln/>
        </p:spPr>
        <p:txBody>
          <a:bodyPr wrap="square" lIns="0" tIns="0" rIns="0" bIns="0" rtlCol="0" anchor="ctr"/>
          <a:lstStyle/>
          <a:p>
            <a:pPr indent="0" marL="0">
              <a:buNone/>
            </a:pPr>
            <a:r>
              <a:rPr lang="en-US" sz="1200" dirty="0">
                <a:solidFill>
                  <a:srgbClr val="F5A623"/>
                </a:solidFill>
                <a:latin typeface="Consolas" pitchFamily="34" charset="0"/>
                <a:ea typeface="Consolas" pitchFamily="34" charset="-122"/>
                <a:cs typeface="Consolas" pitchFamily="34" charset="-120"/>
              </a:rPr>
              <a:t>$ 결과 시각화</a:t>
            </a:r>
            <a:endParaRPr lang="en-US" sz="1200" dirty="0"/>
          </a:p>
        </p:txBody>
      </p:sp>
      <p:sp>
        <p:nvSpPr>
          <p:cNvPr id="10" name="Text 8"/>
          <p:cNvSpPr/>
          <p:nvPr/>
        </p:nvSpPr>
        <p:spPr>
          <a:xfrm>
            <a:off x="822960" y="5029200"/>
            <a:ext cx="4937760" cy="548640"/>
          </a:xfrm>
          <a:prstGeom prst="rect">
            <a:avLst/>
          </a:prstGeom>
          <a:noFill/>
          <a:ln/>
        </p:spPr>
        <p:txBody>
          <a:bodyPr wrap="square" lIns="0" tIns="0" rIns="0" bIns="0" rtlCol="0" anchor="ctr"/>
          <a:lstStyle/>
          <a:p>
            <a:pPr indent="0" marL="0">
              <a:lnSpc>
                <a:spcPct val="130000"/>
              </a:lnSpc>
              <a:buNone/>
            </a:pPr>
            <a:r>
              <a:rPr lang="en-US" sz="1100" dirty="0">
                <a:solidFill>
                  <a:srgbClr val="9AE6B4"/>
                </a:solidFill>
                <a:latin typeface="Consolas" pitchFamily="34" charset="0"/>
                <a:ea typeface="Consolas" pitchFamily="34" charset="-122"/>
                <a:cs typeface="Consolas" pitchFamily="34" charset="-120"/>
              </a:rPr>
              <a:t>streamlit run simulator/visualization/Simulator_Visualizer.py</a:t>
            </a:r>
            <a:endParaRPr lang="en-US" sz="1100" dirty="0"/>
          </a:p>
        </p:txBody>
      </p:sp>
      <p:sp>
        <p:nvSpPr>
          <p:cNvPr id="11" name="Text 9"/>
          <p:cNvSpPr/>
          <p:nvPr/>
        </p:nvSpPr>
        <p:spPr>
          <a:xfrm>
            <a:off x="6355080" y="1691640"/>
            <a:ext cx="5303520" cy="365760"/>
          </a:xfrm>
          <a:prstGeom prst="rect">
            <a:avLst/>
          </a:prstGeom>
          <a:noFill/>
          <a:ln/>
        </p:spPr>
        <p:txBody>
          <a:bodyPr wrap="square" lIns="0" tIns="0" rIns="0" bIns="0" rtlCol="0" anchor="ctr"/>
          <a:lstStyle/>
          <a:p>
            <a:pPr indent="0" marL="0">
              <a:buNone/>
            </a:pPr>
            <a:r>
              <a:rPr lang="en-US" sz="1400" b="1" dirty="0">
                <a:solidFill>
                  <a:srgbClr val="1A2144"/>
                </a:solidFill>
                <a:latin typeface="Calibri" pitchFamily="34" charset="0"/>
                <a:ea typeface="Calibri" pitchFamily="34" charset="-122"/>
                <a:cs typeface="Calibri" pitchFamily="34" charset="-120"/>
              </a:rPr>
              <a:t>주요 config 옵션</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55080" y="2103120"/>
          <a:ext cx="5303520" cy="914400"/>
        </p:xfrm>
        <a:graphic>
          <a:graphicData uri="http://schemas.openxmlformats.org/drawingml/2006/table">
            <a:tbl>
              <a:tblPr/>
              <a:tblGrid>
                <a:gridCol w="2194560"/>
                <a:gridCol w="3108960"/>
              </a:tblGrid>
              <a:tr h="566928">
                <a:tc>
                  <a:txBody>
                    <a:bodyPr/>
                    <a:lstStyle/>
                    <a:p>
                      <a:pPr indent="0" marL="0">
                        <a:buNone/>
                      </a:pPr>
                      <a:r>
                        <a:rPr lang="en-US" sz="1150" b="1" dirty="0">
                          <a:solidFill>
                            <a:srgbClr val="4F86F7"/>
                          </a:solidFill>
                          <a:latin typeface="Consolas" pitchFamily="34" charset="0"/>
                          <a:ea typeface="Consolas" pitchFamily="34" charset="-122"/>
                          <a:cs typeface="Consolas" pitchFamily="34" charset="-120"/>
                        </a:rPr>
                        <a:t>llm_intellagent</a:t>
                      </a:r>
                      <a:endParaRPr lang="en-US" sz="1150" dirty="0">
                        <a:latin typeface="Consolas" charset="0"/>
                        <a:ea typeface="Consolas" charset="0"/>
                        <a:cs typeface="Consolas"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indent="0" marL="0">
                        <a:buNone/>
                      </a:pPr>
                      <a:r>
                        <a:rPr lang="en-US" sz="1150" dirty="0">
                          <a:solidFill>
                            <a:srgbClr val="1A2144"/>
                          </a:solidFill>
                          <a:latin typeface="Calibri" pitchFamily="34" charset="0"/>
                          <a:ea typeface="Calibri" pitchFamily="34" charset="-122"/>
                          <a:cs typeface="Calibri" pitchFamily="34" charset="-120"/>
                        </a:rPr>
                        <a:t>프레임워크 자체 LLM 설정</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4F86F7"/>
                          </a:solidFill>
                          <a:latin typeface="Consolas" pitchFamily="34" charset="0"/>
                          <a:ea typeface="Consolas" pitchFamily="34" charset="-122"/>
                          <a:cs typeface="Consolas" pitchFamily="34" charset="-120"/>
                        </a:rPr>
                        <a:t>llm_chat</a:t>
                      </a:r>
                      <a:endParaRPr lang="en-US" sz="1150" dirty="0">
                        <a:latin typeface="Consolas" charset="0"/>
                        <a:ea typeface="Consolas" charset="0"/>
                        <a:cs typeface="Consolas"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indent="0" marL="0">
                        <a:buNone/>
                      </a:pPr>
                      <a:r>
                        <a:rPr lang="en-US" sz="1150" dirty="0">
                          <a:solidFill>
                            <a:srgbClr val="1A2144"/>
                          </a:solidFill>
                          <a:latin typeface="Calibri" pitchFamily="34" charset="0"/>
                          <a:ea typeface="Calibri" pitchFamily="34" charset="-122"/>
                          <a:cs typeface="Calibri" pitchFamily="34" charset="-120"/>
                        </a:rPr>
                        <a:t>평가 대상 챗봇 LLM 설정</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r>
              <a:tr h="566928">
                <a:tc>
                  <a:txBody>
                    <a:bodyPr/>
                    <a:lstStyle/>
                    <a:p>
                      <a:pPr indent="0" marL="0">
                        <a:buNone/>
                      </a:pPr>
                      <a:r>
                        <a:rPr lang="en-US" sz="1150" b="1" dirty="0">
                          <a:solidFill>
                            <a:srgbClr val="4F86F7"/>
                          </a:solidFill>
                          <a:latin typeface="Consolas" pitchFamily="34" charset="0"/>
                          <a:ea typeface="Consolas" pitchFamily="34" charset="-122"/>
                          <a:cs typeface="Consolas" pitchFamily="34" charset="-120"/>
                        </a:rPr>
                        <a:t>num_samples</a:t>
                      </a:r>
                      <a:endParaRPr lang="en-US" sz="1150" dirty="0">
                        <a:latin typeface="Consolas" charset="0"/>
                        <a:ea typeface="Consolas" charset="0"/>
                        <a:cs typeface="Consolas"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indent="0" marL="0">
                        <a:buNone/>
                      </a:pPr>
                      <a:r>
                        <a:rPr lang="en-US" sz="1150" dirty="0">
                          <a:solidFill>
                            <a:srgbClr val="1A2144"/>
                          </a:solidFill>
                          <a:latin typeface="Calibri" pitchFamily="34" charset="0"/>
                          <a:ea typeface="Calibri" pitchFamily="34" charset="-122"/>
                          <a:cs typeface="Calibri" pitchFamily="34" charset="-120"/>
                        </a:rPr>
                        <a:t>생성할 이벤트 개수</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4F86F7"/>
                          </a:solidFill>
                          <a:latin typeface="Consolas" pitchFamily="34" charset="0"/>
                          <a:ea typeface="Consolas" pitchFamily="34" charset="-122"/>
                          <a:cs typeface="Consolas" pitchFamily="34" charset="-120"/>
                        </a:rPr>
                        <a:t>cost_limit</a:t>
                      </a:r>
                      <a:endParaRPr lang="en-US" sz="1150" dirty="0">
                        <a:latin typeface="Consolas" charset="0"/>
                        <a:ea typeface="Consolas" charset="0"/>
                        <a:cs typeface="Consolas"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c>
                  <a:txBody>
                    <a:bodyPr/>
                    <a:lstStyle/>
                    <a:p>
                      <a:pPr indent="0" marL="0">
                        <a:buNone/>
                      </a:pPr>
                      <a:r>
                        <a:rPr lang="en-US" sz="1150" dirty="0">
                          <a:solidFill>
                            <a:srgbClr val="1A2144"/>
                          </a:solidFill>
                          <a:latin typeface="Calibri" pitchFamily="34" charset="0"/>
                          <a:ea typeface="Calibri" pitchFamily="34" charset="-122"/>
                          <a:cs typeface="Calibri" pitchFamily="34" charset="-120"/>
                        </a:rPr>
                        <a:t>LLM 호출 비용 상한</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EEF1FA"/>
                    </a:solidFill>
                  </a:tcPr>
                </a:tc>
              </a:tr>
              <a:tr h="566928">
                <a:tc>
                  <a:txBody>
                    <a:bodyPr/>
                    <a:lstStyle/>
                    <a:p>
                      <a:pPr indent="0" marL="0">
                        <a:buNone/>
                      </a:pPr>
                      <a:r>
                        <a:rPr lang="en-US" sz="1150" b="1" dirty="0">
                          <a:solidFill>
                            <a:srgbClr val="4F86F7"/>
                          </a:solidFill>
                          <a:latin typeface="Consolas" pitchFamily="34" charset="0"/>
                          <a:ea typeface="Consolas" pitchFamily="34" charset="-122"/>
                          <a:cs typeface="Consolas" pitchFamily="34" charset="-120"/>
                        </a:rPr>
                        <a:t>num_workers</a:t>
                      </a:r>
                      <a:endParaRPr lang="en-US" sz="1150" dirty="0">
                        <a:latin typeface="Consolas" charset="0"/>
                        <a:ea typeface="Consolas" charset="0"/>
                        <a:cs typeface="Consolas"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c>
                  <a:txBody>
                    <a:bodyPr/>
                    <a:lstStyle/>
                    <a:p>
                      <a:pPr indent="0" marL="0">
                        <a:buNone/>
                      </a:pPr>
                      <a:r>
                        <a:rPr lang="en-US" sz="1150" dirty="0">
                          <a:solidFill>
                            <a:srgbClr val="1A2144"/>
                          </a:solidFill>
                          <a:latin typeface="Calibri" pitchFamily="34" charset="0"/>
                          <a:ea typeface="Calibri" pitchFamily="34" charset="-122"/>
                          <a:cs typeface="Calibri" pitchFamily="34" charset="-120"/>
                        </a:rPr>
                        <a:t>레이트리밋 관리 병렬 워커 수</a:t>
                      </a:r>
                      <a:endParaRPr lang="en-US" sz="1150" dirty="0">
                        <a:latin typeface="Calibri" charset="0"/>
                        <a:ea typeface="Calibri" charset="0"/>
                        <a:cs typeface="Calibri" charset="0"/>
                      </a:endParaRPr>
                    </a:p>
                  </a:txBody>
                  <a:tcPr marL="91440" marR="91440" marT="45720" marB="45720" anchor="ctr">
                    <a:lnL w="6350" cap="flat" cmpd="sng" algn="ctr">
                      <a:solidFill>
                        <a:srgbClr val="D9DEEF"/>
                      </a:solidFill>
                      <a:prstDash val="solid"/>
                      <a:round/>
                      <a:headEnd type="none" w="med" len="med"/>
                      <a:tailEnd type="none" w="med" len="med"/>
                    </a:lnL>
                    <a:lnR w="6350" cap="flat" cmpd="sng" algn="ctr">
                      <a:solidFill>
                        <a:srgbClr val="D9DEEF"/>
                      </a:solidFill>
                      <a:prstDash val="solid"/>
                      <a:round/>
                      <a:headEnd type="none" w="med" len="med"/>
                      <a:tailEnd type="none" w="med" len="med"/>
                    </a:lnR>
                    <a:lnT w="6350" cap="flat" cmpd="sng" algn="ctr">
                      <a:solidFill>
                        <a:srgbClr val="D9DEEF"/>
                      </a:solidFill>
                      <a:prstDash val="solid"/>
                      <a:round/>
                      <a:headEnd type="none" w="med" len="med"/>
                      <a:tailEnd type="none" w="med" len="med"/>
                    </a:lnT>
                    <a:lnB w="6350" cap="flat" cmpd="sng" algn="ctr">
                      <a:solidFill>
                        <a:srgbClr val="D9DEEF"/>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14" name="Text 11"/>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A2144"/>
                </a:solidFill>
                <a:latin typeface="Georgia" pitchFamily="34" charset="0"/>
                <a:ea typeface="Georgia" pitchFamily="34" charset="-122"/>
                <a:cs typeface="Georgia" pitchFamily="34" charset="-120"/>
              </a:rPr>
              <a:t>한계</a:t>
            </a:r>
            <a:endParaRPr lang="en-US" sz="3000" dirty="0"/>
          </a:p>
        </p:txBody>
      </p:sp>
      <p:sp>
        <p:nvSpPr>
          <p:cNvPr id="4" name="Shape 2"/>
          <p:cNvSpPr/>
          <p:nvPr/>
        </p:nvSpPr>
        <p:spPr>
          <a:xfrm>
            <a:off x="548640" y="1783080"/>
            <a:ext cx="3520440" cy="356616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548640" y="1783080"/>
            <a:ext cx="3520440" cy="109728"/>
          </a:xfrm>
          <a:prstGeom prst="rect">
            <a:avLst/>
          </a:prstGeom>
          <a:solidFill>
            <a:srgbClr val="E15554"/>
          </a:solidFill>
          <a:ln/>
        </p:spPr>
      </p:sp>
      <p:pic>
        <p:nvPicPr>
          <p:cNvPr id="6" name="Image 0" descr="preencoded.png">    </p:cNvPr>
          <p:cNvPicPr>
            <a:picLocks noChangeAspect="1"/>
          </p:cNvPicPr>
          <p:nvPr/>
        </p:nvPicPr>
        <p:blipFill>
          <a:blip r:embed="rId1"/>
          <a:stretch>
            <a:fillRect/>
          </a:stretch>
        </p:blipFill>
        <p:spPr>
          <a:xfrm>
            <a:off x="868680" y="2194560"/>
            <a:ext cx="548640" cy="548640"/>
          </a:xfrm>
          <a:prstGeom prst="rect">
            <a:avLst/>
          </a:prstGeom>
        </p:spPr>
      </p:pic>
      <p:sp>
        <p:nvSpPr>
          <p:cNvPr id="7" name="Text 4"/>
          <p:cNvSpPr/>
          <p:nvPr/>
        </p:nvSpPr>
        <p:spPr>
          <a:xfrm>
            <a:off x="868680" y="2880360"/>
            <a:ext cx="2880360" cy="502920"/>
          </a:xfrm>
          <a:prstGeom prst="rect">
            <a:avLst/>
          </a:prstGeom>
          <a:noFill/>
          <a:ln/>
        </p:spPr>
        <p:txBody>
          <a:bodyPr wrap="square" lIns="0" tIns="0" rIns="0" bIns="0" rtlCol="0" anchor="ctr"/>
          <a:lstStyle/>
          <a:p>
            <a:pPr indent="0" marL="0">
              <a:buNone/>
            </a:pPr>
            <a:r>
              <a:rPr lang="en-US" sz="1650" b="1" dirty="0">
                <a:solidFill>
                  <a:srgbClr val="1A2144"/>
                </a:solidFill>
                <a:latin typeface="Calibri" pitchFamily="34" charset="0"/>
                <a:ea typeface="Calibri" pitchFamily="34" charset="-122"/>
                <a:cs typeface="Calibri" pitchFamily="34" charset="-120"/>
              </a:rPr>
              <a:t>LLM 판단 의존</a:t>
            </a:r>
            <a:endParaRPr lang="en-US" sz="1650" dirty="0"/>
          </a:p>
        </p:txBody>
      </p:sp>
      <p:sp>
        <p:nvSpPr>
          <p:cNvPr id="8" name="Text 5"/>
          <p:cNvSpPr/>
          <p:nvPr/>
        </p:nvSpPr>
        <p:spPr>
          <a:xfrm>
            <a:off x="868680" y="3474720"/>
            <a:ext cx="2880360" cy="1554480"/>
          </a:xfrm>
          <a:prstGeom prst="rect">
            <a:avLst/>
          </a:prstGeom>
          <a:noFill/>
          <a:ln/>
        </p:spPr>
        <p:txBody>
          <a:bodyPr wrap="square" lIns="0" tIns="0" rIns="0" bIns="0" rtlCol="0" anchor="ctr"/>
          <a:lstStyle/>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정책 그래프의 가중치·난이도가 LLM 판단에 의존</a:t>
            </a:r>
            <a:endParaRPr lang="en-US" sz="1200" dirty="0"/>
          </a:p>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실제 프로덕션 트래픽 분포로 검증되지 않음</a:t>
            </a:r>
            <a:endParaRPr lang="en-US" sz="1200" dirty="0"/>
          </a:p>
        </p:txBody>
      </p:sp>
      <p:sp>
        <p:nvSpPr>
          <p:cNvPr id="9" name="Shape 6"/>
          <p:cNvSpPr/>
          <p:nvPr/>
        </p:nvSpPr>
        <p:spPr>
          <a:xfrm>
            <a:off x="4389120" y="1783080"/>
            <a:ext cx="3520440" cy="356616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0" name="Shape 7"/>
          <p:cNvSpPr/>
          <p:nvPr/>
        </p:nvSpPr>
        <p:spPr>
          <a:xfrm>
            <a:off x="4389120" y="1783080"/>
            <a:ext cx="3520440" cy="109728"/>
          </a:xfrm>
          <a:prstGeom prst="rect">
            <a:avLst/>
          </a:prstGeom>
          <a:solidFill>
            <a:srgbClr val="F5A623"/>
          </a:solidFill>
          <a:ln/>
        </p:spPr>
      </p:sp>
      <p:pic>
        <p:nvPicPr>
          <p:cNvPr id="11" name="Image 1" descr="preencoded.png">    </p:cNvPr>
          <p:cNvPicPr>
            <a:picLocks noChangeAspect="1"/>
          </p:cNvPicPr>
          <p:nvPr/>
        </p:nvPicPr>
        <p:blipFill>
          <a:blip r:embed="rId2"/>
          <a:stretch>
            <a:fillRect/>
          </a:stretch>
        </p:blipFill>
        <p:spPr>
          <a:xfrm>
            <a:off x="4709160" y="2194560"/>
            <a:ext cx="548640" cy="548640"/>
          </a:xfrm>
          <a:prstGeom prst="rect">
            <a:avLst/>
          </a:prstGeom>
        </p:spPr>
      </p:pic>
      <p:sp>
        <p:nvSpPr>
          <p:cNvPr id="12" name="Text 8"/>
          <p:cNvSpPr/>
          <p:nvPr/>
        </p:nvSpPr>
        <p:spPr>
          <a:xfrm>
            <a:off x="4709160" y="2880360"/>
            <a:ext cx="2880360" cy="502920"/>
          </a:xfrm>
          <a:prstGeom prst="rect">
            <a:avLst/>
          </a:prstGeom>
          <a:noFill/>
          <a:ln/>
        </p:spPr>
        <p:txBody>
          <a:bodyPr wrap="square" lIns="0" tIns="0" rIns="0" bIns="0" rtlCol="0" anchor="ctr"/>
          <a:lstStyle/>
          <a:p>
            <a:pPr indent="0" marL="0">
              <a:buNone/>
            </a:pPr>
            <a:r>
              <a:rPr lang="en-US" sz="1650" b="1" dirty="0">
                <a:solidFill>
                  <a:srgbClr val="1A2144"/>
                </a:solidFill>
                <a:latin typeface="Calibri" pitchFamily="34" charset="0"/>
                <a:ea typeface="Calibri" pitchFamily="34" charset="-122"/>
                <a:cs typeface="Calibri" pitchFamily="34" charset="-120"/>
              </a:rPr>
              <a:t>비용 부담</a:t>
            </a:r>
            <a:endParaRPr lang="en-US" sz="1650" dirty="0"/>
          </a:p>
        </p:txBody>
      </p:sp>
      <p:sp>
        <p:nvSpPr>
          <p:cNvPr id="13" name="Text 9"/>
          <p:cNvSpPr/>
          <p:nvPr/>
        </p:nvSpPr>
        <p:spPr>
          <a:xfrm>
            <a:off x="4709160" y="3474720"/>
            <a:ext cx="2880360" cy="1554480"/>
          </a:xfrm>
          <a:prstGeom prst="rect">
            <a:avLst/>
          </a:prstGeom>
          <a:noFill/>
          <a:ln/>
        </p:spPr>
        <p:txBody>
          <a:bodyPr wrap="square" lIns="0" tIns="0" rIns="0" bIns="0" rtlCol="0" anchor="ctr"/>
          <a:lstStyle/>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이벤트 생성·시뮬레이션·비평 전 단계가</a:t>
            </a:r>
            <a:endParaRPr lang="en-US" sz="1200" dirty="0"/>
          </a:p>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LLM 호출 — 대규모 벤치마크 생성 시 비용 발생</a:t>
            </a:r>
            <a:endParaRPr lang="en-US" sz="1200" dirty="0"/>
          </a:p>
        </p:txBody>
      </p:sp>
      <p:sp>
        <p:nvSpPr>
          <p:cNvPr id="14" name="Shape 10"/>
          <p:cNvSpPr/>
          <p:nvPr/>
        </p:nvSpPr>
        <p:spPr>
          <a:xfrm>
            <a:off x="8229600" y="1783080"/>
            <a:ext cx="3520440" cy="3566160"/>
          </a:xfrm>
          <a:prstGeom prst="rect">
            <a:avLst/>
          </a:prstGeom>
          <a:solidFill>
            <a:srgbClr val="FFFFFF"/>
          </a:solidFill>
          <a:ln w="12700">
            <a:solidFill>
              <a:srgbClr val="E3E7F5"/>
            </a:solidFill>
            <a:prstDash val="solid"/>
          </a:ln>
          <a:effectLst>
            <a:outerShdw sx="100000" sy="100000" kx="0" ky="0" algn="bl" rotWithShape="0" blurRad="101600" dist="38100" dir="8100000">
              <a:srgbClr val="000000">
                <a:alpha val="25000"/>
              </a:srgbClr>
            </a:outerShdw>
          </a:effectLst>
        </p:spPr>
      </p:sp>
      <p:sp>
        <p:nvSpPr>
          <p:cNvPr id="15" name="Shape 11"/>
          <p:cNvSpPr/>
          <p:nvPr/>
        </p:nvSpPr>
        <p:spPr>
          <a:xfrm>
            <a:off x="8229600" y="1783080"/>
            <a:ext cx="3520440" cy="109728"/>
          </a:xfrm>
          <a:prstGeom prst="rect">
            <a:avLst/>
          </a:prstGeom>
          <a:solidFill>
            <a:srgbClr val="8B5CF6"/>
          </a:solidFill>
          <a:ln/>
        </p:spPr>
      </p:sp>
      <p:pic>
        <p:nvPicPr>
          <p:cNvPr id="16" name="Image 2" descr="preencoded.png">    </p:cNvPr>
          <p:cNvPicPr>
            <a:picLocks noChangeAspect="1"/>
          </p:cNvPicPr>
          <p:nvPr/>
        </p:nvPicPr>
        <p:blipFill>
          <a:blip r:embed="rId3"/>
          <a:stretch>
            <a:fillRect/>
          </a:stretch>
        </p:blipFill>
        <p:spPr>
          <a:xfrm>
            <a:off x="8549640" y="2194560"/>
            <a:ext cx="548640" cy="548640"/>
          </a:xfrm>
          <a:prstGeom prst="rect">
            <a:avLst/>
          </a:prstGeom>
        </p:spPr>
      </p:pic>
      <p:sp>
        <p:nvSpPr>
          <p:cNvPr id="17" name="Text 12"/>
          <p:cNvSpPr/>
          <p:nvPr/>
        </p:nvSpPr>
        <p:spPr>
          <a:xfrm>
            <a:off x="8549640" y="2880360"/>
            <a:ext cx="2880360" cy="502920"/>
          </a:xfrm>
          <a:prstGeom prst="rect">
            <a:avLst/>
          </a:prstGeom>
          <a:noFill/>
          <a:ln/>
        </p:spPr>
        <p:txBody>
          <a:bodyPr wrap="square" lIns="0" tIns="0" rIns="0" bIns="0" rtlCol="0" anchor="ctr"/>
          <a:lstStyle/>
          <a:p>
            <a:pPr indent="0" marL="0">
              <a:buNone/>
            </a:pPr>
            <a:r>
              <a:rPr lang="en-US" sz="1650" b="1" dirty="0">
                <a:solidFill>
                  <a:srgbClr val="1A2144"/>
                </a:solidFill>
                <a:latin typeface="Calibri" pitchFamily="34" charset="0"/>
                <a:ea typeface="Calibri" pitchFamily="34" charset="-122"/>
                <a:cs typeface="Calibri" pitchFamily="34" charset="-120"/>
              </a:rPr>
              <a:t>평가자의 평가자 문제</a:t>
            </a:r>
            <a:endParaRPr lang="en-US" sz="1650" dirty="0"/>
          </a:p>
        </p:txBody>
      </p:sp>
      <p:sp>
        <p:nvSpPr>
          <p:cNvPr id="18" name="Text 13"/>
          <p:cNvSpPr/>
          <p:nvPr/>
        </p:nvSpPr>
        <p:spPr>
          <a:xfrm>
            <a:off x="8549640" y="3474720"/>
            <a:ext cx="2880360" cy="1554480"/>
          </a:xfrm>
          <a:prstGeom prst="rect">
            <a:avLst/>
          </a:prstGeom>
          <a:noFill/>
          <a:ln/>
        </p:spPr>
        <p:txBody>
          <a:bodyPr wrap="square" lIns="0" tIns="0" rIns="0" bIns="0" rtlCol="0" anchor="ctr"/>
          <a:lstStyle/>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비평 에이전트 자체가 LLM</a:t>
            </a:r>
            <a:endParaRPr lang="en-US" sz="1200" dirty="0"/>
          </a:p>
          <a:p>
            <a:pPr indent="0" marL="0">
              <a:lnSpc>
                <a:spcPct val="130000"/>
              </a:lnSpc>
              <a:buNone/>
            </a:pPr>
            <a:r>
              <a:rPr lang="en-US" sz="1200" dirty="0">
                <a:solidFill>
                  <a:srgbClr val="5B6584"/>
                </a:solidFill>
                <a:latin typeface="Calibri" pitchFamily="34" charset="0"/>
                <a:ea typeface="Calibri" pitchFamily="34" charset="-122"/>
                <a:cs typeface="Calibri" pitchFamily="34" charset="-120"/>
              </a:rPr>
              <a:t>"LLM으로 LLM을 평가"하는 구조적 한계 상존</a:t>
            </a:r>
            <a:endParaRPr lang="en-US" sz="1200" dirty="0"/>
          </a:p>
        </p:txBody>
      </p:sp>
      <p:sp>
        <p:nvSpPr>
          <p:cNvPr id="19" name="Text 14"/>
          <p:cNvSpPr/>
          <p:nvPr/>
        </p:nvSpPr>
        <p:spPr>
          <a:xfrm>
            <a:off x="548640" y="5577840"/>
            <a:ext cx="11064240" cy="457200"/>
          </a:xfrm>
          <a:prstGeom prst="rect">
            <a:avLst/>
          </a:prstGeom>
          <a:noFill/>
          <a:ln/>
        </p:spPr>
        <p:txBody>
          <a:bodyPr wrap="square" lIns="0" tIns="0" rIns="0" bIns="0" rtlCol="0" anchor="ctr"/>
          <a:lstStyle/>
          <a:p>
            <a:pPr indent="0" marL="0">
              <a:buNone/>
            </a:pPr>
            <a:r>
              <a:rPr lang="en-US" sz="1200" i="1" dirty="0">
                <a:solidFill>
                  <a:srgbClr val="5B6584"/>
                </a:solidFill>
                <a:latin typeface="Calibri" pitchFamily="34" charset="0"/>
                <a:ea typeface="Calibri" pitchFamily="34" charset="-122"/>
                <a:cs typeface="Calibri" pitchFamily="34" charset="-120"/>
              </a:rPr>
              <a:t>논문 결론부에서도 "소규모 실제 사용자-챗봇 상호작용을 환경에 통합"을 향후 과제로 명시 — 현재는 LLM 판단에 전적으로 의존</a:t>
            </a:r>
            <a:endParaRPr lang="en-US" sz="1200" dirty="0"/>
          </a:p>
        </p:txBody>
      </p:sp>
      <p:sp>
        <p:nvSpPr>
          <p:cNvPr id="20" name="Text 15"/>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AA3C0"/>
                </a:solidFill>
                <a:latin typeface="Calibri" pitchFamily="34" charset="0"/>
                <a:ea typeface="Calibri" pitchFamily="34" charset="-122"/>
                <a:cs typeface="Calibri" pitchFamily="34" charset="-120"/>
              </a:rPr>
              <a:t>IntellAgent 리서치 · Plurai (arXiv:2501.11067)</a:t>
            </a:r>
            <a:endParaRPr lang="en-US" sz="900" dirty="0"/>
          </a:p>
        </p:txBody>
      </p:sp>
      <p:sp>
        <p:nvSpPr>
          <p:cNvPr id="21" name="Text 16"/>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9AA3C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COMPANY UPDATE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Plurai 현황</a:t>
            </a:r>
            <a:endParaRPr lang="en-US" sz="3000" dirty="0"/>
          </a:p>
        </p:txBody>
      </p:sp>
      <p:pic>
        <p:nvPicPr>
          <p:cNvPr id="4" name="Image 0" descr="preencoded.png">    </p:cNvPr>
          <p:cNvPicPr>
            <a:picLocks noChangeAspect="1"/>
          </p:cNvPicPr>
          <p:nvPr/>
        </p:nvPicPr>
        <p:blipFill>
          <a:blip r:embed="rId1"/>
          <a:stretch>
            <a:fillRect/>
          </a:stretch>
        </p:blipFill>
        <p:spPr>
          <a:xfrm>
            <a:off x="640080" y="1783080"/>
            <a:ext cx="548640" cy="548640"/>
          </a:xfrm>
          <a:prstGeom prst="rect">
            <a:avLst/>
          </a:prstGeom>
        </p:spPr>
      </p:pic>
      <p:sp>
        <p:nvSpPr>
          <p:cNvPr id="5" name="Text 2"/>
          <p:cNvSpPr/>
          <p:nvPr/>
        </p:nvSpPr>
        <p:spPr>
          <a:xfrm>
            <a:off x="1371600" y="1828800"/>
            <a:ext cx="96012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오픈소스 → 상용 "AI Agent Trust Platform"으로 확장</a:t>
            </a:r>
            <a:endParaRPr lang="en-US" sz="1700" dirty="0"/>
          </a:p>
        </p:txBody>
      </p:sp>
      <p:sp>
        <p:nvSpPr>
          <p:cNvPr id="6" name="Text 3"/>
          <p:cNvSpPr/>
          <p:nvPr/>
        </p:nvSpPr>
        <p:spPr>
          <a:xfrm>
            <a:off x="1371600" y="2331720"/>
            <a:ext cx="9601200" cy="548640"/>
          </a:xfrm>
          <a:prstGeom prst="rect">
            <a:avLst/>
          </a:prstGeom>
          <a:noFill/>
          <a:ln/>
        </p:spPr>
        <p:txBody>
          <a:bodyPr wrap="square" lIns="0" tIns="0" rIns="0" bIns="0" rtlCol="0" anchor="ctr"/>
          <a:lstStyle/>
          <a:p>
            <a:pPr indent="0" marL="0">
              <a:lnSpc>
                <a:spcPct val="130000"/>
              </a:lnSpc>
              <a:buNone/>
            </a:pPr>
            <a:r>
              <a:rPr lang="en-US" sz="1250" dirty="0">
                <a:solidFill>
                  <a:srgbClr val="CBD8F0"/>
                </a:solidFill>
                <a:latin typeface="Calibri" pitchFamily="34" charset="0"/>
                <a:ea typeface="Calibri" pitchFamily="34" charset="-122"/>
                <a:cs typeface="Calibri" pitchFamily="34" charset="-120"/>
              </a:rPr>
              <a:t>IntellAgent의 연구 성과가 시뮬레이션·평가·가드레일을 결합한 상용 플랫폼의 연구 기반이자 커뮤니티 진입점으로 확장되었다 (2026년 7월 기준)</a:t>
            </a:r>
            <a:endParaRPr lang="en-US" sz="1250" dirty="0"/>
          </a:p>
        </p:txBody>
      </p:sp>
      <p:sp>
        <p:nvSpPr>
          <p:cNvPr id="7" name="Shape 4"/>
          <p:cNvSpPr/>
          <p:nvPr/>
        </p:nvSpPr>
        <p:spPr>
          <a:xfrm>
            <a:off x="822960" y="3200400"/>
            <a:ext cx="3383280" cy="1051560"/>
          </a:xfrm>
          <a:prstGeom prst="rect">
            <a:avLst/>
          </a:prstGeom>
          <a:solidFill>
            <a:srgbClr val="1D2B5C"/>
          </a:solidFill>
          <a:ln w="12700">
            <a:solidFill>
              <a:srgbClr val="2A3868"/>
            </a:solidFill>
            <a:prstDash val="solid"/>
          </a:ln>
        </p:spPr>
      </p:sp>
      <p:sp>
        <p:nvSpPr>
          <p:cNvPr id="8" name="Text 5"/>
          <p:cNvSpPr/>
          <p:nvPr/>
        </p:nvSpPr>
        <p:spPr>
          <a:xfrm>
            <a:off x="1005840" y="3200400"/>
            <a:ext cx="3017520" cy="1051560"/>
          </a:xfrm>
          <a:prstGeom prst="rect">
            <a:avLst/>
          </a:prstGeom>
          <a:noFill/>
          <a:ln/>
        </p:spPr>
        <p:txBody>
          <a:bodyPr wrap="square" lIns="0" tIns="0" rIns="0" bIns="0" rtlCol="0" anchor="ctr"/>
          <a:lstStyle/>
          <a:p>
            <a:pPr algn="ctr" indent="0" marL="0">
              <a:lnSpc>
                <a:spcPct val="120000"/>
              </a:lnSpc>
              <a:buNone/>
            </a:pPr>
            <a:r>
              <a:rPr lang="en-US" sz="1200" dirty="0">
                <a:solidFill>
                  <a:srgbClr val="CBD8F0"/>
                </a:solidFill>
                <a:latin typeface="Calibri" pitchFamily="34" charset="0"/>
                <a:ea typeface="Calibri" pitchFamily="34" charset="-122"/>
                <a:cs typeface="Calibri" pitchFamily="34" charset="-120"/>
              </a:rPr>
              <a:t>LangGraph / CrewAI / AutoGen 통합</a:t>
            </a:r>
            <a:endParaRPr lang="en-US" sz="1200" dirty="0"/>
          </a:p>
        </p:txBody>
      </p:sp>
      <p:sp>
        <p:nvSpPr>
          <p:cNvPr id="9" name="Shape 6"/>
          <p:cNvSpPr/>
          <p:nvPr/>
        </p:nvSpPr>
        <p:spPr>
          <a:xfrm>
            <a:off x="4434840" y="3200400"/>
            <a:ext cx="3383280" cy="1051560"/>
          </a:xfrm>
          <a:prstGeom prst="rect">
            <a:avLst/>
          </a:prstGeom>
          <a:solidFill>
            <a:srgbClr val="1D2B5C"/>
          </a:solidFill>
          <a:ln w="12700">
            <a:solidFill>
              <a:srgbClr val="2A3868"/>
            </a:solidFill>
            <a:prstDash val="solid"/>
          </a:ln>
        </p:spPr>
      </p:sp>
      <p:sp>
        <p:nvSpPr>
          <p:cNvPr id="10" name="Text 7"/>
          <p:cNvSpPr/>
          <p:nvPr/>
        </p:nvSpPr>
        <p:spPr>
          <a:xfrm>
            <a:off x="4617720" y="3200400"/>
            <a:ext cx="3017520" cy="1051560"/>
          </a:xfrm>
          <a:prstGeom prst="rect">
            <a:avLst/>
          </a:prstGeom>
          <a:noFill/>
          <a:ln/>
        </p:spPr>
        <p:txBody>
          <a:bodyPr wrap="square" lIns="0" tIns="0" rIns="0" bIns="0" rtlCol="0" anchor="ctr"/>
          <a:lstStyle/>
          <a:p>
            <a:pPr algn="ctr" indent="0" marL="0">
              <a:lnSpc>
                <a:spcPct val="120000"/>
              </a:lnSpc>
              <a:buNone/>
            </a:pPr>
            <a:r>
              <a:rPr lang="en-US" sz="1200" dirty="0">
                <a:solidFill>
                  <a:srgbClr val="CBD8F0"/>
                </a:solidFill>
                <a:latin typeface="Calibri" pitchFamily="34" charset="0"/>
                <a:ea typeface="Calibri" pitchFamily="34" charset="-122"/>
                <a:cs typeface="Calibri" pitchFamily="34" charset="-120"/>
              </a:rPr>
              <a:t>기존 DB 기반 이벤트 생성</a:t>
            </a:r>
            <a:endParaRPr lang="en-US" sz="1200" dirty="0"/>
          </a:p>
        </p:txBody>
      </p:sp>
      <p:sp>
        <p:nvSpPr>
          <p:cNvPr id="11" name="Shape 8"/>
          <p:cNvSpPr/>
          <p:nvPr/>
        </p:nvSpPr>
        <p:spPr>
          <a:xfrm>
            <a:off x="8046720" y="3200400"/>
            <a:ext cx="3383280" cy="1051560"/>
          </a:xfrm>
          <a:prstGeom prst="rect">
            <a:avLst/>
          </a:prstGeom>
          <a:solidFill>
            <a:srgbClr val="1D2B5C"/>
          </a:solidFill>
          <a:ln w="12700">
            <a:solidFill>
              <a:srgbClr val="2A3868"/>
            </a:solidFill>
            <a:prstDash val="solid"/>
          </a:ln>
        </p:spPr>
      </p:sp>
      <p:sp>
        <p:nvSpPr>
          <p:cNvPr id="12" name="Text 9"/>
          <p:cNvSpPr/>
          <p:nvPr/>
        </p:nvSpPr>
        <p:spPr>
          <a:xfrm>
            <a:off x="8229600" y="3200400"/>
            <a:ext cx="3017520" cy="1051560"/>
          </a:xfrm>
          <a:prstGeom prst="rect">
            <a:avLst/>
          </a:prstGeom>
          <a:noFill/>
          <a:ln/>
        </p:spPr>
        <p:txBody>
          <a:bodyPr wrap="square" lIns="0" tIns="0" rIns="0" bIns="0" rtlCol="0" anchor="ctr"/>
          <a:lstStyle/>
          <a:p>
            <a:pPr algn="ctr" indent="0" marL="0">
              <a:lnSpc>
                <a:spcPct val="120000"/>
              </a:lnSpc>
              <a:buNone/>
            </a:pPr>
            <a:r>
              <a:rPr lang="en-US" sz="1200" dirty="0">
                <a:solidFill>
                  <a:srgbClr val="CBD8F0"/>
                </a:solidFill>
                <a:latin typeface="Calibri" pitchFamily="34" charset="0"/>
                <a:ea typeface="Calibri" pitchFamily="34" charset="-122"/>
                <a:cs typeface="Calibri" pitchFamily="34" charset="-120"/>
              </a:rPr>
              <a:t>사용자 에이전트 persona 차원 추가</a:t>
            </a:r>
            <a:endParaRPr lang="en-US" sz="1200" dirty="0"/>
          </a:p>
        </p:txBody>
      </p:sp>
      <p:sp>
        <p:nvSpPr>
          <p:cNvPr id="13" name="Text 10"/>
          <p:cNvSpPr/>
          <p:nvPr/>
        </p:nvSpPr>
        <p:spPr>
          <a:xfrm>
            <a:off x="822960" y="4617720"/>
            <a:ext cx="5486400" cy="32004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회사 자체 발표 성과 지표 (참고용)</a:t>
            </a:r>
            <a:endParaRPr lang="en-US" sz="1200" dirty="0"/>
          </a:p>
        </p:txBody>
      </p:sp>
      <p:sp>
        <p:nvSpPr>
          <p:cNvPr id="14" name="Text 11"/>
          <p:cNvSpPr/>
          <p:nvPr/>
        </p:nvSpPr>
        <p:spPr>
          <a:xfrm>
            <a:off x="822960" y="4983480"/>
            <a:ext cx="3383280" cy="68580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15배</a:t>
            </a:r>
            <a:endParaRPr lang="en-US" sz="3200" dirty="0"/>
          </a:p>
        </p:txBody>
      </p:sp>
      <p:sp>
        <p:nvSpPr>
          <p:cNvPr id="15" name="Text 12"/>
          <p:cNvSpPr/>
          <p:nvPr/>
        </p:nvSpPr>
        <p:spPr>
          <a:xfrm>
            <a:off x="822960" y="5623560"/>
            <a:ext cx="3383280" cy="457200"/>
          </a:xfrm>
          <a:prstGeom prst="rect">
            <a:avLst/>
          </a:prstGeom>
          <a:noFill/>
          <a:ln/>
        </p:spPr>
        <p:txBody>
          <a:bodyPr wrap="square" lIns="0" tIns="0" rIns="0" bIns="0" rtlCol="0" anchor="ctr"/>
          <a:lstStyle/>
          <a:p>
            <a:pPr indent="0" marL="0">
              <a:buNone/>
            </a:pPr>
            <a:r>
              <a:rPr lang="en-US" sz="1100" dirty="0">
                <a:solidFill>
                  <a:srgbClr val="8FA0D0"/>
                </a:solidFill>
                <a:latin typeface="Calibri" pitchFamily="34" charset="0"/>
                <a:ea typeface="Calibri" pitchFamily="34" charset="-122"/>
                <a:cs typeface="Calibri" pitchFamily="34" charset="-120"/>
              </a:rPr>
              <a:t>엣지케이스 커버리지 확대</a:t>
            </a:r>
            <a:endParaRPr lang="en-US" sz="1100" dirty="0"/>
          </a:p>
        </p:txBody>
      </p:sp>
      <p:sp>
        <p:nvSpPr>
          <p:cNvPr id="16" name="Text 13"/>
          <p:cNvSpPr/>
          <p:nvPr/>
        </p:nvSpPr>
        <p:spPr>
          <a:xfrm>
            <a:off x="4434840" y="4983480"/>
            <a:ext cx="3383280" cy="68580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7배</a:t>
            </a:r>
            <a:endParaRPr lang="en-US" sz="3200" dirty="0"/>
          </a:p>
        </p:txBody>
      </p:sp>
      <p:sp>
        <p:nvSpPr>
          <p:cNvPr id="17" name="Text 14"/>
          <p:cNvSpPr/>
          <p:nvPr/>
        </p:nvSpPr>
        <p:spPr>
          <a:xfrm>
            <a:off x="4434840" y="5623560"/>
            <a:ext cx="3383280" cy="457200"/>
          </a:xfrm>
          <a:prstGeom prst="rect">
            <a:avLst/>
          </a:prstGeom>
          <a:noFill/>
          <a:ln/>
        </p:spPr>
        <p:txBody>
          <a:bodyPr wrap="square" lIns="0" tIns="0" rIns="0" bIns="0" rtlCol="0" anchor="ctr"/>
          <a:lstStyle/>
          <a:p>
            <a:pPr indent="0" marL="0">
              <a:buNone/>
            </a:pPr>
            <a:r>
              <a:rPr lang="en-US" sz="1100" dirty="0">
                <a:solidFill>
                  <a:srgbClr val="8FA0D0"/>
                </a:solidFill>
                <a:latin typeface="Calibri" pitchFamily="34" charset="0"/>
                <a:ea typeface="Calibri" pitchFamily="34" charset="-122"/>
                <a:cs typeface="Calibri" pitchFamily="34" charset="-120"/>
              </a:rPr>
              <a:t>프로덕션 준비 기간 단축</a:t>
            </a:r>
            <a:endParaRPr lang="en-US" sz="1100" dirty="0"/>
          </a:p>
        </p:txBody>
      </p:sp>
      <p:sp>
        <p:nvSpPr>
          <p:cNvPr id="18" name="Text 15"/>
          <p:cNvSpPr/>
          <p:nvPr/>
        </p:nvSpPr>
        <p:spPr>
          <a:xfrm>
            <a:off x="8046720" y="4983480"/>
            <a:ext cx="3383280" cy="68580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100배</a:t>
            </a:r>
            <a:endParaRPr lang="en-US" sz="3200" dirty="0"/>
          </a:p>
        </p:txBody>
      </p:sp>
      <p:sp>
        <p:nvSpPr>
          <p:cNvPr id="19" name="Text 16"/>
          <p:cNvSpPr/>
          <p:nvPr/>
        </p:nvSpPr>
        <p:spPr>
          <a:xfrm>
            <a:off x="8046720" y="5623560"/>
            <a:ext cx="3383280" cy="457200"/>
          </a:xfrm>
          <a:prstGeom prst="rect">
            <a:avLst/>
          </a:prstGeom>
          <a:noFill/>
          <a:ln/>
        </p:spPr>
        <p:txBody>
          <a:bodyPr wrap="square" lIns="0" tIns="0" rIns="0" bIns="0" rtlCol="0" anchor="ctr"/>
          <a:lstStyle/>
          <a:p>
            <a:pPr indent="0" marL="0">
              <a:buNone/>
            </a:pPr>
            <a:r>
              <a:rPr lang="en-US" sz="1100" dirty="0">
                <a:solidFill>
                  <a:srgbClr val="8FA0D0"/>
                </a:solidFill>
                <a:latin typeface="Calibri" pitchFamily="34" charset="0"/>
                <a:ea typeface="Calibri" pitchFamily="34" charset="-122"/>
                <a:cs typeface="Calibri" pitchFamily="34" charset="-120"/>
              </a:rPr>
              <a:t>정책위반·할루시네이션 감소</a:t>
            </a:r>
            <a:endParaRPr lang="en-US" sz="1100" dirty="0"/>
          </a:p>
        </p:txBody>
      </p:sp>
      <p:sp>
        <p:nvSpPr>
          <p:cNvPr id="20" name="Text 17"/>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21" name="Text 18"/>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A3C"/>
        </a:solidFill>
      </p:bgPr>
    </p:bg>
    <p:spTree>
      <p:nvGrpSpPr>
        <p:cNvPr id="1" name=""/>
        <p:cNvGrpSpPr/>
        <p:nvPr/>
      </p:nvGrpSpPr>
      <p:grpSpPr>
        <a:xfrm>
          <a:off x="0" y="0"/>
          <a:ext cx="0" cy="0"/>
          <a:chOff x="0" y="0"/>
          <a:chExt cx="0" cy="0"/>
        </a:xfrm>
      </p:grpSpPr>
      <p:sp>
        <p:nvSpPr>
          <p:cNvPr id="2" name="Shape 0"/>
          <p:cNvSpPr/>
          <p:nvPr/>
        </p:nvSpPr>
        <p:spPr>
          <a:xfrm>
            <a:off x="822960" y="1371600"/>
            <a:ext cx="822960" cy="82296"/>
          </a:xfrm>
          <a:prstGeom prst="rect">
            <a:avLst/>
          </a:prstGeom>
          <a:solidFill>
            <a:srgbClr val="F5A623"/>
          </a:solidFill>
          <a:ln/>
        </p:spPr>
      </p:sp>
      <p:sp>
        <p:nvSpPr>
          <p:cNvPr id="3" name="Text 1"/>
          <p:cNvSpPr/>
          <p:nvPr/>
        </p:nvSpPr>
        <p:spPr>
          <a:xfrm>
            <a:off x="777240" y="932688"/>
            <a:ext cx="3657600" cy="36576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결론</a:t>
            </a:r>
            <a:endParaRPr lang="en-US" sz="1300" dirty="0"/>
          </a:p>
        </p:txBody>
      </p:sp>
      <p:sp>
        <p:nvSpPr>
          <p:cNvPr id="4" name="Text 2"/>
          <p:cNvSpPr/>
          <p:nvPr/>
        </p:nvSpPr>
        <p:spPr>
          <a:xfrm>
            <a:off x="777240" y="1554480"/>
            <a:ext cx="10515600" cy="155448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정책 그래프는</a:t>
            </a:r>
            <a:endParaRPr lang="en-US" sz="3400" dirty="0"/>
          </a:p>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에이전트 평가의 다음 단계다</a:t>
            </a:r>
            <a:endParaRPr lang="en-US" sz="3400" dirty="0"/>
          </a:p>
        </p:txBody>
      </p:sp>
      <p:sp>
        <p:nvSpPr>
          <p:cNvPr id="5" name="Text 3"/>
          <p:cNvSpPr/>
          <p:nvPr/>
        </p:nvSpPr>
        <p:spPr>
          <a:xfrm>
            <a:off x="822960" y="3246120"/>
            <a:ext cx="9601200" cy="822960"/>
          </a:xfrm>
          <a:prstGeom prst="rect">
            <a:avLst/>
          </a:prstGeom>
          <a:noFill/>
          <a:ln/>
        </p:spPr>
        <p:txBody>
          <a:bodyPr wrap="square" lIns="0" tIns="0" rIns="0" bIns="0" rtlCol="0" anchor="ctr"/>
          <a:lstStyle/>
          <a:p>
            <a:pPr indent="0" marL="0">
              <a:lnSpc>
                <a:spcPct val="135000"/>
              </a:lnSpc>
              <a:buNone/>
            </a:pPr>
            <a:r>
              <a:rPr lang="en-US" sz="1500" dirty="0">
                <a:solidFill>
                  <a:srgbClr val="CBD8F0"/>
                </a:solidFill>
                <a:latin typeface="Calibri" pitchFamily="34" charset="0"/>
                <a:ea typeface="Calibri" pitchFamily="34" charset="-122"/>
                <a:cs typeface="Calibri" pitchFamily="34" charset="-120"/>
              </a:rPr>
              <a:t>복잡도를 명시적으로 모델링하고, 난이도를 조절하며 자동 생성하고, 세분화 진단으로 실패 지점을 짚어낸다 — τ-bench 이후 평가 방법론의 자연스러운 다음 걸음이다.</a:t>
            </a:r>
            <a:endParaRPr lang="en-US" sz="1500" dirty="0"/>
          </a:p>
        </p:txBody>
      </p:sp>
      <p:sp>
        <p:nvSpPr>
          <p:cNvPr id="6" name="Shape 4"/>
          <p:cNvSpPr/>
          <p:nvPr/>
        </p:nvSpPr>
        <p:spPr>
          <a:xfrm>
            <a:off x="822960" y="4343400"/>
            <a:ext cx="10058400" cy="1234440"/>
          </a:xfrm>
          <a:prstGeom prst="rect">
            <a:avLst/>
          </a:prstGeom>
          <a:solidFill>
            <a:srgbClr val="1D2B5C"/>
          </a:solidFill>
          <a:ln w="12700">
            <a:solidFill>
              <a:srgbClr val="F5A623"/>
            </a:solidFill>
            <a:prstDash val="solid"/>
          </a:ln>
        </p:spPr>
      </p:sp>
      <p:pic>
        <p:nvPicPr>
          <p:cNvPr id="7" name="Image 0" descr="preencoded.png">    </p:cNvPr>
          <p:cNvPicPr>
            <a:picLocks noChangeAspect="1"/>
          </p:cNvPicPr>
          <p:nvPr/>
        </p:nvPicPr>
        <p:blipFill>
          <a:blip r:embed="rId1"/>
          <a:stretch>
            <a:fillRect/>
          </a:stretch>
        </p:blipFill>
        <p:spPr>
          <a:xfrm>
            <a:off x="1097280" y="4617720"/>
            <a:ext cx="502920" cy="502920"/>
          </a:xfrm>
          <a:prstGeom prst="rect">
            <a:avLst/>
          </a:prstGeom>
        </p:spPr>
      </p:pic>
      <p:sp>
        <p:nvSpPr>
          <p:cNvPr id="8" name="Text 5"/>
          <p:cNvSpPr/>
          <p:nvPr/>
        </p:nvSpPr>
        <p:spPr>
          <a:xfrm>
            <a:off x="1828800" y="4480560"/>
            <a:ext cx="8869680" cy="1005840"/>
          </a:xfrm>
          <a:prstGeom prst="rect">
            <a:avLst/>
          </a:prstGeom>
          <a:noFill/>
          <a:ln/>
        </p:spPr>
        <p:txBody>
          <a:bodyPr wrap="square" lIns="0" tIns="0" rIns="0" bIns="0" rtlCol="0" anchor="ctr"/>
          <a:lstStyle/>
          <a:p>
            <a:pPr indent="0" marL="0">
              <a:lnSpc>
                <a:spcPct val="130000"/>
              </a:lnSpc>
              <a:buNone/>
            </a:pPr>
            <a:r>
              <a:rPr lang="en-US" sz="1450" b="1" dirty="0">
                <a:solidFill>
                  <a:srgbClr val="FFFFFF"/>
                </a:solidFill>
                <a:latin typeface="Calibri" pitchFamily="34" charset="0"/>
                <a:ea typeface="Calibri" pitchFamily="34" charset="-122"/>
                <a:cs typeface="Calibri" pitchFamily="34" charset="-120"/>
              </a:rPr>
              <a:t>단, 열려 있는 질문: 평가자(비평 LLM)를 누가, 무엇으로 평가할 것인가?</a:t>
            </a:r>
            <a:endParaRPr lang="en-US" sz="1450" dirty="0"/>
          </a:p>
        </p:txBody>
      </p:sp>
      <p:sp>
        <p:nvSpPr>
          <p:cNvPr id="9" name="Text 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10" name="Text 7"/>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C"/>
        </a:solidFill>
      </p:bgPr>
    </p:bg>
    <p:spTree>
      <p:nvGrpSpPr>
        <p:cNvPr id="1" name=""/>
        <p:cNvGrpSpPr/>
        <p:nvPr/>
      </p:nvGrpSpPr>
      <p:grpSpPr>
        <a:xfrm>
          <a:off x="0" y="0"/>
          <a:ext cx="0" cy="0"/>
          <a:chOff x="0" y="0"/>
          <a:chExt cx="0" cy="0"/>
        </a:xfrm>
      </p:grpSpPr>
      <p:sp>
        <p:nvSpPr>
          <p:cNvPr id="2" name="Text 0"/>
          <p:cNvSpPr/>
          <p:nvPr/>
        </p:nvSpPr>
        <p:spPr>
          <a:xfrm>
            <a:off x="822960" y="11887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감사합니다</a:t>
            </a:r>
            <a:endParaRPr lang="en-US" sz="4200" dirty="0"/>
          </a:p>
        </p:txBody>
      </p:sp>
      <p:sp>
        <p:nvSpPr>
          <p:cNvPr id="3" name="Text 1"/>
          <p:cNvSpPr/>
          <p:nvPr/>
        </p:nvSpPr>
        <p:spPr>
          <a:xfrm>
            <a:off x="822960" y="1965960"/>
            <a:ext cx="7315200" cy="548640"/>
          </a:xfrm>
          <a:prstGeom prst="rect">
            <a:avLst/>
          </a:prstGeom>
          <a:noFill/>
          <a:ln/>
        </p:spPr>
        <p:txBody>
          <a:bodyPr wrap="square" lIns="0" tIns="0" rIns="0" bIns="0" rtlCol="0" anchor="ctr"/>
          <a:lstStyle/>
          <a:p>
            <a:pPr indent="0" marL="0">
              <a:buNone/>
            </a:pPr>
            <a:r>
              <a:rPr lang="en-US" sz="2000" i="1" dirty="0">
                <a:solidFill>
                  <a:srgbClr val="F5A623"/>
                </a:solidFill>
                <a:latin typeface="Calibri" pitchFamily="34" charset="0"/>
                <a:ea typeface="Calibri" pitchFamily="34" charset="-122"/>
                <a:cs typeface="Calibri" pitchFamily="34" charset="-120"/>
              </a:rPr>
              <a:t>Q &amp; A</a:t>
            </a:r>
            <a:endParaRPr lang="en-US" sz="2000" dirty="0"/>
          </a:p>
        </p:txBody>
      </p:sp>
      <p:sp>
        <p:nvSpPr>
          <p:cNvPr id="4" name="Shape 2"/>
          <p:cNvSpPr/>
          <p:nvPr/>
        </p:nvSpPr>
        <p:spPr>
          <a:xfrm>
            <a:off x="822960" y="2834640"/>
            <a:ext cx="10515600" cy="0"/>
          </a:xfrm>
          <a:prstGeom prst="line">
            <a:avLst/>
          </a:prstGeom>
          <a:noFill/>
          <a:ln w="12700">
            <a:solidFill>
              <a:srgbClr val="2A3868"/>
            </a:solidFill>
            <a:prstDash val="solid"/>
          </a:ln>
        </p:spPr>
      </p:sp>
      <p:sp>
        <p:nvSpPr>
          <p:cNvPr id="5" name="Text 3"/>
          <p:cNvSpPr/>
          <p:nvPr/>
        </p:nvSpPr>
        <p:spPr>
          <a:xfrm>
            <a:off x="822960" y="3063240"/>
            <a:ext cx="3657600" cy="365760"/>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참고문헌</a:t>
            </a:r>
            <a:endParaRPr lang="en-US" sz="1300" dirty="0"/>
          </a:p>
        </p:txBody>
      </p:sp>
      <p:sp>
        <p:nvSpPr>
          <p:cNvPr id="6" name="Text 4"/>
          <p:cNvSpPr/>
          <p:nvPr/>
        </p:nvSpPr>
        <p:spPr>
          <a:xfrm>
            <a:off x="822960" y="3474720"/>
            <a:ext cx="10241280" cy="219456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300" dirty="0">
                <a:solidFill>
                  <a:srgbClr val="CBD8F0"/>
                </a:solidFill>
                <a:latin typeface="Calibri" pitchFamily="34" charset="0"/>
                <a:ea typeface="Calibri" pitchFamily="34" charset="-122"/>
                <a:cs typeface="Calibri" pitchFamily="34" charset="-120"/>
              </a:rPr>
              <a:t>Levi &amp; Kadar, "IntellAgent: A Multi-Agent Framework for Evaluating Conversational AI Systems", arXiv:2501.11067 (2025)</a:t>
            </a:r>
            <a:endParaRPr lang="en-US" sz="1300" dirty="0"/>
          </a:p>
          <a:p>
            <a:pPr marL="342900" indent="-342900">
              <a:lnSpc>
                <a:spcPct val="130000"/>
              </a:lnSpc>
              <a:spcAft>
                <a:spcPts val="1000"/>
              </a:spcAft>
              <a:buSzPct val="100000"/>
              <a:buChar char="▸"/>
            </a:pPr>
            <a:r>
              <a:rPr lang="en-US" sz="1300" dirty="0">
                <a:solidFill>
                  <a:srgbClr val="CBD8F0"/>
                </a:solidFill>
                <a:latin typeface="Calibri" pitchFamily="34" charset="0"/>
                <a:ea typeface="Calibri" pitchFamily="34" charset="-122"/>
                <a:cs typeface="Calibri" pitchFamily="34" charset="-120"/>
              </a:rPr>
              <a:t>GitHub — github.com/plurai-ai/intellagent</a:t>
            </a:r>
            <a:endParaRPr lang="en-US" sz="1300" dirty="0"/>
          </a:p>
          <a:p>
            <a:pPr marL="342900" indent="-342900">
              <a:lnSpc>
                <a:spcPct val="130000"/>
              </a:lnSpc>
              <a:spcAft>
                <a:spcPts val="1000"/>
              </a:spcAft>
              <a:buSzPct val="100000"/>
              <a:buChar char="▸"/>
            </a:pPr>
            <a:r>
              <a:rPr lang="en-US" sz="1300" dirty="0">
                <a:solidFill>
                  <a:srgbClr val="CBD8F0"/>
                </a:solidFill>
                <a:latin typeface="Calibri" pitchFamily="34" charset="0"/>
                <a:ea typeface="Calibri" pitchFamily="34" charset="-122"/>
                <a:cs typeface="Calibri" pitchFamily="34" charset="-120"/>
              </a:rPr>
              <a:t>공식 문서 — intellagent-doc.plurai.ai</a:t>
            </a:r>
            <a:endParaRPr lang="en-US" sz="1300" dirty="0"/>
          </a:p>
          <a:p>
            <a:pPr marL="342900" indent="-342900">
              <a:lnSpc>
                <a:spcPct val="130000"/>
              </a:lnSpc>
              <a:spcAft>
                <a:spcPts val="1000"/>
              </a:spcAft>
              <a:buSzPct val="100000"/>
              <a:buChar char="▸"/>
            </a:pPr>
            <a:r>
              <a:rPr lang="en-US" sz="1300" dirty="0">
                <a:solidFill>
                  <a:srgbClr val="CBD8F0"/>
                </a:solidFill>
                <a:latin typeface="Calibri" pitchFamily="34" charset="0"/>
                <a:ea typeface="Calibri" pitchFamily="34" charset="-122"/>
                <a:cs typeface="Calibri" pitchFamily="34" charset="-120"/>
              </a:rPr>
              <a:t>Plurai 공식 웹사이트 — plurai.ai</a:t>
            </a:r>
            <a:endParaRPr lang="en-US" sz="1300" dirty="0"/>
          </a:p>
        </p:txBody>
      </p:sp>
      <p:sp>
        <p:nvSpPr>
          <p:cNvPr id="7" name="Text 5"/>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E7BAE"/>
                </a:solidFill>
                <a:latin typeface="Calibri" pitchFamily="34" charset="0"/>
                <a:ea typeface="Calibri" pitchFamily="34" charset="-122"/>
                <a:cs typeface="Calibri" pitchFamily="34" charset="-120"/>
              </a:rPr>
              <a:t>IntellAgent 리서치 · Plurai (arXiv:2501.11067)</a:t>
            </a:r>
            <a:endParaRPr lang="en-US" sz="900" dirty="0"/>
          </a:p>
        </p:txBody>
      </p:sp>
      <p:sp>
        <p:nvSpPr>
          <p:cNvPr id="8" name="Text 6"/>
          <p:cNvSpPr/>
          <p:nvPr/>
        </p:nvSpPr>
        <p:spPr>
          <a:xfrm>
            <a:off x="11277295" y="6473952"/>
            <a:ext cx="548640" cy="274320"/>
          </a:xfrm>
          <a:prstGeom prst="rect">
            <a:avLst/>
          </a:prstGeom>
          <a:noFill/>
          <a:ln/>
        </p:spPr>
        <p:txBody>
          <a:bodyPr wrap="square" lIns="0" tIns="0" rIns="0" bIns="0" rtlCol="0" anchor="ctr"/>
          <a:lstStyle/>
          <a:p>
            <a:pPr algn="r" indent="0" marL="0">
              <a:buNone/>
            </a:pPr>
            <a:r>
              <a:rPr lang="en-US" sz="900" dirty="0">
                <a:solidFill>
                  <a:srgbClr val="6E7B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IntellAgent 완전 정복</dc:title>
  <dc:subject>PptxGenJS Presentation</dc:subject>
  <dc:creator>Auto Research</dc:creator>
  <cp:lastModifiedBy>Auto Research</cp:lastModifiedBy>
  <cp:revision>1</cp:revision>
  <dcterms:created xsi:type="dcterms:W3CDTF">2026-07-13T05:26:14Z</dcterms:created>
  <dcterms:modified xsi:type="dcterms:W3CDTF">2026-07-13T05:26:14Z</dcterms:modified>
</cp:coreProperties>
</file>