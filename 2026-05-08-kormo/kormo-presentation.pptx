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KORMo(Korean Open Reasoning Model for Everyone)는 한국어 합성 데이터를 68.74% 사용하여 10.75B 파라미터 모델을 처음부터 사전학습한 연구입니다. 데이터, 코드, 학습 레시피, 로그를 전부 공개한 Fully Open Model입니다.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Shumailov et al.이 제기한 model collapse 우려는, 합성 데이터로 학습된 모델로 다시 합성 데이터를 만들면 분포가 점점 좁아져 결국 붕괴한다는 이론입니다. 한국어처럼 실제 고품질 데이터가 부족한 언어에서는 이 딜레마가 특히 심각합니다.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LLaMA-2가 한국어 토큰을 전체의 0.06%만 포함한 것과 달리, KORMo는 의도적으로 5%를 확보했습니다. Fully Open Model(FOM)로서 데이터셋 목록, 학습 코드, 하이퍼파라미터, 학습 로그까지 전부 공개합니다.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 LLaMA-style 디코더 아키텍처를 기반으로 합니다. 특이점은 Vocab이 125K로 매우 커 한국어 형태소를 효율적으로 처리한다는 점입니다. Pre-LN은 합성 데이터 heavy 학습 시 훈련 안정성에 결정적 역할을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다양한 시드와 합성 모델을 조합하는 것이 핵심 설계 원칙입니다. Ko-Reasoning은 영어 reasoning chain과 한국어 답변을 쌍으로 구성하여, 모델이 사전학습 단계부터 한국어 추론 능력을 습득하도록 설계되었습니다.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8이 이 차이를 시각적으로 명확하게 보여줍니다. 합성 데이터를 사용하려면 최소 2-3가지 서로 다른 스타일의 합성기를 혼합해야 합니다. 이것이 KORMo의 가장 중요한 실용적 가이드라인입니다.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1에서는 저품질 데이터도 포함하여 기초 언어 통계를 습득시킵니다. Stage 2에서 합성 데이터와 reasoning 데이터를 집중 투입합니다. Learning rate 7e-4가 여러 후보 중 가장 안정적인 수렴을 보였습니다.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 대상은 Llama 3, Qwen 2.5, DeepSeek-R1, OLMo/OLMo-E, BLOOM, SmolLM3, Nemotron 4입니다. COPA 95%는 특히 우수하며, 전반적으로 같은 크기 오픈소스 모델과 경쟁력 있는 수준입니다.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절대값이 낮아 보이지만, 이는 SFT(Instruction Tuning) 이전의 베이스 모델 수치입니다. KORMo-10B-sft는 이보다 훨씬 높은 실용적 성능을 보입니다. 한국어 long-context는 13K 이후 정확도 저하 문제가 향후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RQ2에서 한국어는 합성 비율을 너무 높이면 오히려 성능이 저하됩니다. 영어와 달리 한국어 합성 데이터는 다양성이 제한적이기 때문입니다. RQ3는 흥미로운 역설로, 합성 데이터가 오히려 더 깨끗한 코퍼스를 만들 수 있음을 시사합니다.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Fully Open Model이라는 점에서 학술적 재현성이 매우 높습니다. 학습 로그까지 공개함으로써 다른 저자원 언어 LLM 연구자들이 참조할 수 있는 레퍼런스 포인트가 됩니다. 한국어 LLM 생태계 발전에 기여하는 선구적 작업입니다.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발표는 KORMo(arXiv:2510.09426) 논문을 기반으로 작성되었습니다.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KORMo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데이터로 만든 한국어 오픈 추론 모델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3337560"/>
            <a:ext cx="7772400" cy="0"/>
          </a:xfrm>
          <a:prstGeom prst="line">
            <a:avLst/>
          </a:prstGeom>
          <a:noFill/>
          <a:ln w="15240">
            <a:solidFill>
              <a:srgbClr val="4A9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Open Reasoning Model for Everyone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KAIST MLP Lab · NLPCL Lab · U&amp;I Lab · Seoul Tech  |  arXiv 2510.09426  |  2025.10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0" y="320040"/>
            <a:ext cx="1783080" cy="457200"/>
          </a:xfrm>
          <a:prstGeom prst="rect">
            <a:avLst>
              <a:gd name="adj" fmla="val 12000"/>
            </a:avLst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320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Fully Open Model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LLM의 딜레마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840480" cy="41148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실제 한국어 코퍼스 부족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4E79"/>
                </a:solidFill>
              </a:rPr>
              <a:t>0.06%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93"/>
                </a:solidFill>
              </a:rPr>
              <a:t>LLaMA-2의 한국어 비중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한국어 데이터가 턱없이 부족 →
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모델이 한국어를 제대로 이해 못 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0C4"/>
                </a:solidFill>
              </a:rPr>
              <a:t>VS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937760" y="114300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6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143000"/>
            <a:ext cx="3840480" cy="411480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합성 데이터 = Model Collapse?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E67E22"/>
                </a:solidFill>
              </a:rPr>
              <a:t>⚠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93"/>
                </a:solidFill>
              </a:rPr>
              <a:t>Shumailov et al. 경고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324612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합성 데이터로 학습 → 분포 좁아짐 →
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누적 시 분포 붕괴 (Model Collapse)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F4E79"/>
                </a:solidFill>
              </a:rPr>
              <a:t>저자원 언어의 출구는?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KORMo의 도전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</a:rPr>
              <a:t>한국어 코퍼스의 68.74%가 합성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320040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A3D9"/>
                </a:solidFill>
              </a:rPr>
              <a:t>68.74%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한국어 토큰 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합성 데이터 비율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역대 최대 규모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141732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3.46T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304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0"/>
                </a:solidFill>
              </a:rPr>
              <a:t>총 사전학습 토큰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Stage 1 + Stage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51760" cy="141732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1,172B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2304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0"/>
                </a:solidFill>
              </a:rPr>
              <a:t>한국어 토큰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전체의 약 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108960"/>
            <a:ext cx="2651760" cy="141732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3200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10.75B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291840" y="3950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0"/>
                </a:solidFill>
              </a:rPr>
              <a:t>모델 파라미터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4251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임베딩 포함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108960"/>
            <a:ext cx="2651760" cy="141732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3200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126480" y="3950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0"/>
                </a:solidFill>
              </a:rPr>
              <a:t>Fully Open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251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데이터·코드·레시피·로그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KORMo-10B 아키텍처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8862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4023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총 파라미터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임베딩 1.02B + 비임베딩 9.73B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레이어 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깊은 표현력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Size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표준 LLaMA-style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/ KV head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/ 8 (GQA)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추론 메모리 효율 향상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Vocab Size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125,184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한국어 형태소 친화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활성화 함수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SwiGLU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Gated linear unit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정규화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RMSNorm + Pre-LN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합성 데이터 학습 안정성 핵심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위치 임베딩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긴 컨텍스트 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Long-context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13K 토큰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Mid-training으로 확장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5종 합성 데이터 전략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64592" cy="6858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51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Synth-FineWeb2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시드: FineWeb2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07008"/>
            <a:ext cx="1920240" cy="365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07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Qwen3-30B-A3B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0" y="1051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3"/>
                </a:solidFill>
              </a:rPr>
              <a:t>한국 맥락 커스텀 rewrite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28800"/>
            <a:ext cx="164592" cy="6858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Synth-UltraFineWeb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1828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시드: UltraFineWeb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984248"/>
            <a:ext cx="1920240" cy="365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984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Qwen3-30B-A3B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3"/>
                </a:solidFill>
              </a:rPr>
              <a:t>한국어 답변 지시어 추가 rewrite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0604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06040"/>
            <a:ext cx="164592" cy="6858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Synth-Nemo-HQ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시드: Nemotron-CC-HQ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761488"/>
            <a:ext cx="1920240" cy="365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761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Qwen3-30B-A3B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2606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3"/>
                </a:solidFill>
              </a:rPr>
              <a:t>영어 시드 → 한국어 번역+재작성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83280"/>
            <a:ext cx="164592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383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Kosmopedia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71800" y="3383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시드: Cosmopedia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3538728"/>
            <a:ext cx="192024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538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GPT-OSS-120B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3383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3"/>
                </a:solidFill>
              </a:rPr>
              <a:t>한국 맞춤형 textbook-style 생성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160520"/>
            <a:ext cx="164592" cy="685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Ko-Reasoning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971800" y="4160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시드: Nemotron-Post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0" y="4315968"/>
            <a:ext cx="1920240" cy="3657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Qwen3-235B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4160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3"/>
                </a:solidFill>
              </a:rPr>
              <a:t>영어 reasoning + 한국어 답변 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773168"/>
            <a:ext cx="182880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3"/>
                </a:solidFill>
              </a:rPr>
              <a:t>Qwen3-30B-A3B (일반 web rewrite)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54680" y="4773168"/>
            <a:ext cx="182880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3"/>
                </a:solidFill>
              </a:rPr>
              <a:t>GPT-OSS-120B (textbook style)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4773168"/>
            <a:ext cx="182880" cy="1828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3"/>
                </a:solidFill>
              </a:rPr>
              <a:t>Qwen3-235B (reasoning chain)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단일 합성기 = Collapse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A3D9"/>
                </a:solidFill>
              </a:rPr>
              <a:t>다중 합성기 = Stable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solidFill>
            <a:srgbClr val="0D2D45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단일 합성기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411480" cy="-54864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163824"/>
            <a:ext cx="411480" cy="-32918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3196742"/>
            <a:ext cx="411480" cy="10973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3185770"/>
            <a:ext cx="411480" cy="7681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108960"/>
            <a:ext cx="411480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944368"/>
            <a:ext cx="411480" cy="219456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724912"/>
            <a:ext cx="411480" cy="27432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Training Loss 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✗  분포 수렴 → 붕괴
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✗  Loss 발산 불안정
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</a:rPr>
              <a:t>✗  출력 다양성 감소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3931920" cy="3200400"/>
          </a:xfrm>
          <a:prstGeom prst="rect">
            <a:avLst/>
          </a:prstGeom>
          <a:solidFill>
            <a:srgbClr val="0D2D45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</a:rPr>
              <a:t>다중 합성기 믹스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0" y="2852928"/>
            <a:ext cx="411480" cy="-164592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3017520"/>
            <a:ext cx="411480" cy="-109728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3127248"/>
            <a:ext cx="411480" cy="-76810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204058"/>
            <a:ext cx="411480" cy="-43891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3247949"/>
            <a:ext cx="411480" cy="-32918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3280867"/>
            <a:ext cx="411480" cy="-10973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3291840"/>
            <a:ext cx="411480" cy="-10973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Training Loss 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✓  편향 분산 → 안정
</a:t>
            </a:r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✓  Loss 안정적 수렴
</a:t>
            </a:r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✓  Qwen + GPT + 대형 모델 믹스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2-Stage + Mid-training 커리큘럼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468880" cy="2743200"/>
          </a:xfrm>
          <a:prstGeom prst="rect">
            <a:avLst/>
          </a:prstGeom>
          <a:solidFill>
            <a:srgbClr val="E8EEF4"/>
          </a:solidFill>
          <a:ln w="12700">
            <a:solidFill>
              <a:srgbClr val="B0C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468880" cy="502920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Stage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~1T 토큰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저품질 웹 데이터
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→ Representation
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   Warm-up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기초 언어 통계 학습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2423160"/>
            <a:ext cx="45720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2468880" cy="2743200"/>
          </a:xfrm>
          <a:prstGeom prst="rect">
            <a:avLst/>
          </a:prstGeom>
          <a:solidFill>
            <a:srgbClr val="D6E4F0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97280"/>
            <a:ext cx="24688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~1.8T 토큰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21488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D45"/>
                </a:solidFill>
              </a:rPr>
              <a:t>고품질 데이터
</a:t>
            </a:r>
            <a:pPr indent="0" marL="0">
              <a:buNone/>
            </a:pPr>
            <a:r>
              <a:rPr lang="en-US" sz="1200" dirty="0">
                <a:solidFill>
                  <a:srgbClr val="0D2D45"/>
                </a:solidFill>
              </a:rPr>
              <a:t>+ 합성 데이터 5종
</a:t>
            </a:r>
            <a:pPr indent="0" marL="0">
              <a:buNone/>
            </a:pPr>
            <a:r>
              <a:rPr lang="en-US" sz="1200" dirty="0">
                <a:solidFill>
                  <a:srgbClr val="0D2D45"/>
                </a:solidFill>
              </a:rPr>
              <a:t>+ Ko-Reasoning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D45"/>
                </a:solidFill>
              </a:rPr>
              <a:t>LR = 7e-4 최적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0" y="1097280"/>
            <a:ext cx="2377440" cy="2743200"/>
          </a:xfrm>
          <a:prstGeom prst="rect">
            <a:avLst/>
          </a:prstGeom>
          <a:solidFill>
            <a:srgbClr val="E8F5F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097280"/>
            <a:ext cx="23774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Mid-training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16459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45"/>
                </a:solidFill>
              </a:rPr>
              <a:t>Long-context
</a:t>
            </a:r>
            <a:pPr indent="0" marL="0">
              <a:buNone/>
            </a:pPr>
            <a:r>
              <a:rPr lang="en-US" sz="1200" dirty="0">
                <a:solidFill>
                  <a:srgbClr val="0D2D45"/>
                </a:solidFill>
              </a:rPr>
              <a:t>10.27B 토큰
</a:t>
            </a:r>
            <a:pPr indent="0" marL="0">
              <a:buNone/>
            </a:pPr>
            <a:r>
              <a:rPr lang="en-US" sz="1200" dirty="0">
                <a:solidFill>
                  <a:srgbClr val="0D2D45"/>
                </a:solidFill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0D2D45"/>
                </a:solidFill>
              </a:rPr>
              <a:t>Reasoning
</a:t>
            </a:r>
            <a:pPr indent="0" marL="0">
              <a:buNone/>
            </a:pPr>
            <a:r>
              <a:rPr lang="en-US" sz="1200" dirty="0">
                <a:solidFill>
                  <a:srgbClr val="0D2D45"/>
                </a:solidFill>
              </a:rPr>
              <a:t>157.76B 토큰
</a:t>
            </a:r>
            <a:pPr indent="0" marL="0">
              <a:buNone/>
            </a:pPr>
            <a:r>
              <a:rPr lang="en-US" sz="1200" dirty="0">
                <a:solidFill>
                  <a:srgbClr val="0D2D45"/>
                </a:solidFill>
              </a:rPr>
              <a:t>(Ko-Reasoning 포함)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영어 NIAH: 99.04%   |   한국어 NIAH: 69.04%   |   영어 벤치마크 평균: 64.60%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영어 벤치마크 평균 64.60%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COPA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143000"/>
            <a:ext cx="640080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143000"/>
            <a:ext cx="6080760" cy="3383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1051560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95.00%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ARC-Easy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1664208"/>
            <a:ext cx="640080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664208"/>
            <a:ext cx="5482285" cy="3383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1125" y="1572768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85.65%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09397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BoolQ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2185416"/>
            <a:ext cx="640080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185416"/>
            <a:ext cx="5368991" cy="3383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7831" y="2093976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83.88%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615184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Winogrande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2706624"/>
            <a:ext cx="640080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706624"/>
            <a:ext cx="4799320" cy="3383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8160" y="2615184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74.98%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136392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MMLU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03120" y="3227832"/>
            <a:ext cx="640080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3227832"/>
            <a:ext cx="4182923" cy="3383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1763" y="3136392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65.35%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65760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HellaSwag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03120" y="3749040"/>
            <a:ext cx="640080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3749040"/>
            <a:ext cx="3827038" cy="33832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5878" y="3657600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59.79%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1788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ARC-Challenge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03120" y="4270248"/>
            <a:ext cx="640080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3120" y="4270248"/>
            <a:ext cx="3834079" cy="33832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2919" y="4178808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59.90%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38037" y="1051560"/>
            <a:ext cx="0" cy="3648456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506517" y="4700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평균 64.6%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한국어 벤치마크 평균 39.01%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5029200" cy="210312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벤치마크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점수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KMMLU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F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전문 지식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F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베이스 모델 한계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CSATQA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25.13%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F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수능 수준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F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고난도 추론 필요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HAERAE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18.70%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F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언어 이해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F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향후 개선 과제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2D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KoBEST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51.82%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 평균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가장 높은 점수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51560"/>
            <a:ext cx="3200400" cy="214884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4F0"/>
                </a:solidFill>
              </a:rPr>
              <a:t>Long-context (NIAH)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577840" y="1508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99.04%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57784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영어 (거의 완벽)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450592"/>
            <a:ext cx="2651760" cy="0"/>
          </a:xfrm>
          <a:prstGeom prst="line">
            <a:avLst/>
          </a:prstGeom>
          <a:noFill/>
          <a:ln w="12700">
            <a:solidFill>
              <a:srgbClr val="4A90C4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57784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7E22"/>
                </a:solidFill>
              </a:rPr>
              <a:t>69.04%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577840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한국어 (13K 이후 저하)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3337560"/>
            <a:ext cx="8412480" cy="1463040"/>
          </a:xfrm>
          <a:prstGeom prst="rect">
            <a:avLst/>
          </a:prstGeom>
          <a:solidFill>
            <a:srgbClr val="FFF9E6"/>
          </a:solidFill>
          <a:ln w="12700">
            <a:solidFill>
              <a:srgbClr val="F0D0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3337560"/>
            <a:ext cx="109728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383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중요: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이 수치는 SFT(Instruction Tuning) 이전 베이스 모델 기준입니다. KORMo-10B-sft는 이중언어 Instruction Tuning 적용 후 실용적 성능이 크게 향상됩니다.
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한국어 long-context(13K 이후 저하) 개선이 향후 핵심 과제입니다.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세 가지 핵심 질문의 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974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</a:rPr>
              <a:t>✓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합성 사전학습 안전한가?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944368"/>
            <a:ext cx="233172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93"/>
                </a:solidFill>
              </a:rPr>
              <a:t>Pre-LN + 다중 합성기 조건에서 비합성 모델과 동등 이상 성능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51560"/>
            <a:ext cx="26974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51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1600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7E22"/>
                </a:solidFill>
              </a:rPr>
              <a:t>≠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291840" y="2423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최적 합성 비율은?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944368"/>
            <a:ext cx="233172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언어마다 다름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5204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93"/>
                </a:solidFill>
              </a:rPr>
              <a:t>영어: 85% 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3"/>
                </a:solidFill>
              </a:rPr>
              <a:t>한국어: 15% sweet spot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3"/>
                </a:solidFill>
              </a:rPr>
              <a:t>(한국어는 높이면 안 됨)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05156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051560"/>
            <a:ext cx="26974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051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RQ3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80760" y="1600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90C4"/>
                </a:solidFill>
              </a:rPr>
              <a:t>↓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172200" y="2423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한국어 합성의 편향은?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944368"/>
            <a:ext cx="2331720" cy="5029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영어보다 낮음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5204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93"/>
                </a:solidFill>
              </a:rPr>
              <a:t>합성 데이터가 더 깨끗함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F93"/>
                </a:solidFill>
              </a:rPr>
              <a:t>크롤링 데이터 섞으면 유해 토큰 급증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왜 KORMo가 중요한가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</a:rPr>
              <a:t>Fully Open Model — 저자원 언어 LLM의 새 기준점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566160" y="1325880"/>
            <a:ext cx="2011680" cy="2011680"/>
          </a:xfrm>
          <a:prstGeom prst="ellipse">
            <a:avLst/>
          </a:prstGeom>
          <a:solidFill>
            <a:srgbClr val="4A90C4"/>
          </a:solidFill>
          <a:ln w="12700">
            <a:solidFill>
              <a:srgbClr val="5BA3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13258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OPEN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560320" cy="82296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3D9"/>
                </a:solidFill>
              </a:rPr>
              <a:t>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모든 데이터셋 목록 공개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2560320" cy="82296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3D9"/>
                </a:solidFill>
              </a:rPr>
              <a:t>Code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학습 코드 전체 공개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2560320" cy="82296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3D9"/>
                </a:solidFill>
              </a:rPr>
              <a:t>Recipe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하이퍼파라미터 레시피 공개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377440"/>
            <a:ext cx="2560320" cy="822960"/>
          </a:xfrm>
          <a:prstGeom prst="rect">
            <a:avLst/>
          </a:prstGeom>
          <a:solidFill>
            <a:srgbClr val="0D2D45"/>
          </a:solidFill>
          <a:ln w="1270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3D9"/>
                </a:solidFill>
              </a:rPr>
              <a:t>Log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학습 로그 전체 공개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429000"/>
            <a:ext cx="320040" cy="3200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429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</a:rPr>
              <a:t>저자원 언어 합성 사전학습 첫 대규모 실증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813048"/>
            <a:ext cx="320040" cy="3200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8130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</a:rPr>
              <a:t>단일 합성기 = collapse, 다중 합성기 = stable 가이드라인 확립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197096"/>
            <a:ext cx="320040" cy="3200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1970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</a:rPr>
              <a:t>한국어 비중 가이드라인: LLaMA-2 수준 0.06% → 5% 이상 필요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4581144"/>
            <a:ext cx="320040" cy="3200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581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5811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</a:rPr>
              <a:t>HuggingFace에 KORMo-10B-sft 공개 (이중언어 Instruction Tuning)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참고 자료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371600" cy="5486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논문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097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arxiv.org/abs/2510.09426  (KORMo)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1371600" cy="5486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모델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7830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huggingface.co/KORMo-Team/KORMo-10B-sft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1371600" cy="5486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데이터셋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24688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FineWeb2  ·  UltraFineWeb  ·  Nemotron-CC v2  ·  Cosmopedia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1371600" cy="5486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합성 모델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31546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Qwen3-30B-A3B  ·  Qwen3-235B-A22B  ·  GPT-OSS-120B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1371600" cy="5486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벤치마크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840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KMMLU (arXiv:2402.11548)  ·  HAERAE (arXiv:2309.02706)  ·  KoBEST (arXiv:2204.04541)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617720"/>
            <a:ext cx="8503920" cy="0"/>
          </a:xfrm>
          <a:prstGeom prst="line">
            <a:avLst/>
          </a:prstGeom>
          <a:noFill/>
          <a:ln w="12700">
            <a:solidFill>
              <a:srgbClr val="4A90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KAIST MLP Lab · 2025  |  ktlim@kaist.ac.kr  |  arXiv 2510.09426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KORMo: Korean Open Reasoning Model for Everyone</dc:title>
  <dc:subject>PptxGenJS Presentation</dc:subject>
  <dc:creator>KAIST MLP Lab et al.</dc:creator>
  <cp:lastModifiedBy>KAIST MLP Lab et al.</cp:lastModifiedBy>
  <cp:revision>1</cp:revision>
  <dcterms:created xsi:type="dcterms:W3CDTF">2026-05-08T00:02:00Z</dcterms:created>
  <dcterms:modified xsi:type="dcterms:W3CDTF">2026-05-08T00:02:00Z</dcterms:modified>
</cp:coreProperties>
</file>