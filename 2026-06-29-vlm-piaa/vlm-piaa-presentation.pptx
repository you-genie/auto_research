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4675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6C4675"/>
                </a:solidFill>
                <a:latin typeface="Malgun Gothic"/>
              </a:rPr>
              <a:t>AADB 11속성 선형 프로빙 (Qwen3-VL 4B)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ρ</c:v>
                </c:pt>
              </c:strCache>
            </c:strRef>
          </c:tx>
          <c:spPr>
            <a:solidFill>
              <a:srgbClr val="6C467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A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Object</c:v>
                  </c:pt>
                  <c:pt idx="1">
                    <c:v>Overall</c:v>
                  </c:pt>
                  <c:pt idx="2">
                    <c:v>VividColor</c:v>
                  </c:pt>
                  <c:pt idx="3">
                    <c:v>Content</c:v>
                  </c:pt>
                  <c:pt idx="4">
                    <c:v>DoF</c:v>
                  </c:pt>
                  <c:pt idx="5">
                    <c:v>ColorHarm.</c:v>
                  </c:pt>
                  <c:pt idx="6">
                    <c:v>Light</c:v>
                  </c:pt>
                  <c:pt idx="7">
                    <c:v>MotionBlur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0.719</c:v>
                </c:pt>
                <c:pt idx="1">
                  <c:v>0.727</c:v>
                </c:pt>
                <c:pt idx="2">
                  <c:v>0.695</c:v>
                </c:pt>
                <c:pt idx="3">
                  <c:v>0.632</c:v>
                </c:pt>
                <c:pt idx="4">
                  <c:v>0.518</c:v>
                </c:pt>
                <c:pt idx="5">
                  <c:v>0.523</c:v>
                </c:pt>
                <c:pt idx="6">
                  <c:v>0.507</c:v>
                </c:pt>
                <c:pt idx="7">
                  <c:v>0.14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2A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F6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CD0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F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4675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6C4675"/>
                </a:solidFill>
                <a:latin typeface="Malgun Gothic"/>
              </a:rPr>
              <a:t>100-shot 스피어만 ρ (Qwen3-VL 4B)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Text</c:v>
                </c:pt>
              </c:strCache>
            </c:strRef>
          </c:tx>
          <c:spPr>
            <a:solidFill>
              <a:srgbClr val="8A7F9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A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PARA (사진)</c:v>
                  </c:pt>
                  <c:pt idx="1">
                    <c:v>LAPIS (예술)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</c:v>
                </c:pt>
                <c:pt idx="1">
                  <c:v>0.176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LoRA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A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PARA (사진)</c:v>
                  </c:pt>
                  <c:pt idx="1">
                    <c:v>LAPIS (예술)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0.578</c:v>
                </c:pt>
                <c:pt idx="1">
                  <c:v>0.153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Linear-Hidden</c:v>
                </c:pt>
              </c:strCache>
            </c:strRef>
          </c:tx>
          <c:spPr>
            <a:solidFill>
              <a:srgbClr val="C25B7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A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PARA (사진)</c:v>
                  </c:pt>
                  <c:pt idx="1">
                    <c:v>LAPIS (예술)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0.611</c:v>
                </c:pt>
                <c:pt idx="1">
                  <c:v>0.568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2A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A1F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CD0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F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4F63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PIAA-ICI (기존 최강)</c:v>
                </c:pt>
              </c:strCache>
            </c:strRef>
          </c:tx>
          <c:spPr>
            <a:solidFill>
              <a:srgbClr val="8A7F92"/>
            </a:solidFill>
            <a:ln w="50800" cap="flat">
              <a:solidFill>
                <a:srgbClr val="8A7F9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A7F92"/>
              </a:solidFill>
              <a:ln w="9525" cap="flat">
                <a:solidFill>
                  <a:srgbClr val="8A7F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PARA (학습)</c:v>
                  </c:pt>
                  <c:pt idx="1">
                    <c:v>LAPIS (새 도메인)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0.206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Linear-Hidden (이 연구)</c:v>
                </c:pt>
              </c:strCache>
            </c:strRef>
          </c:tx>
          <c:spPr>
            <a:solidFill>
              <a:srgbClr val="C25B7C"/>
            </a:solidFill>
            <a:ln w="50800" cap="flat">
              <a:solidFill>
                <a:srgbClr val="C25B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25B7C"/>
              </a:solidFill>
              <a:ln w="9525" cap="flat">
                <a:solidFill>
                  <a:srgbClr val="C25B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PARA (학습)</c:v>
                  </c:pt>
                  <c:pt idx="1">
                    <c:v>LAPIS (새 도메인)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0.611</c:v>
                </c:pt>
                <c:pt idx="1">
                  <c:v>0.568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A1F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CD0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F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F63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6C467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926080"/>
            <a:ext cx="3291840" cy="3291840"/>
          </a:xfrm>
          <a:prstGeom prst="ellipse">
            <a:avLst/>
          </a:prstGeom>
          <a:solidFill>
            <a:srgbClr val="E0A45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34440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234440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1234440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8" name="Shape 6"/>
          <p:cNvSpPr/>
          <p:nvPr/>
        </p:nvSpPr>
        <p:spPr>
          <a:xfrm>
            <a:off x="1362456" y="1234440"/>
            <a:ext cx="164592" cy="164592"/>
          </a:xfrm>
          <a:prstGeom prst="rect">
            <a:avLst/>
          </a:prstGeom>
          <a:solidFill>
            <a:srgbClr val="6C467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ACL 2026 FINDINGS · 논문 리뷰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VLM은 “내 취향”을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있을까?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이미지 미학 평가(PIAA)의 새 패러다임 — 파인튜닝 없이, VLM의 숨겨진 표현만으로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Do Vision-Language Models Encode for </a:t>
            </a:r>
            <a:pPr indent="0" marL="0">
              <a:buNone/>
            </a:pPr>
            <a:r>
              <a:rPr lang="en-US" sz="1300" b="1" i="1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Personalized Image Aesthetics Assessment?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Nakamura et al., 2026  ·  arXiv:2604.11374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 평가는 왜 어려운가?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5074920" cy="71323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GIAA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26080" y="2258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6F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보편 미학 평가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“대부분의 사람이 좋다고 느끼는 것”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사람의 평가를 평균 → 객관적으로 좋은 사진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E8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AVA 데이터셋 · 단일 점수 예측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057400"/>
            <a:ext cx="5074920" cy="71323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PIAA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66760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6F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미학 평가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좋다고 느끼는 것”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개인이 줄 점수를 예측 → 훨씬 어려운 문제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· LAPIS 데이터셋 · 사용자별 점수 예측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73152" cy="7772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5961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PIAA의 한계  </a:t>
            </a:r>
            <a:pPr indent="0" marL="0">
              <a:buNone/>
            </a:pPr>
            <a:r>
              <a:rPr lang="en-US" sz="13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사용자마다 모델 재학습 → 계산 비용 큼   ② 도메인 전이 실패 (사진용 모델은 예술 평가에 형편없음)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문제 · RESEARCH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질문, 하나의 아이디어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77440"/>
            <a:ext cx="777240" cy="777240"/>
          </a:xfrm>
          <a:prstGeom prst="ellipse">
            <a:avLst/>
          </a:prstGeom>
          <a:solidFill>
            <a:srgbClr val="C25B7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 속성이 VLM 내부에 선형으로 인코딩되어 있나?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37744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정보가 언어 디코더 레이어까지 전파되나?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377440"/>
            <a:ext cx="777240" cy="77724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없이 경량 개인화가 가능한가?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2A1F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434840"/>
            <a:ext cx="128016" cy="17373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983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VLM은 이미 내부 표현에 미학 정보를 담고 있다.
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새로 학습할 필요 없이, 그 표현만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꺼내 쓰면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개인화가 된다.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·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프로빙과 릿지 회귀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62636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프로빙 (Linear Probing)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레이어에서 숨겨진 벡터를 뽑아, 단순한 선형 모델을 학습한다. 잘 맞으면 → 그 정보가 표현 안에 이미 들어 있다는 뜻.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EFE7D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03320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· h(I)  </a:t>
            </a:r>
            <a:pPr algn="ctr" indent="0" marL="0">
              <a:buNone/>
            </a:pPr>
            <a:r>
              <a:rPr lang="en-US" sz="2400" b="1" dirty="0">
                <a:solidFill>
                  <a:srgbClr val="C25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</a:t>
            </a:r>
            <a:pPr algn="ctr" indent="0" marL="0">
              <a:buNone/>
            </a:pPr>
            <a:r>
              <a:rPr lang="en-US" sz="2400" b="1" dirty="0">
                <a:solidFill>
                  <a:srgbClr val="2A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2A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47548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h(I)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레이어의 D차원 숨겨진 벡터    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이미지의 K차원 미학 속성 점수    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릿지 회귀로 학습하는 선형 변환 행렬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2057400"/>
            <a:ext cx="4370832" cy="4069080"/>
          </a:xfrm>
          <a:prstGeom prst="roundRect">
            <a:avLst>
              <a:gd name="adj" fmla="val 1798"/>
            </a:avLst>
          </a:prstGeom>
          <a:solidFill>
            <a:srgbClr val="2A1F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78040" y="2057400"/>
            <a:ext cx="4370832" cy="7315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릿지 회귀 (Ridge Regression)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29260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회귀 + L2 정규화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수천~수만 차원에서도 과적합을 막는다. 계수가 커지지 않도록 페널티를 부여.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강도 α는 교차검증으로 자동 선택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5349240"/>
            <a:ext cx="3703320" cy="0"/>
          </a:xfrm>
          <a:prstGeom prst="rect">
            <a:avLst/>
          </a:prstGeom>
          <a:noFill/>
          <a:ln w="12700">
            <a:solidFill>
              <a:srgbClr val="6C46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5440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“가벼운 모델이 잘 맞으면, 성능은 데이터가 아니라 표현의 질에서 온다”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· 표현 추출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레이어에서 표현을 꺼낼까?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51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6C467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프롬프트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3108960"/>
            <a:ext cx="502920" cy="0"/>
          </a:xfrm>
          <a:prstGeom prst="line">
            <a:avLst/>
          </a:prstGeom>
          <a:noFill/>
          <a:ln w="25400">
            <a:solidFill>
              <a:srgbClr val="5A4F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23317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2A1F33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(고정)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인코더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디코더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3108960"/>
            <a:ext cx="548640" cy="-640080"/>
          </a:xfrm>
          <a:prstGeom prst="line">
            <a:avLst/>
          </a:prstGeom>
          <a:noFill/>
          <a:ln w="19050">
            <a:solidFill>
              <a:srgbClr val="3E8E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0574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2240280"/>
            <a:ext cx="548640" cy="54864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6" name="Text 14"/>
          <p:cNvSpPr/>
          <p:nvPr/>
        </p:nvSpPr>
        <p:spPr>
          <a:xfrm>
            <a:off x="61539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2203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인코더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토큰 표현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3108960"/>
            <a:ext cx="548640" cy="548640"/>
          </a:xfrm>
          <a:prstGeom prst="line">
            <a:avLst/>
          </a:prstGeom>
          <a:noFill/>
          <a:ln w="19050">
            <a:solidFill>
              <a:srgbClr val="C25B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32461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3912" y="3429000"/>
            <a:ext cx="548640" cy="548640"/>
          </a:xfrm>
          <a:prstGeom prst="ellipse">
            <a:avLst/>
          </a:prstGeom>
          <a:solidFill>
            <a:srgbClr val="C25B7C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디코더 · 텍스트 토큰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“Assess the aesthetics…”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3108960"/>
            <a:ext cx="548640" cy="173736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44348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53912" y="4617720"/>
            <a:ext cx="548640" cy="54864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45811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디코더 · 비전 토큰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4910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 내부 비전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73152" cy="640080"/>
          </a:xfrm>
          <a:prstGeom prst="rect">
            <a:avLst/>
          </a:prstGeom>
          <a:solidFill>
            <a:srgbClr val="6C4675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7332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풀링  </a:t>
            </a:r>
            <a:pPr indent="0" marL="0">
              <a:buNone/>
            </a:pPr>
            <a:r>
              <a:rPr lang="en-US" sz="13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레이어의 여러 토큰을 평균 내어 하나의 D차원 벡터로 만든 뒤, 릿지 회귀의 입력으로 사용한다.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· 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벤치마크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3566160" cy="86868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31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6F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AADB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E8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32688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 속성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Flickr 사진 10,000장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[-1, 1] 연속값 속성 주석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구도·색조화·심도·조명 등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 속성 탐색의 기반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210312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3128" y="2103120"/>
            <a:ext cx="3566160" cy="868680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2231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6F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7448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27448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45736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31,220장 · CVPR 2022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개인 평가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도메인 개인화 벤치마크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간 상관 ~0.5 이상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66176" y="210312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66176" y="2103120"/>
            <a:ext cx="3566160" cy="8686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3" name="Text 21"/>
          <p:cNvSpPr/>
          <p:nvPr/>
        </p:nvSpPr>
        <p:spPr>
          <a:xfrm>
            <a:off x="8540496" y="2231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6F1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0496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LAPIS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40496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11,723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58784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58784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WikiArt 작품 큐레이션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26개 스타일 · 7개 장르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미술사학자 협업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최초의 예술 도메인 PIAA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1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VLM은 미학 속성을 선형으로 인코딩한다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640080" y="2148840"/>
          <a:ext cx="7223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38160" y="2148840"/>
            <a:ext cx="3410712" cy="1874520"/>
          </a:xfrm>
          <a:prstGeom prst="roundRect">
            <a:avLst>
              <a:gd name="adj" fmla="val 3902"/>
            </a:avLst>
          </a:prstGeom>
          <a:solidFill>
            <a:srgbClr val="2A1F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0" y="2395728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0.13 – 0.73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321040" y="31272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속성별 상관계수 분포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 이상이 ρ ≥ 0.4 (중간~강)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38160" y="4206240"/>
            <a:ext cx="341071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8160" y="4206240"/>
            <a:ext cx="73152" cy="1920240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≠ 성능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2B·4B·8B가 속성마다 번갈아 1위. 일반 VLM 벤치마크 순위와 미학 인코딩 능력은 별개다.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2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디코더가 더 많은 정보를 담는다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순위 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8A7F9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DINOv3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5146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전용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3108960" cy="658368"/>
          </a:xfrm>
          <a:prstGeom prst="roundRect">
            <a:avLst>
              <a:gd name="adj" fmla="val 6944"/>
            </a:avLst>
          </a:prstGeom>
          <a:solidFill>
            <a:srgbClr val="3E8E7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741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인코더 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3741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비전 표현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33672"/>
            <a:ext cx="4572000" cy="658368"/>
          </a:xfrm>
          <a:prstGeom prst="roundRect">
            <a:avLst>
              <a:gd name="adj" fmla="val 6944"/>
            </a:avLst>
          </a:prstGeom>
          <a:solidFill>
            <a:srgbClr val="6C467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336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 · 디코더 비전 토큰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4233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처리 거침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93208"/>
            <a:ext cx="6035040" cy="658368"/>
          </a:xfrm>
          <a:prstGeom prst="roundRect">
            <a:avLst>
              <a:gd name="adj" fmla="val 6944"/>
            </a:avLst>
          </a:prstGeom>
          <a:solidFill>
            <a:srgbClr val="C25B7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9320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 · 디코더 텍스트 토큰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932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속성에서 최고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984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미학 정보는 언어적 처리를 거치며 더 풍부하게 정제된다.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32520" y="2194560"/>
            <a:ext cx="2816352" cy="3931920"/>
          </a:xfrm>
          <a:prstGeom prst="roundRect">
            <a:avLst>
              <a:gd name="adj" fmla="val 2597"/>
            </a:avLst>
          </a:prstGeom>
          <a:solidFill>
            <a:srgbClr val="2A1F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32520" y="2194560"/>
            <a:ext cx="2816352" cy="7315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3" name="Text 21"/>
          <p:cNvSpPr/>
          <p:nvPr/>
        </p:nvSpPr>
        <p:spPr>
          <a:xfrm>
            <a:off x="8988552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아키텍처별 차이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88552" y="288036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3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초기~중간 레이어에서 성능 급상승 후 안정. 텍스트 감독이 특정 레이어에 집중.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DeepStack 덕분에 비전 표현이 여러 레이어에 분산·통합 → 레이어 간 성능 안정.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3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모델이 파인튜닝(LoRA)을 이긴다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640080" y="219456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2194560"/>
            <a:ext cx="3547872" cy="1828800"/>
          </a:xfrm>
          <a:prstGeom prst="roundRect">
            <a:avLst>
              <a:gd name="adj" fmla="val 4000"/>
            </a:avLst>
          </a:prstGeom>
          <a:solidFill>
            <a:srgbClr val="2A1F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237744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 = 0.611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183880" y="303580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Linear-Hidden · 모든 기준선 능가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VLM은 전혀 수정하지 않음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01000" y="420624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01000" y="4206240"/>
            <a:ext cx="73152" cy="19202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LoRA의 역설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75320" y="4800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LAPIS에선 LoRA가 Raw Text보다 더 나쁠 때도. 토큰 가능도 최적화가 개인화 순위와 안 맞기 때문.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3 · 실제 동작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사용자당 100장이면 개인화 완성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404872"/>
            <a:ext cx="640080" cy="640080"/>
          </a:xfrm>
          <a:prstGeom prst="ellipse">
            <a:avLst/>
          </a:prstGeom>
          <a:solidFill>
            <a:srgbClr val="6C467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313639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이미지 제공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100장 + 개인 점수 제공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0128" y="3131820"/>
            <a:ext cx="164592" cy="0"/>
          </a:xfrm>
          <a:prstGeom prst="line">
            <a:avLst/>
          </a:prstGeom>
          <a:noFill/>
          <a:ln w="19050">
            <a:solidFill>
              <a:srgbClr val="5A4F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21488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2404872"/>
            <a:ext cx="640080" cy="640080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30752" y="313639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숨겨진 벡터 추출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30752" y="3520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VLM이 각 이미지 표현 출력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3131820"/>
            <a:ext cx="164592" cy="0"/>
          </a:xfrm>
          <a:prstGeom prst="line">
            <a:avLst/>
          </a:prstGeom>
          <a:noFill/>
          <a:ln w="19050">
            <a:solidFill>
              <a:srgbClr val="5A4F6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21488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2404872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65392" y="313639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회귀기 학습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65392" y="3520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변환 Mᵤ 학습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79408" y="3131820"/>
            <a:ext cx="164592" cy="0"/>
          </a:xfrm>
          <a:prstGeom prst="line">
            <a:avLst/>
          </a:prstGeom>
          <a:noFill/>
          <a:ln w="19050">
            <a:solidFill>
              <a:srgbClr val="5A4F6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14884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00032" y="2404872"/>
            <a:ext cx="640080" cy="640080"/>
          </a:xfrm>
          <a:prstGeom prst="ellipse">
            <a:avLst/>
          </a:prstGeom>
          <a:solidFill>
            <a:srgbClr val="C25B7C"/>
          </a:solidFill>
          <a:ln/>
        </p:spPr>
      </p:sp>
      <p:sp>
        <p:nvSpPr>
          <p:cNvPr id="27" name="Text 25"/>
          <p:cNvSpPr/>
          <p:nvPr/>
        </p:nvSpPr>
        <p:spPr>
          <a:xfrm>
            <a:off x="940003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00032" y="313639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이미지 예측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400032" y="35204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Mᵤ · h(이미지) = 개인화 점수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2A1F33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663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“까다로운” 사용자에게도 통한다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" y="51206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 취향과 가장 다른 50명(GIAA 상관 최저)에 대해서도 — Raw Text 대비 ρ +0.06~0.08 개선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589520" y="4617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0.405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589520" y="5367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Text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64040" y="4983480"/>
            <a:ext cx="320040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646920" y="4617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0.472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9646920" y="5367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Linear-Hidden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4 ·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전이: VLM이 훨씬 강건하다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PARA(사진)로 학습 → LAPIS(예술 작품)에 적용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377440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331720" y="2487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0.62 / 0.61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4983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01000" y="2377440"/>
            <a:ext cx="35478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01000" y="2377440"/>
            <a:ext cx="73152" cy="1783080"/>
          </a:xfrm>
          <a:prstGeom prst="rect">
            <a:avLst/>
          </a:prstGeom>
          <a:solidFill>
            <a:srgbClr val="8A7F92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PIAA-ICI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753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0.620 </a:t>
            </a:r>
            <a:pPr indent="0" marL="0">
              <a:buNone/>
            </a:pPr>
            <a:r>
              <a:rPr lang="en-US" sz="2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0.206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7532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특화 모델 → 새 도메인에서 급락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4343400"/>
            <a:ext cx="3547872" cy="1783080"/>
          </a:xfrm>
          <a:prstGeom prst="roundRect">
            <a:avLst>
              <a:gd name="adj" fmla="val 4103"/>
            </a:avLst>
          </a:prstGeom>
          <a:solidFill>
            <a:srgbClr val="2A1F3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01000" y="4343400"/>
            <a:ext cx="73152" cy="1783080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4507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Linear-Hidden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0.611 </a:t>
            </a:r>
            <a:pPr indent="0" marL="0">
              <a:buNone/>
            </a:pPr>
            <a:r>
              <a:rPr lang="en-US" sz="2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0.568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75320" y="5394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범용 표현 → 강건하게 유지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LIMITATIONS &amp; FUTURE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앞으로의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27632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627632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" cy="1508760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860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속성의 한계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AADB 11속성이 미학의 전부가 아님. 예술 도메인엔 추가 속성 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21031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2103120"/>
            <a:ext cx="91440" cy="15087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2860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도메인-데이터셋 혼재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9672" y="27249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특이성과 데이터셋 특이성을 분리하기 어려움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0480"/>
            <a:ext cx="91440" cy="150876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프로빙의 해석 한계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4622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“표현에 정보가 있다” ≠ “모델이 실제로 그 정보를 쓴다”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840480"/>
            <a:ext cx="91440" cy="1508760"/>
          </a:xfrm>
          <a:prstGeom prst="rect">
            <a:avLst/>
          </a:prstGeom>
          <a:solidFill>
            <a:srgbClr val="6C4675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 가능성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44622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인구통계별 개인화 편향 — 배포 전 분석 필수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FE7D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961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연구  </a:t>
            </a:r>
            <a:pPr indent="0" marL="0">
              <a:buNone/>
            </a:pPr>
            <a:r>
              <a:rPr lang="en-US" sz="13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 도메인 추가 속성 발견 · 표현 수준 발견을 텍스트 생성 개인화로 확장 · 도메인 간 전이 메커니즘 심화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× PIAA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6C467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685800"/>
            <a:ext cx="164592" cy="164592"/>
          </a:xfrm>
          <a:prstGeom prst="rect">
            <a:avLst/>
          </a:prstGeom>
          <a:solidFill>
            <a:srgbClr val="C25B7C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685800"/>
            <a:ext cx="164592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1197864" y="685800"/>
            <a:ext cx="164592" cy="1645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685800"/>
            <a:ext cx="164592" cy="164592"/>
          </a:xfrm>
          <a:prstGeom prst="rect">
            <a:avLst/>
          </a:prstGeom>
          <a:solidFill>
            <a:srgbClr val="6C46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정리하면 · Takeaway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“VLM은 이미 내 취향을 알아채는 데 필요한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가지고 있고, 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회귀 하나면</a:t>
            </a:r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꺼내 쓸 수 있다.”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E1629"/>
          </a:solidFill>
          <a:ln w="19050">
            <a:solidFill>
              <a:srgbClr val="C25B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사용자당 지원 이미지면 충분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E1629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ρ=0.611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없이 PIAA-ICI 수준 달성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E1629"/>
          </a:solidFill>
          <a:ln w="19050">
            <a:solidFill>
              <a:srgbClr val="3E8E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8E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바뀌어도 강건하게 유지 (vs 0.206)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VLM의 내부 표현은 개인화 미학 평가의 강력한 기반이 된다.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Nakamura et al., 2026 · arXiv:2604.11374 · ACL 2026 Findings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VLM과 개인화 이미지 미학 평가</dc:title>
  <dc:subject>PptxGenJS Presentation</dc:subject>
  <dc:creator>auto_research</dc:creator>
  <cp:lastModifiedBy>auto_research</cp:lastModifiedBy>
  <cp:revision>1</cp:revision>
  <dcterms:created xsi:type="dcterms:W3CDTF">2026-06-29T06:49:46Z</dcterms:created>
  <dcterms:modified xsi:type="dcterms:W3CDTF">2026-06-29T06:49:46Z</dcterms:modified>
</cp:coreProperties>
</file>