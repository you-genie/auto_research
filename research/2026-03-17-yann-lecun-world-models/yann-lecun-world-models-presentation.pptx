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딥러닝의 아버지 중 한 명인 Yann LeCun은 현재 AI 주류인 LLM을 강하게 비판하고, World Models라는 새로운 방향을 제시하고 있습니다. 이 발표는 그의 비전과 핵심 기술을 종합 정리합니다.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발표는 크게 7개 섹션으로 구성됩니다. LeCun의 배경부터 시작해 그의 핵심 기술 비전, 그리고 업계 반응까지 살펴보겠습니다.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섹션 1: Yann LeCun의 배경과 업적을 살펴봅니다.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LeCun은 현재 우리가 사용하는 모든 이미지 인식 기술의 기반인 CNN을 개발했습니다. 12년간 META에서 AI 연구를 이끌었으며, 2025년 11월 META를 떠나 AMI Labs를 설립했습니다.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2018년, LeCun은 Bengio, Hinton과 함께 ACM 튜링상을 공동 수상했습니다. 세 사람은 현재 딥러닝 기술 전반의 이론적 기초를 닦은 인물들입니다.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섹션 2: 2025년 11월 META를 떠난 LeCun이 설립한 AMI Labs를 살펴봅니다.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AMI는 프랑스어로 '친구'를 의미합니다. LeCun은 META의 전략이 LLM 강화 방향으로 바뀌면서 비전 불일치로 퇴사를 결정했습니다. Eric Schmidt, Mark Cuban, Tim Berners-Lee 등이 개인 투자자로 참여했습니다.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투자자 면면을 보면 단순한 AI 스타트업 투자가 아닌, AI의 패러다임 전환에 대한 베팅임을 알 수 있습니다. 특히 Jeff Bezos와 Eric Schmidt의 참여가 눈에 띕니다.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섹션 3: LeCun이 주장하는 현재 LLM의 근본적 한계를 살펴봅니다.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LeCun은 CES 2025에서 '어떤 방법으로도 현재의 오토회귀 LLM이 인간 수준의 지능에 도달하는 것은 불가능하다'고 단언했습니다. 특히 오류 누적 문제는 수학적으로 증명 가능한 구조적 한계입니다.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Fortune, 2025년 2월 기사 '순수 스케일링만으로 AGI를 만들 수 없다'는 것이 지금 AI 분야에서 가장 과소평가된 중요한 이야기라고 지적합니다. 내부 연구자들 사이에서도 공감대가 형성되고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섹션 4: World Model의 개념과 LeCun의 핵심 아키텍처인 JEPA를 설명합니다.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World Model의 개념은 모델 기반 강화학습(Model-Based RL)에서 유래했습니다. 에이전트가 환경을 내부적으로 표현하고 시뮬레이션할 수 있다면, 훨씬 적은 실제 경험으로도 효과적으로 학습할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JEPA의 핵심은 입력 공간(픽셀 레벨)에서 예측하지 않는다는 점입니다. 불필요한 세부 정보를 예측할 필요 없이, 의미 있는 표현만 예측합니다. 잠재 변수 z는 예측의 불확실성을 처리합니다.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비교표는 LeCun이 주장하는 JEPA의 이론적 우위를 보여줍니다. 단, JEPA가 LLM을 완전히 대체하는 것은 아니며, 실제 V-JEPA 2는 LLM과 결합했을 때 최고 성능을 달성했습니다.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에너지 기반 모델은 LeCun이 오랫동안 연구해온 프레임워크입니다. 명시적인 확률 분포 정의 없이도 데이터 간의 의존성을 포착할 수 있는 유연한 모델입니다.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섹션 5: META AI Research가 실제로 구현한 JEPA 시리즈를 살펴봅니다.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META AI Research는 LeCun의 이론을 착실히 구현해왔습니다. I-JEPA에서 시작해 점점 더 복잡한 시나리오(비디오, 언어, 로봇 제어)로 확장했습니다.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V-JEPA 2의 가장 놀라운 점은 로봇 제어를 위해 62시간의 데이터만 사용했다는 점입니다. 기존 방법 대비 극도로 효율적입니다. LLM과 결합 시 8B 파라미터 스케일에서 여러 비디오 QA SOTA를 달성했습니다.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META는 기존 벤치마크가 물리적 추론을 제대로 평가하지 못한다고 보고, 세 가지 새로운 벤치마크를 함께 발표했습니다. 인간과 AI 모델 사이의 차이가 아직 상당합니다.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섹션 6: META JEPA 외의 주요 World Model 연구들을 살펴봅니다.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Google DeepMind는 Genie 시리즈로 인터랙티브한 세계 생성에 집중하고 있습니다. Genie 3는 에이전트 훈련용 무한한 시뮬레이션 환경 생성이 목표입니다.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Waymo World Model은 World Model의 실제 상업적 적용 사례입니다. 희귀하고 위험한 시나리오를 합성해 자율주행 시스템을 더 안전하게 훈련할 수 있게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DreamerV3는 JEPA와 다른 접근법(생성적 World Model)을 취하지만, 같은 목표를 향합니다. 마인크래프트 다이아몬드 채굴은 장기 계획 능력의 인상적인 증명이었습니다. Nature에 게재될 만큼 학술적으로도 인정받았습니다.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섹션 7: LeCun의 주장에 대한 다양한 시각과 향후 전망을 살펴봅니다.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논쟁의 핵심은 '지금 당장 쓸모 있는 AI'와 '장기적으로 올바른 AI'의 차이입니다. LLM은 지금 당장 가치를 창출하지만, LeCun은 근본적 한계를 극복하려면 다른 아키텍처가 필요하다고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흥미롭게도 META의 실험에서 JEPA와 LLM을 결합했을 때 최고 성능이 나왔습니다. 이는 둘 중 하나가 이기는 게 아니라, 상호보완적인 역할을 할 수 있음을 시사합니다.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AMI Labs의 행보가 2026년의 가장 큰 AI 관전 포인트 중 하나입니다. LeCun이 10억 달러 이상의 투자로 무엇을 만들어낼지, 그리고 그것이 현재 LLM과 어떻게 경쟁할지가 핵심 질문입니다.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LeCun의 베팅은 단순히 기술적 주장이 아닙니다. 10억 달러와 그의 명성을 건 진지한 도전입니다. 2026-2028년이 World Model의 실용성을 판가름하는 중요한 시기가 될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감사합니다. 질문을 받겠습니다. 추가 자료는 Auto Research 블로그에서 확인하실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2D4A9C">
              <a:alpha val="30000"/>
            </a:srgbClr>
          </a:solidFill>
          <a:ln w="12700">
            <a:solidFill>
              <a:srgbClr val="2D4A9C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2286000"/>
            <a:ext cx="2011680" cy="201168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914400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144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Models Research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Yann LeCun &amp;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548640" y="22860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Models 완전 정복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"LLM은 AGI가 아니다"를 외치는 남자의 진짜 비전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 Labs  ·  2026년 3월  ·  Auto Research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목차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50292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188720"/>
            <a:ext cx="3474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Yann LeCun은 누구인가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084832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084832"/>
            <a:ext cx="502920" cy="749808"/>
          </a:xfrm>
          <a:prstGeom prst="rect">
            <a:avLst/>
          </a:prstGeom>
          <a:solidFill>
            <a:srgbClr val="2D4A9C"/>
          </a:solidFill>
          <a:ln w="12700">
            <a:solidFill>
              <a:srgbClr val="2D4A9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084832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2084832"/>
            <a:ext cx="3474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 Labs 설립과 $1.03B 투자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2980944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980944"/>
            <a:ext cx="502920" cy="749808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980944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0120" y="2980944"/>
            <a:ext cx="3474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LLM의 한계: LeCun의 비판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877056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877056"/>
            <a:ext cx="50292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877056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0120" y="3877056"/>
            <a:ext cx="3474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Model 개념과 JEPA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46320" y="1188720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1188720"/>
            <a:ext cx="502920" cy="749808"/>
          </a:xfrm>
          <a:prstGeom prst="rect">
            <a:avLst/>
          </a:prstGeom>
          <a:solidFill>
            <a:srgbClr val="2D4A9C"/>
          </a:solidFill>
          <a:ln w="12700">
            <a:solidFill>
              <a:srgbClr val="2D4A9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18872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40680" y="1188720"/>
            <a:ext cx="3474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META의 JEPA 구현체들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846320" y="2084832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2084832"/>
            <a:ext cx="50292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2084832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40680" y="2084832"/>
            <a:ext cx="3474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경쟁 연구: Genie 3, Waymo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846320" y="2980944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2980944"/>
            <a:ext cx="50292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2980944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440680" y="2980944"/>
            <a:ext cx="3474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비판적 분석 &amp; 향후 전망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45720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CADCFC">
                    <a:alpha val="3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1097280" y="201168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Yann LeCun은 누구인가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097280" y="338328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딥러닝 혁명의 아버지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97280" y="4480560"/>
            <a:ext cx="74980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Yann LeCun 프로필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41148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43000"/>
            <a:ext cx="4114800" cy="411480"/>
          </a:xfrm>
          <a:prstGeom prst="rect">
            <a:avLst/>
          </a:prstGeom>
          <a:solidFill>
            <a:srgbClr val="2D4A9C"/>
          </a:solidFill>
          <a:ln w="12700">
            <a:solidFill>
              <a:srgbClr val="2D4A9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430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정보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출생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554480" y="16916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1960년 7월 8일, 프랑스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2860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학력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554480" y="2286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ESIEE Paris → 파리 피에르-마리 퀴리 대학 박사(1987)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88036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현직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54480" y="28803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 Labs 집행 이사장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347472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전직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554480" y="34747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수석 AI 과학자 (2013–2025)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406908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소속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554480" y="40690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NYU Courant Institute 교수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1143000"/>
            <a:ext cx="40690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143000"/>
            <a:ext cx="406908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1143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업적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37760" y="171907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CNN(합성곱 신경망) 개발 — 현대 이미지 인식의 기초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219456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MNIST 손글씨 인식 시스템 (LeNet)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37760" y="267004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1980년대 역전파 알고리즘 초기 제안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314553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 튜링상 수상 (2018, Bengio·Hinton 공동)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37760" y="3621024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FAIR(Facebook AI Research) 창립 이사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37760" y="409651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JEPA 아키텍처 제안 (2022)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0040" y="4754880"/>
            <a:ext cx="8503920" cy="228600"/>
          </a:xfrm>
          <a:prstGeom prst="rect">
            <a:avLst/>
          </a:prstGeom>
          <a:solidFill>
            <a:srgbClr val="EBF1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" y="4782312"/>
            <a:ext cx="164592" cy="16459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49560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Labs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1988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24912" y="4782312"/>
            <a:ext cx="164592" cy="16459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450592" y="49560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NYU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1989→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55464" y="4782312"/>
            <a:ext cx="164592" cy="16459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81144" y="49560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Facebook/META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2013–2025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986016" y="4782312"/>
            <a:ext cx="164592" cy="16459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11696" y="49560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 Labs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2025→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 ACM 튜링상 수상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"딥러닝 혁명의 아버지들 — Fathers of the Deep Learning Revolution"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" y="1645920"/>
            <a:ext cx="2697480" cy="2926080"/>
          </a:xfrm>
          <a:prstGeom prst="rect">
            <a:avLst/>
          </a:prstGeom>
          <a:solidFill>
            <a:srgbClr val="1A2F6A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645920"/>
            <a:ext cx="269748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99032" y="201168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99032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11480" y="269748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Yann LeCun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1480" y="333756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CNN, JEPA, LeNet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39776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NYU / AMI Labs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72968" y="1645920"/>
            <a:ext cx="2697480" cy="2926080"/>
          </a:xfrm>
          <a:prstGeom prst="rect">
            <a:avLst/>
          </a:prstGeom>
          <a:solidFill>
            <a:srgbClr val="1A2F6A"/>
          </a:solidFill>
          <a:ln w="12700">
            <a:solidFill>
              <a:srgbClr val="2D4A9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72968" y="1645920"/>
            <a:ext cx="2697480" cy="457200"/>
          </a:xfrm>
          <a:prstGeom prst="rect">
            <a:avLst/>
          </a:prstGeom>
          <a:solidFill>
            <a:srgbClr val="2D4A9C"/>
          </a:solidFill>
          <a:ln w="12700">
            <a:solidFill>
              <a:srgbClr val="2D4A9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51960" y="201168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5196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264408" y="269748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Yoshua Bengio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264408" y="333756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시퀀스 모델링, RNN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64408" y="39776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Université de Montréal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25896" y="1645920"/>
            <a:ext cx="2697480" cy="2926080"/>
          </a:xfrm>
          <a:prstGeom prst="rect">
            <a:avLst/>
          </a:prstGeom>
          <a:solidFill>
            <a:srgbClr val="1A2F6A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25896" y="1645920"/>
            <a:ext cx="269748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04888" y="201168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04888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117336" y="269748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Geoffrey Hinton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117336" y="333756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Boltzmann Machine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117336" y="39776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of Toronto / Google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튜링상 = 컴퓨터 과학의 노벨상  |  ACM 수여  |  상금 $1,000,000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45720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CADCFC">
                    <a:alpha val="3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1097280" y="201168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 Labs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097280" y="338328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$1.03B 투자 · 유럽 역대 최대 시드 라운드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97280" y="4480560"/>
            <a:ext cx="74980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 Labs 개요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011680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1430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$1.03B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" y="18288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시드 투자액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68880" y="1097280"/>
            <a:ext cx="2011680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11430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$35B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468880" y="18288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기업가치(pre-money) — $35억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17720" y="1097280"/>
            <a:ext cx="2011680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17720" y="11430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2025.11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617720" y="18288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퇴사 후 설립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66560" y="1097280"/>
            <a:ext cx="2011680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66560" y="11430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파리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766560" y="18288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본사 위치 (ami = 친구)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0040" y="248716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경영진 라인업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880360"/>
          <a:ext cx="8503920" cy="2103120"/>
        </p:xfrm>
        <a:graphic>
          <a:graphicData uri="http://schemas.openxmlformats.org/drawingml/2006/table">
            <a:tbl>
              <a:tblPr/>
              <a:tblGrid>
                <a:gridCol w="2560320"/>
                <a:gridCol w="2286000"/>
                <a:gridCol w="3657600"/>
              </a:tblGrid>
              <a:tr h="300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이름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역할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이전 경력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00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Yann LeCun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집행 이사장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딥러닝 아버지, 튜링상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0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Alexandre LeBrun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CEO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Nabla(헬스테크) 창업자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F"/>
                    </a:solidFill>
                  </a:tcPr>
                </a:tc>
              </a:tr>
              <a:tr h="300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Saining Xie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수석 과학자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META AI Research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0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Pascale Fung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연구·혁신 총괄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홍콩과기대 교수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F"/>
                    </a:solidFill>
                  </a:tcPr>
                </a:tc>
              </a:tr>
              <a:tr h="300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Michael Rabbat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VP, World Models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META AI 연구자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0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Laurent Solly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COO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META 유럽 부사장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투자자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기관 투자자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1828800" cy="548640"/>
          </a:xfrm>
          <a:prstGeom prst="rect">
            <a:avLst/>
          </a:prstGeom>
          <a:solidFill>
            <a:srgbClr val="EBF1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38912" y="14630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Cathay Innovation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331720" y="1463040"/>
            <a:ext cx="1828800" cy="548640"/>
          </a:xfrm>
          <a:prstGeom prst="rect">
            <a:avLst/>
          </a:prstGeom>
          <a:solidFill>
            <a:srgbClr val="EBF1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04872" y="14630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Greycroft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148840"/>
            <a:ext cx="1828800" cy="548640"/>
          </a:xfrm>
          <a:prstGeom prst="rect">
            <a:avLst/>
          </a:prstGeom>
          <a:solidFill>
            <a:srgbClr val="EBF1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38912" y="21488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Hiro Capital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331720" y="2148840"/>
            <a:ext cx="1828800" cy="548640"/>
          </a:xfrm>
          <a:prstGeom prst="rect">
            <a:avLst/>
          </a:prstGeom>
          <a:solidFill>
            <a:srgbClr val="EBF1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404872" y="21488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 Capital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834640"/>
            <a:ext cx="1828800" cy="548640"/>
          </a:xfrm>
          <a:prstGeom prst="rect">
            <a:avLst/>
          </a:prstGeom>
          <a:solidFill>
            <a:srgbClr val="EBF1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38912" y="28346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Bezos Expeditions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0" y="10515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 투자자 (Notable)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0" y="1463040"/>
            <a:ext cx="2011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0" y="1463040"/>
            <a:ext cx="73152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36592" y="146304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Jeff Bezos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36592" y="17830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아마존 창업자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0" y="2194560"/>
            <a:ext cx="2011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0" y="2194560"/>
            <a:ext cx="73152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36592" y="219456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 Schmidt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36592" y="25146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 구글 CEO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2926080"/>
            <a:ext cx="2011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2926080"/>
            <a:ext cx="73152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36592" y="292608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Cuban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36592" y="32461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투자자·기업가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720840" y="1463040"/>
            <a:ext cx="2011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720840" y="1463040"/>
            <a:ext cx="73152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85432" y="146304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Berners-Lee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885432" y="17830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 발명가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720840" y="2194560"/>
            <a:ext cx="2011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720840" y="2194560"/>
            <a:ext cx="73152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85432" y="219456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Jim Breyer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885432" y="25146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 창업자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720840" y="2926080"/>
            <a:ext cx="2011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720840" y="2926080"/>
            <a:ext cx="73152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85432" y="292608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Xavier Niel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885432" y="32461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프랑스 기업가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480560"/>
            <a:ext cx="841248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"향후 6개월 내 '세계 모델'이 업계 유행어가 될 것" — Alexandre LeBrun, CEO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45720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CADCFC">
                    <a:alpha val="3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1097280" y="201168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LLM의 한계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097280" y="338328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LeCun은 LLM을 비판하는가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97280" y="4480560"/>
            <a:ext cx="74980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LLM의 4가지 근본 한계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43000"/>
            <a:ext cx="4206240" cy="438912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오류 누적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토큰마다 오류 확률 존재
</a:t>
            </a:r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독립 오류 → 지수적 감소
</a:t>
            </a:r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환각(Hallucination)의 근원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143000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43000"/>
            <a:ext cx="4206240" cy="438912"/>
          </a:xfrm>
          <a:prstGeom prst="rect">
            <a:avLst/>
          </a:prstGeom>
          <a:solidFill>
            <a:srgbClr val="2D4A9C"/>
          </a:solidFill>
          <a:ln w="12700">
            <a:solidFill>
              <a:srgbClr val="2D4A9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14300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물리 이해 부재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83480" y="164592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인과 모델 없음
</a:t>
            </a:r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집고양이도 아는 물리 법칙
</a:t>
            </a:r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텍스트 패턴만 학습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3108960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3108960"/>
            <a:ext cx="420624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10896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기억 없음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361188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컨텍스트 윈도우 한계
</a:t>
            </a:r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대화 끝나면 초기화
</a:t>
            </a:r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지속적 기억 불가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3108960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3108960"/>
            <a:ext cx="420624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310896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스케일링 포화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83480" y="361188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수익 체감 시작
</a:t>
            </a:r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"Scaling is saturating"
</a:t>
            </a:r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더 큰 모델 ≠ 더 큰 도약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0" dirty="0">
                <a:solidFill>
                  <a:srgbClr val="EF47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8046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There's absolutely no way that autoregressive LLMs, the type that we know today, will reach human intelligence.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i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Yann LeCun, CES 2025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52044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이후 성능 향상 속도 둔화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86791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스케일링 수익 체감 — 다수 연구자 공감대 형성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421538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고갈 문제 가시화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4562856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Fortune (2025.02): "Pure scaling has failed to produce AGI"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45720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CADCFC">
                    <a:alpha val="3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1097280" y="201168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Model &amp; JEPA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097280" y="338328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LeCun의 핵심 기술 비전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97280" y="4480560"/>
            <a:ext cx="74980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Model이란?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850392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5156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"AI 에이전트의 머릿속에 있는 세상 시뮬레이터"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87452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874520"/>
            <a:ext cx="269748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87452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이해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29768" y="2423160"/>
            <a:ext cx="24871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물리 법칙, 인과관계, 물체 상호작용을 직접 모델링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172968" y="187452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72968" y="1874520"/>
            <a:ext cx="2697480" cy="475488"/>
          </a:xfrm>
          <a:prstGeom prst="rect">
            <a:avLst/>
          </a:prstGeom>
          <a:solidFill>
            <a:srgbClr val="2D4A9C"/>
          </a:solidFill>
          <a:ln w="12700">
            <a:solidFill>
              <a:srgbClr val="2D4A9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72968" y="187452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예측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282696" y="2423160"/>
            <a:ext cx="24871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미래 상태를 내부 시뮬레이션으로 예측 — 실제 행동 전 상상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25896" y="187452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25896" y="1874520"/>
            <a:ext cx="2697480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25896" y="187452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계획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135624" y="2423160"/>
            <a:ext cx="24871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행동의 결과를 시뮬레이션해 최적 행동 순서 결정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0040" y="3840480"/>
            <a:ext cx="8503920" cy="1143000"/>
          </a:xfrm>
          <a:prstGeom prst="rect">
            <a:avLst/>
          </a:prstGeom>
          <a:solidFill>
            <a:srgbClr val="EBF1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840480"/>
            <a:ext cx="8046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 →  다음 토큰 예측  →  텍스트 생성</a:t>
            </a:r>
            <a:endParaRPr lang="en-US" sz="14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Model  →  미래 상태 예측  →  행동 계획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JEPA 아키텍처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1371600" cy="594360"/>
          </a:xfrm>
          <a:prstGeom prst="rect">
            <a:avLst/>
          </a:prstGeom>
          <a:solidFill>
            <a:srgbClr val="2D4A9C"/>
          </a:solidFill>
          <a:ln w="12700">
            <a:solidFill>
              <a:srgbClr val="2D4A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8016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x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103120" y="1280160"/>
            <a:ext cx="146304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03120" y="12801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sx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737360" y="1572768"/>
            <a:ext cx="36576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31920" y="1280160"/>
            <a:ext cx="155448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0" y="128016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ŝy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566160" y="1572768"/>
            <a:ext cx="36576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06240" y="2148840"/>
            <a:ext cx="1097280" cy="548640"/>
          </a:xfrm>
          <a:prstGeom prst="ellipse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0" y="2148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z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2148840"/>
            <a:ext cx="0" cy="-274320"/>
          </a:xfrm>
          <a:prstGeom prst="line">
            <a:avLst/>
          </a:prstGeom>
          <a:noFill/>
          <a:ln w="25400">
            <a:solidFill>
              <a:srgbClr val="F9C74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926080"/>
            <a:ext cx="1371600" cy="594360"/>
          </a:xfrm>
          <a:prstGeom prst="rect">
            <a:avLst/>
          </a:prstGeom>
          <a:solidFill>
            <a:srgbClr val="2D4A9C"/>
          </a:solidFill>
          <a:ln w="12700">
            <a:solidFill>
              <a:srgbClr val="2D4A9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92608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103120" y="2926080"/>
            <a:ext cx="146304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03120" y="292608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737360" y="3218688"/>
            <a:ext cx="36576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931920" y="2926080"/>
            <a:ext cx="1554480" cy="59436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1920" y="29260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D(sy, ŝy)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566160" y="3218688"/>
            <a:ext cx="36576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9160" y="1874520"/>
            <a:ext cx="0" cy="105156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0" y="1280160"/>
            <a:ext cx="2926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43600" y="1280160"/>
            <a:ext cx="9144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1280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픽셀 공간 아닌 표현 공간에서 예측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943600" y="1883664"/>
            <a:ext cx="2926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9C7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943600" y="1883664"/>
            <a:ext cx="91440" cy="502920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0" y="1883664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잠재 변수 z로 불확실성 처리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943600" y="2487168"/>
            <a:ext cx="2926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2D4A9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943600" y="2487168"/>
            <a:ext cx="91440" cy="502920"/>
          </a:xfrm>
          <a:prstGeom prst="rect">
            <a:avLst/>
          </a:prstGeom>
          <a:solidFill>
            <a:srgbClr val="2D4A9C"/>
          </a:solidFill>
          <a:ln w="12700">
            <a:solidFill>
              <a:srgbClr val="2D4A9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26480" y="248716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비대조적(non-contrastive) 학습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943600" y="3090672"/>
            <a:ext cx="2926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7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943600" y="3090672"/>
            <a:ext cx="91440" cy="50292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26480" y="309067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EBM(에너지 기반 모델) 기반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BF1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754880"/>
            <a:ext cx="84124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"생성 모델이 아님 — 의미론적 표현 학습에 집중"  |  LeCun, A Path Towards Autonomous Machine Intelligence (2022)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vs JEPA 비교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8412480" cy="3749040"/>
        </p:xfrm>
        <a:graphic>
          <a:graphicData uri="http://schemas.openxmlformats.org/drawingml/2006/table">
            <a:tbl>
              <a:tblPr/>
              <a:tblGrid>
                <a:gridCol w="2011680"/>
                <a:gridCol w="3017520"/>
                <a:gridCol w="3383280"/>
              </a:tblGrid>
              <a:tr h="53557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특성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LLM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JEPA (World Model)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학습 목표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F476F"/>
                          </a:solidFill>
                        </a:rPr>
                        <a:t>다음 토큰 예측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D9488"/>
                          </a:solidFill>
                        </a:rPr>
                        <a:t>표현 공간에서 미래 예측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물리 이해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F476F"/>
                          </a:solidFill>
                        </a:rPr>
                        <a:t>간접 (텍스트 패턴)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D9488"/>
                          </a:solidFill>
                        </a:rPr>
                        <a:t>직접 모델링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F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불확실성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F476F"/>
                          </a:solidFill>
                        </a:rPr>
                        <a:t>확률 분포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D9488"/>
                          </a:solidFill>
                        </a:rPr>
                        <a:t>잠재 변수 (z)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계획 능력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F476F"/>
                          </a:solidFill>
                        </a:rPr>
                        <a:t>제한적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D9488"/>
                          </a:solidFill>
                        </a:rPr>
                        <a:t>계층적 계획 가능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F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샘플 효율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F476F"/>
                          </a:solidFill>
                        </a:rPr>
                        <a:t>낮음 (수조 토큰)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D9488"/>
                          </a:solidFill>
                        </a:rPr>
                        <a:t>높음 (압축 표현)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환각 경향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F476F"/>
                          </a:solidFill>
                        </a:rPr>
                        <a:t>높음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D9488"/>
                          </a:solidFill>
                        </a:rPr>
                        <a:t>낮음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에너지 기반 모델 (EBM)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0" y="1097280"/>
            <a:ext cx="4572000" cy="685800"/>
          </a:xfrm>
          <a:prstGeom prst="rect">
            <a:avLst/>
          </a:prstGeom>
          <a:solidFill>
            <a:srgbClr val="1A2F6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0" y="109728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C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E(W, Y, X)  =  스칼라 에너지 값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011680"/>
            <a:ext cx="4297680" cy="2286000"/>
          </a:xfrm>
          <a:prstGeom prst="rect">
            <a:avLst/>
          </a:prstGeom>
          <a:solidFill>
            <a:srgbClr val="1A2F6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011680"/>
            <a:ext cx="429768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0116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낮은 에너지 (Low Energy)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5603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좋은 상태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30175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타당한 예측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33649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관찰된 데이터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371246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올바른 물리 법칙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0" y="2011680"/>
            <a:ext cx="4297680" cy="2286000"/>
          </a:xfrm>
          <a:prstGeom prst="rect">
            <a:avLst/>
          </a:prstGeom>
          <a:solidFill>
            <a:srgbClr val="1A2F6A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0" y="2011680"/>
            <a:ext cx="4297680" cy="45720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0" y="20116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높은 에너지 (High Energy)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20640" y="25603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나쁜 상태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30175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말도 안 되는 예측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57800" y="33649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비관찰 데이터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257800" y="371246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물리 법칙 위반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434840"/>
            <a:ext cx="841248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목표:  관찰된 구성 에너지 ↓  /  비관찰 구성 에너지 ↑  →  JEPA = 표현 공간에서 동작하는 EBM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45720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CADCFC">
                    <a:alpha val="3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1097280" y="201168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META의 JEPA 구현체들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097280" y="338328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I-JEPA · V-JEPA · V-JEPA 2 · VL-JEPA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97280" y="4480560"/>
            <a:ext cx="74980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JEPA 시리즈 타임라인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874520"/>
            <a:ext cx="8229600" cy="0"/>
          </a:xfrm>
          <a:prstGeom prst="line">
            <a:avLst/>
          </a:prstGeom>
          <a:noFill/>
          <a:ln w="3810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1737360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13716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148840"/>
            <a:ext cx="137160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488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I-JEPA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633472"/>
            <a:ext cx="1188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 기반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활용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공간 마스킹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880360" y="1737360"/>
            <a:ext cx="274320" cy="274320"/>
          </a:xfrm>
          <a:prstGeom prst="ellipse">
            <a:avLst/>
          </a:prstGeom>
          <a:solidFill>
            <a:srgbClr val="2D4A9C"/>
          </a:solidFill>
          <a:ln w="12700">
            <a:solidFill>
              <a:srgbClr val="2D4A9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31720" y="1417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4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331720" y="2148840"/>
            <a:ext cx="13716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2D4A9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331720" y="2148840"/>
            <a:ext cx="1371600" cy="411480"/>
          </a:xfrm>
          <a:prstGeom prst="rect">
            <a:avLst/>
          </a:prstGeom>
          <a:solidFill>
            <a:srgbClr val="2D4A9C"/>
          </a:solidFill>
          <a:ln w="12700">
            <a:solidFill>
              <a:srgbClr val="2D4A9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31720" y="21488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V-JEPA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423160" y="2633472"/>
            <a:ext cx="1188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비디오 3D 확장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시공간 마스킹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22M 비디오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1737360"/>
            <a:ext cx="274320" cy="274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0" y="1417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06240" y="2148840"/>
            <a:ext cx="13716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206240" y="2148840"/>
            <a:ext cx="137160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0" y="21488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MC-JEPA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297680" y="2633472"/>
            <a:ext cx="1188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동작+내용 학습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광학 흐름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세그멘테이션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629400" y="1737360"/>
            <a:ext cx="274320" cy="274320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80760" y="1417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80760" y="2148840"/>
            <a:ext cx="13716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7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80760" y="2148840"/>
            <a:ext cx="1371600" cy="41148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80760" y="21488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VL-JEPA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72200" y="2633472"/>
            <a:ext cx="1188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비전-언어 통합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능가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파라미터 50% 절감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46720" y="1737360"/>
            <a:ext cx="274320" cy="274320"/>
          </a:xfrm>
          <a:prstGeom prst="ellipse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0" y="1417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2025+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498080" y="2148840"/>
            <a:ext cx="13716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9C7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498080" y="2148840"/>
            <a:ext cx="1371600" cy="411480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98080" y="21488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V-JEPA 2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589520" y="2633472"/>
            <a:ext cx="1188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12억 파라미터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로봇 제어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물리 추론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V-JEPA 2 성능 하이라이트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12억 파라미터  |  100만+ 시간 비디오 학습  |  62시간 로봇 데이터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572768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Something-Something v2</a:t>
            </a:r>
            <a:endParaRPr lang="en-US" sz="11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(액션 인식 top-1)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29000" y="1682496"/>
            <a:ext cx="4114800" cy="365760"/>
          </a:xfrm>
          <a:prstGeom prst="rect">
            <a:avLst/>
          </a:prstGeom>
          <a:solidFill>
            <a:srgbClr val="EBF1FF"/>
          </a:solidFill>
          <a:ln w="12700">
            <a:solidFill>
              <a:srgbClr val="D0D8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29000" y="1682496"/>
            <a:ext cx="318074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01180" y="168249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231136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Epic-Kitchens-100</a:t>
            </a:r>
            <a:endParaRPr lang="en-US" sz="11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(행동 예측 recall@5)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29000" y="2340864"/>
            <a:ext cx="4114800" cy="365760"/>
          </a:xfrm>
          <a:prstGeom prst="rect">
            <a:avLst/>
          </a:prstGeom>
          <a:solidFill>
            <a:srgbClr val="EBF1FF"/>
          </a:solidFill>
          <a:ln w="12700">
            <a:solidFill>
              <a:srgbClr val="D0D8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9000" y="2340864"/>
            <a:ext cx="3267151" cy="365760"/>
          </a:xfrm>
          <a:prstGeom prst="rect">
            <a:avLst/>
          </a:prstGeom>
          <a:solidFill>
            <a:srgbClr val="2D4A9C"/>
          </a:solidFill>
          <a:ln w="12700">
            <a:solidFill>
              <a:srgbClr val="2D4A9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87591" y="234086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4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39.7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2889504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PerceptionTest</a:t>
            </a:r>
            <a:endParaRPr lang="en-US" sz="11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(비디오 QA)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29000" y="2999232"/>
            <a:ext cx="4114800" cy="365760"/>
          </a:xfrm>
          <a:prstGeom prst="rect">
            <a:avLst/>
          </a:prstGeom>
          <a:solidFill>
            <a:srgbClr val="EBF1FF"/>
          </a:solidFill>
          <a:ln w="12700">
            <a:solidFill>
              <a:srgbClr val="D0D8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29000" y="2999232"/>
            <a:ext cx="3456432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76872" y="299923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354787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TempCompass</a:t>
            </a:r>
            <a:endParaRPr lang="en-US" sz="11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(시간적 이해)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429000" y="3657600"/>
            <a:ext cx="4114800" cy="365760"/>
          </a:xfrm>
          <a:prstGeom prst="rect">
            <a:avLst/>
          </a:prstGeom>
          <a:solidFill>
            <a:srgbClr val="EBF1FF"/>
          </a:solidFill>
          <a:ln w="12700">
            <a:solidFill>
              <a:srgbClr val="D0D8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29000" y="3657600"/>
            <a:ext cx="3164281" cy="36576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84721" y="36576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76.9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420624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로봇 제어</a:t>
            </a:r>
            <a:endParaRPr lang="en-US" sz="11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(성공률)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429000" y="4315968"/>
            <a:ext cx="4114800" cy="365760"/>
          </a:xfrm>
          <a:prstGeom prst="rect">
            <a:avLst/>
          </a:prstGeom>
          <a:solidFill>
            <a:srgbClr val="EBF1FF"/>
          </a:solidFill>
          <a:ln w="12700">
            <a:solidFill>
              <a:srgbClr val="D0D8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29000" y="4315968"/>
            <a:ext cx="2983230" cy="365760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03670" y="431596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72.5%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709160"/>
            <a:ext cx="84124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성과: 단 62시간의 로봇 데이터만으로 65~80% 성공률 달성 — 데이터 효율의 혁신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새로운 물리 추론 벤치마크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697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269748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9728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IntPhys 2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171907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물리적으로 타당 vs 불가능한 시나리오 구별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중력, 충돌, 연속성 테스트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85292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직관적 물리학 이해 평가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72968" y="1097280"/>
            <a:ext cx="2697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D4A9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72968" y="1097280"/>
            <a:ext cx="2697480" cy="502920"/>
          </a:xfrm>
          <a:prstGeom prst="rect">
            <a:avLst/>
          </a:prstGeom>
          <a:solidFill>
            <a:srgbClr val="2D4A9C"/>
          </a:solidFill>
          <a:ln w="12700">
            <a:solidFill>
              <a:srgbClr val="2D4A9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72968" y="109728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MVPBench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310128" y="171907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비디오-언어 모델 물리 이해 평가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10128" y="22860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물체 상호작용 이해 측정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10128" y="285292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다양한 물리 현상 커버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25896" y="1097280"/>
            <a:ext cx="2697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25896" y="1097280"/>
            <a:ext cx="269748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25896" y="109728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CausalVQA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163056" y="171907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인과관계 이해 측정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63056" y="22860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미래 예측 능력 평가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63056" y="285292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"왜" 질문에 대한 답변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3977640"/>
            <a:ext cx="8503920" cy="1005840"/>
          </a:xfrm>
          <a:prstGeom prst="rect">
            <a:avLst/>
          </a:prstGeom>
          <a:solidFill>
            <a:srgbClr val="EBF1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023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성능 격차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828800" y="4114800"/>
            <a:ext cx="502920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0" y="41148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인간: 85~95%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828800" y="4526280"/>
            <a:ext cx="2743200" cy="32004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4526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AI 모델: 아직 상당한 격차 존재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45720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CADCFC">
                    <a:alpha val="3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1097280" y="201168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경쟁 연구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097280" y="338328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Genie 3 · Waymo World Model · DreamerV3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97280" y="4480560"/>
            <a:ext cx="74980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DeepMind: Genie 시리즈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41148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D4A9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4114800" cy="502920"/>
          </a:xfrm>
          <a:prstGeom prst="rect">
            <a:avLst/>
          </a:prstGeom>
          <a:solidFill>
            <a:srgbClr val="2D4A9C"/>
          </a:solidFill>
          <a:ln w="12700">
            <a:solidFill>
              <a:srgbClr val="2D4A9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972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Genie 2  (2024년 12월)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71907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단일 이미지 → 조작 가능한 3D 환경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17627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키보드+마우스로 인간·AI 에이전트 조작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63347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10~20초 지속 가능한 일관된 세계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309067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1인칭/3인칭/등각 다양한 시점 지원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54787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발표: 2024년 12월 4일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1097280"/>
            <a:ext cx="41148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097280"/>
            <a:ext cx="41148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0972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Genie 3  (2025년 8월)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92040" y="171907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텍스트 프롬프트 → 실시간 동적 세계 생성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217627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720p 해상도, 24 FPS 실시간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263347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몇 분간 일관성 유지 (1분 전 기억)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92040" y="309067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2026년 1월 Google AI Ultra 구독자 공개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354787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AGI로 가는 핵심 단계로 DeepMind 주장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4343400"/>
            <a:ext cx="9144000" cy="8001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343400"/>
            <a:ext cx="84124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9C7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"World models are a key stepping stone on the path to AGI." — Google DeepMind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Waymo World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3200400" cy="43891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on: Google DeepMind Genie 3 (2026.02 발표)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627632"/>
            <a:ext cx="42976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7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627632"/>
            <a:ext cx="4297680" cy="45720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62763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시뮬레이션의 한계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176272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관찰된 데이터만 재현 가능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651760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희귀 사고 시나리오 훈련 불가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127248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실제 위험 상황 재현 불가능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602736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데이터 부족 = 안전성 한계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92040" y="1627632"/>
            <a:ext cx="42976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92040" y="1627632"/>
            <a:ext cx="429768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162763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Waymo World Model로 해결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74920" y="2176272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카메라 + LiDAR 동시 생성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74920" y="2651760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희귀 시나리오 합성 (어린이 뛰어들기)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74920" y="3127248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실제 없는 위험 상황 훈련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74920" y="3602736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데이터 부족 문제 근본 해결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4224528"/>
            <a:ext cx="8503920" cy="749808"/>
          </a:xfrm>
          <a:prstGeom prst="rect">
            <a:avLst/>
          </a:prstGeom>
          <a:solidFill>
            <a:srgbClr val="EBF1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224528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2025년 1,400만+ 이동 서비스  |  2026년: 런던·도쿄 포함 20+ 도시 확장 예정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DreamerV3: 또 다른 World Model 접근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D4A9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43000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개발: Danijar Hafner (Google DeepMind)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아키텍처: RSSM (Recurrent State Space Model)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논문: arXiv:2301.04104  |  Nature 게재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26060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작동 방식 (3단계)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3035808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3035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03580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감각 입력 → 잠재 표현 압축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3657600"/>
            <a:ext cx="384048" cy="384048"/>
          </a:xfrm>
          <a:prstGeom prst="ellipse">
            <a:avLst/>
          </a:prstGeom>
          <a:solidFill>
            <a:srgbClr val="2D4A9C"/>
          </a:solidFill>
          <a:ln w="12700">
            <a:solidFill>
              <a:srgbClr val="2D4A9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365760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잠재 공간에서 미래 상태 상상 (롤아웃)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4279392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4279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427939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상상 속 결과로 정책 최적화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1097280"/>
            <a:ext cx="4114800" cy="1828800"/>
          </a:xfrm>
          <a:prstGeom prst="rect">
            <a:avLst/>
          </a:prstGeom>
          <a:solidFill>
            <a:srgbClr val="1A1A2E"/>
          </a:solidFill>
          <a:ln w="12700">
            <a:solidFill>
              <a:srgbClr val="F9C7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00600" y="11430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마인크래프트 다이아몬드 채굴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00600" y="16916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최초의 AI 달성  |  인간 데이터 없이  |  커리큘럼 없이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00600" y="21945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장기 계획 능력의 인상적인 증명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09160" y="306324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00600" y="3108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벤치마크 성과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00600" y="3520440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150개 이상 다양한 작업 — 단일 설정으로 특화 모델 능가</a:t>
            </a: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연속 제어, Atari, 마인크래프트 등 이종 환경</a:t>
            </a: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Nature에 '마스터링 다양한 도메인' 게재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45720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CADCFC">
                    <a:alpha val="3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1097280" y="201168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비판적 분석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097280" y="338328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찬성 · 반대 · 향후 전망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97280" y="4480560"/>
            <a:ext cx="74980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LeCun 주장: 찬성 vs 반대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41148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찬성: LeCun이 맞다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스케일링 포화 실제 관찰됨 (2024~2025)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4231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LLM의 물리 추론 약점 — 벤치마크 확인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1089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샘플 비효율: GPT-4 수조 토큰 vs 아기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7947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DreamerV3, V-JEPA 2 성과 — World Model 실현 가능성 증명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09728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7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097280"/>
            <a:ext cx="4114800" cy="50292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09728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반대: LLM을 너무 무시한다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46320" y="17373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o1/o3: '불가능'했던 수학·과학 추론 달성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24231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현재 가치 창출: LLM이 압도적 우위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31089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멀티모달 LLM — 물리 이해 향상 중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37947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World Model은 아직 연구 단계 — 실용성 미검증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하이브리드가 답일 수도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371600" y="1097280"/>
            <a:ext cx="640080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109728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JEPA (세계 이해)  +  LLM (언어·지식)  =  최강의 조합?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2057400"/>
            <a:ext cx="2697480" cy="2423160"/>
          </a:xfrm>
          <a:prstGeom prst="rect">
            <a:avLst/>
          </a:prstGeom>
          <a:solidFill>
            <a:srgbClr val="1A2F6A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2057400"/>
            <a:ext cx="2697480" cy="457200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0574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증거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263347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V-JEPA 2 + LLM = 비디오 QA SOTA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8B 파라미터 스케일에서 최고 성능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76732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META 실험으로 확인됨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172968" y="2057400"/>
            <a:ext cx="2697480" cy="2423160"/>
          </a:xfrm>
          <a:prstGeom prst="rect">
            <a:avLst/>
          </a:prstGeom>
          <a:solidFill>
            <a:srgbClr val="1A2F6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72968" y="2057400"/>
            <a:ext cx="269748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72968" y="20574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JEPA의 역할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310128" y="263347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물리적 세계 이해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10128" y="32004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인과관계 모델링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10128" y="376732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효율적 표현 학습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25896" y="2057400"/>
            <a:ext cx="2697480" cy="2423160"/>
          </a:xfrm>
          <a:prstGeom prst="rect">
            <a:avLst/>
          </a:prstGeom>
          <a:solidFill>
            <a:srgbClr val="1A2F6A"/>
          </a:solidFill>
          <a:ln w="12700">
            <a:solidFill>
              <a:srgbClr val="2D4A9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25896" y="2057400"/>
            <a:ext cx="2697480" cy="457200"/>
          </a:xfrm>
          <a:prstGeom prst="rect">
            <a:avLst/>
          </a:prstGeom>
          <a:solidFill>
            <a:srgbClr val="2D4A9C"/>
          </a:solidFill>
          <a:ln w="12700">
            <a:solidFill>
              <a:srgbClr val="2D4A9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25896" y="20574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LLM의 역할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163056" y="263347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자연어 처리·소통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63056" y="32004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방대한 지식 활용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63056" y="376732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추론 및 계획 언어화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617720"/>
            <a:ext cx="841248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결론: 둘 중 하나의 승리가 아닌, 상호보완적 하이브리드 아키텍처가 현실적 방향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향후 전망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697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269748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97280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단기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AMI Labs: 첫 제품·연구 발표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53288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V-JEPA 2: 로보틱스 적용 확산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191256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Genie 3: Google AI Ultra 서비스 중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849624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World Model 업계 용어 확산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72968" y="1097280"/>
            <a:ext cx="2697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2D4A9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72968" y="1097280"/>
            <a:ext cx="2697480" cy="658368"/>
          </a:xfrm>
          <a:prstGeom prst="rect">
            <a:avLst/>
          </a:prstGeom>
          <a:solidFill>
            <a:srgbClr val="2D4A9C"/>
          </a:solidFill>
          <a:ln w="12700">
            <a:solidFill>
              <a:srgbClr val="2D4A9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72968" y="1097280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중기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2027–28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10128" y="187452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World Model 기반 로봇 훈련 상업화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10128" y="253288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자율주행 World Model 표준화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10128" y="3191256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JEPA vs LLM 성능 비교 본격화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10128" y="3849624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AMI Labs 제품 성숙 단계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25896" y="1097280"/>
            <a:ext cx="2697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25896" y="1097280"/>
            <a:ext cx="2697480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25896" y="1097280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장기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2029+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163056" y="187452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H-JEPA(계층적)로 복잡한 계획 달성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63056" y="253288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물리 세계 이해 AGI 전단계 시스템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63056" y="3191256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World Model + LLM 통합 아키텍처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63056" y="3849624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범용 로봇 지능 현실화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요약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640080"/>
          </a:xfrm>
          <a:prstGeom prst="rect">
            <a:avLst/>
          </a:prstGeom>
          <a:solidFill>
            <a:srgbClr val="1A2F6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59436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1097280"/>
            <a:ext cx="7635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LeCun: CNN 개발 + 튜링상 → AI 분야 최고 권위자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8412480" cy="640080"/>
          </a:xfrm>
          <a:prstGeom prst="rect">
            <a:avLst/>
          </a:prstGeom>
          <a:solidFill>
            <a:srgbClr val="1A2F6A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828800"/>
            <a:ext cx="594360" cy="640080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828800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51560" y="1828800"/>
            <a:ext cx="7635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 Labs: $1.03B 투자 → World Model 상업화 선언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2560320"/>
            <a:ext cx="8412480" cy="640080"/>
          </a:xfrm>
          <a:prstGeom prst="rect">
            <a:avLst/>
          </a:prstGeom>
          <a:solidFill>
            <a:srgbClr val="1A2F6A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560320"/>
            <a:ext cx="594360" cy="64008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560320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51560" y="2560320"/>
            <a:ext cx="7635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한계: 오류 누적, 물리 이해 부재, 스케일링 포화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8412480" cy="640080"/>
          </a:xfrm>
          <a:prstGeom prst="rect">
            <a:avLst/>
          </a:prstGeom>
          <a:solidFill>
            <a:srgbClr val="1A2F6A"/>
          </a:solidFill>
          <a:ln w="12700">
            <a:solidFill>
              <a:srgbClr val="2D4A9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291840"/>
            <a:ext cx="594360" cy="640080"/>
          </a:xfrm>
          <a:prstGeom prst="rect">
            <a:avLst/>
          </a:prstGeom>
          <a:solidFill>
            <a:srgbClr val="2D4A9C"/>
          </a:solidFill>
          <a:ln w="12700">
            <a:solidFill>
              <a:srgbClr val="2D4A9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291840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51560" y="3291840"/>
            <a:ext cx="7635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JEPA: 표현 공간 예측 → EBM 기반 효율적 학습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4023360"/>
            <a:ext cx="8412480" cy="640080"/>
          </a:xfrm>
          <a:prstGeom prst="rect">
            <a:avLst/>
          </a:prstGeom>
          <a:solidFill>
            <a:srgbClr val="1A2F6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4023360"/>
            <a:ext cx="594360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023360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51560" y="4023360"/>
            <a:ext cx="7635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경쟁 가열: Genie 3, Waymo World Model, DreamerV3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663440"/>
            <a:ext cx="84124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질문: "World Model이 진짜 AI의 다음 단계인가?"  —  2026~2028년이 그 답을 보여줄 것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질문 및 토론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3749040"/>
            <a:ext cx="32004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3749040"/>
            <a:ext cx="320040" cy="320040"/>
          </a:xfrm>
          <a:prstGeom prst="ellipse">
            <a:avLst/>
          </a:prstGeom>
          <a:solidFill>
            <a:srgbClr val="2D4A9C"/>
          </a:solidFill>
          <a:ln w="12700">
            <a:solidFill>
              <a:srgbClr val="2D4A9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54480" y="3749040"/>
            <a:ext cx="320040" cy="320040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Research Blog  ·  2026-03-17  ·  Powered by Claude Code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Yann LeCun &amp; World Models 완전 정복</dc:title>
  <dc:subject>PptxGenJS Presentation</dc:subject>
  <dc:creator>Auto Research</dc:creator>
  <cp:lastModifiedBy>Auto Research</cp:lastModifiedBy>
  <cp:revision>1</cp:revision>
  <dcterms:created xsi:type="dcterms:W3CDTF">2026-03-17T08:36:20Z</dcterms:created>
  <dcterms:modified xsi:type="dcterms:W3CDTF">2026-03-17T08:36:20Z</dcterms:modified>
</cp:coreProperties>
</file>