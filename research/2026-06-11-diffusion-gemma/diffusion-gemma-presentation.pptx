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1F4E79"/>
                </a:solidFill>
                <a:latin typeface="Arial"/>
              </a:defRPr>
            </a:pPr>
            <a:r>
              <a:rPr sz="1200" b="0" i="0" u="none" strike="noStrike">
                <a:solidFill>
                  <a:srgbClr val="1F4E79"/>
                </a:solidFill>
                <a:latin typeface="Arial"/>
              </a:rPr>
              <a:t>AR 모델 추론 시간 분석</a:t>
            </a:r>
          </a:p>
        </c:rich>
      </c:tx>
      <c:layout/>
      <c:overlay val="0"/>
    </c:title>
    <c:autoTitleDeleted val="0"/>
    <c:plotArea>
      <c:layout/>
      <c:barChart>
        <c:barDir val="col"/>
        <c:grouping val="clustered"/>
        <c:varyColors val="0"/>
        <c:ser>
          <c:idx val="0"/>
          <c:order val="0"/>
          <c:tx>
            <c:strRef>
              <c:f>Sheet1!$B$1</c:f>
              <c:strCache>
                <c:ptCount val="1"/>
                <c:pt idx="0">
                  <c:v>비중 (%)</c:v>
                </c:pt>
              </c:strCache>
            </c:strRef>
          </c:tx>
          <c:spPr>
            <a:solidFill>
              <a:srgbClr val="EF4444"/>
            </a:solidFill>
            <a:effectLst/>
          </c:spPr>
          <c:invertIfNegative val="0"/>
          <c:dLbls>
            <c:numFmt formatCode="#,##0" sourceLinked="0"/>
            <c:txPr>
              <a:bodyPr/>
              <a:lstStyle/>
              <a:p>
                <a:pPr>
                  <a:defRPr b="0" i="0" strike="noStrike" sz="13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EF4444"/>
              </a:solidFill>
              <a:effectLst/>
            </c:spPr>
          </c:dPt>
          <c:dPt>
            <c:idx val="1"/>
            <c:invertIfNegative val="0"/>
            <c:bubble3D val="0"/>
            <c:spPr>
              <a:solidFill>
                <a:srgbClr val="10B981"/>
              </a:solidFill>
              <a:effectLst/>
            </c:spPr>
          </c:dPt>
          <c:cat>
            <c:multiLvlStrRef>
              <c:f>Sheet1!$A$2:$A$3</c:f>
              <c:multiLvlStrCache>
                <c:ptCount val="2"/>
                <c:lvl>
                  <c:pt idx="0">
                    <c:v>가중치 로딩
(메모리)</c:v>
                  </c:pt>
                  <c:pt idx="1">
                    <c:v>실제 연산
(컴퓨팅)</c:v>
                  </c:pt>
                </c:lvl>
              </c:multiLvlStrCache>
            </c:multiLvlStrRef>
          </c:cat>
          <c:val>
            <c:numRef>
              <c:f>Sheet1!$B$2:$B$3</c:f>
              <c:numCache>
                <c:formatCode>General</c:formatCode>
                <c:ptCount val="2"/>
                <c:pt idx="0">
                  <c:v>78</c:v>
                </c:pt>
                <c:pt idx="1">
                  <c:v>22</c:v>
                </c:pt>
              </c:numCache>
            </c:numRef>
          </c:val>
        </c:ser>
        <c:dLbls>
          <c:numFmt formatCode="#,##0" sourceLinked="0"/>
          <c:txPr>
            <a:bodyPr/>
            <a:lstStyle/>
            <a:p>
              <a:pPr>
                <a:defRPr b="0" i="0" strike="noStrike" sz="13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속도 (tokens/s)</c:v>
                </c:pt>
              </c:strCache>
            </c:strRef>
          </c:tx>
          <c:spPr>
            <a:solidFill>
              <a:srgbClr val="94A3B8"/>
            </a:solidFill>
            <a:effectLst/>
          </c:spPr>
          <c:invertIfNegative val="0"/>
          <c:dLbls>
            <c:numFmt formatCode="#,##0" sourceLinked="0"/>
            <c:txPr>
              <a:bodyPr/>
              <a:lstStyle/>
              <a:p>
                <a:pPr>
                  <a:defRPr b="0" i="0" strike="noStrike" sz="10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0891B2"/>
              </a:solidFill>
              <a:effectLst/>
            </c:spPr>
          </c:dPt>
          <c:dPt>
            <c:idx val="3"/>
            <c:invertIfNegative val="0"/>
            <c:bubble3D val="0"/>
            <c:spPr>
              <a:solidFill>
                <a:srgbClr val="14B8A6"/>
              </a:solidFill>
              <a:effectLst/>
            </c:spPr>
          </c:dPt>
          <c:dPt>
            <c:idx val="4"/>
            <c:invertIfNegative val="0"/>
            <c:bubble3D val="0"/>
            <c:spPr>
              <a:solidFill>
                <a:srgbClr val="6B7280"/>
              </a:solidFill>
              <a:effectLst/>
            </c:spPr>
          </c:dPt>
          <c:cat>
            <c:multiLvlStrRef>
              <c:f>Sheet1!$A$2:$A$6</c:f>
              <c:multiLvlStrCache>
                <c:ptCount val="5"/>
                <c:lvl>
                  <c:pt idx="0">
                    <c:v>Claude 4.5
Haiku</c:v>
                  </c:pt>
                  <c:pt idx="1">
                    <c:v>Gemma 4
AR ~200</c:v>
                  </c:pt>
                  <c:pt idx="2">
                    <c:v>DiffusionGemma
H100</c:v>
                  </c:pt>
                  <c:pt idx="3">
                    <c:v>Mercury 2
(H100)</c:v>
                  </c:pt>
                  <c:pt idx="4">
                    <c:v>Gemini Diffusion
(데모)</c:v>
                  </c:pt>
                </c:lvl>
              </c:multiLvlStrCache>
            </c:multiLvlStrRef>
          </c:cat>
          <c:val>
            <c:numRef>
              <c:f>Sheet1!$B$2:$B$6</c:f>
              <c:numCache>
                <c:formatCode>General</c:formatCode>
                <c:ptCount val="5"/>
                <c:pt idx="0">
                  <c:v>89</c:v>
                </c:pt>
                <c:pt idx="1">
                  <c:v>200</c:v>
                </c:pt>
                <c:pt idx="2">
                  <c:v>1008</c:v>
                </c:pt>
                <c:pt idx="3">
                  <c:v>1009</c:v>
                </c:pt>
                <c:pt idx="4">
                  <c:v>1479</c:v>
                </c:pt>
              </c:numCache>
            </c:numRef>
          </c:val>
        </c:ser>
        <c:dLbls>
          <c:numFmt formatCode="#,##0" sourceLinked="0"/>
          <c:txPr>
            <a:bodyPr/>
            <a:lstStyle/>
            <a:p>
              <a:pPr>
                <a:defRPr b="0" i="0" strike="noStrike" sz="10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6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DiffusionGemma</c:v>
                </c:pt>
              </c:strCache>
            </c:strRef>
          </c:tx>
          <c:spPr>
            <a:solidFill>
              <a:srgbClr val="0891B2"/>
            </a:solidFill>
            <a:effectLst/>
          </c:spPr>
          <c:invertIfNegative val="0"/>
          <c:dLbls>
            <c:numFmt formatCode="#,##0" sourceLinked="0"/>
            <c:txPr>
              <a:bodyPr/>
              <a:lstStyle/>
              <a:p>
                <a:pPr>
                  <a:defRPr b="0" i="0" strike="noStrike" sz="900" u="none">
                    <a:solidFill>
                      <a:srgbClr val="F0F6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MMLU Pro</c:v>
                  </c:pt>
                  <c:pt idx="1">
                    <c:v>GPQA Diamond</c:v>
                  </c:pt>
                  <c:pt idx="2">
                    <c:v>AIME 2026</c:v>
                  </c:pt>
                  <c:pt idx="3">
                    <c:v>LiveCodeBench v6</c:v>
                  </c:pt>
                  <c:pt idx="4">
                    <c:v>BigBench
Extra Hard</c:v>
                  </c:pt>
                </c:lvl>
              </c:multiLvlStrCache>
            </c:multiLvlStrRef>
          </c:cat>
          <c:val>
            <c:numRef>
              <c:f>Sheet1!$B$2:$B$6</c:f>
              <c:numCache>
                <c:formatCode>General</c:formatCode>
                <c:ptCount val="5"/>
                <c:pt idx="0">
                  <c:v>77.6</c:v>
                </c:pt>
                <c:pt idx="1">
                  <c:v>73.2</c:v>
                </c:pt>
                <c:pt idx="2">
                  <c:v>69.1</c:v>
                </c:pt>
                <c:pt idx="3">
                  <c:v>69.1</c:v>
                </c:pt>
                <c:pt idx="4">
                  <c:v>47.6</c:v>
                </c:pt>
              </c:numCache>
            </c:numRef>
          </c:val>
        </c:ser>
        <c:ser>
          <c:idx val="1"/>
          <c:order val="1"/>
          <c:tx>
            <c:strRef>
              <c:f>Sheet1!$C$1</c:f>
              <c:strCache>
                <c:ptCount val="1"/>
                <c:pt idx="0">
                  <c:v>Gemma 4 26B</c:v>
                </c:pt>
              </c:strCache>
            </c:strRef>
          </c:tx>
          <c:spPr>
            <a:solidFill>
              <a:srgbClr val="6B7280"/>
            </a:solidFill>
            <a:effectLst/>
          </c:spPr>
          <c:invertIfNegative val="0"/>
          <c:dLbls>
            <c:numFmt formatCode="#,##0" sourceLinked="0"/>
            <c:txPr>
              <a:bodyPr/>
              <a:lstStyle/>
              <a:p>
                <a:pPr>
                  <a:defRPr b="0" i="0" strike="noStrike" sz="900" u="none">
                    <a:solidFill>
                      <a:srgbClr val="F0F6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MMLU Pro</c:v>
                  </c:pt>
                  <c:pt idx="1">
                    <c:v>GPQA Diamond</c:v>
                  </c:pt>
                  <c:pt idx="2">
                    <c:v>AIME 2026</c:v>
                  </c:pt>
                  <c:pt idx="3">
                    <c:v>LiveCodeBench v6</c:v>
                  </c:pt>
                  <c:pt idx="4">
                    <c:v>BigBench
Extra Hard</c:v>
                  </c:pt>
                </c:lvl>
              </c:multiLvlStrCache>
            </c:multiLvlStrRef>
          </c:cat>
          <c:val>
            <c:numRef>
              <c:f>Sheet1!$C$2:$C$6</c:f>
              <c:numCache>
                <c:formatCode>General</c:formatCode>
                <c:ptCount val="5"/>
                <c:pt idx="0">
                  <c:v>82.6</c:v>
                </c:pt>
                <c:pt idx="1">
                  <c:v>82.3</c:v>
                </c:pt>
                <c:pt idx="2">
                  <c:v>88.3</c:v>
                </c:pt>
                <c:pt idx="3">
                  <c:v>77.1</c:v>
                </c:pt>
                <c:pt idx="4">
                  <c:v>64.8</c:v>
                </c:pt>
              </c:numCache>
            </c:numRef>
          </c:val>
        </c:ser>
        <c:dLbls>
          <c:numFmt formatCode="#,##0" sourceLinked="0"/>
          <c:txPr>
            <a:bodyPr/>
            <a:lstStyle/>
            <a:p>
              <a:pPr>
                <a:defRPr b="0" i="0" strike="noStrike" sz="900" u="none">
                  <a:solidFill>
                    <a:srgbClr val="F0F6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0F6FF"/>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1C3A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solidFill>
      <a:srgbClr val="0B1E3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슬라이드: DiffusionGemma는 구글 AI가 2026년 6월 10일 공식 발표한 오픈소스 텍스트 디퓨전 LLM입니다. Gemma 4 26B MoE 아키텍처 기반으로, 단일 H100 GPU에서 1,000+ 토큰/초를 달성합니다.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순서입니다. AR 모델의 한계에서 시작하여 디퓨전 LLM 생태계, DiffusionGemma의 기술 원리, 성능, 실사용법, 한계와 전망 순으로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01: 배경 — 기존 자기회귀(AR) 모델의 속도 병목 문제를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자기회귀(AR) 모델은 한 번에 토큰 하나씩 생성합니다. 매 스텝마다 수십 GB의 모델 가중치를 메모리에서 로드해야 하므로, GPU의 연산 능력이 아닌 메모리 대역폭이 병목이 됩니다. Google 공식 문서에서는 "생성 시간의 대부분이 실제 계산이 아닌 모델 가중치 로딩에 사용된다"고 명시합니다.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02: 디퓨전 LLM 생태계 — DiffusionGemma 이전 선행 연구들을 살펴봅니다.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MDLM은 마스크 토큰 기반 텍스트 디퓨전 기초를 세웠고, SEDD는 이산 공간의 스코어 함수를 수학적으로 정립했습니다. LLaDA(2025)는 8B 규모에서 LLaMA3 8B와 유사한 성능을 보여 스케일링 가능성을 입증했습니다. Mercury(2025)는 세계 최초 상업용 디퓨전 LLM으로 H100에서 1,000+ tok/s를 달성했습니다. DiffusionGemma(2026)는 이 계보의 최신작으로, 최초의 티어1 랩 오픈소스 디퓨전 LLM입니다.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03: DiffusionGemma의 정확한 정의와 Gemini Diffusion과의 차이를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DiffusionGemma는 이미지 생성 모델이 아니라 텍스트 생성 모델입니다. 이미지와 영상은 입력으로 받을 수 있지만 출력은 텍스트입니다. Gemini Diffusion(2025년 5월 Google I/O 발표)은 아직 실험적 데모 상태이며, DiffusionGemma는 그 기술 계보를 이어받아 실제로 사용 가능한 오픈소스로 만든 모델입니다.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04: 핵심 기술 원리 — Uniform State Diffusion, 블록-자기회귀 멀티-캔버스, 이중 어텐션 모드를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Uniform State Diffusion(USD)은 마스크 토큰([MASK]) 대신 랜덤한 실제 어휘 토큰으로 노이즈를 만들고, 이를 반복적으로 정제합니다. 핵심은 낮은 확률의 토큰을 '재노이징'할 수 있다는 점입니다. 이미 잠정 확정된 토큰도 나중에 더 좋은 맥락이 나오면 되돌릴 수 있어, AR 모델보다 더 일관된 텍스트 블록을 생성합니다.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DiffusionGemma는 256토큰짜리 '캔버스'를 단위로 동작합니다. 256개 토큰을 동시에 처리하여 GPU 병렬 연산을 극대화하고, 가중치 로딩 횟수를 AR 대비 최대 1/256로 줄입니다. 긴 텍스트는 여러 캔버스를 순차 처리하며, 각 완성된 캔버스는 KV 캐시에 저장되어 다음 캔버스 생성 시 컨텍스트로 활용됩니다.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Gemma 4 백본이 두 가지 모드로 동작합니다. 인코더 모드는 인과적 어텐션으로 프롬프트와 완성된 캔버스를 처리하고, 디노이저 모드는 양방향 어텐션으로 캔버스 내 모든 위치를 동시에 참조합니다. 양방향 어텐션 덕분에 AR 모델보다 더 전체적으로 일관된 텍스트 블록을 생성할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05: 속도 벤치마크와 품질 벤치마크를 모두 살펴봅니다.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vLLM 벤치마크 기준 H100에서 1,008 tok/s, H200에서 1,288 tok/s(FP8 양자화)를 기록했습니다. AR 베이스라인 대비 5~6배 빠르며, Multi-Token Prediction 방식 대비 2.6~3배 빠릅니다. 이 속도는 단일 사용자(배치 크기 1) 환경 기준이며, 다중 사용자 서빙 환경에서는 이점이 줄어들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구글이 직접 밝힌 트레이드오프입니다. 수학/추론(AIME: 19.2%p 차이)과 다단계 논리(BigBench: 17.2%p 차이)에서 격차가 크고, 코딩(LiveCodeBench: 8%p)에서는 상대적으로 격차가 작습니다. 구글은 '최고 품질이 필요한 프로덕션 작업에는 표준 Gemma 4를 권장한다'고 명시했습니다.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06: 모델 스펙 상세와 배포 방법을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MoE 구조 덕분에 총 파라미터는 25.2B이지만 추론 시 활성화되는 파라미터는 3.8B에 불과합니다. 양자화 시 18GB VRAM으로 RTX 4090/5090 같은 컨슈머 GPU에서도 구동 가능합니다. 오디오 입력은 미지원입니다.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vLLM이 공식 권장 서빙 프레임워크이며, DiffusionGemma는 vLLM에 네이티브 통합된 최초의 Diffusion LLM입니다. 파인튜닝은 JAX 기반 Hackable Diffusion 툴박스로 가능하며, Unsloth와 NVIDIA NeMo를 통한 효율적 파인튜닝도 지원됩니다.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07: 현재의 한계점과 향후 발전 방향을 살펴봅니다.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현재의 주요 한계입니다. 수학/추론에서 AR 대비 품질 격차가 있고, 단일 사용자 환경을 위해 최적화되어 클라우드 서빙에서는 이점이 감소합니다. LoRA 등 경량 파인튜닝 생태계가 아직 초기 단계이며, 256토큰 캔버스 간 긴 컨텍스트 일관성 유지가 어려울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하이브리드 접근법(디퓨전 초안 + AR 교정)이 품질과 속도의 균형을 찾는 방향으로 연구되고 있습니다. Mercury 2가 AIME 91.1점을 달성한 것처럼, 디퓨전 LLM의 추론 능력도 빠르게 성장 중입니다. 에이전틱 AI에서 연속 LLM 호출이 필요한 시나리오에서 1,000+ tok/s 속도는 특히 강점이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DiffusionGemma는 AR 모델의 메모리 병목 문제를 256토큰 병렬 디노이징으로 해결한 오픈소스 LLM입니다. 아직 품질 격차가 있지만, 속도가 중요한 코드 완성, 배치 처리, 에이전틱 AI 시나리오에서 의미 있는 선택지입니다. Apache 2.0 라이선스로 완전 오픈되어 지금 바로 시도할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질문이 있으시면 편하게 말씀해 주세요. 주요 참고 자료는 슬라이드에 표기된 링크를 통해 확인하실 수 있습니다. DiffusionGemma 공식 문서는 ai.google.dev/gemma/docs/diffusiongemma에서, 모델 가중치는 huggingface.co/google/diffusiongemma-26B-A4B-it에서 다운로드할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0D1B2A"/>
          </a:solidFill>
          <a:ln w="12700">
            <a:solidFill>
              <a:srgbClr val="0D1B2A"/>
            </a:solidFill>
            <a:prstDash val="solid"/>
          </a:ln>
        </p:spPr>
      </p:sp>
      <p:sp>
        <p:nvSpPr>
          <p:cNvPr id="3" name="Shape 1"/>
          <p:cNvSpPr/>
          <p:nvPr/>
        </p:nvSpPr>
        <p:spPr>
          <a:xfrm>
            <a:off x="4114800" y="0"/>
            <a:ext cx="2743200" cy="5143500"/>
          </a:xfrm>
          <a:prstGeom prst="rect">
            <a:avLst/>
          </a:prstGeom>
          <a:solidFill>
            <a:srgbClr val="12243A"/>
          </a:solidFill>
          <a:ln w="12700">
            <a:solidFill>
              <a:srgbClr val="12243A"/>
            </a:solidFill>
            <a:prstDash val="solid"/>
          </a:ln>
        </p:spPr>
      </p:sp>
      <p:sp>
        <p:nvSpPr>
          <p:cNvPr id="4" name="Shape 2"/>
          <p:cNvSpPr/>
          <p:nvPr/>
        </p:nvSpPr>
        <p:spPr>
          <a:xfrm>
            <a:off x="6858000" y="0"/>
            <a:ext cx="2286000" cy="5143500"/>
          </a:xfrm>
          <a:prstGeom prst="rect">
            <a:avLst/>
          </a:prstGeom>
          <a:solidFill>
            <a:srgbClr val="0D2A45"/>
          </a:solidFill>
          <a:ln w="12700">
            <a:solidFill>
              <a:srgbClr val="0D2A45"/>
            </a:solidFill>
            <a:prstDash val="solid"/>
          </a:ln>
        </p:spPr>
      </p:sp>
      <p:sp>
        <p:nvSpPr>
          <p:cNvPr id="5" name="Shape 3"/>
          <p:cNvSpPr/>
          <p:nvPr/>
        </p:nvSpPr>
        <p:spPr>
          <a:xfrm>
            <a:off x="0" y="0"/>
            <a:ext cx="164592" cy="5143500"/>
          </a:xfrm>
          <a:prstGeom prst="rect">
            <a:avLst/>
          </a:prstGeom>
          <a:solidFill>
            <a:srgbClr val="0891B2"/>
          </a:solidFill>
          <a:ln w="12700">
            <a:solidFill>
              <a:srgbClr val="0891B2"/>
            </a:solidFill>
            <a:prstDash val="solid"/>
          </a:ln>
        </p:spPr>
      </p:sp>
      <p:sp>
        <p:nvSpPr>
          <p:cNvPr id="6" name="Shape 4"/>
          <p:cNvSpPr/>
          <p:nvPr/>
        </p:nvSpPr>
        <p:spPr>
          <a:xfrm>
            <a:off x="7132320" y="-457200"/>
            <a:ext cx="2560320" cy="2560320"/>
          </a:xfrm>
          <a:prstGeom prst="ellipse">
            <a:avLst/>
          </a:prstGeom>
          <a:solidFill>
            <a:srgbClr val="0891B2">
              <a:alpha val="8000"/>
            </a:srgbClr>
          </a:solidFill>
          <a:ln w="19050">
            <a:solidFill>
              <a:srgbClr val="06B6D4">
                <a:alpha val="30000"/>
              </a:srgbClr>
            </a:solidFill>
            <a:prstDash val="solid"/>
          </a:ln>
        </p:spPr>
      </p:sp>
      <p:sp>
        <p:nvSpPr>
          <p:cNvPr id="7" name="Shape 5"/>
          <p:cNvSpPr/>
          <p:nvPr/>
        </p:nvSpPr>
        <p:spPr>
          <a:xfrm>
            <a:off x="7772400" y="2286000"/>
            <a:ext cx="1463040" cy="1463040"/>
          </a:xfrm>
          <a:prstGeom prst="ellipse">
            <a:avLst/>
          </a:prstGeom>
          <a:solidFill>
            <a:srgbClr val="0891B2">
              <a:alpha val="6000"/>
            </a:srgbClr>
          </a:solidFill>
          <a:ln w="19050">
            <a:solidFill>
              <a:srgbClr val="06B6D4">
                <a:alpha val="30000"/>
              </a:srgbClr>
            </a:solidFill>
            <a:prstDash val="solid"/>
          </a:ln>
        </p:spPr>
      </p:sp>
      <p:sp>
        <p:nvSpPr>
          <p:cNvPr id="8" name="Shape 6"/>
          <p:cNvSpPr/>
          <p:nvPr/>
        </p:nvSpPr>
        <p:spPr>
          <a:xfrm>
            <a:off x="502920" y="960120"/>
            <a:ext cx="2560320" cy="274320"/>
          </a:xfrm>
          <a:prstGeom prst="roundRect">
            <a:avLst>
              <a:gd name="adj" fmla="val 16667"/>
            </a:avLst>
          </a:prstGeom>
          <a:solidFill>
            <a:srgbClr val="0891B2">
              <a:alpha val="25000"/>
            </a:srgbClr>
          </a:solidFill>
          <a:ln w="12700">
            <a:solidFill>
              <a:srgbClr val="0891B2"/>
            </a:solidFill>
            <a:prstDash val="solid"/>
          </a:ln>
        </p:spPr>
      </p:sp>
      <p:sp>
        <p:nvSpPr>
          <p:cNvPr id="9" name="Text 7"/>
          <p:cNvSpPr/>
          <p:nvPr/>
        </p:nvSpPr>
        <p:spPr>
          <a:xfrm>
            <a:off x="502920" y="960120"/>
            <a:ext cx="2560320" cy="274320"/>
          </a:xfrm>
          <a:prstGeom prst="rect">
            <a:avLst/>
          </a:prstGeom>
          <a:noFill/>
          <a:ln/>
        </p:spPr>
        <p:txBody>
          <a:bodyPr wrap="square" lIns="0" tIns="0" rIns="0" bIns="0" rtlCol="0" anchor="ctr"/>
          <a:lstStyle/>
          <a:p>
            <a:pPr algn="ctr" indent="0" marL="0">
              <a:buNone/>
            </a:pPr>
            <a:r>
              <a:rPr lang="en-US" sz="900" b="1" spc="150" kern="0" dirty="0">
                <a:solidFill>
                  <a:srgbClr val="06B6D4"/>
                </a:solidFill>
                <a:latin typeface="Malgun Gothic" pitchFamily="34" charset="0"/>
                <a:ea typeface="Malgun Gothic" pitchFamily="34" charset="-122"/>
                <a:cs typeface="Malgun Gothic" pitchFamily="34" charset="-120"/>
              </a:rPr>
              <a:t>GOOGLE AI  ·  JUNE 2026</a:t>
            </a:r>
            <a:endParaRPr lang="en-US" sz="900" dirty="0"/>
          </a:p>
        </p:txBody>
      </p:sp>
      <p:sp>
        <p:nvSpPr>
          <p:cNvPr id="10" name="Text 8"/>
          <p:cNvSpPr/>
          <p:nvPr/>
        </p:nvSpPr>
        <p:spPr>
          <a:xfrm>
            <a:off x="411480" y="1371600"/>
            <a:ext cx="7772400" cy="1188720"/>
          </a:xfrm>
          <a:prstGeom prst="rect">
            <a:avLst/>
          </a:prstGeom>
          <a:noFill/>
          <a:ln/>
        </p:spPr>
        <p:txBody>
          <a:bodyPr wrap="square" lIns="0" tIns="0" rIns="0" bIns="0" rtlCol="0" anchor="ctr"/>
          <a:lstStyle/>
          <a:p>
            <a:pPr algn="l" indent="0" marL="0">
              <a:buNone/>
            </a:pPr>
            <a:r>
              <a:rPr lang="en-US" sz="6000" b="1" dirty="0">
                <a:solidFill>
                  <a:srgbClr val="FFFFFF"/>
                </a:solidFill>
                <a:latin typeface="Malgun Gothic" pitchFamily="34" charset="0"/>
                <a:ea typeface="Malgun Gothic" pitchFamily="34" charset="-122"/>
                <a:cs typeface="Malgun Gothic" pitchFamily="34" charset="-120"/>
              </a:rPr>
              <a:t>DiffusionGemma</a:t>
            </a:r>
            <a:endParaRPr lang="en-US" sz="6000" dirty="0"/>
          </a:p>
        </p:txBody>
      </p:sp>
      <p:sp>
        <p:nvSpPr>
          <p:cNvPr id="11" name="Text 9"/>
          <p:cNvSpPr/>
          <p:nvPr/>
        </p:nvSpPr>
        <p:spPr>
          <a:xfrm>
            <a:off x="411480" y="2606040"/>
            <a:ext cx="7315200" cy="548640"/>
          </a:xfrm>
          <a:prstGeom prst="rect">
            <a:avLst/>
          </a:prstGeom>
          <a:noFill/>
          <a:ln/>
        </p:spPr>
        <p:txBody>
          <a:bodyPr wrap="square" lIns="0" tIns="0" rIns="0" bIns="0" rtlCol="0" anchor="ctr"/>
          <a:lstStyle/>
          <a:p>
            <a:pPr algn="l" indent="0" marL="0">
              <a:buNone/>
            </a:pPr>
            <a:r>
              <a:rPr lang="en-US" sz="2200" i="1" dirty="0">
                <a:solidFill>
                  <a:srgbClr val="BAE6FD"/>
                </a:solidFill>
                <a:latin typeface="Malgun Gothic" pitchFamily="34" charset="0"/>
                <a:ea typeface="Malgun Gothic" pitchFamily="34" charset="-122"/>
                <a:cs typeface="Malgun Gothic" pitchFamily="34" charset="-120"/>
              </a:rPr>
              <a:t>텍스트도 이제 '뿌려서' 만든다</a:t>
            </a:r>
            <a:endParaRPr lang="en-US" sz="2200" dirty="0"/>
          </a:p>
        </p:txBody>
      </p:sp>
      <p:sp>
        <p:nvSpPr>
          <p:cNvPr id="12" name="Shape 10"/>
          <p:cNvSpPr/>
          <p:nvPr/>
        </p:nvSpPr>
        <p:spPr>
          <a:xfrm>
            <a:off x="411480" y="3218688"/>
            <a:ext cx="5486400" cy="0"/>
          </a:xfrm>
          <a:prstGeom prst="line">
            <a:avLst/>
          </a:prstGeom>
          <a:noFill/>
          <a:ln w="19050">
            <a:solidFill>
              <a:srgbClr val="0891B2"/>
            </a:solidFill>
            <a:prstDash val="solid"/>
          </a:ln>
        </p:spPr>
      </p:sp>
      <p:sp>
        <p:nvSpPr>
          <p:cNvPr id="13" name="Text 11"/>
          <p:cNvSpPr/>
          <p:nvPr/>
        </p:nvSpPr>
        <p:spPr>
          <a:xfrm>
            <a:off x="411480" y="3337560"/>
            <a:ext cx="7315200" cy="365760"/>
          </a:xfrm>
          <a:prstGeom prst="rect">
            <a:avLst/>
          </a:prstGeom>
          <a:noFill/>
          <a:ln/>
        </p:spPr>
        <p:txBody>
          <a:bodyPr wrap="square" lIns="0" tIns="0" rIns="0" bIns="0" rtlCol="0" anchor="ctr"/>
          <a:lstStyle/>
          <a:p>
            <a:pPr algn="l" indent="0" marL="0">
              <a:buNone/>
            </a:pPr>
            <a:r>
              <a:rPr lang="en-US" sz="1300" dirty="0">
                <a:solidFill>
                  <a:srgbClr val="94A3B8"/>
                </a:solidFill>
                <a:latin typeface="Malgun Gothic" pitchFamily="34" charset="0"/>
                <a:ea typeface="Malgun Gothic" pitchFamily="34" charset="-122"/>
                <a:cs typeface="Malgun Gothic" pitchFamily="34" charset="-120"/>
              </a:rPr>
              <a:t>구글의 오픈소스 텍스트 디퓨전 LLM | Apache 2.0 | 1,000+ tok/s</a:t>
            </a:r>
            <a:endParaRPr lang="en-US" sz="1300" dirty="0"/>
          </a:p>
        </p:txBody>
      </p:sp>
      <p:sp>
        <p:nvSpPr>
          <p:cNvPr id="14" name="Text 12"/>
          <p:cNvSpPr/>
          <p:nvPr/>
        </p:nvSpPr>
        <p:spPr>
          <a:xfrm>
            <a:off x="5943600" y="731520"/>
            <a:ext cx="3200400" cy="3840480"/>
          </a:xfrm>
          <a:prstGeom prst="rect">
            <a:avLst/>
          </a:prstGeom>
          <a:noFill/>
          <a:ln/>
        </p:spPr>
        <p:txBody>
          <a:bodyPr wrap="square" lIns="0" tIns="0" rIns="0" bIns="0" rtlCol="0" anchor="ctr"/>
          <a:lstStyle/>
          <a:p>
            <a:pPr algn="ctr" indent="0" marL="0">
              <a:buNone/>
            </a:pPr>
            <a:r>
              <a:rPr lang="en-US" sz="30000" dirty="0">
                <a:solidFill>
                  <a:srgbClr val="1C3A5C"/>
                </a:solidFill>
                <a:latin typeface="Malgun Gothic" pitchFamily="34" charset="0"/>
                <a:ea typeface="Malgun Gothic" pitchFamily="34" charset="-122"/>
                <a:cs typeface="Malgun Gothic" pitchFamily="34" charset="-120"/>
              </a:rPr>
              <a:t>D</a:t>
            </a:r>
            <a:endParaRPr lang="en-US" sz="30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E3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891B2"/>
          </a:solidFill>
          <a:ln w="12700">
            <a:solidFill>
              <a:srgbClr val="0891B2"/>
            </a:solidFill>
            <a:prstDash val="solid"/>
          </a:ln>
        </p:spPr>
      </p:sp>
      <p:sp>
        <p:nvSpPr>
          <p:cNvPr id="3" name="Text 1"/>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Malgun Gothic" pitchFamily="34" charset="0"/>
                <a:ea typeface="Malgun Gothic" pitchFamily="34" charset="-122"/>
                <a:cs typeface="Malgun Gothic" pitchFamily="34" charset="-120"/>
              </a:rPr>
              <a:t>목차</a:t>
            </a:r>
            <a:endParaRPr lang="en-US" sz="2800" dirty="0"/>
          </a:p>
        </p:txBody>
      </p:sp>
      <p:sp>
        <p:nvSpPr>
          <p:cNvPr id="4" name="Shape 2"/>
          <p:cNvSpPr/>
          <p:nvPr/>
        </p:nvSpPr>
        <p:spPr>
          <a:xfrm>
            <a:off x="365760" y="914400"/>
            <a:ext cx="411480" cy="347472"/>
          </a:xfrm>
          <a:prstGeom prst="rect">
            <a:avLst/>
          </a:prstGeom>
          <a:solidFill>
            <a:srgbClr val="0891B2"/>
          </a:solidFill>
          <a:ln w="12700">
            <a:solidFill>
              <a:srgbClr val="0891B2"/>
            </a:solidFill>
            <a:prstDash val="solid"/>
          </a:ln>
        </p:spPr>
      </p:sp>
      <p:sp>
        <p:nvSpPr>
          <p:cNvPr id="5" name="Text 3"/>
          <p:cNvSpPr/>
          <p:nvPr/>
        </p:nvSpPr>
        <p:spPr>
          <a:xfrm>
            <a:off x="365760" y="91440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01</a:t>
            </a:r>
            <a:endParaRPr lang="en-US" sz="1200" dirty="0"/>
          </a:p>
        </p:txBody>
      </p:sp>
      <p:sp>
        <p:nvSpPr>
          <p:cNvPr id="6" name="Text 4"/>
          <p:cNvSpPr/>
          <p:nvPr/>
        </p:nvSpPr>
        <p:spPr>
          <a:xfrm>
            <a:off x="868680" y="923544"/>
            <a:ext cx="3474720" cy="329184"/>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배경: AR 모델의 한계</a:t>
            </a:r>
            <a:endParaRPr lang="en-US" sz="1400" dirty="0"/>
          </a:p>
        </p:txBody>
      </p:sp>
      <p:sp>
        <p:nvSpPr>
          <p:cNvPr id="7" name="Shape 5"/>
          <p:cNvSpPr/>
          <p:nvPr/>
        </p:nvSpPr>
        <p:spPr>
          <a:xfrm>
            <a:off x="365760" y="1828800"/>
            <a:ext cx="411480" cy="347472"/>
          </a:xfrm>
          <a:prstGeom prst="rect">
            <a:avLst/>
          </a:prstGeom>
          <a:solidFill>
            <a:srgbClr val="0891B2"/>
          </a:solidFill>
          <a:ln w="12700">
            <a:solidFill>
              <a:srgbClr val="0891B2"/>
            </a:solidFill>
            <a:prstDash val="solid"/>
          </a:ln>
        </p:spPr>
      </p:sp>
      <p:sp>
        <p:nvSpPr>
          <p:cNvPr id="8" name="Text 6"/>
          <p:cNvSpPr/>
          <p:nvPr/>
        </p:nvSpPr>
        <p:spPr>
          <a:xfrm>
            <a:off x="365760" y="182880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02</a:t>
            </a:r>
            <a:endParaRPr lang="en-US" sz="1200" dirty="0"/>
          </a:p>
        </p:txBody>
      </p:sp>
      <p:sp>
        <p:nvSpPr>
          <p:cNvPr id="9" name="Text 7"/>
          <p:cNvSpPr/>
          <p:nvPr/>
        </p:nvSpPr>
        <p:spPr>
          <a:xfrm>
            <a:off x="868680" y="1837944"/>
            <a:ext cx="3474720" cy="329184"/>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디퓨전 LLM 생태계</a:t>
            </a:r>
            <a:endParaRPr lang="en-US" sz="1400" dirty="0"/>
          </a:p>
        </p:txBody>
      </p:sp>
      <p:sp>
        <p:nvSpPr>
          <p:cNvPr id="10" name="Shape 8"/>
          <p:cNvSpPr/>
          <p:nvPr/>
        </p:nvSpPr>
        <p:spPr>
          <a:xfrm>
            <a:off x="365760" y="2743200"/>
            <a:ext cx="411480" cy="347472"/>
          </a:xfrm>
          <a:prstGeom prst="rect">
            <a:avLst/>
          </a:prstGeom>
          <a:solidFill>
            <a:srgbClr val="0891B2"/>
          </a:solidFill>
          <a:ln w="12700">
            <a:solidFill>
              <a:srgbClr val="0891B2"/>
            </a:solidFill>
            <a:prstDash val="solid"/>
          </a:ln>
        </p:spPr>
      </p:sp>
      <p:sp>
        <p:nvSpPr>
          <p:cNvPr id="11" name="Text 9"/>
          <p:cNvSpPr/>
          <p:nvPr/>
        </p:nvSpPr>
        <p:spPr>
          <a:xfrm>
            <a:off x="365760" y="274320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03</a:t>
            </a:r>
            <a:endParaRPr lang="en-US" sz="1200" dirty="0"/>
          </a:p>
        </p:txBody>
      </p:sp>
      <p:sp>
        <p:nvSpPr>
          <p:cNvPr id="12" name="Text 10"/>
          <p:cNvSpPr/>
          <p:nvPr/>
        </p:nvSpPr>
        <p:spPr>
          <a:xfrm>
            <a:off x="868680" y="2752344"/>
            <a:ext cx="3474720" cy="329184"/>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DiffusionGemma란?</a:t>
            </a:r>
            <a:endParaRPr lang="en-US" sz="1400" dirty="0"/>
          </a:p>
        </p:txBody>
      </p:sp>
      <p:sp>
        <p:nvSpPr>
          <p:cNvPr id="13" name="Shape 11"/>
          <p:cNvSpPr/>
          <p:nvPr/>
        </p:nvSpPr>
        <p:spPr>
          <a:xfrm>
            <a:off x="365760" y="3657600"/>
            <a:ext cx="411480" cy="347472"/>
          </a:xfrm>
          <a:prstGeom prst="rect">
            <a:avLst/>
          </a:prstGeom>
          <a:solidFill>
            <a:srgbClr val="0891B2"/>
          </a:solidFill>
          <a:ln w="12700">
            <a:solidFill>
              <a:srgbClr val="0891B2"/>
            </a:solidFill>
            <a:prstDash val="solid"/>
          </a:ln>
        </p:spPr>
      </p:sp>
      <p:sp>
        <p:nvSpPr>
          <p:cNvPr id="14" name="Text 12"/>
          <p:cNvSpPr/>
          <p:nvPr/>
        </p:nvSpPr>
        <p:spPr>
          <a:xfrm>
            <a:off x="365760" y="365760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04</a:t>
            </a:r>
            <a:endParaRPr lang="en-US" sz="1200" dirty="0"/>
          </a:p>
        </p:txBody>
      </p:sp>
      <p:sp>
        <p:nvSpPr>
          <p:cNvPr id="15" name="Text 13"/>
          <p:cNvSpPr/>
          <p:nvPr/>
        </p:nvSpPr>
        <p:spPr>
          <a:xfrm>
            <a:off x="868680" y="3666744"/>
            <a:ext cx="3474720" cy="329184"/>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핵심 기술 원리</a:t>
            </a:r>
            <a:endParaRPr lang="en-US" sz="1400" dirty="0"/>
          </a:p>
        </p:txBody>
      </p:sp>
      <p:sp>
        <p:nvSpPr>
          <p:cNvPr id="16" name="Shape 14"/>
          <p:cNvSpPr/>
          <p:nvPr/>
        </p:nvSpPr>
        <p:spPr>
          <a:xfrm>
            <a:off x="4754880" y="914400"/>
            <a:ext cx="411480" cy="347472"/>
          </a:xfrm>
          <a:prstGeom prst="rect">
            <a:avLst/>
          </a:prstGeom>
          <a:solidFill>
            <a:srgbClr val="2A6496"/>
          </a:solidFill>
          <a:ln w="12700">
            <a:solidFill>
              <a:srgbClr val="2A6496"/>
            </a:solidFill>
            <a:prstDash val="solid"/>
          </a:ln>
        </p:spPr>
      </p:sp>
      <p:sp>
        <p:nvSpPr>
          <p:cNvPr id="17" name="Text 15"/>
          <p:cNvSpPr/>
          <p:nvPr/>
        </p:nvSpPr>
        <p:spPr>
          <a:xfrm>
            <a:off x="4754880" y="91440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05</a:t>
            </a:r>
            <a:endParaRPr lang="en-US" sz="1200" dirty="0"/>
          </a:p>
        </p:txBody>
      </p:sp>
      <p:sp>
        <p:nvSpPr>
          <p:cNvPr id="18" name="Text 16"/>
          <p:cNvSpPr/>
          <p:nvPr/>
        </p:nvSpPr>
        <p:spPr>
          <a:xfrm>
            <a:off x="5257800" y="923544"/>
            <a:ext cx="3474720" cy="329184"/>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성능 &amp; 벤치마크</a:t>
            </a:r>
            <a:endParaRPr lang="en-US" sz="1400" dirty="0"/>
          </a:p>
        </p:txBody>
      </p:sp>
      <p:sp>
        <p:nvSpPr>
          <p:cNvPr id="19" name="Shape 17"/>
          <p:cNvSpPr/>
          <p:nvPr/>
        </p:nvSpPr>
        <p:spPr>
          <a:xfrm>
            <a:off x="4754880" y="1828800"/>
            <a:ext cx="411480" cy="347472"/>
          </a:xfrm>
          <a:prstGeom prst="rect">
            <a:avLst/>
          </a:prstGeom>
          <a:solidFill>
            <a:srgbClr val="2A6496"/>
          </a:solidFill>
          <a:ln w="12700">
            <a:solidFill>
              <a:srgbClr val="2A6496"/>
            </a:solidFill>
            <a:prstDash val="solid"/>
          </a:ln>
        </p:spPr>
      </p:sp>
      <p:sp>
        <p:nvSpPr>
          <p:cNvPr id="20" name="Text 18"/>
          <p:cNvSpPr/>
          <p:nvPr/>
        </p:nvSpPr>
        <p:spPr>
          <a:xfrm>
            <a:off x="4754880" y="182880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06</a:t>
            </a:r>
            <a:endParaRPr lang="en-US" sz="1200" dirty="0"/>
          </a:p>
        </p:txBody>
      </p:sp>
      <p:sp>
        <p:nvSpPr>
          <p:cNvPr id="21" name="Text 19"/>
          <p:cNvSpPr/>
          <p:nvPr/>
        </p:nvSpPr>
        <p:spPr>
          <a:xfrm>
            <a:off x="5257800" y="1837944"/>
            <a:ext cx="3474720" cy="329184"/>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스펙 &amp; 사용 방법</a:t>
            </a:r>
            <a:endParaRPr lang="en-US" sz="1400" dirty="0"/>
          </a:p>
        </p:txBody>
      </p:sp>
      <p:sp>
        <p:nvSpPr>
          <p:cNvPr id="22" name="Shape 20"/>
          <p:cNvSpPr/>
          <p:nvPr/>
        </p:nvSpPr>
        <p:spPr>
          <a:xfrm>
            <a:off x="4754880" y="2743200"/>
            <a:ext cx="411480" cy="347472"/>
          </a:xfrm>
          <a:prstGeom prst="rect">
            <a:avLst/>
          </a:prstGeom>
          <a:solidFill>
            <a:srgbClr val="2A6496"/>
          </a:solidFill>
          <a:ln w="12700">
            <a:solidFill>
              <a:srgbClr val="2A6496"/>
            </a:solidFill>
            <a:prstDash val="solid"/>
          </a:ln>
        </p:spPr>
      </p:sp>
      <p:sp>
        <p:nvSpPr>
          <p:cNvPr id="23" name="Text 21"/>
          <p:cNvSpPr/>
          <p:nvPr/>
        </p:nvSpPr>
        <p:spPr>
          <a:xfrm>
            <a:off x="4754880" y="274320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07</a:t>
            </a:r>
            <a:endParaRPr lang="en-US" sz="1200" dirty="0"/>
          </a:p>
        </p:txBody>
      </p:sp>
      <p:sp>
        <p:nvSpPr>
          <p:cNvPr id="24" name="Text 22"/>
          <p:cNvSpPr/>
          <p:nvPr/>
        </p:nvSpPr>
        <p:spPr>
          <a:xfrm>
            <a:off x="5257800" y="2752344"/>
            <a:ext cx="3474720" cy="329184"/>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한계 &amp; 전망</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0" y="182880"/>
            <a:ext cx="9144000" cy="4572000"/>
          </a:xfrm>
          <a:prstGeom prst="rect">
            <a:avLst/>
          </a:prstGeom>
          <a:noFill/>
          <a:ln/>
        </p:spPr>
        <p:txBody>
          <a:bodyPr wrap="square" lIns="0" tIns="0" rIns="0" bIns="0" rtlCol="0" anchor="ctr"/>
          <a:lstStyle/>
          <a:p>
            <a:pPr algn="ctr" indent="0" marL="0">
              <a:buNone/>
            </a:pPr>
            <a:r>
              <a:rPr lang="en-US" sz="22000" b="1" dirty="0">
                <a:solidFill>
                  <a:srgbClr val="0D2A45"/>
                </a:solidFill>
                <a:latin typeface="Malgun Gothic" pitchFamily="34" charset="0"/>
                <a:ea typeface="Malgun Gothic" pitchFamily="34" charset="-122"/>
                <a:cs typeface="Malgun Gothic" pitchFamily="34" charset="-120"/>
              </a:rPr>
              <a:t>01</a:t>
            </a:r>
            <a:endParaRPr lang="en-US" sz="22000" dirty="0"/>
          </a:p>
        </p:txBody>
      </p:sp>
      <p:sp>
        <p:nvSpPr>
          <p:cNvPr id="3" name="Shape 1"/>
          <p:cNvSpPr/>
          <p:nvPr/>
        </p:nvSpPr>
        <p:spPr>
          <a:xfrm>
            <a:off x="0" y="2103120"/>
            <a:ext cx="9144000" cy="914400"/>
          </a:xfrm>
          <a:prstGeom prst="rect">
            <a:avLst/>
          </a:prstGeom>
          <a:solidFill>
            <a:srgbClr val="1F4E79">
              <a:alpha val="80000"/>
            </a:srgbClr>
          </a:solidFill>
          <a:ln w="12700">
            <a:solidFill>
              <a:srgbClr val="1F4E79">
                <a:alpha val="80000"/>
              </a:srgbClr>
            </a:solidFill>
            <a:prstDash val="solid"/>
          </a:ln>
        </p:spPr>
      </p:sp>
      <p:sp>
        <p:nvSpPr>
          <p:cNvPr id="4" name="Text 2"/>
          <p:cNvSpPr/>
          <p:nvPr/>
        </p:nvSpPr>
        <p:spPr>
          <a:xfrm>
            <a:off x="457200" y="2121408"/>
            <a:ext cx="8229600" cy="45720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배경</a:t>
            </a:r>
            <a:endParaRPr lang="en-US" sz="3200" dirty="0"/>
          </a:p>
        </p:txBody>
      </p:sp>
      <p:sp>
        <p:nvSpPr>
          <p:cNvPr id="5" name="Text 3"/>
          <p:cNvSpPr/>
          <p:nvPr/>
        </p:nvSpPr>
        <p:spPr>
          <a:xfrm>
            <a:off x="457200" y="2578608"/>
            <a:ext cx="8229600" cy="384048"/>
          </a:xfrm>
          <a:prstGeom prst="rect">
            <a:avLst/>
          </a:prstGeom>
          <a:noFill/>
          <a:ln/>
        </p:spPr>
        <p:txBody>
          <a:bodyPr wrap="square" lIns="0" tIns="0" rIns="0" bIns="0" rtlCol="0" anchor="ctr"/>
          <a:lstStyle/>
          <a:p>
            <a:pPr algn="ctr" indent="0" marL="0">
              <a:buNone/>
            </a:pPr>
            <a:r>
              <a:rPr lang="en-US" sz="1600" dirty="0">
                <a:solidFill>
                  <a:srgbClr val="BAE6FD"/>
                </a:solidFill>
                <a:latin typeface="Malgun Gothic" pitchFamily="34" charset="0"/>
                <a:ea typeface="Malgun Gothic" pitchFamily="34" charset="-122"/>
                <a:cs typeface="Malgun Gothic" pitchFamily="34" charset="-120"/>
              </a:rPr>
              <a:t>왜 AR 모델은 느린가?</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BF4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4E79"/>
          </a:solidFill>
          <a:ln w="12700">
            <a:solidFill>
              <a:srgbClr val="1F4E79"/>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1F4E79"/>
                </a:solidFill>
                <a:latin typeface="Malgun Gothic" pitchFamily="34" charset="0"/>
                <a:ea typeface="Malgun Gothic" pitchFamily="34" charset="-122"/>
                <a:cs typeface="Malgun Gothic" pitchFamily="34" charset="-120"/>
              </a:rPr>
              <a:t>토큰을 '한 글자씩' 쓰는 문제</a:t>
            </a:r>
            <a:endParaRPr lang="en-US" sz="2600" dirty="0"/>
          </a:p>
        </p:txBody>
      </p:sp>
      <p:sp>
        <p:nvSpPr>
          <p:cNvPr id="4" name="Shape 2"/>
          <p:cNvSpPr/>
          <p:nvPr/>
        </p:nvSpPr>
        <p:spPr>
          <a:xfrm>
            <a:off x="365760" y="1060704"/>
            <a:ext cx="274320" cy="274320"/>
          </a:xfrm>
          <a:prstGeom prst="ellipse">
            <a:avLst/>
          </a:prstGeom>
          <a:solidFill>
            <a:srgbClr val="1F4E79"/>
          </a:solidFill>
          <a:ln w="12700">
            <a:solidFill>
              <a:srgbClr val="1F4E79"/>
            </a:solidFill>
            <a:prstDash val="solid"/>
          </a:ln>
        </p:spPr>
      </p:sp>
      <p:sp>
        <p:nvSpPr>
          <p:cNvPr id="5" name="Text 3"/>
          <p:cNvSpPr/>
          <p:nvPr/>
        </p:nvSpPr>
        <p:spPr>
          <a:xfrm>
            <a:off x="749808" y="1005840"/>
            <a:ext cx="3474720" cy="384048"/>
          </a:xfrm>
          <a:prstGeom prst="rect">
            <a:avLst/>
          </a:prstGeom>
          <a:noFill/>
          <a:ln/>
        </p:spPr>
        <p:txBody>
          <a:bodyPr wrap="square" lIns="0" tIns="0" rIns="0" bIns="0" rtlCol="0" anchor="ctr"/>
          <a:lstStyle/>
          <a:p>
            <a:pPr algn="l" indent="0" marL="0">
              <a:buNone/>
            </a:pPr>
            <a:r>
              <a:rPr lang="en-US" sz="1600" b="1" dirty="0">
                <a:solidFill>
                  <a:srgbClr val="334155"/>
                </a:solidFill>
                <a:latin typeface="Malgun Gothic" pitchFamily="34" charset="0"/>
                <a:ea typeface="Malgun Gothic" pitchFamily="34" charset="-122"/>
                <a:cs typeface="Malgun Gothic" pitchFamily="34" charset="-120"/>
              </a:rPr>
              <a:t>순차 생성</a:t>
            </a:r>
            <a:endParaRPr lang="en-US" sz="1600" dirty="0"/>
          </a:p>
        </p:txBody>
      </p:sp>
      <p:sp>
        <p:nvSpPr>
          <p:cNvPr id="6" name="Shape 4"/>
          <p:cNvSpPr/>
          <p:nvPr/>
        </p:nvSpPr>
        <p:spPr>
          <a:xfrm>
            <a:off x="365760" y="1837944"/>
            <a:ext cx="274320" cy="274320"/>
          </a:xfrm>
          <a:prstGeom prst="ellipse">
            <a:avLst/>
          </a:prstGeom>
          <a:solidFill>
            <a:srgbClr val="1F4E79"/>
          </a:solidFill>
          <a:ln w="12700">
            <a:solidFill>
              <a:srgbClr val="1F4E79"/>
            </a:solidFill>
            <a:prstDash val="solid"/>
          </a:ln>
        </p:spPr>
      </p:sp>
      <p:sp>
        <p:nvSpPr>
          <p:cNvPr id="7" name="Text 5"/>
          <p:cNvSpPr/>
          <p:nvPr/>
        </p:nvSpPr>
        <p:spPr>
          <a:xfrm>
            <a:off x="749808" y="1783080"/>
            <a:ext cx="3474720" cy="384048"/>
          </a:xfrm>
          <a:prstGeom prst="rect">
            <a:avLst/>
          </a:prstGeom>
          <a:noFill/>
          <a:ln/>
        </p:spPr>
        <p:txBody>
          <a:bodyPr wrap="square" lIns="0" tIns="0" rIns="0" bIns="0" rtlCol="0" anchor="ctr"/>
          <a:lstStyle/>
          <a:p>
            <a:pPr algn="l" indent="0" marL="0">
              <a:buNone/>
            </a:pPr>
            <a:r>
              <a:rPr lang="en-US" sz="1600" b="1" dirty="0">
                <a:solidFill>
                  <a:srgbClr val="334155"/>
                </a:solidFill>
                <a:latin typeface="Malgun Gothic" pitchFamily="34" charset="0"/>
                <a:ea typeface="Malgun Gothic" pitchFamily="34" charset="-122"/>
                <a:cs typeface="Malgun Gothic" pitchFamily="34" charset="-120"/>
              </a:rPr>
              <a:t>메모리 병목</a:t>
            </a:r>
            <a:endParaRPr lang="en-US" sz="1600" dirty="0"/>
          </a:p>
        </p:txBody>
      </p:sp>
      <p:sp>
        <p:nvSpPr>
          <p:cNvPr id="8" name="Shape 6"/>
          <p:cNvSpPr/>
          <p:nvPr/>
        </p:nvSpPr>
        <p:spPr>
          <a:xfrm>
            <a:off x="365760" y="2615184"/>
            <a:ext cx="274320" cy="274320"/>
          </a:xfrm>
          <a:prstGeom prst="ellipse">
            <a:avLst/>
          </a:prstGeom>
          <a:solidFill>
            <a:srgbClr val="1F4E79"/>
          </a:solidFill>
          <a:ln w="12700">
            <a:solidFill>
              <a:srgbClr val="1F4E79"/>
            </a:solidFill>
            <a:prstDash val="solid"/>
          </a:ln>
        </p:spPr>
      </p:sp>
      <p:sp>
        <p:nvSpPr>
          <p:cNvPr id="9" name="Text 7"/>
          <p:cNvSpPr/>
          <p:nvPr/>
        </p:nvSpPr>
        <p:spPr>
          <a:xfrm>
            <a:off x="749808" y="2560320"/>
            <a:ext cx="3474720" cy="384048"/>
          </a:xfrm>
          <a:prstGeom prst="rect">
            <a:avLst/>
          </a:prstGeom>
          <a:noFill/>
          <a:ln/>
        </p:spPr>
        <p:txBody>
          <a:bodyPr wrap="square" lIns="0" tIns="0" rIns="0" bIns="0" rtlCol="0" anchor="ctr"/>
          <a:lstStyle/>
          <a:p>
            <a:pPr algn="l" indent="0" marL="0">
              <a:buNone/>
            </a:pPr>
            <a:r>
              <a:rPr lang="en-US" sz="1600" b="1" dirty="0">
                <a:solidFill>
                  <a:srgbClr val="334155"/>
                </a:solidFill>
                <a:latin typeface="Malgun Gothic" pitchFamily="34" charset="0"/>
                <a:ea typeface="Malgun Gothic" pitchFamily="34" charset="-122"/>
                <a:cs typeface="Malgun Gothic" pitchFamily="34" charset="-120"/>
              </a:rPr>
              <a:t>GPU 낭비</a:t>
            </a:r>
            <a:endParaRPr lang="en-US" sz="1600" dirty="0"/>
          </a:p>
        </p:txBody>
      </p:sp>
      <p:sp>
        <p:nvSpPr>
          <p:cNvPr id="10" name="Text 8"/>
          <p:cNvSpPr/>
          <p:nvPr/>
        </p:nvSpPr>
        <p:spPr>
          <a:xfrm>
            <a:off x="365760" y="3520440"/>
            <a:ext cx="3840480" cy="914400"/>
          </a:xfrm>
          <a:prstGeom prst="rect">
            <a:avLst/>
          </a:prstGeom>
          <a:noFill/>
          <a:ln/>
        </p:spPr>
        <p:txBody>
          <a:bodyPr wrap="square" lIns="0" tIns="0" rIns="0" bIns="0" rtlCol="0" anchor="t"/>
          <a:lstStyle/>
          <a:p>
            <a:pPr algn="l" indent="0" marL="0">
              <a:buNone/>
            </a:pPr>
            <a:r>
              <a:rPr lang="en-US" sz="1050" i="1" dirty="0">
                <a:solidFill>
                  <a:srgbClr val="2A6496"/>
                </a:solidFill>
                <a:latin typeface="Malgun Gothic" pitchFamily="34" charset="0"/>
                <a:ea typeface="Malgun Gothic" pitchFamily="34" charset="-122"/>
                <a:cs typeface="Malgun Gothic" pitchFamily="34" charset="-120"/>
              </a:rPr>
              <a:t>"생성 시간의 대부분은 계산이 아닌</a:t>
            </a:r>
            <a:endParaRPr lang="en-US" sz="1050" dirty="0"/>
          </a:p>
          <a:p>
            <a:pPr algn="l" indent="0" marL="0">
              <a:buNone/>
            </a:pPr>
            <a:r>
              <a:rPr lang="en-US" sz="1050" i="1" dirty="0">
                <a:solidFill>
                  <a:srgbClr val="2A6496"/>
                </a:solidFill>
                <a:latin typeface="Malgun Gothic" pitchFamily="34" charset="0"/>
                <a:ea typeface="Malgun Gothic" pitchFamily="34" charset="-122"/>
                <a:cs typeface="Malgun Gothic" pitchFamily="34" charset="-120"/>
              </a:rPr>
              <a:t>모델 가중치 로딩에 사용된다"</a:t>
            </a:r>
            <a:endParaRPr lang="en-US" sz="1050" dirty="0"/>
          </a:p>
          <a:p>
            <a:pPr algn="l" indent="0" marL="0">
              <a:buNone/>
            </a:pPr>
            <a:r>
              <a:rPr lang="en-US" sz="1050" i="1" dirty="0">
                <a:solidFill>
                  <a:srgbClr val="2A6496"/>
                </a:solidFill>
                <a:latin typeface="Malgun Gothic" pitchFamily="34" charset="0"/>
                <a:ea typeface="Malgun Gothic" pitchFamily="34" charset="-122"/>
                <a:cs typeface="Malgun Gothic" pitchFamily="34" charset="-120"/>
              </a:rPr>
              <a:t>— Google AI 공식 문서</a:t>
            </a:r>
            <a:endParaRPr lang="en-US" sz="1050" dirty="0"/>
          </a:p>
        </p:txBody>
      </p:sp>
      <p:graphicFrame>
        <p:nvGraphicFramePr>
          <p:cNvPr id="11" name="Chart 0" descr=""/>
          <p:cNvGraphicFramePr/>
          <p:nvPr/>
        </p:nvGraphicFramePr>
        <p:xfrm>
          <a:off x="4389120" y="640080"/>
          <a:ext cx="448056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0" y="182880"/>
            <a:ext cx="9144000" cy="4572000"/>
          </a:xfrm>
          <a:prstGeom prst="rect">
            <a:avLst/>
          </a:prstGeom>
          <a:noFill/>
          <a:ln/>
        </p:spPr>
        <p:txBody>
          <a:bodyPr wrap="square" lIns="0" tIns="0" rIns="0" bIns="0" rtlCol="0" anchor="ctr"/>
          <a:lstStyle/>
          <a:p>
            <a:pPr algn="ctr" indent="0" marL="0">
              <a:buNone/>
            </a:pPr>
            <a:r>
              <a:rPr lang="en-US" sz="22000" b="1" dirty="0">
                <a:solidFill>
                  <a:srgbClr val="0D2A45"/>
                </a:solidFill>
                <a:latin typeface="Malgun Gothic" pitchFamily="34" charset="0"/>
                <a:ea typeface="Malgun Gothic" pitchFamily="34" charset="-122"/>
                <a:cs typeface="Malgun Gothic" pitchFamily="34" charset="-120"/>
              </a:rPr>
              <a:t>02</a:t>
            </a:r>
            <a:endParaRPr lang="en-US" sz="22000" dirty="0"/>
          </a:p>
        </p:txBody>
      </p:sp>
      <p:sp>
        <p:nvSpPr>
          <p:cNvPr id="3" name="Shape 1"/>
          <p:cNvSpPr/>
          <p:nvPr/>
        </p:nvSpPr>
        <p:spPr>
          <a:xfrm>
            <a:off x="0" y="2103120"/>
            <a:ext cx="9144000" cy="914400"/>
          </a:xfrm>
          <a:prstGeom prst="rect">
            <a:avLst/>
          </a:prstGeom>
          <a:solidFill>
            <a:srgbClr val="1F4E79">
              <a:alpha val="80000"/>
            </a:srgbClr>
          </a:solidFill>
          <a:ln w="12700">
            <a:solidFill>
              <a:srgbClr val="1F4E79">
                <a:alpha val="80000"/>
              </a:srgbClr>
            </a:solidFill>
            <a:prstDash val="solid"/>
          </a:ln>
        </p:spPr>
      </p:sp>
      <p:sp>
        <p:nvSpPr>
          <p:cNvPr id="4" name="Text 2"/>
          <p:cNvSpPr/>
          <p:nvPr/>
        </p:nvSpPr>
        <p:spPr>
          <a:xfrm>
            <a:off x="457200" y="2121408"/>
            <a:ext cx="8229600" cy="45720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디퓨전 LLM 생태계</a:t>
            </a:r>
            <a:endParaRPr lang="en-US" sz="3200" dirty="0"/>
          </a:p>
        </p:txBody>
      </p:sp>
      <p:sp>
        <p:nvSpPr>
          <p:cNvPr id="5" name="Text 3"/>
          <p:cNvSpPr/>
          <p:nvPr/>
        </p:nvSpPr>
        <p:spPr>
          <a:xfrm>
            <a:off x="457200" y="2578608"/>
            <a:ext cx="8229600" cy="384048"/>
          </a:xfrm>
          <a:prstGeom prst="rect">
            <a:avLst/>
          </a:prstGeom>
          <a:noFill/>
          <a:ln/>
        </p:spPr>
        <p:txBody>
          <a:bodyPr wrap="square" lIns="0" tIns="0" rIns="0" bIns="0" rtlCol="0" anchor="ctr"/>
          <a:lstStyle/>
          <a:p>
            <a:pPr algn="ctr" indent="0" marL="0">
              <a:buNone/>
            </a:pPr>
            <a:r>
              <a:rPr lang="en-US" sz="1600" dirty="0">
                <a:solidFill>
                  <a:srgbClr val="BAE6FD"/>
                </a:solidFill>
                <a:latin typeface="Malgun Gothic" pitchFamily="34" charset="0"/>
                <a:ea typeface="Malgun Gothic" pitchFamily="34" charset="-122"/>
                <a:cs typeface="Malgun Gothic" pitchFamily="34" charset="-120"/>
              </a:rPr>
              <a:t>DiffusionGemma 이전에 무슨 일이 있었나</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E3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891B2"/>
          </a:solidFill>
          <a:ln w="12700">
            <a:solidFill>
              <a:srgbClr val="0891B2"/>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Malgun Gothic" pitchFamily="34" charset="0"/>
                <a:ea typeface="Malgun Gothic" pitchFamily="34" charset="-122"/>
                <a:cs typeface="Malgun Gothic" pitchFamily="34" charset="-120"/>
              </a:rPr>
              <a:t>디퓨전 LLM의 계보</a:t>
            </a:r>
            <a:endParaRPr lang="en-US" sz="2600" dirty="0"/>
          </a:p>
        </p:txBody>
      </p:sp>
      <p:sp>
        <p:nvSpPr>
          <p:cNvPr id="4" name="Shape 2"/>
          <p:cNvSpPr/>
          <p:nvPr/>
        </p:nvSpPr>
        <p:spPr>
          <a:xfrm>
            <a:off x="457200" y="3291840"/>
            <a:ext cx="8229600" cy="0"/>
          </a:xfrm>
          <a:prstGeom prst="line">
            <a:avLst/>
          </a:prstGeom>
          <a:noFill/>
          <a:ln w="31750">
            <a:solidFill>
              <a:srgbClr val="0891B2"/>
            </a:solidFill>
            <a:prstDash val="solid"/>
          </a:ln>
        </p:spPr>
      </p:sp>
      <p:sp>
        <p:nvSpPr>
          <p:cNvPr id="5" name="Shape 3"/>
          <p:cNvSpPr/>
          <p:nvPr/>
        </p:nvSpPr>
        <p:spPr>
          <a:xfrm>
            <a:off x="1188720" y="3163824"/>
            <a:ext cx="256032" cy="256032"/>
          </a:xfrm>
          <a:prstGeom prst="ellipse">
            <a:avLst/>
          </a:prstGeom>
          <a:solidFill>
            <a:srgbClr val="94A3B8"/>
          </a:solidFill>
          <a:ln w="12700">
            <a:solidFill>
              <a:srgbClr val="94A3B8"/>
            </a:solidFill>
            <a:prstDash val="solid"/>
          </a:ln>
        </p:spPr>
      </p:sp>
      <p:sp>
        <p:nvSpPr>
          <p:cNvPr id="6" name="Text 4"/>
          <p:cNvSpPr/>
          <p:nvPr/>
        </p:nvSpPr>
        <p:spPr>
          <a:xfrm>
            <a:off x="822960" y="3456432"/>
            <a:ext cx="137160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Malgun Gothic" pitchFamily="34" charset="0"/>
                <a:ea typeface="Malgun Gothic" pitchFamily="34" charset="-122"/>
                <a:cs typeface="Malgun Gothic" pitchFamily="34" charset="-120"/>
              </a:rPr>
              <a:t>2022~23</a:t>
            </a:r>
            <a:endParaRPr lang="en-US" sz="1000" dirty="0"/>
          </a:p>
        </p:txBody>
      </p:sp>
      <p:sp>
        <p:nvSpPr>
          <p:cNvPr id="7" name="Text 5"/>
          <p:cNvSpPr/>
          <p:nvPr/>
        </p:nvSpPr>
        <p:spPr>
          <a:xfrm>
            <a:off x="731520" y="1691640"/>
            <a:ext cx="1554480" cy="1280160"/>
          </a:xfrm>
          <a:prstGeom prst="rect">
            <a:avLst/>
          </a:prstGeom>
          <a:noFill/>
          <a:ln/>
        </p:spPr>
        <p:txBody>
          <a:bodyPr wrap="square" lIns="0" tIns="0" rIns="0" bIns="0" rtlCol="0" anchor="b"/>
          <a:lstStyle/>
          <a:p>
            <a:pPr algn="ctr" indent="0" marL="0">
              <a:buNone/>
            </a:pPr>
            <a:r>
              <a:rPr lang="en-US" sz="1200" b="1" dirty="0">
                <a:solidFill>
                  <a:srgbClr val="94A3B8"/>
                </a:solidFill>
                <a:latin typeface="Malgun Gothic" pitchFamily="34" charset="0"/>
                <a:ea typeface="Malgun Gothic" pitchFamily="34" charset="-122"/>
                <a:cs typeface="Malgun Gothic" pitchFamily="34" charset="-120"/>
              </a:rPr>
              <a:t>MDLM</a:t>
            </a:r>
            <a:endParaRPr lang="en-US" sz="1200" dirty="0"/>
          </a:p>
          <a:p>
            <a:pPr algn="ctr" indent="0" marL="0">
              <a:buNone/>
            </a:pPr>
            <a:r>
              <a:rPr lang="en-US" sz="1200" b="1" dirty="0">
                <a:solidFill>
                  <a:srgbClr val="94A3B8"/>
                </a:solidFill>
                <a:latin typeface="Malgun Gothic" pitchFamily="34" charset="0"/>
                <a:ea typeface="Malgun Gothic" pitchFamily="34" charset="-122"/>
                <a:cs typeface="Malgun Gothic" pitchFamily="34" charset="-120"/>
              </a:rPr>
              <a:t>SEDD</a:t>
            </a:r>
            <a:endParaRPr lang="en-US" sz="1200" dirty="0"/>
          </a:p>
        </p:txBody>
      </p:sp>
      <p:sp>
        <p:nvSpPr>
          <p:cNvPr id="8" name="Shape 6"/>
          <p:cNvSpPr/>
          <p:nvPr/>
        </p:nvSpPr>
        <p:spPr>
          <a:xfrm>
            <a:off x="1316736" y="2926080"/>
            <a:ext cx="0" cy="420624"/>
          </a:xfrm>
          <a:prstGeom prst="line">
            <a:avLst/>
          </a:prstGeom>
          <a:noFill/>
          <a:ln w="19050">
            <a:solidFill>
              <a:srgbClr val="94A3B8"/>
            </a:solidFill>
            <a:prstDash val="dash"/>
          </a:ln>
        </p:spPr>
      </p:sp>
      <p:sp>
        <p:nvSpPr>
          <p:cNvPr id="9" name="Shape 7"/>
          <p:cNvSpPr/>
          <p:nvPr/>
        </p:nvSpPr>
        <p:spPr>
          <a:xfrm>
            <a:off x="3291840" y="3163824"/>
            <a:ext cx="256032" cy="256032"/>
          </a:xfrm>
          <a:prstGeom prst="ellipse">
            <a:avLst/>
          </a:prstGeom>
          <a:solidFill>
            <a:srgbClr val="06B6D4"/>
          </a:solidFill>
          <a:ln w="12700">
            <a:solidFill>
              <a:srgbClr val="06B6D4"/>
            </a:solidFill>
            <a:prstDash val="solid"/>
          </a:ln>
        </p:spPr>
      </p:sp>
      <p:sp>
        <p:nvSpPr>
          <p:cNvPr id="10" name="Text 8"/>
          <p:cNvSpPr/>
          <p:nvPr/>
        </p:nvSpPr>
        <p:spPr>
          <a:xfrm>
            <a:off x="2926080" y="3456432"/>
            <a:ext cx="137160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Malgun Gothic" pitchFamily="34" charset="0"/>
                <a:ea typeface="Malgun Gothic" pitchFamily="34" charset="-122"/>
                <a:cs typeface="Malgun Gothic" pitchFamily="34" charset="-120"/>
              </a:rPr>
              <a:t>2025.02</a:t>
            </a:r>
            <a:endParaRPr lang="en-US" sz="1000" dirty="0"/>
          </a:p>
        </p:txBody>
      </p:sp>
      <p:sp>
        <p:nvSpPr>
          <p:cNvPr id="11" name="Text 9"/>
          <p:cNvSpPr/>
          <p:nvPr/>
        </p:nvSpPr>
        <p:spPr>
          <a:xfrm>
            <a:off x="2834640" y="1691640"/>
            <a:ext cx="1554480" cy="1280160"/>
          </a:xfrm>
          <a:prstGeom prst="rect">
            <a:avLst/>
          </a:prstGeom>
          <a:noFill/>
          <a:ln/>
        </p:spPr>
        <p:txBody>
          <a:bodyPr wrap="square" lIns="0" tIns="0" rIns="0" bIns="0" rtlCol="0" anchor="b"/>
          <a:lstStyle/>
          <a:p>
            <a:pPr algn="ctr" indent="0" marL="0">
              <a:buNone/>
            </a:pPr>
            <a:r>
              <a:rPr lang="en-US" sz="1200" b="1" dirty="0">
                <a:solidFill>
                  <a:srgbClr val="06B6D4"/>
                </a:solidFill>
                <a:latin typeface="Malgun Gothic" pitchFamily="34" charset="0"/>
                <a:ea typeface="Malgun Gothic" pitchFamily="34" charset="-122"/>
                <a:cs typeface="Malgun Gothic" pitchFamily="34" charset="-120"/>
              </a:rPr>
              <a:t>LLaDA 8B</a:t>
            </a:r>
            <a:endParaRPr lang="en-US" sz="1200" dirty="0"/>
          </a:p>
          <a:p>
            <a:pPr algn="ctr" indent="0" marL="0">
              <a:buNone/>
            </a:pPr>
            <a:r>
              <a:rPr lang="en-US" sz="1200" b="1" dirty="0">
                <a:solidFill>
                  <a:srgbClr val="06B6D4"/>
                </a:solidFill>
                <a:latin typeface="Malgun Gothic" pitchFamily="34" charset="0"/>
                <a:ea typeface="Malgun Gothic" pitchFamily="34" charset="-122"/>
                <a:cs typeface="Malgun Gothic" pitchFamily="34" charset="-120"/>
              </a:rPr>
              <a:t>(arXiv)</a:t>
            </a:r>
            <a:endParaRPr lang="en-US" sz="1200" dirty="0"/>
          </a:p>
        </p:txBody>
      </p:sp>
      <p:sp>
        <p:nvSpPr>
          <p:cNvPr id="12" name="Shape 10"/>
          <p:cNvSpPr/>
          <p:nvPr/>
        </p:nvSpPr>
        <p:spPr>
          <a:xfrm>
            <a:off x="3419856" y="2926080"/>
            <a:ext cx="0" cy="420624"/>
          </a:xfrm>
          <a:prstGeom prst="line">
            <a:avLst/>
          </a:prstGeom>
          <a:noFill/>
          <a:ln w="19050">
            <a:solidFill>
              <a:srgbClr val="06B6D4"/>
            </a:solidFill>
            <a:prstDash val="dash"/>
          </a:ln>
        </p:spPr>
      </p:sp>
      <p:sp>
        <p:nvSpPr>
          <p:cNvPr id="13" name="Shape 11"/>
          <p:cNvSpPr/>
          <p:nvPr/>
        </p:nvSpPr>
        <p:spPr>
          <a:xfrm>
            <a:off x="5394960" y="3163824"/>
            <a:ext cx="256032" cy="256032"/>
          </a:xfrm>
          <a:prstGeom prst="ellipse">
            <a:avLst/>
          </a:prstGeom>
          <a:solidFill>
            <a:srgbClr val="F59E0B"/>
          </a:solidFill>
          <a:ln w="12700">
            <a:solidFill>
              <a:srgbClr val="F59E0B"/>
            </a:solidFill>
            <a:prstDash val="solid"/>
          </a:ln>
        </p:spPr>
      </p:sp>
      <p:sp>
        <p:nvSpPr>
          <p:cNvPr id="14" name="Text 12"/>
          <p:cNvSpPr/>
          <p:nvPr/>
        </p:nvSpPr>
        <p:spPr>
          <a:xfrm>
            <a:off x="5029200" y="3456432"/>
            <a:ext cx="137160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Malgun Gothic" pitchFamily="34" charset="0"/>
                <a:ea typeface="Malgun Gothic" pitchFamily="34" charset="-122"/>
                <a:cs typeface="Malgun Gothic" pitchFamily="34" charset="-120"/>
              </a:rPr>
              <a:t>2025.02</a:t>
            </a:r>
            <a:endParaRPr lang="en-US" sz="1000" dirty="0"/>
          </a:p>
        </p:txBody>
      </p:sp>
      <p:sp>
        <p:nvSpPr>
          <p:cNvPr id="15" name="Text 13"/>
          <p:cNvSpPr/>
          <p:nvPr/>
        </p:nvSpPr>
        <p:spPr>
          <a:xfrm>
            <a:off x="4937760" y="1691640"/>
            <a:ext cx="1554480" cy="1280160"/>
          </a:xfrm>
          <a:prstGeom prst="rect">
            <a:avLst/>
          </a:prstGeom>
          <a:noFill/>
          <a:ln/>
        </p:spPr>
        <p:txBody>
          <a:bodyPr wrap="square" lIns="0" tIns="0" rIns="0" bIns="0" rtlCol="0" anchor="b"/>
          <a:lstStyle/>
          <a:p>
            <a:pPr algn="ctr" indent="0" marL="0">
              <a:buNone/>
            </a:pPr>
            <a:r>
              <a:rPr lang="en-US" sz="1200" b="1" dirty="0">
                <a:solidFill>
                  <a:srgbClr val="F59E0B"/>
                </a:solidFill>
                <a:latin typeface="Malgun Gothic" pitchFamily="34" charset="0"/>
                <a:ea typeface="Malgun Gothic" pitchFamily="34" charset="-122"/>
                <a:cs typeface="Malgun Gothic" pitchFamily="34" charset="-120"/>
              </a:rPr>
              <a:t>Mercury</a:t>
            </a:r>
            <a:endParaRPr lang="en-US" sz="1200" dirty="0"/>
          </a:p>
          <a:p>
            <a:pPr algn="ctr" indent="0" marL="0">
              <a:buNone/>
            </a:pPr>
            <a:r>
              <a:rPr lang="en-US" sz="1200" b="1" dirty="0">
                <a:solidFill>
                  <a:srgbClr val="F59E0B"/>
                </a:solidFill>
                <a:latin typeface="Malgun Gothic" pitchFamily="34" charset="0"/>
                <a:ea typeface="Malgun Gothic" pitchFamily="34" charset="-122"/>
                <a:cs typeface="Malgun Gothic" pitchFamily="34" charset="-120"/>
              </a:rPr>
              <a:t>(상업화)</a:t>
            </a:r>
            <a:endParaRPr lang="en-US" sz="1200" dirty="0"/>
          </a:p>
        </p:txBody>
      </p:sp>
      <p:sp>
        <p:nvSpPr>
          <p:cNvPr id="16" name="Shape 14"/>
          <p:cNvSpPr/>
          <p:nvPr/>
        </p:nvSpPr>
        <p:spPr>
          <a:xfrm>
            <a:off x="5522976" y="2926080"/>
            <a:ext cx="0" cy="420624"/>
          </a:xfrm>
          <a:prstGeom prst="line">
            <a:avLst/>
          </a:prstGeom>
          <a:noFill/>
          <a:ln w="19050">
            <a:solidFill>
              <a:srgbClr val="F59E0B"/>
            </a:solidFill>
            <a:prstDash val="dash"/>
          </a:ln>
        </p:spPr>
      </p:sp>
      <p:sp>
        <p:nvSpPr>
          <p:cNvPr id="17" name="Shape 15"/>
          <p:cNvSpPr/>
          <p:nvPr/>
        </p:nvSpPr>
        <p:spPr>
          <a:xfrm>
            <a:off x="7498080" y="3163824"/>
            <a:ext cx="256032" cy="256032"/>
          </a:xfrm>
          <a:prstGeom prst="ellipse">
            <a:avLst/>
          </a:prstGeom>
          <a:solidFill>
            <a:srgbClr val="BAE6FD"/>
          </a:solidFill>
          <a:ln w="12700">
            <a:solidFill>
              <a:srgbClr val="BAE6FD"/>
            </a:solidFill>
            <a:prstDash val="solid"/>
          </a:ln>
        </p:spPr>
      </p:sp>
      <p:sp>
        <p:nvSpPr>
          <p:cNvPr id="18" name="Text 16"/>
          <p:cNvSpPr/>
          <p:nvPr/>
        </p:nvSpPr>
        <p:spPr>
          <a:xfrm>
            <a:off x="7132320" y="3456432"/>
            <a:ext cx="137160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Malgun Gothic" pitchFamily="34" charset="0"/>
                <a:ea typeface="Malgun Gothic" pitchFamily="34" charset="-122"/>
                <a:cs typeface="Malgun Gothic" pitchFamily="34" charset="-120"/>
              </a:rPr>
              <a:t>2025.05</a:t>
            </a:r>
            <a:endParaRPr lang="en-US" sz="1000" dirty="0"/>
          </a:p>
        </p:txBody>
      </p:sp>
      <p:sp>
        <p:nvSpPr>
          <p:cNvPr id="19" name="Text 17"/>
          <p:cNvSpPr/>
          <p:nvPr/>
        </p:nvSpPr>
        <p:spPr>
          <a:xfrm>
            <a:off x="7040880" y="1691640"/>
            <a:ext cx="1554480" cy="1280160"/>
          </a:xfrm>
          <a:prstGeom prst="rect">
            <a:avLst/>
          </a:prstGeom>
          <a:noFill/>
          <a:ln/>
        </p:spPr>
        <p:txBody>
          <a:bodyPr wrap="square" lIns="0" tIns="0" rIns="0" bIns="0" rtlCol="0" anchor="b"/>
          <a:lstStyle/>
          <a:p>
            <a:pPr algn="ctr" indent="0" marL="0">
              <a:buNone/>
            </a:pPr>
            <a:r>
              <a:rPr lang="en-US" sz="1200" b="1" dirty="0">
                <a:solidFill>
                  <a:srgbClr val="BAE6FD"/>
                </a:solidFill>
                <a:latin typeface="Malgun Gothic" pitchFamily="34" charset="0"/>
                <a:ea typeface="Malgun Gothic" pitchFamily="34" charset="-122"/>
                <a:cs typeface="Malgun Gothic" pitchFamily="34" charset="-120"/>
              </a:rPr>
              <a:t>Gemini</a:t>
            </a:r>
            <a:endParaRPr lang="en-US" sz="1200" dirty="0"/>
          </a:p>
          <a:p>
            <a:pPr algn="ctr" indent="0" marL="0">
              <a:buNone/>
            </a:pPr>
            <a:r>
              <a:rPr lang="en-US" sz="1200" b="1" dirty="0">
                <a:solidFill>
                  <a:srgbClr val="BAE6FD"/>
                </a:solidFill>
                <a:latin typeface="Malgun Gothic" pitchFamily="34" charset="0"/>
                <a:ea typeface="Malgun Gothic" pitchFamily="34" charset="-122"/>
                <a:cs typeface="Malgun Gothic" pitchFamily="34" charset="-120"/>
              </a:rPr>
              <a:t>Diffusion</a:t>
            </a:r>
            <a:endParaRPr lang="en-US" sz="1200" dirty="0"/>
          </a:p>
        </p:txBody>
      </p:sp>
      <p:sp>
        <p:nvSpPr>
          <p:cNvPr id="20" name="Shape 18"/>
          <p:cNvSpPr/>
          <p:nvPr/>
        </p:nvSpPr>
        <p:spPr>
          <a:xfrm>
            <a:off x="7626096" y="2926080"/>
            <a:ext cx="0" cy="420624"/>
          </a:xfrm>
          <a:prstGeom prst="line">
            <a:avLst/>
          </a:prstGeom>
          <a:noFill/>
          <a:ln w="19050">
            <a:solidFill>
              <a:srgbClr val="BAE6FD"/>
            </a:solidFill>
            <a:prstDash val="dash"/>
          </a:ln>
        </p:spPr>
      </p:sp>
      <p:sp>
        <p:nvSpPr>
          <p:cNvPr id="21" name="Shape 19"/>
          <p:cNvSpPr/>
          <p:nvPr/>
        </p:nvSpPr>
        <p:spPr>
          <a:xfrm>
            <a:off x="7589520" y="3054096"/>
            <a:ext cx="475488" cy="475488"/>
          </a:xfrm>
          <a:prstGeom prst="ellipse">
            <a:avLst/>
          </a:prstGeom>
          <a:solidFill>
            <a:srgbClr val="0891B2"/>
          </a:solidFill>
          <a:ln w="25400">
            <a:solidFill>
              <a:srgbClr val="FFFFFF"/>
            </a:solidFill>
            <a:prstDash val="solid"/>
          </a:ln>
        </p:spPr>
      </p:sp>
      <p:sp>
        <p:nvSpPr>
          <p:cNvPr id="22" name="Text 20"/>
          <p:cNvSpPr/>
          <p:nvPr/>
        </p:nvSpPr>
        <p:spPr>
          <a:xfrm>
            <a:off x="7223760" y="3456432"/>
            <a:ext cx="1371600" cy="274320"/>
          </a:xfrm>
          <a:prstGeom prst="rect">
            <a:avLst/>
          </a:prstGeom>
          <a:noFill/>
          <a:ln/>
        </p:spPr>
        <p:txBody>
          <a:bodyPr wrap="square" lIns="0" tIns="0" rIns="0" bIns="0" rtlCol="0" anchor="ctr"/>
          <a:lstStyle/>
          <a:p>
            <a:pPr algn="ctr" indent="0" marL="0">
              <a:buNone/>
            </a:pPr>
            <a:r>
              <a:rPr lang="en-US" sz="1000" b="1" dirty="0">
                <a:solidFill>
                  <a:srgbClr val="06B6D4"/>
                </a:solidFill>
                <a:latin typeface="Malgun Gothic" pitchFamily="34" charset="0"/>
                <a:ea typeface="Malgun Gothic" pitchFamily="34" charset="-122"/>
                <a:cs typeface="Malgun Gothic" pitchFamily="34" charset="-120"/>
              </a:rPr>
              <a:t>2026.06</a:t>
            </a:r>
            <a:endParaRPr lang="en-US" sz="1000" dirty="0"/>
          </a:p>
        </p:txBody>
      </p:sp>
      <p:sp>
        <p:nvSpPr>
          <p:cNvPr id="23" name="Text 21"/>
          <p:cNvSpPr/>
          <p:nvPr/>
        </p:nvSpPr>
        <p:spPr>
          <a:xfrm>
            <a:off x="7223760" y="1554480"/>
            <a:ext cx="1554480" cy="1371600"/>
          </a:xfrm>
          <a:prstGeom prst="rect">
            <a:avLst/>
          </a:prstGeom>
          <a:noFill/>
          <a:ln/>
        </p:spPr>
        <p:txBody>
          <a:bodyPr wrap="square" lIns="0" tIns="0" rIns="0" bIns="0" rtlCol="0" anchor="b"/>
          <a:lstStyle/>
          <a:p>
            <a:pPr algn="ctr" indent="0" marL="0">
              <a:buNone/>
            </a:pPr>
            <a:r>
              <a:rPr lang="en-US" sz="1200" b="1" dirty="0">
                <a:solidFill>
                  <a:srgbClr val="0891B2"/>
                </a:solidFill>
                <a:latin typeface="Malgun Gothic" pitchFamily="34" charset="0"/>
                <a:ea typeface="Malgun Gothic" pitchFamily="34" charset="-122"/>
                <a:cs typeface="Malgun Gothic" pitchFamily="34" charset="-120"/>
              </a:rPr>
              <a:t>Diffusion</a:t>
            </a:r>
            <a:endParaRPr lang="en-US" sz="1200" dirty="0"/>
          </a:p>
          <a:p>
            <a:pPr algn="ctr" indent="0" marL="0">
              <a:buNone/>
            </a:pPr>
            <a:r>
              <a:rPr lang="en-US" sz="1200" b="1" dirty="0">
                <a:solidFill>
                  <a:srgbClr val="0891B2"/>
                </a:solidFill>
                <a:latin typeface="Malgun Gothic" pitchFamily="34" charset="0"/>
                <a:ea typeface="Malgun Gothic" pitchFamily="34" charset="-122"/>
                <a:cs typeface="Malgun Gothic" pitchFamily="34" charset="-120"/>
              </a:rPr>
              <a:t>Gemma</a:t>
            </a:r>
            <a:endParaRPr lang="en-US" sz="1200" dirty="0"/>
          </a:p>
          <a:p>
            <a:pPr algn="ctr" indent="0" marL="0">
              <a:buNone/>
            </a:pPr>
            <a:r>
              <a:rPr lang="en-US" sz="1200" b="1" dirty="0">
                <a:solidFill>
                  <a:srgbClr val="0891B2"/>
                </a:solidFill>
                <a:latin typeface="Malgun Gothic" pitchFamily="34" charset="0"/>
                <a:ea typeface="Malgun Gothic" pitchFamily="34" charset="-122"/>
                <a:cs typeface="Malgun Gothic" pitchFamily="34" charset="-120"/>
              </a:rPr>
              <a:t>(오픈소스)</a:t>
            </a:r>
            <a:endParaRPr lang="en-US" sz="1200" dirty="0"/>
          </a:p>
        </p:txBody>
      </p:sp>
      <p:sp>
        <p:nvSpPr>
          <p:cNvPr id="24" name="Shape 22"/>
          <p:cNvSpPr/>
          <p:nvPr/>
        </p:nvSpPr>
        <p:spPr>
          <a:xfrm>
            <a:off x="7827264" y="2807208"/>
            <a:ext cx="0" cy="246888"/>
          </a:xfrm>
          <a:prstGeom prst="line">
            <a:avLst/>
          </a:prstGeom>
          <a:noFill/>
          <a:ln w="25400">
            <a:solidFill>
              <a:srgbClr val="0891B2"/>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0" y="182880"/>
            <a:ext cx="9144000" cy="4572000"/>
          </a:xfrm>
          <a:prstGeom prst="rect">
            <a:avLst/>
          </a:prstGeom>
          <a:noFill/>
          <a:ln/>
        </p:spPr>
        <p:txBody>
          <a:bodyPr wrap="square" lIns="0" tIns="0" rIns="0" bIns="0" rtlCol="0" anchor="ctr"/>
          <a:lstStyle/>
          <a:p>
            <a:pPr algn="ctr" indent="0" marL="0">
              <a:buNone/>
            </a:pPr>
            <a:r>
              <a:rPr lang="en-US" sz="22000" b="1" dirty="0">
                <a:solidFill>
                  <a:srgbClr val="0D2A45"/>
                </a:solidFill>
                <a:latin typeface="Malgun Gothic" pitchFamily="34" charset="0"/>
                <a:ea typeface="Malgun Gothic" pitchFamily="34" charset="-122"/>
                <a:cs typeface="Malgun Gothic" pitchFamily="34" charset="-120"/>
              </a:rPr>
              <a:t>03</a:t>
            </a:r>
            <a:endParaRPr lang="en-US" sz="22000" dirty="0"/>
          </a:p>
        </p:txBody>
      </p:sp>
      <p:sp>
        <p:nvSpPr>
          <p:cNvPr id="3" name="Shape 1"/>
          <p:cNvSpPr/>
          <p:nvPr/>
        </p:nvSpPr>
        <p:spPr>
          <a:xfrm>
            <a:off x="0" y="2103120"/>
            <a:ext cx="9144000" cy="914400"/>
          </a:xfrm>
          <a:prstGeom prst="rect">
            <a:avLst/>
          </a:prstGeom>
          <a:solidFill>
            <a:srgbClr val="1F4E79">
              <a:alpha val="80000"/>
            </a:srgbClr>
          </a:solidFill>
          <a:ln w="12700">
            <a:solidFill>
              <a:srgbClr val="1F4E79">
                <a:alpha val="80000"/>
              </a:srgbClr>
            </a:solidFill>
            <a:prstDash val="solid"/>
          </a:ln>
        </p:spPr>
      </p:sp>
      <p:sp>
        <p:nvSpPr>
          <p:cNvPr id="4" name="Text 2"/>
          <p:cNvSpPr/>
          <p:nvPr/>
        </p:nvSpPr>
        <p:spPr>
          <a:xfrm>
            <a:off x="457200" y="2121408"/>
            <a:ext cx="8229600" cy="45720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DiffusionGemma</a:t>
            </a:r>
            <a:endParaRPr lang="en-US" sz="3200" dirty="0"/>
          </a:p>
        </p:txBody>
      </p:sp>
      <p:sp>
        <p:nvSpPr>
          <p:cNvPr id="5" name="Text 3"/>
          <p:cNvSpPr/>
          <p:nvPr/>
        </p:nvSpPr>
        <p:spPr>
          <a:xfrm>
            <a:off x="457200" y="2578608"/>
            <a:ext cx="8229600" cy="384048"/>
          </a:xfrm>
          <a:prstGeom prst="rect">
            <a:avLst/>
          </a:prstGeom>
          <a:noFill/>
          <a:ln/>
        </p:spPr>
        <p:txBody>
          <a:bodyPr wrap="square" lIns="0" tIns="0" rIns="0" bIns="0" rtlCol="0" anchor="ctr"/>
          <a:lstStyle/>
          <a:p>
            <a:pPr algn="ctr" indent="0" marL="0">
              <a:buNone/>
            </a:pPr>
            <a:r>
              <a:rPr lang="en-US" sz="1600" dirty="0">
                <a:solidFill>
                  <a:srgbClr val="BAE6FD"/>
                </a:solidFill>
                <a:latin typeface="Malgun Gothic" pitchFamily="34" charset="0"/>
                <a:ea typeface="Malgun Gothic" pitchFamily="34" charset="-122"/>
                <a:cs typeface="Malgun Gothic" pitchFamily="34" charset="-120"/>
              </a:rPr>
              <a:t>정확히 무엇인가?</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4E79"/>
          </a:solidFill>
          <a:ln w="12700">
            <a:solidFill>
              <a:srgbClr val="1F4E79"/>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400" b="1" dirty="0">
                <a:solidFill>
                  <a:srgbClr val="1F4E79"/>
                </a:solidFill>
                <a:latin typeface="Malgun Gothic" pitchFamily="34" charset="0"/>
                <a:ea typeface="Malgun Gothic" pitchFamily="34" charset="-122"/>
                <a:cs typeface="Malgun Gothic" pitchFamily="34" charset="-120"/>
              </a:rPr>
              <a:t>DiffusionGemma = 텍스트 디퓨전 LLM</a:t>
            </a:r>
            <a:endParaRPr lang="en-US" sz="2400" dirty="0"/>
          </a:p>
        </p:txBody>
      </p:sp>
      <p:sp>
        <p:nvSpPr>
          <p:cNvPr id="4" name="Shape 2"/>
          <p:cNvSpPr/>
          <p:nvPr/>
        </p:nvSpPr>
        <p:spPr>
          <a:xfrm>
            <a:off x="365760" y="1005840"/>
            <a:ext cx="320040" cy="320040"/>
          </a:xfrm>
          <a:prstGeom prst="rect">
            <a:avLst/>
          </a:prstGeom>
          <a:solidFill>
            <a:srgbClr val="0891B2"/>
          </a:solidFill>
          <a:ln w="12700">
            <a:solidFill>
              <a:srgbClr val="0891B2"/>
            </a:solidFill>
            <a:prstDash val="solid"/>
          </a:ln>
        </p:spPr>
      </p:sp>
      <p:sp>
        <p:nvSpPr>
          <p:cNvPr id="5" name="Text 3"/>
          <p:cNvSpPr/>
          <p:nvPr/>
        </p:nvSpPr>
        <p:spPr>
          <a:xfrm>
            <a:off x="365760" y="100584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6" name="Text 4"/>
          <p:cNvSpPr/>
          <p:nvPr/>
        </p:nvSpPr>
        <p:spPr>
          <a:xfrm>
            <a:off x="804672" y="1005840"/>
            <a:ext cx="3291840" cy="320040"/>
          </a:xfrm>
          <a:prstGeom prst="rect">
            <a:avLst/>
          </a:prstGeom>
          <a:noFill/>
          <a:ln/>
        </p:spPr>
        <p:txBody>
          <a:bodyPr wrap="square" lIns="0" tIns="0" rIns="0" bIns="0" rtlCol="0" anchor="ctr"/>
          <a:lstStyle/>
          <a:p>
            <a:pPr algn="l" indent="0" marL="0">
              <a:buNone/>
            </a:pPr>
            <a:r>
              <a:rPr lang="en-US" sz="1400" b="1" dirty="0">
                <a:solidFill>
                  <a:srgbClr val="1F4E79"/>
                </a:solidFill>
                <a:latin typeface="Malgun Gothic" pitchFamily="34" charset="0"/>
                <a:ea typeface="Malgun Gothic" pitchFamily="34" charset="-122"/>
                <a:cs typeface="Malgun Gothic" pitchFamily="34" charset="-120"/>
              </a:rPr>
              <a:t>텍스트 생성 모델</a:t>
            </a:r>
            <a:endParaRPr lang="en-US" sz="1400" dirty="0"/>
          </a:p>
        </p:txBody>
      </p:sp>
      <p:sp>
        <p:nvSpPr>
          <p:cNvPr id="7" name="Text 5"/>
          <p:cNvSpPr/>
          <p:nvPr/>
        </p:nvSpPr>
        <p:spPr>
          <a:xfrm>
            <a:off x="804672" y="1316736"/>
            <a:ext cx="3291840" cy="256032"/>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출력은 텍스트만</a:t>
            </a:r>
            <a:endParaRPr lang="en-US" sz="1000" dirty="0"/>
          </a:p>
        </p:txBody>
      </p:sp>
      <p:sp>
        <p:nvSpPr>
          <p:cNvPr id="8" name="Shape 6"/>
          <p:cNvSpPr/>
          <p:nvPr/>
        </p:nvSpPr>
        <p:spPr>
          <a:xfrm>
            <a:off x="365760" y="1828800"/>
            <a:ext cx="320040" cy="320040"/>
          </a:xfrm>
          <a:prstGeom prst="rect">
            <a:avLst/>
          </a:prstGeom>
          <a:solidFill>
            <a:srgbClr val="0891B2"/>
          </a:solidFill>
          <a:ln w="12700">
            <a:solidFill>
              <a:srgbClr val="0891B2"/>
            </a:solidFill>
            <a:prstDash val="solid"/>
          </a:ln>
        </p:spPr>
      </p:sp>
      <p:sp>
        <p:nvSpPr>
          <p:cNvPr id="9" name="Text 7"/>
          <p:cNvSpPr/>
          <p:nvPr/>
        </p:nvSpPr>
        <p:spPr>
          <a:xfrm>
            <a:off x="365760" y="182880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10" name="Text 8"/>
          <p:cNvSpPr/>
          <p:nvPr/>
        </p:nvSpPr>
        <p:spPr>
          <a:xfrm>
            <a:off x="804672" y="1828800"/>
            <a:ext cx="3291840" cy="320040"/>
          </a:xfrm>
          <a:prstGeom prst="rect">
            <a:avLst/>
          </a:prstGeom>
          <a:noFill/>
          <a:ln/>
        </p:spPr>
        <p:txBody>
          <a:bodyPr wrap="square" lIns="0" tIns="0" rIns="0" bIns="0" rtlCol="0" anchor="ctr"/>
          <a:lstStyle/>
          <a:p>
            <a:pPr algn="l" indent="0" marL="0">
              <a:buNone/>
            </a:pPr>
            <a:r>
              <a:rPr lang="en-US" sz="1400" b="1" dirty="0">
                <a:solidFill>
                  <a:srgbClr val="1F4E79"/>
                </a:solidFill>
                <a:latin typeface="Malgun Gothic" pitchFamily="34" charset="0"/>
                <a:ea typeface="Malgun Gothic" pitchFamily="34" charset="-122"/>
                <a:cs typeface="Malgun Gothic" pitchFamily="34" charset="-120"/>
              </a:rPr>
              <a:t>Gemma 4 기반 MoE</a:t>
            </a:r>
            <a:endParaRPr lang="en-US" sz="1400" dirty="0"/>
          </a:p>
        </p:txBody>
      </p:sp>
      <p:sp>
        <p:nvSpPr>
          <p:cNvPr id="11" name="Text 9"/>
          <p:cNvSpPr/>
          <p:nvPr/>
        </p:nvSpPr>
        <p:spPr>
          <a:xfrm>
            <a:off x="804672" y="2139696"/>
            <a:ext cx="3291840" cy="256032"/>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26B 파라미터, 3.8B 활성</a:t>
            </a:r>
            <a:endParaRPr lang="en-US" sz="1000" dirty="0"/>
          </a:p>
        </p:txBody>
      </p:sp>
      <p:sp>
        <p:nvSpPr>
          <p:cNvPr id="12" name="Shape 10"/>
          <p:cNvSpPr/>
          <p:nvPr/>
        </p:nvSpPr>
        <p:spPr>
          <a:xfrm>
            <a:off x="365760" y="2651760"/>
            <a:ext cx="320040" cy="320040"/>
          </a:xfrm>
          <a:prstGeom prst="rect">
            <a:avLst/>
          </a:prstGeom>
          <a:solidFill>
            <a:srgbClr val="0891B2"/>
          </a:solidFill>
          <a:ln w="12700">
            <a:solidFill>
              <a:srgbClr val="0891B2"/>
            </a:solidFill>
            <a:prstDash val="solid"/>
          </a:ln>
        </p:spPr>
      </p:sp>
      <p:sp>
        <p:nvSpPr>
          <p:cNvPr id="13" name="Text 11"/>
          <p:cNvSpPr/>
          <p:nvPr/>
        </p:nvSpPr>
        <p:spPr>
          <a:xfrm>
            <a:off x="365760" y="265176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14" name="Text 12"/>
          <p:cNvSpPr/>
          <p:nvPr/>
        </p:nvSpPr>
        <p:spPr>
          <a:xfrm>
            <a:off x="804672" y="2651760"/>
            <a:ext cx="3291840" cy="320040"/>
          </a:xfrm>
          <a:prstGeom prst="rect">
            <a:avLst/>
          </a:prstGeom>
          <a:noFill/>
          <a:ln/>
        </p:spPr>
        <p:txBody>
          <a:bodyPr wrap="square" lIns="0" tIns="0" rIns="0" bIns="0" rtlCol="0" anchor="ctr"/>
          <a:lstStyle/>
          <a:p>
            <a:pPr algn="l" indent="0" marL="0">
              <a:buNone/>
            </a:pPr>
            <a:r>
              <a:rPr lang="en-US" sz="1400" b="1" dirty="0">
                <a:solidFill>
                  <a:srgbClr val="1F4E79"/>
                </a:solidFill>
                <a:latin typeface="Malgun Gothic" pitchFamily="34" charset="0"/>
                <a:ea typeface="Malgun Gothic" pitchFamily="34" charset="-122"/>
                <a:cs typeface="Malgun Gothic" pitchFamily="34" charset="-120"/>
              </a:rPr>
              <a:t>2026년 6월 공개</a:t>
            </a:r>
            <a:endParaRPr lang="en-US" sz="1400" dirty="0"/>
          </a:p>
        </p:txBody>
      </p:sp>
      <p:sp>
        <p:nvSpPr>
          <p:cNvPr id="15" name="Text 13"/>
          <p:cNvSpPr/>
          <p:nvPr/>
        </p:nvSpPr>
        <p:spPr>
          <a:xfrm>
            <a:off x="804672" y="2962656"/>
            <a:ext cx="3291840" cy="256032"/>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2026-06-10 공식 발표</a:t>
            </a:r>
            <a:endParaRPr lang="en-US" sz="1000" dirty="0"/>
          </a:p>
        </p:txBody>
      </p:sp>
      <p:sp>
        <p:nvSpPr>
          <p:cNvPr id="16" name="Shape 14"/>
          <p:cNvSpPr/>
          <p:nvPr/>
        </p:nvSpPr>
        <p:spPr>
          <a:xfrm>
            <a:off x="365760" y="3474720"/>
            <a:ext cx="320040" cy="320040"/>
          </a:xfrm>
          <a:prstGeom prst="rect">
            <a:avLst/>
          </a:prstGeom>
          <a:solidFill>
            <a:srgbClr val="0891B2"/>
          </a:solidFill>
          <a:ln w="12700">
            <a:solidFill>
              <a:srgbClr val="0891B2"/>
            </a:solidFill>
            <a:prstDash val="solid"/>
          </a:ln>
        </p:spPr>
      </p:sp>
      <p:sp>
        <p:nvSpPr>
          <p:cNvPr id="17" name="Text 15"/>
          <p:cNvSpPr/>
          <p:nvPr/>
        </p:nvSpPr>
        <p:spPr>
          <a:xfrm>
            <a:off x="365760" y="347472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18" name="Text 16"/>
          <p:cNvSpPr/>
          <p:nvPr/>
        </p:nvSpPr>
        <p:spPr>
          <a:xfrm>
            <a:off x="804672" y="3474720"/>
            <a:ext cx="3291840" cy="320040"/>
          </a:xfrm>
          <a:prstGeom prst="rect">
            <a:avLst/>
          </a:prstGeom>
          <a:noFill/>
          <a:ln/>
        </p:spPr>
        <p:txBody>
          <a:bodyPr wrap="square" lIns="0" tIns="0" rIns="0" bIns="0" rtlCol="0" anchor="ctr"/>
          <a:lstStyle/>
          <a:p>
            <a:pPr algn="l" indent="0" marL="0">
              <a:buNone/>
            </a:pPr>
            <a:r>
              <a:rPr lang="en-US" sz="1400" b="1" dirty="0">
                <a:solidFill>
                  <a:srgbClr val="1F4E79"/>
                </a:solidFill>
                <a:latin typeface="Malgun Gothic" pitchFamily="34" charset="0"/>
                <a:ea typeface="Malgun Gothic" pitchFamily="34" charset="-122"/>
                <a:cs typeface="Malgun Gothic" pitchFamily="34" charset="-120"/>
              </a:rPr>
              <a:t>Apache 2.0 라이선스</a:t>
            </a:r>
            <a:endParaRPr lang="en-US" sz="1400" dirty="0"/>
          </a:p>
        </p:txBody>
      </p:sp>
      <p:sp>
        <p:nvSpPr>
          <p:cNvPr id="19" name="Text 17"/>
          <p:cNvSpPr/>
          <p:nvPr/>
        </p:nvSpPr>
        <p:spPr>
          <a:xfrm>
            <a:off x="804672" y="3785616"/>
            <a:ext cx="3291840" cy="256032"/>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완전 오픈소스</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0" y="822960"/>
          <a:ext cx="4206240" cy="3840480"/>
        </p:xfrm>
        <a:graphic>
          <a:graphicData uri="http://schemas.openxmlformats.org/drawingml/2006/table">
            <a:tbl>
              <a:tblPr/>
              <a:tblGrid>
                <a:gridCol w="1097280"/>
                <a:gridCol w="1554480"/>
                <a:gridCol w="1554480"/>
              </a:tblGrid>
              <a:tr h="512064">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구분</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F4E79"/>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Gemini Diffusion</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F4E79"/>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DiffusionGemma</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r>
              <a:tr h="512064">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발표</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2025.05 (I/O)</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2026.06</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12064">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실험적 데모</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오픈소스 배포</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12064">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공개</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비공개 (대기자)</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Apache 2.0</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12064">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기반</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Gemini 계열</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Gemma 4 26B</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12064">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용도</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연구 프로토타입</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로컬/클라우드</a:t>
                      </a:r>
                      <a:endParaRPr lang="en-US" sz="1100" dirty="0">
                        <a:latin typeface="Malgun Gothic" charset="0"/>
                        <a:ea typeface="Malgun Gothic" charset="0"/>
                        <a:cs typeface="Malgun Gothic"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0" y="182880"/>
            <a:ext cx="9144000" cy="4572000"/>
          </a:xfrm>
          <a:prstGeom prst="rect">
            <a:avLst/>
          </a:prstGeom>
          <a:noFill/>
          <a:ln/>
        </p:spPr>
        <p:txBody>
          <a:bodyPr wrap="square" lIns="0" tIns="0" rIns="0" bIns="0" rtlCol="0" anchor="ctr"/>
          <a:lstStyle/>
          <a:p>
            <a:pPr algn="ctr" indent="0" marL="0">
              <a:buNone/>
            </a:pPr>
            <a:r>
              <a:rPr lang="en-US" sz="22000" b="1" dirty="0">
                <a:solidFill>
                  <a:srgbClr val="0D2A45"/>
                </a:solidFill>
                <a:latin typeface="Malgun Gothic" pitchFamily="34" charset="0"/>
                <a:ea typeface="Malgun Gothic" pitchFamily="34" charset="-122"/>
                <a:cs typeface="Malgun Gothic" pitchFamily="34" charset="-120"/>
              </a:rPr>
              <a:t>04</a:t>
            </a:r>
            <a:endParaRPr lang="en-US" sz="22000" dirty="0"/>
          </a:p>
        </p:txBody>
      </p:sp>
      <p:sp>
        <p:nvSpPr>
          <p:cNvPr id="3" name="Shape 1"/>
          <p:cNvSpPr/>
          <p:nvPr/>
        </p:nvSpPr>
        <p:spPr>
          <a:xfrm>
            <a:off x="0" y="2103120"/>
            <a:ext cx="9144000" cy="914400"/>
          </a:xfrm>
          <a:prstGeom prst="rect">
            <a:avLst/>
          </a:prstGeom>
          <a:solidFill>
            <a:srgbClr val="1F4E79">
              <a:alpha val="80000"/>
            </a:srgbClr>
          </a:solidFill>
          <a:ln w="12700">
            <a:solidFill>
              <a:srgbClr val="1F4E79">
                <a:alpha val="80000"/>
              </a:srgbClr>
            </a:solidFill>
            <a:prstDash val="solid"/>
          </a:ln>
        </p:spPr>
      </p:sp>
      <p:sp>
        <p:nvSpPr>
          <p:cNvPr id="4" name="Text 2"/>
          <p:cNvSpPr/>
          <p:nvPr/>
        </p:nvSpPr>
        <p:spPr>
          <a:xfrm>
            <a:off x="457200" y="2121408"/>
            <a:ext cx="8229600" cy="45720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핵심 기술 원리</a:t>
            </a:r>
            <a:endParaRPr lang="en-US" sz="3200" dirty="0"/>
          </a:p>
        </p:txBody>
      </p:sp>
      <p:sp>
        <p:nvSpPr>
          <p:cNvPr id="5" name="Text 3"/>
          <p:cNvSpPr/>
          <p:nvPr/>
        </p:nvSpPr>
        <p:spPr>
          <a:xfrm>
            <a:off x="457200" y="2578608"/>
            <a:ext cx="8229600" cy="384048"/>
          </a:xfrm>
          <a:prstGeom prst="rect">
            <a:avLst/>
          </a:prstGeom>
          <a:noFill/>
          <a:ln/>
        </p:spPr>
        <p:txBody>
          <a:bodyPr wrap="square" lIns="0" tIns="0" rIns="0" bIns="0" rtlCol="0" anchor="ctr"/>
          <a:lstStyle/>
          <a:p>
            <a:pPr algn="ctr" indent="0" marL="0">
              <a:buNone/>
            </a:pPr>
            <a:r>
              <a:rPr lang="en-US" sz="1600" dirty="0">
                <a:solidFill>
                  <a:srgbClr val="BAE6FD"/>
                </a:solidFill>
                <a:latin typeface="Malgun Gothic" pitchFamily="34" charset="0"/>
                <a:ea typeface="Malgun Gothic" pitchFamily="34" charset="-122"/>
                <a:cs typeface="Malgun Gothic" pitchFamily="34" charset="-120"/>
              </a:rPr>
              <a:t>어떻게 '뿌려서' 만드는가?</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E3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891B2"/>
          </a:solidFill>
          <a:ln w="12700">
            <a:solidFill>
              <a:srgbClr val="0891B2"/>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Malgun Gothic" pitchFamily="34" charset="0"/>
                <a:ea typeface="Malgun Gothic" pitchFamily="34" charset="-122"/>
                <a:cs typeface="Malgun Gothic" pitchFamily="34" charset="-120"/>
              </a:rPr>
              <a:t>USD: 랜덤 토큰 → 정제</a:t>
            </a:r>
            <a:endParaRPr lang="en-US" sz="2600" dirty="0"/>
          </a:p>
        </p:txBody>
      </p:sp>
      <p:sp>
        <p:nvSpPr>
          <p:cNvPr id="4" name="Shape 2"/>
          <p:cNvSpPr/>
          <p:nvPr/>
        </p:nvSpPr>
        <p:spPr>
          <a:xfrm>
            <a:off x="274320" y="1188720"/>
            <a:ext cx="1920240" cy="1645920"/>
          </a:xfrm>
          <a:prstGeom prst="rect">
            <a:avLst/>
          </a:prstGeom>
          <a:solidFill>
            <a:srgbClr val="0B1E30"/>
          </a:solidFill>
          <a:ln w="25400">
            <a:solidFill>
              <a:srgbClr val="EF4444"/>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1188720"/>
            <a:ext cx="1920240" cy="164592"/>
          </a:xfrm>
          <a:prstGeom prst="rect">
            <a:avLst/>
          </a:prstGeom>
          <a:solidFill>
            <a:srgbClr val="EF4444"/>
          </a:solidFill>
          <a:ln w="12700">
            <a:solidFill>
              <a:srgbClr val="EF4444"/>
            </a:solidFill>
            <a:prstDash val="solid"/>
          </a:ln>
        </p:spPr>
      </p:sp>
      <p:sp>
        <p:nvSpPr>
          <p:cNvPr id="6" name="Text 4"/>
          <p:cNvSpPr/>
          <p:nvPr/>
        </p:nvSpPr>
        <p:spPr>
          <a:xfrm>
            <a:off x="274320" y="1371600"/>
            <a:ext cx="1920240" cy="868680"/>
          </a:xfrm>
          <a:prstGeom prst="rect">
            <a:avLst/>
          </a:prstGeom>
          <a:noFill/>
          <a:ln/>
        </p:spPr>
        <p:txBody>
          <a:bodyPr wrap="square" lIns="0" tIns="0" rIns="0" bIns="0" rtlCol="0" anchor="ctr"/>
          <a:lstStyle/>
          <a:p>
            <a:pPr algn="ctr" indent="0" marL="0">
              <a:buNone/>
            </a:pPr>
            <a:r>
              <a:rPr lang="en-US" sz="1300" b="1" dirty="0">
                <a:solidFill>
                  <a:srgbClr val="EF4444"/>
                </a:solidFill>
                <a:latin typeface="Malgun Gothic" pitchFamily="34" charset="0"/>
                <a:ea typeface="Malgun Gothic" pitchFamily="34" charset="-122"/>
                <a:cs typeface="Malgun Gothic" pitchFamily="34" charset="-120"/>
              </a:rPr>
              <a:t>초기</a:t>
            </a:r>
            <a:endParaRPr lang="en-US" sz="1300" dirty="0"/>
          </a:p>
          <a:p>
            <a:pPr algn="ctr" indent="0" marL="0">
              <a:buNone/>
            </a:pPr>
            <a:r>
              <a:rPr lang="en-US" sz="1300" b="1" dirty="0">
                <a:solidFill>
                  <a:srgbClr val="EF4444"/>
                </a:solidFill>
                <a:latin typeface="Malgun Gothic" pitchFamily="34" charset="0"/>
                <a:ea typeface="Malgun Gothic" pitchFamily="34" charset="-122"/>
                <a:cs typeface="Malgun Gothic" pitchFamily="34" charset="-120"/>
              </a:rPr>
              <a:t>(랜덤)</a:t>
            </a:r>
            <a:endParaRPr lang="en-US" sz="1300" dirty="0"/>
          </a:p>
        </p:txBody>
      </p:sp>
      <p:sp>
        <p:nvSpPr>
          <p:cNvPr id="7" name="Text 5"/>
          <p:cNvSpPr/>
          <p:nvPr/>
        </p:nvSpPr>
        <p:spPr>
          <a:xfrm>
            <a:off x="274320" y="2240280"/>
            <a:ext cx="1920240" cy="384048"/>
          </a:xfrm>
          <a:prstGeom prst="rect">
            <a:avLst/>
          </a:prstGeom>
          <a:noFill/>
          <a:ln/>
        </p:spPr>
        <p:txBody>
          <a:bodyPr wrap="square" lIns="0" tIns="0" rIns="0" bIns="0" rtlCol="0" anchor="ctr"/>
          <a:lstStyle/>
          <a:p>
            <a:pPr algn="ctr" indent="0" marL="0">
              <a:buNone/>
            </a:pPr>
            <a:r>
              <a:rPr lang="en-US" sz="1100" dirty="0">
                <a:solidFill>
                  <a:srgbClr val="94A3B8"/>
                </a:solidFill>
                <a:latin typeface="Malgun Gothic" pitchFamily="34" charset="0"/>
                <a:ea typeface="Malgun Gothic" pitchFamily="34" charset="-122"/>
                <a:cs typeface="Malgun Gothic" pitchFamily="34" charset="-120"/>
              </a:rPr>
              <a:t>256토큰</a:t>
            </a:r>
            <a:endParaRPr lang="en-US" sz="1100" dirty="0"/>
          </a:p>
        </p:txBody>
      </p:sp>
      <p:sp>
        <p:nvSpPr>
          <p:cNvPr id="8" name="Shape 6"/>
          <p:cNvSpPr/>
          <p:nvPr/>
        </p:nvSpPr>
        <p:spPr>
          <a:xfrm>
            <a:off x="2194560" y="2029968"/>
            <a:ext cx="502920" cy="0"/>
          </a:xfrm>
          <a:prstGeom prst="line">
            <a:avLst/>
          </a:prstGeom>
          <a:noFill/>
          <a:ln w="25400">
            <a:solidFill>
              <a:srgbClr val="0891B2"/>
            </a:solidFill>
            <a:prstDash val="solid"/>
          </a:ln>
        </p:spPr>
      </p:sp>
      <p:sp>
        <p:nvSpPr>
          <p:cNvPr id="9" name="Text 7"/>
          <p:cNvSpPr/>
          <p:nvPr/>
        </p:nvSpPr>
        <p:spPr>
          <a:xfrm>
            <a:off x="2176272" y="1901952"/>
            <a:ext cx="502920" cy="274320"/>
          </a:xfrm>
          <a:prstGeom prst="rect">
            <a:avLst/>
          </a:prstGeom>
          <a:noFill/>
          <a:ln/>
        </p:spPr>
        <p:txBody>
          <a:bodyPr wrap="square" lIns="0" tIns="0" rIns="0" bIns="0" rtlCol="0" anchor="ctr"/>
          <a:lstStyle/>
          <a:p>
            <a:pPr algn="ctr" indent="0" marL="0">
              <a:buNone/>
            </a:pPr>
            <a:r>
              <a:rPr lang="en-US" sz="1600" b="1" dirty="0">
                <a:solidFill>
                  <a:srgbClr val="0891B2"/>
                </a:solidFill>
                <a:latin typeface="Malgun Gothic" pitchFamily="34" charset="0"/>
                <a:ea typeface="Malgun Gothic" pitchFamily="34" charset="-122"/>
                <a:cs typeface="Malgun Gothic" pitchFamily="34" charset="-120"/>
              </a:rPr>
              <a:t>→</a:t>
            </a:r>
            <a:endParaRPr lang="en-US" sz="1600" dirty="0"/>
          </a:p>
        </p:txBody>
      </p:sp>
      <p:sp>
        <p:nvSpPr>
          <p:cNvPr id="10" name="Shape 8"/>
          <p:cNvSpPr/>
          <p:nvPr/>
        </p:nvSpPr>
        <p:spPr>
          <a:xfrm>
            <a:off x="2423160" y="1188720"/>
            <a:ext cx="1920240" cy="1645920"/>
          </a:xfrm>
          <a:prstGeom prst="rect">
            <a:avLst/>
          </a:prstGeom>
          <a:solidFill>
            <a:srgbClr val="0B1E30"/>
          </a:solidFill>
          <a:ln w="25400">
            <a:solidFill>
              <a:srgbClr val="F59E0B"/>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2423160" y="1188720"/>
            <a:ext cx="1920240" cy="164592"/>
          </a:xfrm>
          <a:prstGeom prst="rect">
            <a:avLst/>
          </a:prstGeom>
          <a:solidFill>
            <a:srgbClr val="F59E0B"/>
          </a:solidFill>
          <a:ln w="12700">
            <a:solidFill>
              <a:srgbClr val="F59E0B"/>
            </a:solidFill>
            <a:prstDash val="solid"/>
          </a:ln>
        </p:spPr>
      </p:sp>
      <p:sp>
        <p:nvSpPr>
          <p:cNvPr id="12" name="Text 10"/>
          <p:cNvSpPr/>
          <p:nvPr/>
        </p:nvSpPr>
        <p:spPr>
          <a:xfrm>
            <a:off x="2423160" y="1371600"/>
            <a:ext cx="1920240" cy="868680"/>
          </a:xfrm>
          <a:prstGeom prst="rect">
            <a:avLst/>
          </a:prstGeom>
          <a:noFill/>
          <a:ln/>
        </p:spPr>
        <p:txBody>
          <a:bodyPr wrap="square" lIns="0" tIns="0" rIns="0" bIns="0" rtlCol="0" anchor="ctr"/>
          <a:lstStyle/>
          <a:p>
            <a:pPr algn="ctr" indent="0" marL="0">
              <a:buNone/>
            </a:pPr>
            <a:r>
              <a:rPr lang="en-US" sz="1300" b="1" dirty="0">
                <a:solidFill>
                  <a:srgbClr val="F59E0B"/>
                </a:solidFill>
                <a:latin typeface="Malgun Gothic" pitchFamily="34" charset="0"/>
                <a:ea typeface="Malgun Gothic" pitchFamily="34" charset="-122"/>
                <a:cs typeface="Malgun Gothic" pitchFamily="34" charset="-120"/>
              </a:rPr>
              <a:t>스텝 10</a:t>
            </a:r>
            <a:endParaRPr lang="en-US" sz="1300" dirty="0"/>
          </a:p>
          <a:p>
            <a:pPr algn="ctr" indent="0" marL="0">
              <a:buNone/>
            </a:pPr>
            <a:r>
              <a:rPr lang="en-US" sz="1300" b="1" dirty="0">
                <a:solidFill>
                  <a:srgbClr val="F59E0B"/>
                </a:solidFill>
                <a:latin typeface="Malgun Gothic" pitchFamily="34" charset="0"/>
                <a:ea typeface="Malgun Gothic" pitchFamily="34" charset="-122"/>
                <a:cs typeface="Malgun Gothic" pitchFamily="34" charset="-120"/>
              </a:rPr>
              <a:t>(일부)</a:t>
            </a:r>
            <a:endParaRPr lang="en-US" sz="1300" dirty="0"/>
          </a:p>
        </p:txBody>
      </p:sp>
      <p:sp>
        <p:nvSpPr>
          <p:cNvPr id="13" name="Text 11"/>
          <p:cNvSpPr/>
          <p:nvPr/>
        </p:nvSpPr>
        <p:spPr>
          <a:xfrm>
            <a:off x="2423160" y="2240280"/>
            <a:ext cx="1920240" cy="384048"/>
          </a:xfrm>
          <a:prstGeom prst="rect">
            <a:avLst/>
          </a:prstGeom>
          <a:noFill/>
          <a:ln/>
        </p:spPr>
        <p:txBody>
          <a:bodyPr wrap="square" lIns="0" tIns="0" rIns="0" bIns="0" rtlCol="0" anchor="ctr"/>
          <a:lstStyle/>
          <a:p>
            <a:pPr algn="ctr" indent="0" marL="0">
              <a:buNone/>
            </a:pPr>
            <a:r>
              <a:rPr lang="en-US" sz="1100" dirty="0">
                <a:solidFill>
                  <a:srgbClr val="94A3B8"/>
                </a:solidFill>
                <a:latin typeface="Malgun Gothic" pitchFamily="34" charset="0"/>
                <a:ea typeface="Malgun Gothic" pitchFamily="34" charset="-122"/>
                <a:cs typeface="Malgun Gothic" pitchFamily="34" charset="-120"/>
              </a:rPr>
              <a:t>확정 시작</a:t>
            </a:r>
            <a:endParaRPr lang="en-US" sz="1100" dirty="0"/>
          </a:p>
        </p:txBody>
      </p:sp>
      <p:sp>
        <p:nvSpPr>
          <p:cNvPr id="14" name="Shape 12"/>
          <p:cNvSpPr/>
          <p:nvPr/>
        </p:nvSpPr>
        <p:spPr>
          <a:xfrm>
            <a:off x="4343400" y="2029968"/>
            <a:ext cx="502920" cy="0"/>
          </a:xfrm>
          <a:prstGeom prst="line">
            <a:avLst/>
          </a:prstGeom>
          <a:noFill/>
          <a:ln w="25400">
            <a:solidFill>
              <a:srgbClr val="0891B2"/>
            </a:solidFill>
            <a:prstDash val="solid"/>
          </a:ln>
        </p:spPr>
      </p:sp>
      <p:sp>
        <p:nvSpPr>
          <p:cNvPr id="15" name="Text 13"/>
          <p:cNvSpPr/>
          <p:nvPr/>
        </p:nvSpPr>
        <p:spPr>
          <a:xfrm>
            <a:off x="4325112" y="1901952"/>
            <a:ext cx="502920" cy="274320"/>
          </a:xfrm>
          <a:prstGeom prst="rect">
            <a:avLst/>
          </a:prstGeom>
          <a:noFill/>
          <a:ln/>
        </p:spPr>
        <p:txBody>
          <a:bodyPr wrap="square" lIns="0" tIns="0" rIns="0" bIns="0" rtlCol="0" anchor="ctr"/>
          <a:lstStyle/>
          <a:p>
            <a:pPr algn="ctr" indent="0" marL="0">
              <a:buNone/>
            </a:pPr>
            <a:r>
              <a:rPr lang="en-US" sz="1600" b="1" dirty="0">
                <a:solidFill>
                  <a:srgbClr val="0891B2"/>
                </a:solidFill>
                <a:latin typeface="Malgun Gothic" pitchFamily="34" charset="0"/>
                <a:ea typeface="Malgun Gothic" pitchFamily="34" charset="-122"/>
                <a:cs typeface="Malgun Gothic" pitchFamily="34" charset="-120"/>
              </a:rPr>
              <a:t>→</a:t>
            </a:r>
            <a:endParaRPr lang="en-US" sz="1600" dirty="0"/>
          </a:p>
        </p:txBody>
      </p:sp>
      <p:sp>
        <p:nvSpPr>
          <p:cNvPr id="16" name="Shape 14"/>
          <p:cNvSpPr/>
          <p:nvPr/>
        </p:nvSpPr>
        <p:spPr>
          <a:xfrm>
            <a:off x="4572000" y="1188720"/>
            <a:ext cx="1920240" cy="1645920"/>
          </a:xfrm>
          <a:prstGeom prst="rect">
            <a:avLst/>
          </a:prstGeom>
          <a:solidFill>
            <a:srgbClr val="0B1E30"/>
          </a:solidFill>
          <a:ln w="25400">
            <a:solidFill>
              <a:srgbClr val="06B6D4"/>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72000" y="1188720"/>
            <a:ext cx="1920240" cy="164592"/>
          </a:xfrm>
          <a:prstGeom prst="rect">
            <a:avLst/>
          </a:prstGeom>
          <a:solidFill>
            <a:srgbClr val="06B6D4"/>
          </a:solidFill>
          <a:ln w="12700">
            <a:solidFill>
              <a:srgbClr val="06B6D4"/>
            </a:solidFill>
            <a:prstDash val="solid"/>
          </a:ln>
        </p:spPr>
      </p:sp>
      <p:sp>
        <p:nvSpPr>
          <p:cNvPr id="18" name="Text 16"/>
          <p:cNvSpPr/>
          <p:nvPr/>
        </p:nvSpPr>
        <p:spPr>
          <a:xfrm>
            <a:off x="4572000" y="1371600"/>
            <a:ext cx="1920240" cy="868680"/>
          </a:xfrm>
          <a:prstGeom prst="rect">
            <a:avLst/>
          </a:prstGeom>
          <a:noFill/>
          <a:ln/>
        </p:spPr>
        <p:txBody>
          <a:bodyPr wrap="square" lIns="0" tIns="0" rIns="0" bIns="0" rtlCol="0" anchor="ctr"/>
          <a:lstStyle/>
          <a:p>
            <a:pPr algn="ctr" indent="0" marL="0">
              <a:buNone/>
            </a:pPr>
            <a:r>
              <a:rPr lang="en-US" sz="1300" b="1" dirty="0">
                <a:solidFill>
                  <a:srgbClr val="06B6D4"/>
                </a:solidFill>
                <a:latin typeface="Malgun Gothic" pitchFamily="34" charset="0"/>
                <a:ea typeface="Malgun Gothic" pitchFamily="34" charset="-122"/>
                <a:cs typeface="Malgun Gothic" pitchFamily="34" charset="-120"/>
              </a:rPr>
              <a:t>스텝 30</a:t>
            </a:r>
            <a:endParaRPr lang="en-US" sz="1300" dirty="0"/>
          </a:p>
          <a:p>
            <a:pPr algn="ctr" indent="0" marL="0">
              <a:buNone/>
            </a:pPr>
            <a:r>
              <a:rPr lang="en-US" sz="1300" b="1" dirty="0">
                <a:solidFill>
                  <a:srgbClr val="06B6D4"/>
                </a:solidFill>
                <a:latin typeface="Malgun Gothic" pitchFamily="34" charset="0"/>
                <a:ea typeface="Malgun Gothic" pitchFamily="34" charset="-122"/>
                <a:cs typeface="Malgun Gothic" pitchFamily="34" charset="-120"/>
              </a:rPr>
              <a:t>(대부분)</a:t>
            </a:r>
            <a:endParaRPr lang="en-US" sz="1300" dirty="0"/>
          </a:p>
        </p:txBody>
      </p:sp>
      <p:sp>
        <p:nvSpPr>
          <p:cNvPr id="19" name="Text 17"/>
          <p:cNvSpPr/>
          <p:nvPr/>
        </p:nvSpPr>
        <p:spPr>
          <a:xfrm>
            <a:off x="4572000" y="2240280"/>
            <a:ext cx="1920240" cy="384048"/>
          </a:xfrm>
          <a:prstGeom prst="rect">
            <a:avLst/>
          </a:prstGeom>
          <a:noFill/>
          <a:ln/>
        </p:spPr>
        <p:txBody>
          <a:bodyPr wrap="square" lIns="0" tIns="0" rIns="0" bIns="0" rtlCol="0" anchor="ctr"/>
          <a:lstStyle/>
          <a:p>
            <a:pPr algn="ctr" indent="0" marL="0">
              <a:buNone/>
            </a:pPr>
            <a:r>
              <a:rPr lang="en-US" sz="1100" dirty="0">
                <a:solidFill>
                  <a:srgbClr val="94A3B8"/>
                </a:solidFill>
                <a:latin typeface="Malgun Gothic" pitchFamily="34" charset="0"/>
                <a:ea typeface="Malgun Gothic" pitchFamily="34" charset="-122"/>
                <a:cs typeface="Malgun Gothic" pitchFamily="34" charset="-120"/>
              </a:rPr>
              <a:t>수렴 단계</a:t>
            </a:r>
            <a:endParaRPr lang="en-US" sz="1100" dirty="0"/>
          </a:p>
        </p:txBody>
      </p:sp>
      <p:sp>
        <p:nvSpPr>
          <p:cNvPr id="20" name="Shape 18"/>
          <p:cNvSpPr/>
          <p:nvPr/>
        </p:nvSpPr>
        <p:spPr>
          <a:xfrm>
            <a:off x="6492240" y="2029968"/>
            <a:ext cx="502920" cy="0"/>
          </a:xfrm>
          <a:prstGeom prst="line">
            <a:avLst/>
          </a:prstGeom>
          <a:noFill/>
          <a:ln w="25400">
            <a:solidFill>
              <a:srgbClr val="0891B2"/>
            </a:solidFill>
            <a:prstDash val="solid"/>
          </a:ln>
        </p:spPr>
      </p:sp>
      <p:sp>
        <p:nvSpPr>
          <p:cNvPr id="21" name="Text 19"/>
          <p:cNvSpPr/>
          <p:nvPr/>
        </p:nvSpPr>
        <p:spPr>
          <a:xfrm>
            <a:off x="6473952" y="1901952"/>
            <a:ext cx="502920" cy="274320"/>
          </a:xfrm>
          <a:prstGeom prst="rect">
            <a:avLst/>
          </a:prstGeom>
          <a:noFill/>
          <a:ln/>
        </p:spPr>
        <p:txBody>
          <a:bodyPr wrap="square" lIns="0" tIns="0" rIns="0" bIns="0" rtlCol="0" anchor="ctr"/>
          <a:lstStyle/>
          <a:p>
            <a:pPr algn="ctr" indent="0" marL="0">
              <a:buNone/>
            </a:pPr>
            <a:r>
              <a:rPr lang="en-US" sz="1600" b="1" dirty="0">
                <a:solidFill>
                  <a:srgbClr val="0891B2"/>
                </a:solidFill>
                <a:latin typeface="Malgun Gothic" pitchFamily="34" charset="0"/>
                <a:ea typeface="Malgun Gothic" pitchFamily="34" charset="-122"/>
                <a:cs typeface="Malgun Gothic" pitchFamily="34" charset="-120"/>
              </a:rPr>
              <a:t>→</a:t>
            </a:r>
            <a:endParaRPr lang="en-US" sz="1600" dirty="0"/>
          </a:p>
        </p:txBody>
      </p:sp>
      <p:sp>
        <p:nvSpPr>
          <p:cNvPr id="22" name="Shape 20"/>
          <p:cNvSpPr/>
          <p:nvPr/>
        </p:nvSpPr>
        <p:spPr>
          <a:xfrm>
            <a:off x="6720840" y="1188720"/>
            <a:ext cx="1920240" cy="1645920"/>
          </a:xfrm>
          <a:prstGeom prst="rect">
            <a:avLst/>
          </a:prstGeom>
          <a:solidFill>
            <a:srgbClr val="0B1E30"/>
          </a:solidFill>
          <a:ln w="25400">
            <a:solidFill>
              <a:srgbClr val="10B981"/>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6720840" y="1188720"/>
            <a:ext cx="1920240" cy="164592"/>
          </a:xfrm>
          <a:prstGeom prst="rect">
            <a:avLst/>
          </a:prstGeom>
          <a:solidFill>
            <a:srgbClr val="10B981"/>
          </a:solidFill>
          <a:ln w="12700">
            <a:solidFill>
              <a:srgbClr val="10B981"/>
            </a:solidFill>
            <a:prstDash val="solid"/>
          </a:ln>
        </p:spPr>
      </p:sp>
      <p:sp>
        <p:nvSpPr>
          <p:cNvPr id="24" name="Text 22"/>
          <p:cNvSpPr/>
          <p:nvPr/>
        </p:nvSpPr>
        <p:spPr>
          <a:xfrm>
            <a:off x="6720840" y="1371600"/>
            <a:ext cx="1920240" cy="868680"/>
          </a:xfrm>
          <a:prstGeom prst="rect">
            <a:avLst/>
          </a:prstGeom>
          <a:noFill/>
          <a:ln/>
        </p:spPr>
        <p:txBody>
          <a:bodyPr wrap="square" lIns="0" tIns="0" rIns="0" bIns="0" rtlCol="0" anchor="ctr"/>
          <a:lstStyle/>
          <a:p>
            <a:pPr algn="ctr" indent="0" marL="0">
              <a:buNone/>
            </a:pPr>
            <a:r>
              <a:rPr lang="en-US" sz="1300" b="1" dirty="0">
                <a:solidFill>
                  <a:srgbClr val="10B981"/>
                </a:solidFill>
                <a:latin typeface="Malgun Gothic" pitchFamily="34" charset="0"/>
                <a:ea typeface="Malgun Gothic" pitchFamily="34" charset="-122"/>
                <a:cs typeface="Malgun Gothic" pitchFamily="34" charset="-120"/>
              </a:rPr>
              <a:t>최종</a:t>
            </a:r>
            <a:endParaRPr lang="en-US" sz="1300" dirty="0"/>
          </a:p>
          <a:p>
            <a:pPr algn="ctr" indent="0" marL="0">
              <a:buNone/>
            </a:pPr>
            <a:r>
              <a:rPr lang="en-US" sz="1300" b="1" dirty="0">
                <a:solidFill>
                  <a:srgbClr val="10B981"/>
                </a:solidFill>
                <a:latin typeface="Malgun Gothic" pitchFamily="34" charset="0"/>
                <a:ea typeface="Malgun Gothic" pitchFamily="34" charset="-122"/>
                <a:cs typeface="Malgun Gothic" pitchFamily="34" charset="-120"/>
              </a:rPr>
              <a:t>(완성)</a:t>
            </a:r>
            <a:endParaRPr lang="en-US" sz="1300" dirty="0"/>
          </a:p>
        </p:txBody>
      </p:sp>
      <p:sp>
        <p:nvSpPr>
          <p:cNvPr id="25" name="Text 23"/>
          <p:cNvSpPr/>
          <p:nvPr/>
        </p:nvSpPr>
        <p:spPr>
          <a:xfrm>
            <a:off x="6720840" y="2240280"/>
            <a:ext cx="1920240" cy="384048"/>
          </a:xfrm>
          <a:prstGeom prst="rect">
            <a:avLst/>
          </a:prstGeom>
          <a:noFill/>
          <a:ln/>
        </p:spPr>
        <p:txBody>
          <a:bodyPr wrap="square" lIns="0" tIns="0" rIns="0" bIns="0" rtlCol="0" anchor="ctr"/>
          <a:lstStyle/>
          <a:p>
            <a:pPr algn="ctr" indent="0" marL="0">
              <a:buNone/>
            </a:pPr>
            <a:r>
              <a:rPr lang="en-US" sz="1100" dirty="0">
                <a:solidFill>
                  <a:srgbClr val="94A3B8"/>
                </a:solidFill>
                <a:latin typeface="Malgun Gothic" pitchFamily="34" charset="0"/>
                <a:ea typeface="Malgun Gothic" pitchFamily="34" charset="-122"/>
                <a:cs typeface="Malgun Gothic" pitchFamily="34" charset="-120"/>
              </a:rPr>
              <a:t>출력</a:t>
            </a:r>
            <a:endParaRPr lang="en-US" sz="1100" dirty="0"/>
          </a:p>
        </p:txBody>
      </p:sp>
      <p:sp>
        <p:nvSpPr>
          <p:cNvPr id="26" name="Shape 24"/>
          <p:cNvSpPr/>
          <p:nvPr/>
        </p:nvSpPr>
        <p:spPr>
          <a:xfrm>
            <a:off x="457200" y="3154680"/>
            <a:ext cx="2560320" cy="1554480"/>
          </a:xfrm>
          <a:prstGeom prst="rect">
            <a:avLst/>
          </a:prstGeom>
          <a:solidFill>
            <a:srgbClr val="0F2942"/>
          </a:solidFill>
          <a:ln w="12700">
            <a:solidFill>
              <a:srgbClr val="2A6496"/>
            </a:solidFill>
            <a:prstDash val="solid"/>
          </a:ln>
          <a:effectLst>
            <a:outerShdw sx="100000" sy="100000" kx="0" ky="0" algn="bl" rotWithShape="0" blurRad="101600" dist="38100" dir="8100000">
              <a:srgbClr val="000000">
                <a:alpha val="18000"/>
              </a:srgbClr>
            </a:outerShdw>
          </a:effectLst>
        </p:spPr>
      </p:sp>
      <p:sp>
        <p:nvSpPr>
          <p:cNvPr id="27" name="Text 25"/>
          <p:cNvSpPr/>
          <p:nvPr/>
        </p:nvSpPr>
        <p:spPr>
          <a:xfrm>
            <a:off x="457200" y="3246120"/>
            <a:ext cx="2560320" cy="365760"/>
          </a:xfrm>
          <a:prstGeom prst="rect">
            <a:avLst/>
          </a:prstGeom>
          <a:noFill/>
          <a:ln/>
        </p:spPr>
        <p:txBody>
          <a:bodyPr wrap="square" lIns="0" tIns="0" rIns="0" bIns="0" rtlCol="0" anchor="ctr"/>
          <a:lstStyle/>
          <a:p>
            <a:pPr algn="ctr" indent="0" marL="0">
              <a:buNone/>
            </a:pPr>
            <a:r>
              <a:rPr lang="en-US" sz="1300" b="1" dirty="0">
                <a:solidFill>
                  <a:srgbClr val="06B6D4"/>
                </a:solidFill>
                <a:latin typeface="Malgun Gothic" pitchFamily="34" charset="0"/>
                <a:ea typeface="Malgun Gothic" pitchFamily="34" charset="-122"/>
                <a:cs typeface="Malgun Gothic" pitchFamily="34" charset="-120"/>
              </a:rPr>
              <a:t>재노이징 가능</a:t>
            </a:r>
            <a:endParaRPr lang="en-US" sz="1300" dirty="0"/>
          </a:p>
        </p:txBody>
      </p:sp>
      <p:sp>
        <p:nvSpPr>
          <p:cNvPr id="28" name="Text 26"/>
          <p:cNvSpPr/>
          <p:nvPr/>
        </p:nvSpPr>
        <p:spPr>
          <a:xfrm>
            <a:off x="457200" y="3611880"/>
            <a:ext cx="2560320" cy="868680"/>
          </a:xfrm>
          <a:prstGeom prst="rect">
            <a:avLst/>
          </a:prstGeom>
          <a:noFill/>
          <a:ln/>
        </p:spPr>
        <p:txBody>
          <a:bodyPr wrap="square" lIns="0" tIns="0" rIns="0" bIns="0" rtlCol="0" anchor="t"/>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저확률 토큰을</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다시 바꿀 수 있음</a:t>
            </a:r>
            <a:endParaRPr lang="en-US" sz="1100" dirty="0"/>
          </a:p>
        </p:txBody>
      </p:sp>
      <p:sp>
        <p:nvSpPr>
          <p:cNvPr id="29" name="Shape 27"/>
          <p:cNvSpPr/>
          <p:nvPr/>
        </p:nvSpPr>
        <p:spPr>
          <a:xfrm>
            <a:off x="3383280" y="3154680"/>
            <a:ext cx="2560320" cy="1554480"/>
          </a:xfrm>
          <a:prstGeom prst="rect">
            <a:avLst/>
          </a:prstGeom>
          <a:solidFill>
            <a:srgbClr val="0F2942"/>
          </a:solidFill>
          <a:ln w="12700">
            <a:solidFill>
              <a:srgbClr val="2A6496"/>
            </a:solidFill>
            <a:prstDash val="solid"/>
          </a:ln>
          <a:effectLst>
            <a:outerShdw sx="100000" sy="100000" kx="0" ky="0" algn="bl" rotWithShape="0" blurRad="101600" dist="38100" dir="8100000">
              <a:srgbClr val="000000">
                <a:alpha val="18000"/>
              </a:srgbClr>
            </a:outerShdw>
          </a:effectLst>
        </p:spPr>
      </p:sp>
      <p:sp>
        <p:nvSpPr>
          <p:cNvPr id="30" name="Text 28"/>
          <p:cNvSpPr/>
          <p:nvPr/>
        </p:nvSpPr>
        <p:spPr>
          <a:xfrm>
            <a:off x="3383280" y="3246120"/>
            <a:ext cx="2560320" cy="365760"/>
          </a:xfrm>
          <a:prstGeom prst="rect">
            <a:avLst/>
          </a:prstGeom>
          <a:noFill/>
          <a:ln/>
        </p:spPr>
        <p:txBody>
          <a:bodyPr wrap="square" lIns="0" tIns="0" rIns="0" bIns="0" rtlCol="0" anchor="ctr"/>
          <a:lstStyle/>
          <a:p>
            <a:pPr algn="ctr" indent="0" marL="0">
              <a:buNone/>
            </a:pPr>
            <a:r>
              <a:rPr lang="en-US" sz="1300" b="1" dirty="0">
                <a:solidFill>
                  <a:srgbClr val="06B6D4"/>
                </a:solidFill>
                <a:latin typeface="Malgun Gothic" pitchFamily="34" charset="0"/>
                <a:ea typeface="Malgun Gothic" pitchFamily="34" charset="-122"/>
                <a:cs typeface="Malgun Gothic" pitchFamily="34" charset="-120"/>
              </a:rPr>
              <a:t>자기 교정</a:t>
            </a:r>
            <a:endParaRPr lang="en-US" sz="1300" dirty="0"/>
          </a:p>
        </p:txBody>
      </p:sp>
      <p:sp>
        <p:nvSpPr>
          <p:cNvPr id="31" name="Text 29"/>
          <p:cNvSpPr/>
          <p:nvPr/>
        </p:nvSpPr>
        <p:spPr>
          <a:xfrm>
            <a:off x="3383280" y="3611880"/>
            <a:ext cx="2560320" cy="868680"/>
          </a:xfrm>
          <a:prstGeom prst="rect">
            <a:avLst/>
          </a:prstGeom>
          <a:noFill/>
          <a:ln/>
        </p:spPr>
        <p:txBody>
          <a:bodyPr wrap="square" lIns="0" tIns="0" rIns="0" bIns="0" rtlCol="0" anchor="t"/>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맥락 변화에</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따라 수정</a:t>
            </a:r>
            <a:endParaRPr lang="en-US" sz="1100" dirty="0"/>
          </a:p>
        </p:txBody>
      </p:sp>
      <p:sp>
        <p:nvSpPr>
          <p:cNvPr id="32" name="Shape 30"/>
          <p:cNvSpPr/>
          <p:nvPr/>
        </p:nvSpPr>
        <p:spPr>
          <a:xfrm>
            <a:off x="6309360" y="3154680"/>
            <a:ext cx="2560320" cy="1554480"/>
          </a:xfrm>
          <a:prstGeom prst="rect">
            <a:avLst/>
          </a:prstGeom>
          <a:solidFill>
            <a:srgbClr val="0F2942"/>
          </a:solidFill>
          <a:ln w="12700">
            <a:solidFill>
              <a:srgbClr val="2A6496"/>
            </a:solidFill>
            <a:prstDash val="solid"/>
          </a:ln>
          <a:effectLst>
            <a:outerShdw sx="100000" sy="100000" kx="0" ky="0" algn="bl" rotWithShape="0" blurRad="101600" dist="38100" dir="8100000">
              <a:srgbClr val="000000">
                <a:alpha val="18000"/>
              </a:srgbClr>
            </a:outerShdw>
          </a:effectLst>
        </p:spPr>
      </p:sp>
      <p:sp>
        <p:nvSpPr>
          <p:cNvPr id="33" name="Text 31"/>
          <p:cNvSpPr/>
          <p:nvPr/>
        </p:nvSpPr>
        <p:spPr>
          <a:xfrm>
            <a:off x="6309360" y="3246120"/>
            <a:ext cx="2560320" cy="365760"/>
          </a:xfrm>
          <a:prstGeom prst="rect">
            <a:avLst/>
          </a:prstGeom>
          <a:noFill/>
          <a:ln/>
        </p:spPr>
        <p:txBody>
          <a:bodyPr wrap="square" lIns="0" tIns="0" rIns="0" bIns="0" rtlCol="0" anchor="ctr"/>
          <a:lstStyle/>
          <a:p>
            <a:pPr algn="ctr" indent="0" marL="0">
              <a:buNone/>
            </a:pPr>
            <a:r>
              <a:rPr lang="en-US" sz="1300" b="1" dirty="0">
                <a:solidFill>
                  <a:srgbClr val="06B6D4"/>
                </a:solidFill>
                <a:latin typeface="Malgun Gothic" pitchFamily="34" charset="0"/>
                <a:ea typeface="Malgun Gothic" pitchFamily="34" charset="-122"/>
                <a:cs typeface="Malgun Gothic" pitchFamily="34" charset="-120"/>
              </a:rPr>
              <a:t>병렬 처리</a:t>
            </a:r>
            <a:endParaRPr lang="en-US" sz="1300" dirty="0"/>
          </a:p>
        </p:txBody>
      </p:sp>
      <p:sp>
        <p:nvSpPr>
          <p:cNvPr id="34" name="Text 32"/>
          <p:cNvSpPr/>
          <p:nvPr/>
        </p:nvSpPr>
        <p:spPr>
          <a:xfrm>
            <a:off x="6309360" y="3611880"/>
            <a:ext cx="2560320" cy="868680"/>
          </a:xfrm>
          <a:prstGeom prst="rect">
            <a:avLst/>
          </a:prstGeom>
          <a:noFill/>
          <a:ln/>
        </p:spPr>
        <p:txBody>
          <a:bodyPr wrap="square" lIns="0" tIns="0" rIns="0" bIns="0" rtlCol="0" anchor="t"/>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256토큰을</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동시 정제</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4E79"/>
          </a:solidFill>
          <a:ln w="12700">
            <a:solidFill>
              <a:srgbClr val="1F4E79"/>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1F4E79"/>
                </a:solidFill>
                <a:latin typeface="Malgun Gothic" pitchFamily="34" charset="0"/>
                <a:ea typeface="Malgun Gothic" pitchFamily="34" charset="-122"/>
                <a:cs typeface="Malgun Gothic" pitchFamily="34" charset="-120"/>
              </a:rPr>
              <a:t>256 토큰을 한 번에</a:t>
            </a:r>
            <a:endParaRPr lang="en-US" sz="2600" dirty="0"/>
          </a:p>
        </p:txBody>
      </p:sp>
      <p:sp>
        <p:nvSpPr>
          <p:cNvPr id="4" name="Shape 2"/>
          <p:cNvSpPr/>
          <p:nvPr/>
        </p:nvSpPr>
        <p:spPr>
          <a:xfrm>
            <a:off x="274320" y="960120"/>
            <a:ext cx="2011680" cy="2011680"/>
          </a:xfrm>
          <a:prstGeom prst="rect">
            <a:avLst/>
          </a:prstGeom>
          <a:solidFill>
            <a:srgbClr val="1F4E79"/>
          </a:solidFill>
          <a:ln w="25400">
            <a:solidFill>
              <a:srgbClr val="1F4E79"/>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274320" y="1005840"/>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캔버스 1</a:t>
            </a:r>
            <a:endParaRPr lang="en-US" sz="1200" dirty="0"/>
          </a:p>
        </p:txBody>
      </p:sp>
      <p:sp>
        <p:nvSpPr>
          <p:cNvPr id="6" name="Shape 4"/>
          <p:cNvSpPr/>
          <p:nvPr/>
        </p:nvSpPr>
        <p:spPr>
          <a:xfrm>
            <a:off x="365760" y="1463040"/>
            <a:ext cx="182880" cy="201168"/>
          </a:xfrm>
          <a:prstGeom prst="rect">
            <a:avLst/>
          </a:prstGeom>
          <a:solidFill>
            <a:srgbClr val="2A6496"/>
          </a:solidFill>
          <a:ln w="6350">
            <a:solidFill>
              <a:srgbClr val="1F4E79"/>
            </a:solidFill>
            <a:prstDash val="solid"/>
          </a:ln>
        </p:spPr>
      </p:sp>
      <p:sp>
        <p:nvSpPr>
          <p:cNvPr id="7" name="Shape 5"/>
          <p:cNvSpPr/>
          <p:nvPr/>
        </p:nvSpPr>
        <p:spPr>
          <a:xfrm>
            <a:off x="594360" y="1463040"/>
            <a:ext cx="182880" cy="201168"/>
          </a:xfrm>
          <a:prstGeom prst="rect">
            <a:avLst/>
          </a:prstGeom>
          <a:solidFill>
            <a:srgbClr val="2A6496"/>
          </a:solidFill>
          <a:ln w="6350">
            <a:solidFill>
              <a:srgbClr val="1F4E79"/>
            </a:solidFill>
            <a:prstDash val="solid"/>
          </a:ln>
        </p:spPr>
      </p:sp>
      <p:sp>
        <p:nvSpPr>
          <p:cNvPr id="8" name="Shape 6"/>
          <p:cNvSpPr/>
          <p:nvPr/>
        </p:nvSpPr>
        <p:spPr>
          <a:xfrm>
            <a:off x="822960" y="1463040"/>
            <a:ext cx="182880" cy="201168"/>
          </a:xfrm>
          <a:prstGeom prst="rect">
            <a:avLst/>
          </a:prstGeom>
          <a:solidFill>
            <a:srgbClr val="0891B2"/>
          </a:solidFill>
          <a:ln w="6350">
            <a:solidFill>
              <a:srgbClr val="1F4E79"/>
            </a:solidFill>
            <a:prstDash val="solid"/>
          </a:ln>
        </p:spPr>
      </p:sp>
      <p:sp>
        <p:nvSpPr>
          <p:cNvPr id="9" name="Shape 7"/>
          <p:cNvSpPr/>
          <p:nvPr/>
        </p:nvSpPr>
        <p:spPr>
          <a:xfrm>
            <a:off x="1051560" y="1463040"/>
            <a:ext cx="182880" cy="201168"/>
          </a:xfrm>
          <a:prstGeom prst="rect">
            <a:avLst/>
          </a:prstGeom>
          <a:solidFill>
            <a:srgbClr val="2A6496"/>
          </a:solidFill>
          <a:ln w="6350">
            <a:solidFill>
              <a:srgbClr val="1F4E79"/>
            </a:solidFill>
            <a:prstDash val="solid"/>
          </a:ln>
        </p:spPr>
      </p:sp>
      <p:sp>
        <p:nvSpPr>
          <p:cNvPr id="10" name="Shape 8"/>
          <p:cNvSpPr/>
          <p:nvPr/>
        </p:nvSpPr>
        <p:spPr>
          <a:xfrm>
            <a:off x="1280160" y="1463040"/>
            <a:ext cx="182880" cy="201168"/>
          </a:xfrm>
          <a:prstGeom prst="rect">
            <a:avLst/>
          </a:prstGeom>
          <a:solidFill>
            <a:srgbClr val="0891B2"/>
          </a:solidFill>
          <a:ln w="6350">
            <a:solidFill>
              <a:srgbClr val="1F4E79"/>
            </a:solidFill>
            <a:prstDash val="solid"/>
          </a:ln>
        </p:spPr>
      </p:sp>
      <p:sp>
        <p:nvSpPr>
          <p:cNvPr id="11" name="Shape 9"/>
          <p:cNvSpPr/>
          <p:nvPr/>
        </p:nvSpPr>
        <p:spPr>
          <a:xfrm>
            <a:off x="1508760" y="1463040"/>
            <a:ext cx="182880" cy="201168"/>
          </a:xfrm>
          <a:prstGeom prst="rect">
            <a:avLst/>
          </a:prstGeom>
          <a:solidFill>
            <a:srgbClr val="0891B2"/>
          </a:solidFill>
          <a:ln w="6350">
            <a:solidFill>
              <a:srgbClr val="1F4E79"/>
            </a:solidFill>
            <a:prstDash val="solid"/>
          </a:ln>
        </p:spPr>
      </p:sp>
      <p:sp>
        <p:nvSpPr>
          <p:cNvPr id="12" name="Shape 10"/>
          <p:cNvSpPr/>
          <p:nvPr/>
        </p:nvSpPr>
        <p:spPr>
          <a:xfrm>
            <a:off x="1737360" y="1463040"/>
            <a:ext cx="182880" cy="201168"/>
          </a:xfrm>
          <a:prstGeom prst="rect">
            <a:avLst/>
          </a:prstGeom>
          <a:solidFill>
            <a:srgbClr val="2A6496"/>
          </a:solidFill>
          <a:ln w="6350">
            <a:solidFill>
              <a:srgbClr val="1F4E79"/>
            </a:solidFill>
            <a:prstDash val="solid"/>
          </a:ln>
        </p:spPr>
      </p:sp>
      <p:sp>
        <p:nvSpPr>
          <p:cNvPr id="13" name="Shape 11"/>
          <p:cNvSpPr/>
          <p:nvPr/>
        </p:nvSpPr>
        <p:spPr>
          <a:xfrm>
            <a:off x="1965960" y="1463040"/>
            <a:ext cx="182880" cy="201168"/>
          </a:xfrm>
          <a:prstGeom prst="rect">
            <a:avLst/>
          </a:prstGeom>
          <a:solidFill>
            <a:srgbClr val="2A6496"/>
          </a:solidFill>
          <a:ln w="6350">
            <a:solidFill>
              <a:srgbClr val="1F4E79"/>
            </a:solidFill>
            <a:prstDash val="solid"/>
          </a:ln>
        </p:spPr>
      </p:sp>
      <p:sp>
        <p:nvSpPr>
          <p:cNvPr id="14" name="Shape 12"/>
          <p:cNvSpPr/>
          <p:nvPr/>
        </p:nvSpPr>
        <p:spPr>
          <a:xfrm>
            <a:off x="365760" y="1737360"/>
            <a:ext cx="182880" cy="201168"/>
          </a:xfrm>
          <a:prstGeom prst="rect">
            <a:avLst/>
          </a:prstGeom>
          <a:solidFill>
            <a:srgbClr val="2A6496"/>
          </a:solidFill>
          <a:ln w="6350">
            <a:solidFill>
              <a:srgbClr val="1F4E79"/>
            </a:solidFill>
            <a:prstDash val="solid"/>
          </a:ln>
        </p:spPr>
      </p:sp>
      <p:sp>
        <p:nvSpPr>
          <p:cNvPr id="15" name="Shape 13"/>
          <p:cNvSpPr/>
          <p:nvPr/>
        </p:nvSpPr>
        <p:spPr>
          <a:xfrm>
            <a:off x="594360" y="1737360"/>
            <a:ext cx="182880" cy="201168"/>
          </a:xfrm>
          <a:prstGeom prst="rect">
            <a:avLst/>
          </a:prstGeom>
          <a:solidFill>
            <a:srgbClr val="2A6496"/>
          </a:solidFill>
          <a:ln w="6350">
            <a:solidFill>
              <a:srgbClr val="1F4E79"/>
            </a:solidFill>
            <a:prstDash val="solid"/>
          </a:ln>
        </p:spPr>
      </p:sp>
      <p:sp>
        <p:nvSpPr>
          <p:cNvPr id="16" name="Shape 14"/>
          <p:cNvSpPr/>
          <p:nvPr/>
        </p:nvSpPr>
        <p:spPr>
          <a:xfrm>
            <a:off x="822960" y="1737360"/>
            <a:ext cx="182880" cy="201168"/>
          </a:xfrm>
          <a:prstGeom prst="rect">
            <a:avLst/>
          </a:prstGeom>
          <a:solidFill>
            <a:srgbClr val="0891B2"/>
          </a:solidFill>
          <a:ln w="6350">
            <a:solidFill>
              <a:srgbClr val="1F4E79"/>
            </a:solidFill>
            <a:prstDash val="solid"/>
          </a:ln>
        </p:spPr>
      </p:sp>
      <p:sp>
        <p:nvSpPr>
          <p:cNvPr id="17" name="Shape 15"/>
          <p:cNvSpPr/>
          <p:nvPr/>
        </p:nvSpPr>
        <p:spPr>
          <a:xfrm>
            <a:off x="1051560" y="1737360"/>
            <a:ext cx="182880" cy="201168"/>
          </a:xfrm>
          <a:prstGeom prst="rect">
            <a:avLst/>
          </a:prstGeom>
          <a:solidFill>
            <a:srgbClr val="0891B2"/>
          </a:solidFill>
          <a:ln w="6350">
            <a:solidFill>
              <a:srgbClr val="1F4E79"/>
            </a:solidFill>
            <a:prstDash val="solid"/>
          </a:ln>
        </p:spPr>
      </p:sp>
      <p:sp>
        <p:nvSpPr>
          <p:cNvPr id="18" name="Shape 16"/>
          <p:cNvSpPr/>
          <p:nvPr/>
        </p:nvSpPr>
        <p:spPr>
          <a:xfrm>
            <a:off x="1280160" y="1737360"/>
            <a:ext cx="182880" cy="201168"/>
          </a:xfrm>
          <a:prstGeom prst="rect">
            <a:avLst/>
          </a:prstGeom>
          <a:solidFill>
            <a:srgbClr val="0891B2"/>
          </a:solidFill>
          <a:ln w="6350">
            <a:solidFill>
              <a:srgbClr val="1F4E79"/>
            </a:solidFill>
            <a:prstDash val="solid"/>
          </a:ln>
        </p:spPr>
      </p:sp>
      <p:sp>
        <p:nvSpPr>
          <p:cNvPr id="19" name="Shape 17"/>
          <p:cNvSpPr/>
          <p:nvPr/>
        </p:nvSpPr>
        <p:spPr>
          <a:xfrm>
            <a:off x="1508760" y="1737360"/>
            <a:ext cx="182880" cy="201168"/>
          </a:xfrm>
          <a:prstGeom prst="rect">
            <a:avLst/>
          </a:prstGeom>
          <a:solidFill>
            <a:srgbClr val="0891B2"/>
          </a:solidFill>
          <a:ln w="6350">
            <a:solidFill>
              <a:srgbClr val="1F4E79"/>
            </a:solidFill>
            <a:prstDash val="solid"/>
          </a:ln>
        </p:spPr>
      </p:sp>
      <p:sp>
        <p:nvSpPr>
          <p:cNvPr id="20" name="Shape 18"/>
          <p:cNvSpPr/>
          <p:nvPr/>
        </p:nvSpPr>
        <p:spPr>
          <a:xfrm>
            <a:off x="1737360" y="1737360"/>
            <a:ext cx="182880" cy="201168"/>
          </a:xfrm>
          <a:prstGeom prst="rect">
            <a:avLst/>
          </a:prstGeom>
          <a:solidFill>
            <a:srgbClr val="0891B2"/>
          </a:solidFill>
          <a:ln w="6350">
            <a:solidFill>
              <a:srgbClr val="1F4E79"/>
            </a:solidFill>
            <a:prstDash val="solid"/>
          </a:ln>
        </p:spPr>
      </p:sp>
      <p:sp>
        <p:nvSpPr>
          <p:cNvPr id="21" name="Shape 19"/>
          <p:cNvSpPr/>
          <p:nvPr/>
        </p:nvSpPr>
        <p:spPr>
          <a:xfrm>
            <a:off x="1965960" y="1737360"/>
            <a:ext cx="182880" cy="201168"/>
          </a:xfrm>
          <a:prstGeom prst="rect">
            <a:avLst/>
          </a:prstGeom>
          <a:solidFill>
            <a:srgbClr val="0891B2"/>
          </a:solidFill>
          <a:ln w="6350">
            <a:solidFill>
              <a:srgbClr val="1F4E79"/>
            </a:solidFill>
            <a:prstDash val="solid"/>
          </a:ln>
        </p:spPr>
      </p:sp>
      <p:sp>
        <p:nvSpPr>
          <p:cNvPr id="22" name="Shape 20"/>
          <p:cNvSpPr/>
          <p:nvPr/>
        </p:nvSpPr>
        <p:spPr>
          <a:xfrm>
            <a:off x="365760" y="2011680"/>
            <a:ext cx="182880" cy="201168"/>
          </a:xfrm>
          <a:prstGeom prst="rect">
            <a:avLst/>
          </a:prstGeom>
          <a:solidFill>
            <a:srgbClr val="0891B2"/>
          </a:solidFill>
          <a:ln w="6350">
            <a:solidFill>
              <a:srgbClr val="1F4E79"/>
            </a:solidFill>
            <a:prstDash val="solid"/>
          </a:ln>
        </p:spPr>
      </p:sp>
      <p:sp>
        <p:nvSpPr>
          <p:cNvPr id="23" name="Shape 21"/>
          <p:cNvSpPr/>
          <p:nvPr/>
        </p:nvSpPr>
        <p:spPr>
          <a:xfrm>
            <a:off x="594360" y="2011680"/>
            <a:ext cx="182880" cy="201168"/>
          </a:xfrm>
          <a:prstGeom prst="rect">
            <a:avLst/>
          </a:prstGeom>
          <a:solidFill>
            <a:srgbClr val="0891B2"/>
          </a:solidFill>
          <a:ln w="6350">
            <a:solidFill>
              <a:srgbClr val="1F4E79"/>
            </a:solidFill>
            <a:prstDash val="solid"/>
          </a:ln>
        </p:spPr>
      </p:sp>
      <p:sp>
        <p:nvSpPr>
          <p:cNvPr id="24" name="Shape 22"/>
          <p:cNvSpPr/>
          <p:nvPr/>
        </p:nvSpPr>
        <p:spPr>
          <a:xfrm>
            <a:off x="822960" y="2011680"/>
            <a:ext cx="182880" cy="201168"/>
          </a:xfrm>
          <a:prstGeom prst="rect">
            <a:avLst/>
          </a:prstGeom>
          <a:solidFill>
            <a:srgbClr val="2A6496"/>
          </a:solidFill>
          <a:ln w="6350">
            <a:solidFill>
              <a:srgbClr val="1F4E79"/>
            </a:solidFill>
            <a:prstDash val="solid"/>
          </a:ln>
        </p:spPr>
      </p:sp>
      <p:sp>
        <p:nvSpPr>
          <p:cNvPr id="25" name="Shape 23"/>
          <p:cNvSpPr/>
          <p:nvPr/>
        </p:nvSpPr>
        <p:spPr>
          <a:xfrm>
            <a:off x="1051560" y="2011680"/>
            <a:ext cx="182880" cy="201168"/>
          </a:xfrm>
          <a:prstGeom prst="rect">
            <a:avLst/>
          </a:prstGeom>
          <a:solidFill>
            <a:srgbClr val="2A6496"/>
          </a:solidFill>
          <a:ln w="6350">
            <a:solidFill>
              <a:srgbClr val="1F4E79"/>
            </a:solidFill>
            <a:prstDash val="solid"/>
          </a:ln>
        </p:spPr>
      </p:sp>
      <p:sp>
        <p:nvSpPr>
          <p:cNvPr id="26" name="Shape 24"/>
          <p:cNvSpPr/>
          <p:nvPr/>
        </p:nvSpPr>
        <p:spPr>
          <a:xfrm>
            <a:off x="1280160" y="2011680"/>
            <a:ext cx="182880" cy="201168"/>
          </a:xfrm>
          <a:prstGeom prst="rect">
            <a:avLst/>
          </a:prstGeom>
          <a:solidFill>
            <a:srgbClr val="2A6496"/>
          </a:solidFill>
          <a:ln w="6350">
            <a:solidFill>
              <a:srgbClr val="1F4E79"/>
            </a:solidFill>
            <a:prstDash val="solid"/>
          </a:ln>
        </p:spPr>
      </p:sp>
      <p:sp>
        <p:nvSpPr>
          <p:cNvPr id="27" name="Shape 25"/>
          <p:cNvSpPr/>
          <p:nvPr/>
        </p:nvSpPr>
        <p:spPr>
          <a:xfrm>
            <a:off x="1508760" y="2011680"/>
            <a:ext cx="182880" cy="201168"/>
          </a:xfrm>
          <a:prstGeom prst="rect">
            <a:avLst/>
          </a:prstGeom>
          <a:solidFill>
            <a:srgbClr val="0891B2"/>
          </a:solidFill>
          <a:ln w="6350">
            <a:solidFill>
              <a:srgbClr val="1F4E79"/>
            </a:solidFill>
            <a:prstDash val="solid"/>
          </a:ln>
        </p:spPr>
      </p:sp>
      <p:sp>
        <p:nvSpPr>
          <p:cNvPr id="28" name="Shape 26"/>
          <p:cNvSpPr/>
          <p:nvPr/>
        </p:nvSpPr>
        <p:spPr>
          <a:xfrm>
            <a:off x="1737360" y="2011680"/>
            <a:ext cx="182880" cy="201168"/>
          </a:xfrm>
          <a:prstGeom prst="rect">
            <a:avLst/>
          </a:prstGeom>
          <a:solidFill>
            <a:srgbClr val="0891B2"/>
          </a:solidFill>
          <a:ln w="6350">
            <a:solidFill>
              <a:srgbClr val="1F4E79"/>
            </a:solidFill>
            <a:prstDash val="solid"/>
          </a:ln>
        </p:spPr>
      </p:sp>
      <p:sp>
        <p:nvSpPr>
          <p:cNvPr id="29" name="Shape 27"/>
          <p:cNvSpPr/>
          <p:nvPr/>
        </p:nvSpPr>
        <p:spPr>
          <a:xfrm>
            <a:off x="1965960" y="2011680"/>
            <a:ext cx="182880" cy="201168"/>
          </a:xfrm>
          <a:prstGeom prst="rect">
            <a:avLst/>
          </a:prstGeom>
          <a:solidFill>
            <a:srgbClr val="0891B2"/>
          </a:solidFill>
          <a:ln w="6350">
            <a:solidFill>
              <a:srgbClr val="1F4E79"/>
            </a:solidFill>
            <a:prstDash val="solid"/>
          </a:ln>
        </p:spPr>
      </p:sp>
      <p:sp>
        <p:nvSpPr>
          <p:cNvPr id="30" name="Shape 28"/>
          <p:cNvSpPr/>
          <p:nvPr/>
        </p:nvSpPr>
        <p:spPr>
          <a:xfrm>
            <a:off x="2560320" y="960120"/>
            <a:ext cx="2011680" cy="2011680"/>
          </a:xfrm>
          <a:prstGeom prst="rect">
            <a:avLst/>
          </a:prstGeom>
          <a:solidFill>
            <a:srgbClr val="D6E8F8"/>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31" name="Text 29"/>
          <p:cNvSpPr/>
          <p:nvPr/>
        </p:nvSpPr>
        <p:spPr>
          <a:xfrm>
            <a:off x="2560320" y="1005840"/>
            <a:ext cx="2011680" cy="365760"/>
          </a:xfrm>
          <a:prstGeom prst="rect">
            <a:avLst/>
          </a:prstGeom>
          <a:noFill/>
          <a:ln/>
        </p:spPr>
        <p:txBody>
          <a:bodyPr wrap="square" lIns="0" tIns="0" rIns="0" bIns="0" rtlCol="0" anchor="ctr"/>
          <a:lstStyle/>
          <a:p>
            <a:pPr algn="ctr" indent="0" marL="0">
              <a:buNone/>
            </a:pPr>
            <a:r>
              <a:rPr lang="en-US" sz="1200" b="1" dirty="0">
                <a:solidFill>
                  <a:srgbClr val="1F4E79"/>
                </a:solidFill>
                <a:latin typeface="Malgun Gothic" pitchFamily="34" charset="0"/>
                <a:ea typeface="Malgun Gothic" pitchFamily="34" charset="-122"/>
                <a:cs typeface="Malgun Gothic" pitchFamily="34" charset="-120"/>
              </a:rPr>
              <a:t>캔버스 2</a:t>
            </a:r>
            <a:endParaRPr lang="en-US" sz="1200" dirty="0"/>
          </a:p>
        </p:txBody>
      </p:sp>
      <p:sp>
        <p:nvSpPr>
          <p:cNvPr id="32" name="Shape 30"/>
          <p:cNvSpPr/>
          <p:nvPr/>
        </p:nvSpPr>
        <p:spPr>
          <a:xfrm>
            <a:off x="2651760" y="1463040"/>
            <a:ext cx="182880" cy="201168"/>
          </a:xfrm>
          <a:prstGeom prst="rect">
            <a:avLst/>
          </a:prstGeom>
          <a:solidFill>
            <a:srgbClr val="CBD5E1"/>
          </a:solidFill>
          <a:ln w="6350">
            <a:solidFill>
              <a:srgbClr val="D6E8F8"/>
            </a:solidFill>
            <a:prstDash val="solid"/>
          </a:ln>
        </p:spPr>
      </p:sp>
      <p:sp>
        <p:nvSpPr>
          <p:cNvPr id="33" name="Shape 31"/>
          <p:cNvSpPr/>
          <p:nvPr/>
        </p:nvSpPr>
        <p:spPr>
          <a:xfrm>
            <a:off x="2880360" y="1463040"/>
            <a:ext cx="182880" cy="201168"/>
          </a:xfrm>
          <a:prstGeom prst="rect">
            <a:avLst/>
          </a:prstGeom>
          <a:solidFill>
            <a:srgbClr val="CBD5E1"/>
          </a:solidFill>
          <a:ln w="6350">
            <a:solidFill>
              <a:srgbClr val="D6E8F8"/>
            </a:solidFill>
            <a:prstDash val="solid"/>
          </a:ln>
        </p:spPr>
      </p:sp>
      <p:sp>
        <p:nvSpPr>
          <p:cNvPr id="34" name="Shape 32"/>
          <p:cNvSpPr/>
          <p:nvPr/>
        </p:nvSpPr>
        <p:spPr>
          <a:xfrm>
            <a:off x="3108960" y="1463040"/>
            <a:ext cx="182880" cy="201168"/>
          </a:xfrm>
          <a:prstGeom prst="rect">
            <a:avLst/>
          </a:prstGeom>
          <a:solidFill>
            <a:srgbClr val="B0CCDF"/>
          </a:solidFill>
          <a:ln w="6350">
            <a:solidFill>
              <a:srgbClr val="D6E8F8"/>
            </a:solidFill>
            <a:prstDash val="solid"/>
          </a:ln>
        </p:spPr>
      </p:sp>
      <p:sp>
        <p:nvSpPr>
          <p:cNvPr id="35" name="Shape 33"/>
          <p:cNvSpPr/>
          <p:nvPr/>
        </p:nvSpPr>
        <p:spPr>
          <a:xfrm>
            <a:off x="3337560" y="1463040"/>
            <a:ext cx="182880" cy="201168"/>
          </a:xfrm>
          <a:prstGeom prst="rect">
            <a:avLst/>
          </a:prstGeom>
          <a:solidFill>
            <a:srgbClr val="CBD5E1"/>
          </a:solidFill>
          <a:ln w="6350">
            <a:solidFill>
              <a:srgbClr val="D6E8F8"/>
            </a:solidFill>
            <a:prstDash val="solid"/>
          </a:ln>
        </p:spPr>
      </p:sp>
      <p:sp>
        <p:nvSpPr>
          <p:cNvPr id="36" name="Shape 34"/>
          <p:cNvSpPr/>
          <p:nvPr/>
        </p:nvSpPr>
        <p:spPr>
          <a:xfrm>
            <a:off x="3566160" y="1463040"/>
            <a:ext cx="182880" cy="201168"/>
          </a:xfrm>
          <a:prstGeom prst="rect">
            <a:avLst/>
          </a:prstGeom>
          <a:solidFill>
            <a:srgbClr val="CBD5E1"/>
          </a:solidFill>
          <a:ln w="6350">
            <a:solidFill>
              <a:srgbClr val="D6E8F8"/>
            </a:solidFill>
            <a:prstDash val="solid"/>
          </a:ln>
        </p:spPr>
      </p:sp>
      <p:sp>
        <p:nvSpPr>
          <p:cNvPr id="37" name="Shape 35"/>
          <p:cNvSpPr/>
          <p:nvPr/>
        </p:nvSpPr>
        <p:spPr>
          <a:xfrm>
            <a:off x="3794760" y="1463040"/>
            <a:ext cx="182880" cy="201168"/>
          </a:xfrm>
          <a:prstGeom prst="rect">
            <a:avLst/>
          </a:prstGeom>
          <a:solidFill>
            <a:srgbClr val="CBD5E1"/>
          </a:solidFill>
          <a:ln w="6350">
            <a:solidFill>
              <a:srgbClr val="D6E8F8"/>
            </a:solidFill>
            <a:prstDash val="solid"/>
          </a:ln>
        </p:spPr>
      </p:sp>
      <p:sp>
        <p:nvSpPr>
          <p:cNvPr id="38" name="Shape 36"/>
          <p:cNvSpPr/>
          <p:nvPr/>
        </p:nvSpPr>
        <p:spPr>
          <a:xfrm>
            <a:off x="4023360" y="1463040"/>
            <a:ext cx="182880" cy="201168"/>
          </a:xfrm>
          <a:prstGeom prst="rect">
            <a:avLst/>
          </a:prstGeom>
          <a:solidFill>
            <a:srgbClr val="CBD5E1"/>
          </a:solidFill>
          <a:ln w="6350">
            <a:solidFill>
              <a:srgbClr val="D6E8F8"/>
            </a:solidFill>
            <a:prstDash val="solid"/>
          </a:ln>
        </p:spPr>
      </p:sp>
      <p:sp>
        <p:nvSpPr>
          <p:cNvPr id="39" name="Shape 37"/>
          <p:cNvSpPr/>
          <p:nvPr/>
        </p:nvSpPr>
        <p:spPr>
          <a:xfrm>
            <a:off x="4251960" y="1463040"/>
            <a:ext cx="182880" cy="201168"/>
          </a:xfrm>
          <a:prstGeom prst="rect">
            <a:avLst/>
          </a:prstGeom>
          <a:solidFill>
            <a:srgbClr val="CBD5E1"/>
          </a:solidFill>
          <a:ln w="6350">
            <a:solidFill>
              <a:srgbClr val="D6E8F8"/>
            </a:solidFill>
            <a:prstDash val="solid"/>
          </a:ln>
        </p:spPr>
      </p:sp>
      <p:sp>
        <p:nvSpPr>
          <p:cNvPr id="40" name="Shape 38"/>
          <p:cNvSpPr/>
          <p:nvPr/>
        </p:nvSpPr>
        <p:spPr>
          <a:xfrm>
            <a:off x="2651760" y="1737360"/>
            <a:ext cx="182880" cy="201168"/>
          </a:xfrm>
          <a:prstGeom prst="rect">
            <a:avLst/>
          </a:prstGeom>
          <a:solidFill>
            <a:srgbClr val="B0CCDF"/>
          </a:solidFill>
          <a:ln w="6350">
            <a:solidFill>
              <a:srgbClr val="D6E8F8"/>
            </a:solidFill>
            <a:prstDash val="solid"/>
          </a:ln>
        </p:spPr>
      </p:sp>
      <p:sp>
        <p:nvSpPr>
          <p:cNvPr id="41" name="Shape 39"/>
          <p:cNvSpPr/>
          <p:nvPr/>
        </p:nvSpPr>
        <p:spPr>
          <a:xfrm>
            <a:off x="2880360" y="1737360"/>
            <a:ext cx="182880" cy="201168"/>
          </a:xfrm>
          <a:prstGeom prst="rect">
            <a:avLst/>
          </a:prstGeom>
          <a:solidFill>
            <a:srgbClr val="B0CCDF"/>
          </a:solidFill>
          <a:ln w="6350">
            <a:solidFill>
              <a:srgbClr val="D6E8F8"/>
            </a:solidFill>
            <a:prstDash val="solid"/>
          </a:ln>
        </p:spPr>
      </p:sp>
      <p:sp>
        <p:nvSpPr>
          <p:cNvPr id="42" name="Shape 40"/>
          <p:cNvSpPr/>
          <p:nvPr/>
        </p:nvSpPr>
        <p:spPr>
          <a:xfrm>
            <a:off x="3108960" y="1737360"/>
            <a:ext cx="182880" cy="201168"/>
          </a:xfrm>
          <a:prstGeom prst="rect">
            <a:avLst/>
          </a:prstGeom>
          <a:solidFill>
            <a:srgbClr val="B0CCDF"/>
          </a:solidFill>
          <a:ln w="6350">
            <a:solidFill>
              <a:srgbClr val="D6E8F8"/>
            </a:solidFill>
            <a:prstDash val="solid"/>
          </a:ln>
        </p:spPr>
      </p:sp>
      <p:sp>
        <p:nvSpPr>
          <p:cNvPr id="43" name="Shape 41"/>
          <p:cNvSpPr/>
          <p:nvPr/>
        </p:nvSpPr>
        <p:spPr>
          <a:xfrm>
            <a:off x="3337560" y="1737360"/>
            <a:ext cx="182880" cy="201168"/>
          </a:xfrm>
          <a:prstGeom prst="rect">
            <a:avLst/>
          </a:prstGeom>
          <a:solidFill>
            <a:srgbClr val="B0CCDF"/>
          </a:solidFill>
          <a:ln w="6350">
            <a:solidFill>
              <a:srgbClr val="D6E8F8"/>
            </a:solidFill>
            <a:prstDash val="solid"/>
          </a:ln>
        </p:spPr>
      </p:sp>
      <p:sp>
        <p:nvSpPr>
          <p:cNvPr id="44" name="Shape 42"/>
          <p:cNvSpPr/>
          <p:nvPr/>
        </p:nvSpPr>
        <p:spPr>
          <a:xfrm>
            <a:off x="3566160" y="1737360"/>
            <a:ext cx="182880" cy="201168"/>
          </a:xfrm>
          <a:prstGeom prst="rect">
            <a:avLst/>
          </a:prstGeom>
          <a:solidFill>
            <a:srgbClr val="CBD5E1"/>
          </a:solidFill>
          <a:ln w="6350">
            <a:solidFill>
              <a:srgbClr val="D6E8F8"/>
            </a:solidFill>
            <a:prstDash val="solid"/>
          </a:ln>
        </p:spPr>
      </p:sp>
      <p:sp>
        <p:nvSpPr>
          <p:cNvPr id="45" name="Shape 43"/>
          <p:cNvSpPr/>
          <p:nvPr/>
        </p:nvSpPr>
        <p:spPr>
          <a:xfrm>
            <a:off x="3794760" y="1737360"/>
            <a:ext cx="182880" cy="201168"/>
          </a:xfrm>
          <a:prstGeom prst="rect">
            <a:avLst/>
          </a:prstGeom>
          <a:solidFill>
            <a:srgbClr val="B0CCDF"/>
          </a:solidFill>
          <a:ln w="6350">
            <a:solidFill>
              <a:srgbClr val="D6E8F8"/>
            </a:solidFill>
            <a:prstDash val="solid"/>
          </a:ln>
        </p:spPr>
      </p:sp>
      <p:sp>
        <p:nvSpPr>
          <p:cNvPr id="46" name="Shape 44"/>
          <p:cNvSpPr/>
          <p:nvPr/>
        </p:nvSpPr>
        <p:spPr>
          <a:xfrm>
            <a:off x="4023360" y="1737360"/>
            <a:ext cx="182880" cy="201168"/>
          </a:xfrm>
          <a:prstGeom prst="rect">
            <a:avLst/>
          </a:prstGeom>
          <a:solidFill>
            <a:srgbClr val="CBD5E1"/>
          </a:solidFill>
          <a:ln w="6350">
            <a:solidFill>
              <a:srgbClr val="D6E8F8"/>
            </a:solidFill>
            <a:prstDash val="solid"/>
          </a:ln>
        </p:spPr>
      </p:sp>
      <p:sp>
        <p:nvSpPr>
          <p:cNvPr id="47" name="Shape 45"/>
          <p:cNvSpPr/>
          <p:nvPr/>
        </p:nvSpPr>
        <p:spPr>
          <a:xfrm>
            <a:off x="4251960" y="1737360"/>
            <a:ext cx="182880" cy="201168"/>
          </a:xfrm>
          <a:prstGeom prst="rect">
            <a:avLst/>
          </a:prstGeom>
          <a:solidFill>
            <a:srgbClr val="CBD5E1"/>
          </a:solidFill>
          <a:ln w="6350">
            <a:solidFill>
              <a:srgbClr val="D6E8F8"/>
            </a:solidFill>
            <a:prstDash val="solid"/>
          </a:ln>
        </p:spPr>
      </p:sp>
      <p:sp>
        <p:nvSpPr>
          <p:cNvPr id="48" name="Shape 46"/>
          <p:cNvSpPr/>
          <p:nvPr/>
        </p:nvSpPr>
        <p:spPr>
          <a:xfrm>
            <a:off x="2651760" y="2011680"/>
            <a:ext cx="182880" cy="201168"/>
          </a:xfrm>
          <a:prstGeom prst="rect">
            <a:avLst/>
          </a:prstGeom>
          <a:solidFill>
            <a:srgbClr val="CBD5E1"/>
          </a:solidFill>
          <a:ln w="6350">
            <a:solidFill>
              <a:srgbClr val="D6E8F8"/>
            </a:solidFill>
            <a:prstDash val="solid"/>
          </a:ln>
        </p:spPr>
      </p:sp>
      <p:sp>
        <p:nvSpPr>
          <p:cNvPr id="49" name="Shape 47"/>
          <p:cNvSpPr/>
          <p:nvPr/>
        </p:nvSpPr>
        <p:spPr>
          <a:xfrm>
            <a:off x="2880360" y="2011680"/>
            <a:ext cx="182880" cy="201168"/>
          </a:xfrm>
          <a:prstGeom prst="rect">
            <a:avLst/>
          </a:prstGeom>
          <a:solidFill>
            <a:srgbClr val="B0CCDF"/>
          </a:solidFill>
          <a:ln w="6350">
            <a:solidFill>
              <a:srgbClr val="D6E8F8"/>
            </a:solidFill>
            <a:prstDash val="solid"/>
          </a:ln>
        </p:spPr>
      </p:sp>
      <p:sp>
        <p:nvSpPr>
          <p:cNvPr id="50" name="Shape 48"/>
          <p:cNvSpPr/>
          <p:nvPr/>
        </p:nvSpPr>
        <p:spPr>
          <a:xfrm>
            <a:off x="3108960" y="2011680"/>
            <a:ext cx="182880" cy="201168"/>
          </a:xfrm>
          <a:prstGeom prst="rect">
            <a:avLst/>
          </a:prstGeom>
          <a:solidFill>
            <a:srgbClr val="B0CCDF"/>
          </a:solidFill>
          <a:ln w="6350">
            <a:solidFill>
              <a:srgbClr val="D6E8F8"/>
            </a:solidFill>
            <a:prstDash val="solid"/>
          </a:ln>
        </p:spPr>
      </p:sp>
      <p:sp>
        <p:nvSpPr>
          <p:cNvPr id="51" name="Shape 49"/>
          <p:cNvSpPr/>
          <p:nvPr/>
        </p:nvSpPr>
        <p:spPr>
          <a:xfrm>
            <a:off x="3337560" y="2011680"/>
            <a:ext cx="182880" cy="201168"/>
          </a:xfrm>
          <a:prstGeom prst="rect">
            <a:avLst/>
          </a:prstGeom>
          <a:solidFill>
            <a:srgbClr val="CBD5E1"/>
          </a:solidFill>
          <a:ln w="6350">
            <a:solidFill>
              <a:srgbClr val="D6E8F8"/>
            </a:solidFill>
            <a:prstDash val="solid"/>
          </a:ln>
        </p:spPr>
      </p:sp>
      <p:sp>
        <p:nvSpPr>
          <p:cNvPr id="52" name="Shape 50"/>
          <p:cNvSpPr/>
          <p:nvPr/>
        </p:nvSpPr>
        <p:spPr>
          <a:xfrm>
            <a:off x="3566160" y="2011680"/>
            <a:ext cx="182880" cy="201168"/>
          </a:xfrm>
          <a:prstGeom prst="rect">
            <a:avLst/>
          </a:prstGeom>
          <a:solidFill>
            <a:srgbClr val="CBD5E1"/>
          </a:solidFill>
          <a:ln w="6350">
            <a:solidFill>
              <a:srgbClr val="D6E8F8"/>
            </a:solidFill>
            <a:prstDash val="solid"/>
          </a:ln>
        </p:spPr>
      </p:sp>
      <p:sp>
        <p:nvSpPr>
          <p:cNvPr id="53" name="Shape 51"/>
          <p:cNvSpPr/>
          <p:nvPr/>
        </p:nvSpPr>
        <p:spPr>
          <a:xfrm>
            <a:off x="3794760" y="2011680"/>
            <a:ext cx="182880" cy="201168"/>
          </a:xfrm>
          <a:prstGeom prst="rect">
            <a:avLst/>
          </a:prstGeom>
          <a:solidFill>
            <a:srgbClr val="CBD5E1"/>
          </a:solidFill>
          <a:ln w="6350">
            <a:solidFill>
              <a:srgbClr val="D6E8F8"/>
            </a:solidFill>
            <a:prstDash val="solid"/>
          </a:ln>
        </p:spPr>
      </p:sp>
      <p:sp>
        <p:nvSpPr>
          <p:cNvPr id="54" name="Shape 52"/>
          <p:cNvSpPr/>
          <p:nvPr/>
        </p:nvSpPr>
        <p:spPr>
          <a:xfrm>
            <a:off x="4023360" y="2011680"/>
            <a:ext cx="182880" cy="201168"/>
          </a:xfrm>
          <a:prstGeom prst="rect">
            <a:avLst/>
          </a:prstGeom>
          <a:solidFill>
            <a:srgbClr val="B0CCDF"/>
          </a:solidFill>
          <a:ln w="6350">
            <a:solidFill>
              <a:srgbClr val="D6E8F8"/>
            </a:solidFill>
            <a:prstDash val="solid"/>
          </a:ln>
        </p:spPr>
      </p:sp>
      <p:sp>
        <p:nvSpPr>
          <p:cNvPr id="55" name="Shape 53"/>
          <p:cNvSpPr/>
          <p:nvPr/>
        </p:nvSpPr>
        <p:spPr>
          <a:xfrm>
            <a:off x="4251960" y="2011680"/>
            <a:ext cx="182880" cy="201168"/>
          </a:xfrm>
          <a:prstGeom prst="rect">
            <a:avLst/>
          </a:prstGeom>
          <a:solidFill>
            <a:srgbClr val="B0CCDF"/>
          </a:solidFill>
          <a:ln w="6350">
            <a:solidFill>
              <a:srgbClr val="D6E8F8"/>
            </a:solidFill>
            <a:prstDash val="solid"/>
          </a:ln>
        </p:spPr>
      </p:sp>
      <p:sp>
        <p:nvSpPr>
          <p:cNvPr id="56" name="Shape 54"/>
          <p:cNvSpPr/>
          <p:nvPr/>
        </p:nvSpPr>
        <p:spPr>
          <a:xfrm>
            <a:off x="4846320" y="960120"/>
            <a:ext cx="2011680" cy="2011680"/>
          </a:xfrm>
          <a:prstGeom prst="rect">
            <a:avLst/>
          </a:prstGeom>
          <a:solidFill>
            <a:srgbClr val="D6E8F8"/>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57" name="Text 55"/>
          <p:cNvSpPr/>
          <p:nvPr/>
        </p:nvSpPr>
        <p:spPr>
          <a:xfrm>
            <a:off x="4846320" y="1005840"/>
            <a:ext cx="2011680" cy="365760"/>
          </a:xfrm>
          <a:prstGeom prst="rect">
            <a:avLst/>
          </a:prstGeom>
          <a:noFill/>
          <a:ln/>
        </p:spPr>
        <p:txBody>
          <a:bodyPr wrap="square" lIns="0" tIns="0" rIns="0" bIns="0" rtlCol="0" anchor="ctr"/>
          <a:lstStyle/>
          <a:p>
            <a:pPr algn="ctr" indent="0" marL="0">
              <a:buNone/>
            </a:pPr>
            <a:r>
              <a:rPr lang="en-US" sz="1200" b="1" dirty="0">
                <a:solidFill>
                  <a:srgbClr val="1F4E79"/>
                </a:solidFill>
                <a:latin typeface="Malgun Gothic" pitchFamily="34" charset="0"/>
                <a:ea typeface="Malgun Gothic" pitchFamily="34" charset="-122"/>
                <a:cs typeface="Malgun Gothic" pitchFamily="34" charset="-120"/>
              </a:rPr>
              <a:t>캔버스 3</a:t>
            </a:r>
            <a:endParaRPr lang="en-US" sz="1200" dirty="0"/>
          </a:p>
        </p:txBody>
      </p:sp>
      <p:sp>
        <p:nvSpPr>
          <p:cNvPr id="58" name="Shape 56"/>
          <p:cNvSpPr/>
          <p:nvPr/>
        </p:nvSpPr>
        <p:spPr>
          <a:xfrm>
            <a:off x="4937760" y="1463040"/>
            <a:ext cx="182880" cy="201168"/>
          </a:xfrm>
          <a:prstGeom prst="rect">
            <a:avLst/>
          </a:prstGeom>
          <a:solidFill>
            <a:srgbClr val="CBD5E1"/>
          </a:solidFill>
          <a:ln w="6350">
            <a:solidFill>
              <a:srgbClr val="D6E8F8"/>
            </a:solidFill>
            <a:prstDash val="solid"/>
          </a:ln>
        </p:spPr>
      </p:sp>
      <p:sp>
        <p:nvSpPr>
          <p:cNvPr id="59" name="Shape 57"/>
          <p:cNvSpPr/>
          <p:nvPr/>
        </p:nvSpPr>
        <p:spPr>
          <a:xfrm>
            <a:off x="5166360" y="1463040"/>
            <a:ext cx="182880" cy="201168"/>
          </a:xfrm>
          <a:prstGeom prst="rect">
            <a:avLst/>
          </a:prstGeom>
          <a:solidFill>
            <a:srgbClr val="B0CCDF"/>
          </a:solidFill>
          <a:ln w="6350">
            <a:solidFill>
              <a:srgbClr val="D6E8F8"/>
            </a:solidFill>
            <a:prstDash val="solid"/>
          </a:ln>
        </p:spPr>
      </p:sp>
      <p:sp>
        <p:nvSpPr>
          <p:cNvPr id="60" name="Shape 58"/>
          <p:cNvSpPr/>
          <p:nvPr/>
        </p:nvSpPr>
        <p:spPr>
          <a:xfrm>
            <a:off x="5394960" y="1463040"/>
            <a:ext cx="182880" cy="201168"/>
          </a:xfrm>
          <a:prstGeom prst="rect">
            <a:avLst/>
          </a:prstGeom>
          <a:solidFill>
            <a:srgbClr val="CBD5E1"/>
          </a:solidFill>
          <a:ln w="6350">
            <a:solidFill>
              <a:srgbClr val="D6E8F8"/>
            </a:solidFill>
            <a:prstDash val="solid"/>
          </a:ln>
        </p:spPr>
      </p:sp>
      <p:sp>
        <p:nvSpPr>
          <p:cNvPr id="61" name="Shape 59"/>
          <p:cNvSpPr/>
          <p:nvPr/>
        </p:nvSpPr>
        <p:spPr>
          <a:xfrm>
            <a:off x="5623560" y="1463040"/>
            <a:ext cx="182880" cy="201168"/>
          </a:xfrm>
          <a:prstGeom prst="rect">
            <a:avLst/>
          </a:prstGeom>
          <a:solidFill>
            <a:srgbClr val="CBD5E1"/>
          </a:solidFill>
          <a:ln w="6350">
            <a:solidFill>
              <a:srgbClr val="D6E8F8"/>
            </a:solidFill>
            <a:prstDash val="solid"/>
          </a:ln>
        </p:spPr>
      </p:sp>
      <p:sp>
        <p:nvSpPr>
          <p:cNvPr id="62" name="Shape 60"/>
          <p:cNvSpPr/>
          <p:nvPr/>
        </p:nvSpPr>
        <p:spPr>
          <a:xfrm>
            <a:off x="5852160" y="1463040"/>
            <a:ext cx="182880" cy="201168"/>
          </a:xfrm>
          <a:prstGeom prst="rect">
            <a:avLst/>
          </a:prstGeom>
          <a:solidFill>
            <a:srgbClr val="B0CCDF"/>
          </a:solidFill>
          <a:ln w="6350">
            <a:solidFill>
              <a:srgbClr val="D6E8F8"/>
            </a:solidFill>
            <a:prstDash val="solid"/>
          </a:ln>
        </p:spPr>
      </p:sp>
      <p:sp>
        <p:nvSpPr>
          <p:cNvPr id="63" name="Shape 61"/>
          <p:cNvSpPr/>
          <p:nvPr/>
        </p:nvSpPr>
        <p:spPr>
          <a:xfrm>
            <a:off x="6080760" y="1463040"/>
            <a:ext cx="182880" cy="201168"/>
          </a:xfrm>
          <a:prstGeom prst="rect">
            <a:avLst/>
          </a:prstGeom>
          <a:solidFill>
            <a:srgbClr val="B0CCDF"/>
          </a:solidFill>
          <a:ln w="6350">
            <a:solidFill>
              <a:srgbClr val="D6E8F8"/>
            </a:solidFill>
            <a:prstDash val="solid"/>
          </a:ln>
        </p:spPr>
      </p:sp>
      <p:sp>
        <p:nvSpPr>
          <p:cNvPr id="64" name="Shape 62"/>
          <p:cNvSpPr/>
          <p:nvPr/>
        </p:nvSpPr>
        <p:spPr>
          <a:xfrm>
            <a:off x="6309360" y="1463040"/>
            <a:ext cx="182880" cy="201168"/>
          </a:xfrm>
          <a:prstGeom prst="rect">
            <a:avLst/>
          </a:prstGeom>
          <a:solidFill>
            <a:srgbClr val="B0CCDF"/>
          </a:solidFill>
          <a:ln w="6350">
            <a:solidFill>
              <a:srgbClr val="D6E8F8"/>
            </a:solidFill>
            <a:prstDash val="solid"/>
          </a:ln>
        </p:spPr>
      </p:sp>
      <p:sp>
        <p:nvSpPr>
          <p:cNvPr id="65" name="Shape 63"/>
          <p:cNvSpPr/>
          <p:nvPr/>
        </p:nvSpPr>
        <p:spPr>
          <a:xfrm>
            <a:off x="6537960" y="1463040"/>
            <a:ext cx="182880" cy="201168"/>
          </a:xfrm>
          <a:prstGeom prst="rect">
            <a:avLst/>
          </a:prstGeom>
          <a:solidFill>
            <a:srgbClr val="B0CCDF"/>
          </a:solidFill>
          <a:ln w="6350">
            <a:solidFill>
              <a:srgbClr val="D6E8F8"/>
            </a:solidFill>
            <a:prstDash val="solid"/>
          </a:ln>
        </p:spPr>
      </p:sp>
      <p:sp>
        <p:nvSpPr>
          <p:cNvPr id="66" name="Shape 64"/>
          <p:cNvSpPr/>
          <p:nvPr/>
        </p:nvSpPr>
        <p:spPr>
          <a:xfrm>
            <a:off x="4937760" y="1737360"/>
            <a:ext cx="182880" cy="201168"/>
          </a:xfrm>
          <a:prstGeom prst="rect">
            <a:avLst/>
          </a:prstGeom>
          <a:solidFill>
            <a:srgbClr val="B0CCDF"/>
          </a:solidFill>
          <a:ln w="6350">
            <a:solidFill>
              <a:srgbClr val="D6E8F8"/>
            </a:solidFill>
            <a:prstDash val="solid"/>
          </a:ln>
        </p:spPr>
      </p:sp>
      <p:sp>
        <p:nvSpPr>
          <p:cNvPr id="67" name="Shape 65"/>
          <p:cNvSpPr/>
          <p:nvPr/>
        </p:nvSpPr>
        <p:spPr>
          <a:xfrm>
            <a:off x="5166360" y="1737360"/>
            <a:ext cx="182880" cy="201168"/>
          </a:xfrm>
          <a:prstGeom prst="rect">
            <a:avLst/>
          </a:prstGeom>
          <a:solidFill>
            <a:srgbClr val="CBD5E1"/>
          </a:solidFill>
          <a:ln w="6350">
            <a:solidFill>
              <a:srgbClr val="D6E8F8"/>
            </a:solidFill>
            <a:prstDash val="solid"/>
          </a:ln>
        </p:spPr>
      </p:sp>
      <p:sp>
        <p:nvSpPr>
          <p:cNvPr id="68" name="Shape 66"/>
          <p:cNvSpPr/>
          <p:nvPr/>
        </p:nvSpPr>
        <p:spPr>
          <a:xfrm>
            <a:off x="5394960" y="1737360"/>
            <a:ext cx="182880" cy="201168"/>
          </a:xfrm>
          <a:prstGeom prst="rect">
            <a:avLst/>
          </a:prstGeom>
          <a:solidFill>
            <a:srgbClr val="B0CCDF"/>
          </a:solidFill>
          <a:ln w="6350">
            <a:solidFill>
              <a:srgbClr val="D6E8F8"/>
            </a:solidFill>
            <a:prstDash val="solid"/>
          </a:ln>
        </p:spPr>
      </p:sp>
      <p:sp>
        <p:nvSpPr>
          <p:cNvPr id="69" name="Shape 67"/>
          <p:cNvSpPr/>
          <p:nvPr/>
        </p:nvSpPr>
        <p:spPr>
          <a:xfrm>
            <a:off x="5623560" y="1737360"/>
            <a:ext cx="182880" cy="201168"/>
          </a:xfrm>
          <a:prstGeom prst="rect">
            <a:avLst/>
          </a:prstGeom>
          <a:solidFill>
            <a:srgbClr val="B0CCDF"/>
          </a:solidFill>
          <a:ln w="6350">
            <a:solidFill>
              <a:srgbClr val="D6E8F8"/>
            </a:solidFill>
            <a:prstDash val="solid"/>
          </a:ln>
        </p:spPr>
      </p:sp>
      <p:sp>
        <p:nvSpPr>
          <p:cNvPr id="70" name="Shape 68"/>
          <p:cNvSpPr/>
          <p:nvPr/>
        </p:nvSpPr>
        <p:spPr>
          <a:xfrm>
            <a:off x="5852160" y="1737360"/>
            <a:ext cx="182880" cy="201168"/>
          </a:xfrm>
          <a:prstGeom prst="rect">
            <a:avLst/>
          </a:prstGeom>
          <a:solidFill>
            <a:srgbClr val="CBD5E1"/>
          </a:solidFill>
          <a:ln w="6350">
            <a:solidFill>
              <a:srgbClr val="D6E8F8"/>
            </a:solidFill>
            <a:prstDash val="solid"/>
          </a:ln>
        </p:spPr>
      </p:sp>
      <p:sp>
        <p:nvSpPr>
          <p:cNvPr id="71" name="Shape 69"/>
          <p:cNvSpPr/>
          <p:nvPr/>
        </p:nvSpPr>
        <p:spPr>
          <a:xfrm>
            <a:off x="6080760" y="1737360"/>
            <a:ext cx="182880" cy="201168"/>
          </a:xfrm>
          <a:prstGeom prst="rect">
            <a:avLst/>
          </a:prstGeom>
          <a:solidFill>
            <a:srgbClr val="CBD5E1"/>
          </a:solidFill>
          <a:ln w="6350">
            <a:solidFill>
              <a:srgbClr val="D6E8F8"/>
            </a:solidFill>
            <a:prstDash val="solid"/>
          </a:ln>
        </p:spPr>
      </p:sp>
      <p:sp>
        <p:nvSpPr>
          <p:cNvPr id="72" name="Shape 70"/>
          <p:cNvSpPr/>
          <p:nvPr/>
        </p:nvSpPr>
        <p:spPr>
          <a:xfrm>
            <a:off x="6309360" y="1737360"/>
            <a:ext cx="182880" cy="201168"/>
          </a:xfrm>
          <a:prstGeom prst="rect">
            <a:avLst/>
          </a:prstGeom>
          <a:solidFill>
            <a:srgbClr val="CBD5E1"/>
          </a:solidFill>
          <a:ln w="6350">
            <a:solidFill>
              <a:srgbClr val="D6E8F8"/>
            </a:solidFill>
            <a:prstDash val="solid"/>
          </a:ln>
        </p:spPr>
      </p:sp>
      <p:sp>
        <p:nvSpPr>
          <p:cNvPr id="73" name="Shape 71"/>
          <p:cNvSpPr/>
          <p:nvPr/>
        </p:nvSpPr>
        <p:spPr>
          <a:xfrm>
            <a:off x="6537960" y="1737360"/>
            <a:ext cx="182880" cy="201168"/>
          </a:xfrm>
          <a:prstGeom prst="rect">
            <a:avLst/>
          </a:prstGeom>
          <a:solidFill>
            <a:srgbClr val="B0CCDF"/>
          </a:solidFill>
          <a:ln w="6350">
            <a:solidFill>
              <a:srgbClr val="D6E8F8"/>
            </a:solidFill>
            <a:prstDash val="solid"/>
          </a:ln>
        </p:spPr>
      </p:sp>
      <p:sp>
        <p:nvSpPr>
          <p:cNvPr id="74" name="Shape 72"/>
          <p:cNvSpPr/>
          <p:nvPr/>
        </p:nvSpPr>
        <p:spPr>
          <a:xfrm>
            <a:off x="4937760" y="2011680"/>
            <a:ext cx="182880" cy="201168"/>
          </a:xfrm>
          <a:prstGeom prst="rect">
            <a:avLst/>
          </a:prstGeom>
          <a:solidFill>
            <a:srgbClr val="CBD5E1"/>
          </a:solidFill>
          <a:ln w="6350">
            <a:solidFill>
              <a:srgbClr val="D6E8F8"/>
            </a:solidFill>
            <a:prstDash val="solid"/>
          </a:ln>
        </p:spPr>
      </p:sp>
      <p:sp>
        <p:nvSpPr>
          <p:cNvPr id="75" name="Shape 73"/>
          <p:cNvSpPr/>
          <p:nvPr/>
        </p:nvSpPr>
        <p:spPr>
          <a:xfrm>
            <a:off x="5166360" y="2011680"/>
            <a:ext cx="182880" cy="201168"/>
          </a:xfrm>
          <a:prstGeom prst="rect">
            <a:avLst/>
          </a:prstGeom>
          <a:solidFill>
            <a:srgbClr val="B0CCDF"/>
          </a:solidFill>
          <a:ln w="6350">
            <a:solidFill>
              <a:srgbClr val="D6E8F8"/>
            </a:solidFill>
            <a:prstDash val="solid"/>
          </a:ln>
        </p:spPr>
      </p:sp>
      <p:sp>
        <p:nvSpPr>
          <p:cNvPr id="76" name="Shape 74"/>
          <p:cNvSpPr/>
          <p:nvPr/>
        </p:nvSpPr>
        <p:spPr>
          <a:xfrm>
            <a:off x="5394960" y="2011680"/>
            <a:ext cx="182880" cy="201168"/>
          </a:xfrm>
          <a:prstGeom prst="rect">
            <a:avLst/>
          </a:prstGeom>
          <a:solidFill>
            <a:srgbClr val="CBD5E1"/>
          </a:solidFill>
          <a:ln w="6350">
            <a:solidFill>
              <a:srgbClr val="D6E8F8"/>
            </a:solidFill>
            <a:prstDash val="solid"/>
          </a:ln>
        </p:spPr>
      </p:sp>
      <p:sp>
        <p:nvSpPr>
          <p:cNvPr id="77" name="Shape 75"/>
          <p:cNvSpPr/>
          <p:nvPr/>
        </p:nvSpPr>
        <p:spPr>
          <a:xfrm>
            <a:off x="5623560" y="2011680"/>
            <a:ext cx="182880" cy="201168"/>
          </a:xfrm>
          <a:prstGeom prst="rect">
            <a:avLst/>
          </a:prstGeom>
          <a:solidFill>
            <a:srgbClr val="CBD5E1"/>
          </a:solidFill>
          <a:ln w="6350">
            <a:solidFill>
              <a:srgbClr val="D6E8F8"/>
            </a:solidFill>
            <a:prstDash val="solid"/>
          </a:ln>
        </p:spPr>
      </p:sp>
      <p:sp>
        <p:nvSpPr>
          <p:cNvPr id="78" name="Shape 76"/>
          <p:cNvSpPr/>
          <p:nvPr/>
        </p:nvSpPr>
        <p:spPr>
          <a:xfrm>
            <a:off x="5852160" y="2011680"/>
            <a:ext cx="182880" cy="201168"/>
          </a:xfrm>
          <a:prstGeom prst="rect">
            <a:avLst/>
          </a:prstGeom>
          <a:solidFill>
            <a:srgbClr val="CBD5E1"/>
          </a:solidFill>
          <a:ln w="6350">
            <a:solidFill>
              <a:srgbClr val="D6E8F8"/>
            </a:solidFill>
            <a:prstDash val="solid"/>
          </a:ln>
        </p:spPr>
      </p:sp>
      <p:sp>
        <p:nvSpPr>
          <p:cNvPr id="79" name="Shape 77"/>
          <p:cNvSpPr/>
          <p:nvPr/>
        </p:nvSpPr>
        <p:spPr>
          <a:xfrm>
            <a:off x="6080760" y="2011680"/>
            <a:ext cx="182880" cy="201168"/>
          </a:xfrm>
          <a:prstGeom prst="rect">
            <a:avLst/>
          </a:prstGeom>
          <a:solidFill>
            <a:srgbClr val="CBD5E1"/>
          </a:solidFill>
          <a:ln w="6350">
            <a:solidFill>
              <a:srgbClr val="D6E8F8"/>
            </a:solidFill>
            <a:prstDash val="solid"/>
          </a:ln>
        </p:spPr>
      </p:sp>
      <p:sp>
        <p:nvSpPr>
          <p:cNvPr id="80" name="Shape 78"/>
          <p:cNvSpPr/>
          <p:nvPr/>
        </p:nvSpPr>
        <p:spPr>
          <a:xfrm>
            <a:off x="6309360" y="2011680"/>
            <a:ext cx="182880" cy="201168"/>
          </a:xfrm>
          <a:prstGeom prst="rect">
            <a:avLst/>
          </a:prstGeom>
          <a:solidFill>
            <a:srgbClr val="B0CCDF"/>
          </a:solidFill>
          <a:ln w="6350">
            <a:solidFill>
              <a:srgbClr val="D6E8F8"/>
            </a:solidFill>
            <a:prstDash val="solid"/>
          </a:ln>
        </p:spPr>
      </p:sp>
      <p:sp>
        <p:nvSpPr>
          <p:cNvPr id="81" name="Shape 79"/>
          <p:cNvSpPr/>
          <p:nvPr/>
        </p:nvSpPr>
        <p:spPr>
          <a:xfrm>
            <a:off x="6537960" y="2011680"/>
            <a:ext cx="182880" cy="201168"/>
          </a:xfrm>
          <a:prstGeom prst="rect">
            <a:avLst/>
          </a:prstGeom>
          <a:solidFill>
            <a:srgbClr val="CBD5E1"/>
          </a:solidFill>
          <a:ln w="6350">
            <a:solidFill>
              <a:srgbClr val="D6E8F8"/>
            </a:solidFill>
            <a:prstDash val="solid"/>
          </a:ln>
        </p:spPr>
      </p:sp>
      <p:sp>
        <p:nvSpPr>
          <p:cNvPr id="82" name="Shape 80"/>
          <p:cNvSpPr/>
          <p:nvPr/>
        </p:nvSpPr>
        <p:spPr>
          <a:xfrm>
            <a:off x="7132320" y="960120"/>
            <a:ext cx="2011680" cy="2011680"/>
          </a:xfrm>
          <a:prstGeom prst="rect">
            <a:avLst/>
          </a:prstGeom>
          <a:solidFill>
            <a:srgbClr val="D6E8F8"/>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83" name="Text 81"/>
          <p:cNvSpPr/>
          <p:nvPr/>
        </p:nvSpPr>
        <p:spPr>
          <a:xfrm>
            <a:off x="7132320" y="1005840"/>
            <a:ext cx="2011680" cy="365760"/>
          </a:xfrm>
          <a:prstGeom prst="rect">
            <a:avLst/>
          </a:prstGeom>
          <a:noFill/>
          <a:ln/>
        </p:spPr>
        <p:txBody>
          <a:bodyPr wrap="square" lIns="0" tIns="0" rIns="0" bIns="0" rtlCol="0" anchor="ctr"/>
          <a:lstStyle/>
          <a:p>
            <a:pPr algn="ctr" indent="0" marL="0">
              <a:buNone/>
            </a:pPr>
            <a:r>
              <a:rPr lang="en-US" sz="1200" b="1" dirty="0">
                <a:solidFill>
                  <a:srgbClr val="1F4E79"/>
                </a:solidFill>
                <a:latin typeface="Malgun Gothic" pitchFamily="34" charset="0"/>
                <a:ea typeface="Malgun Gothic" pitchFamily="34" charset="-122"/>
                <a:cs typeface="Malgun Gothic" pitchFamily="34" charset="-120"/>
              </a:rPr>
              <a:t>...</a:t>
            </a:r>
            <a:endParaRPr lang="en-US" sz="1200" dirty="0"/>
          </a:p>
        </p:txBody>
      </p:sp>
      <p:sp>
        <p:nvSpPr>
          <p:cNvPr id="84" name="Text 82"/>
          <p:cNvSpPr/>
          <p:nvPr/>
        </p:nvSpPr>
        <p:spPr>
          <a:xfrm>
            <a:off x="7132320" y="1463040"/>
            <a:ext cx="2011680" cy="1188720"/>
          </a:xfrm>
          <a:prstGeom prst="rect">
            <a:avLst/>
          </a:prstGeom>
          <a:noFill/>
          <a:ln/>
        </p:spPr>
        <p:txBody>
          <a:bodyPr wrap="square" lIns="0" tIns="0" rIns="0" bIns="0" rtlCol="0" anchor="ctr"/>
          <a:lstStyle/>
          <a:p>
            <a:pPr algn="ctr" indent="0" marL="0">
              <a:buNone/>
            </a:pPr>
            <a:r>
              <a:rPr lang="en-US" sz="1300" dirty="0">
                <a:solidFill>
                  <a:srgbClr val="94A3B8"/>
                </a:solidFill>
                <a:latin typeface="Malgun Gothic" pitchFamily="34" charset="0"/>
                <a:ea typeface="Malgun Gothic" pitchFamily="34" charset="-122"/>
                <a:cs typeface="Malgun Gothic" pitchFamily="34" charset="-120"/>
              </a:rPr>
              <a:t>다음 캔버스</a:t>
            </a:r>
            <a:endParaRPr lang="en-US" sz="1300" dirty="0"/>
          </a:p>
          <a:p>
            <a:pPr algn="ctr" indent="0" marL="0">
              <a:buNone/>
            </a:pPr>
            <a:r>
              <a:rPr lang="en-US" sz="1300" dirty="0">
                <a:solidFill>
                  <a:srgbClr val="94A3B8"/>
                </a:solidFill>
                <a:latin typeface="Malgun Gothic" pitchFamily="34" charset="0"/>
                <a:ea typeface="Malgun Gothic" pitchFamily="34" charset="-122"/>
                <a:cs typeface="Malgun Gothic" pitchFamily="34" charset="-120"/>
              </a:rPr>
              <a:t>계속...</a:t>
            </a:r>
            <a:endParaRPr lang="en-US" sz="1300" dirty="0"/>
          </a:p>
        </p:txBody>
      </p:sp>
      <p:sp>
        <p:nvSpPr>
          <p:cNvPr id="85" name="Text 83"/>
          <p:cNvSpPr/>
          <p:nvPr/>
        </p:nvSpPr>
        <p:spPr>
          <a:xfrm>
            <a:off x="2286000" y="1645920"/>
            <a:ext cx="548640" cy="365760"/>
          </a:xfrm>
          <a:prstGeom prst="rect">
            <a:avLst/>
          </a:prstGeom>
          <a:noFill/>
          <a:ln/>
        </p:spPr>
        <p:txBody>
          <a:bodyPr wrap="square" lIns="0" tIns="0" rIns="0" bIns="0" rtlCol="0" anchor="ctr"/>
          <a:lstStyle/>
          <a:p>
            <a:pPr algn="ctr" indent="0" marL="0">
              <a:buNone/>
            </a:pPr>
            <a:r>
              <a:rPr lang="en-US" sz="1800" b="1" dirty="0">
                <a:solidFill>
                  <a:srgbClr val="0891B2"/>
                </a:solidFill>
                <a:latin typeface="Malgun Gothic" pitchFamily="34" charset="0"/>
                <a:ea typeface="Malgun Gothic" pitchFamily="34" charset="-122"/>
                <a:cs typeface="Malgun Gothic" pitchFamily="34" charset="-120"/>
              </a:rPr>
              <a:t>→</a:t>
            </a:r>
            <a:endParaRPr lang="en-US" sz="1800" dirty="0"/>
          </a:p>
        </p:txBody>
      </p:sp>
      <p:sp>
        <p:nvSpPr>
          <p:cNvPr id="86" name="Shape 84"/>
          <p:cNvSpPr/>
          <p:nvPr/>
        </p:nvSpPr>
        <p:spPr>
          <a:xfrm>
            <a:off x="2377440" y="1965960"/>
            <a:ext cx="365760" cy="0"/>
          </a:xfrm>
          <a:prstGeom prst="line">
            <a:avLst/>
          </a:prstGeom>
          <a:noFill/>
          <a:ln w="19050">
            <a:solidFill>
              <a:srgbClr val="0891B2"/>
            </a:solidFill>
            <a:prstDash val="solid"/>
          </a:ln>
        </p:spPr>
      </p:sp>
      <p:sp>
        <p:nvSpPr>
          <p:cNvPr id="87" name="Text 85"/>
          <p:cNvSpPr/>
          <p:nvPr/>
        </p:nvSpPr>
        <p:spPr>
          <a:xfrm>
            <a:off x="4572000" y="1645920"/>
            <a:ext cx="548640" cy="365760"/>
          </a:xfrm>
          <a:prstGeom prst="rect">
            <a:avLst/>
          </a:prstGeom>
          <a:noFill/>
          <a:ln/>
        </p:spPr>
        <p:txBody>
          <a:bodyPr wrap="square" lIns="0" tIns="0" rIns="0" bIns="0" rtlCol="0" anchor="ctr"/>
          <a:lstStyle/>
          <a:p>
            <a:pPr algn="ctr" indent="0" marL="0">
              <a:buNone/>
            </a:pPr>
            <a:r>
              <a:rPr lang="en-US" sz="1800" b="1" dirty="0">
                <a:solidFill>
                  <a:srgbClr val="0891B2"/>
                </a:solidFill>
                <a:latin typeface="Malgun Gothic" pitchFamily="34" charset="0"/>
                <a:ea typeface="Malgun Gothic" pitchFamily="34" charset="-122"/>
                <a:cs typeface="Malgun Gothic" pitchFamily="34" charset="-120"/>
              </a:rPr>
              <a:t>→</a:t>
            </a:r>
            <a:endParaRPr lang="en-US" sz="1800" dirty="0"/>
          </a:p>
        </p:txBody>
      </p:sp>
      <p:sp>
        <p:nvSpPr>
          <p:cNvPr id="88" name="Shape 86"/>
          <p:cNvSpPr/>
          <p:nvPr/>
        </p:nvSpPr>
        <p:spPr>
          <a:xfrm>
            <a:off x="4663440" y="1965960"/>
            <a:ext cx="365760" cy="0"/>
          </a:xfrm>
          <a:prstGeom prst="line">
            <a:avLst/>
          </a:prstGeom>
          <a:noFill/>
          <a:ln w="19050">
            <a:solidFill>
              <a:srgbClr val="0891B2"/>
            </a:solidFill>
            <a:prstDash val="solid"/>
          </a:ln>
        </p:spPr>
      </p:sp>
      <p:sp>
        <p:nvSpPr>
          <p:cNvPr id="89" name="Text 87"/>
          <p:cNvSpPr/>
          <p:nvPr/>
        </p:nvSpPr>
        <p:spPr>
          <a:xfrm>
            <a:off x="6858000" y="1645920"/>
            <a:ext cx="548640" cy="365760"/>
          </a:xfrm>
          <a:prstGeom prst="rect">
            <a:avLst/>
          </a:prstGeom>
          <a:noFill/>
          <a:ln/>
        </p:spPr>
        <p:txBody>
          <a:bodyPr wrap="square" lIns="0" tIns="0" rIns="0" bIns="0" rtlCol="0" anchor="ctr"/>
          <a:lstStyle/>
          <a:p>
            <a:pPr algn="ctr" indent="0" marL="0">
              <a:buNone/>
            </a:pPr>
            <a:r>
              <a:rPr lang="en-US" sz="1800" b="1" dirty="0">
                <a:solidFill>
                  <a:srgbClr val="0891B2"/>
                </a:solidFill>
                <a:latin typeface="Malgun Gothic" pitchFamily="34" charset="0"/>
                <a:ea typeface="Malgun Gothic" pitchFamily="34" charset="-122"/>
                <a:cs typeface="Malgun Gothic" pitchFamily="34" charset="-120"/>
              </a:rPr>
              <a:t>→</a:t>
            </a:r>
            <a:endParaRPr lang="en-US" sz="1800" dirty="0"/>
          </a:p>
        </p:txBody>
      </p:sp>
      <p:sp>
        <p:nvSpPr>
          <p:cNvPr id="90" name="Shape 88"/>
          <p:cNvSpPr/>
          <p:nvPr/>
        </p:nvSpPr>
        <p:spPr>
          <a:xfrm>
            <a:off x="6949440" y="1965960"/>
            <a:ext cx="365760" cy="0"/>
          </a:xfrm>
          <a:prstGeom prst="line">
            <a:avLst/>
          </a:prstGeom>
          <a:noFill/>
          <a:ln w="19050">
            <a:solidFill>
              <a:srgbClr val="0891B2"/>
            </a:solidFill>
            <a:prstDash val="solid"/>
          </a:ln>
        </p:spPr>
      </p:sp>
      <p:sp>
        <p:nvSpPr>
          <p:cNvPr id="91" name="Text 89"/>
          <p:cNvSpPr/>
          <p:nvPr/>
        </p:nvSpPr>
        <p:spPr>
          <a:xfrm>
            <a:off x="274320" y="3108960"/>
            <a:ext cx="8595360" cy="320040"/>
          </a:xfrm>
          <a:prstGeom prst="rect">
            <a:avLst/>
          </a:prstGeom>
          <a:noFill/>
          <a:ln/>
        </p:spPr>
        <p:txBody>
          <a:bodyPr wrap="square" lIns="0" tIns="0" rIns="0" bIns="0" rtlCol="0" anchor="ctr"/>
          <a:lstStyle/>
          <a:p>
            <a:pPr algn="ctr" indent="0" marL="0">
              <a:buNone/>
            </a:pPr>
            <a:r>
              <a:rPr lang="en-US" sz="1200" dirty="0">
                <a:solidFill>
                  <a:srgbClr val="2A6496"/>
                </a:solidFill>
                <a:latin typeface="Malgun Gothic" pitchFamily="34" charset="0"/>
                <a:ea typeface="Malgun Gothic" pitchFamily="34" charset="-122"/>
                <a:cs typeface="Malgun Gothic" pitchFamily="34" charset="-120"/>
              </a:rPr>
              <a:t>KV 캐시에 저장 → 다음 캔버스 컨텍스트로 활용</a:t>
            </a:r>
            <a:endParaRPr lang="en-US" sz="1200" dirty="0"/>
          </a:p>
        </p:txBody>
      </p:sp>
      <p:sp>
        <p:nvSpPr>
          <p:cNvPr id="92" name="Shape 90"/>
          <p:cNvSpPr/>
          <p:nvPr/>
        </p:nvSpPr>
        <p:spPr>
          <a:xfrm>
            <a:off x="914400" y="3520440"/>
            <a:ext cx="2286000" cy="128016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93" name="Text 91"/>
          <p:cNvSpPr/>
          <p:nvPr/>
        </p:nvSpPr>
        <p:spPr>
          <a:xfrm>
            <a:off x="914400" y="3566160"/>
            <a:ext cx="2286000" cy="594360"/>
          </a:xfrm>
          <a:prstGeom prst="rect">
            <a:avLst/>
          </a:prstGeom>
          <a:noFill/>
          <a:ln/>
        </p:spPr>
        <p:txBody>
          <a:bodyPr wrap="square" lIns="0" tIns="0" rIns="0" bIns="0" rtlCol="0" anchor="ctr"/>
          <a:lstStyle/>
          <a:p>
            <a:pPr algn="ctr" indent="0" marL="0">
              <a:buNone/>
            </a:pPr>
            <a:r>
              <a:rPr lang="en-US" sz="2800" b="1" dirty="0">
                <a:solidFill>
                  <a:srgbClr val="06B6D4"/>
                </a:solidFill>
                <a:latin typeface="Malgun Gothic" pitchFamily="34" charset="0"/>
                <a:ea typeface="Malgun Gothic" pitchFamily="34" charset="-122"/>
                <a:cs typeface="Malgun Gothic" pitchFamily="34" charset="-120"/>
              </a:rPr>
              <a:t>256</a:t>
            </a:r>
            <a:endParaRPr lang="en-US" sz="2800" dirty="0"/>
          </a:p>
        </p:txBody>
      </p:sp>
      <p:sp>
        <p:nvSpPr>
          <p:cNvPr id="94" name="Text 92"/>
          <p:cNvSpPr/>
          <p:nvPr/>
        </p:nvSpPr>
        <p:spPr>
          <a:xfrm>
            <a:off x="914400" y="4160520"/>
            <a:ext cx="2286000" cy="54864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캔버스 크기</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(토큰)</a:t>
            </a:r>
            <a:endParaRPr lang="en-US" sz="1100" dirty="0"/>
          </a:p>
        </p:txBody>
      </p:sp>
      <p:sp>
        <p:nvSpPr>
          <p:cNvPr id="95" name="Shape 93"/>
          <p:cNvSpPr/>
          <p:nvPr/>
        </p:nvSpPr>
        <p:spPr>
          <a:xfrm>
            <a:off x="3657600" y="3520440"/>
            <a:ext cx="2286000" cy="128016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96" name="Text 94"/>
          <p:cNvSpPr/>
          <p:nvPr/>
        </p:nvSpPr>
        <p:spPr>
          <a:xfrm>
            <a:off x="3657600" y="3566160"/>
            <a:ext cx="2286000" cy="594360"/>
          </a:xfrm>
          <a:prstGeom prst="rect">
            <a:avLst/>
          </a:prstGeom>
          <a:noFill/>
          <a:ln/>
        </p:spPr>
        <p:txBody>
          <a:bodyPr wrap="square" lIns="0" tIns="0" rIns="0" bIns="0" rtlCol="0" anchor="ctr"/>
          <a:lstStyle/>
          <a:p>
            <a:pPr algn="ctr" indent="0" marL="0">
              <a:buNone/>
            </a:pPr>
            <a:r>
              <a:rPr lang="en-US" sz="2800" b="1" dirty="0">
                <a:solidFill>
                  <a:srgbClr val="06B6D4"/>
                </a:solidFill>
                <a:latin typeface="Malgun Gothic" pitchFamily="34" charset="0"/>
                <a:ea typeface="Malgun Gothic" pitchFamily="34" charset="-122"/>
                <a:cs typeface="Malgun Gothic" pitchFamily="34" charset="-120"/>
              </a:rPr>
              <a:t>1/256</a:t>
            </a:r>
            <a:endParaRPr lang="en-US" sz="2800" dirty="0"/>
          </a:p>
        </p:txBody>
      </p:sp>
      <p:sp>
        <p:nvSpPr>
          <p:cNvPr id="97" name="Text 95"/>
          <p:cNvSpPr/>
          <p:nvPr/>
        </p:nvSpPr>
        <p:spPr>
          <a:xfrm>
            <a:off x="3657600" y="4160520"/>
            <a:ext cx="2286000" cy="54864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가중치 로딩</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(AR 대비)</a:t>
            </a:r>
            <a:endParaRPr lang="en-US" sz="1100" dirty="0"/>
          </a:p>
        </p:txBody>
      </p:sp>
      <p:sp>
        <p:nvSpPr>
          <p:cNvPr id="98" name="Shape 96"/>
          <p:cNvSpPr/>
          <p:nvPr/>
        </p:nvSpPr>
        <p:spPr>
          <a:xfrm>
            <a:off x="6400800" y="3520440"/>
            <a:ext cx="2286000" cy="128016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99" name="Text 97"/>
          <p:cNvSpPr/>
          <p:nvPr/>
        </p:nvSpPr>
        <p:spPr>
          <a:xfrm>
            <a:off x="6400800" y="3566160"/>
            <a:ext cx="2286000" cy="594360"/>
          </a:xfrm>
          <a:prstGeom prst="rect">
            <a:avLst/>
          </a:prstGeom>
          <a:noFill/>
          <a:ln/>
        </p:spPr>
        <p:txBody>
          <a:bodyPr wrap="square" lIns="0" tIns="0" rIns="0" bIns="0" rtlCol="0" anchor="ctr"/>
          <a:lstStyle/>
          <a:p>
            <a:pPr algn="ctr" indent="0" marL="0">
              <a:buNone/>
            </a:pPr>
            <a:r>
              <a:rPr lang="en-US" sz="2800" b="1" dirty="0">
                <a:solidFill>
                  <a:srgbClr val="06B6D4"/>
                </a:solidFill>
                <a:latin typeface="Malgun Gothic" pitchFamily="34" charset="0"/>
                <a:ea typeface="Malgun Gothic" pitchFamily="34" charset="-122"/>
                <a:cs typeface="Malgun Gothic" pitchFamily="34" charset="-120"/>
              </a:rPr>
              <a:t>5~6×</a:t>
            </a:r>
            <a:endParaRPr lang="en-US" sz="2800" dirty="0"/>
          </a:p>
        </p:txBody>
      </p:sp>
      <p:sp>
        <p:nvSpPr>
          <p:cNvPr id="100" name="Text 98"/>
          <p:cNvSpPr/>
          <p:nvPr/>
        </p:nvSpPr>
        <p:spPr>
          <a:xfrm>
            <a:off x="6400800" y="4160520"/>
            <a:ext cx="2286000" cy="54864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AR 대비</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속도 향상</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E3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891B2"/>
          </a:solidFill>
          <a:ln w="12700">
            <a:solidFill>
              <a:srgbClr val="0891B2"/>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Malgun Gothic" pitchFamily="34" charset="0"/>
                <a:ea typeface="Malgun Gothic" pitchFamily="34" charset="-122"/>
                <a:cs typeface="Malgun Gothic" pitchFamily="34" charset="-120"/>
              </a:rPr>
              <a:t>인코더 + 디노이저 이중 모드</a:t>
            </a:r>
            <a:endParaRPr lang="en-US" sz="2600" dirty="0"/>
          </a:p>
        </p:txBody>
      </p:sp>
      <p:sp>
        <p:nvSpPr>
          <p:cNvPr id="4" name="Shape 2"/>
          <p:cNvSpPr/>
          <p:nvPr/>
        </p:nvSpPr>
        <p:spPr>
          <a:xfrm>
            <a:off x="274320" y="868680"/>
            <a:ext cx="3931920" cy="3931920"/>
          </a:xfrm>
          <a:prstGeom prst="rect">
            <a:avLst/>
          </a:prstGeom>
          <a:solidFill>
            <a:srgbClr val="0B1E30"/>
          </a:solidFill>
          <a:ln w="19050">
            <a:solidFill>
              <a:srgbClr val="2A6496"/>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68680"/>
            <a:ext cx="3931920" cy="347472"/>
          </a:xfrm>
          <a:prstGeom prst="rect">
            <a:avLst/>
          </a:prstGeom>
          <a:solidFill>
            <a:srgbClr val="2A6496"/>
          </a:solidFill>
          <a:ln w="12700">
            <a:solidFill>
              <a:srgbClr val="2A6496"/>
            </a:solidFill>
            <a:prstDash val="solid"/>
          </a:ln>
        </p:spPr>
      </p:sp>
      <p:sp>
        <p:nvSpPr>
          <p:cNvPr id="6" name="Text 4"/>
          <p:cNvSpPr/>
          <p:nvPr/>
        </p:nvSpPr>
        <p:spPr>
          <a:xfrm>
            <a:off x="274320" y="868680"/>
            <a:ext cx="39319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인코더 모드</a:t>
            </a:r>
            <a:endParaRPr lang="en-US" sz="1300" dirty="0"/>
          </a:p>
        </p:txBody>
      </p:sp>
      <p:sp>
        <p:nvSpPr>
          <p:cNvPr id="7" name="Text 5"/>
          <p:cNvSpPr/>
          <p:nvPr/>
        </p:nvSpPr>
        <p:spPr>
          <a:xfrm>
            <a:off x="457200" y="1325880"/>
            <a:ext cx="3566160" cy="320040"/>
          </a:xfrm>
          <a:prstGeom prst="rect">
            <a:avLst/>
          </a:prstGeom>
          <a:noFill/>
          <a:ln/>
        </p:spPr>
        <p:txBody>
          <a:bodyPr wrap="square" lIns="0" tIns="0" rIns="0" bIns="0" rtlCol="0" anchor="ctr"/>
          <a:lstStyle/>
          <a:p>
            <a:pPr algn="ctr" indent="0" marL="0">
              <a:buNone/>
            </a:pPr>
            <a:r>
              <a:rPr lang="en-US" sz="1200" b="1" dirty="0">
                <a:solidFill>
                  <a:srgbClr val="BAE6FD"/>
                </a:solidFill>
                <a:latin typeface="Malgun Gothic" pitchFamily="34" charset="0"/>
                <a:ea typeface="Malgun Gothic" pitchFamily="34" charset="-122"/>
                <a:cs typeface="Malgun Gothic" pitchFamily="34" charset="-120"/>
              </a:rPr>
              <a:t>인과적 어텐션 (Causal)</a:t>
            </a:r>
            <a:endParaRPr lang="en-US" sz="1200" dirty="0"/>
          </a:p>
        </p:txBody>
      </p:sp>
      <p:sp>
        <p:nvSpPr>
          <p:cNvPr id="8" name="Shape 6"/>
          <p:cNvSpPr/>
          <p:nvPr/>
        </p:nvSpPr>
        <p:spPr>
          <a:xfrm>
            <a:off x="594360" y="1783080"/>
            <a:ext cx="438912" cy="347472"/>
          </a:xfrm>
          <a:prstGeom prst="rect">
            <a:avLst/>
          </a:prstGeom>
          <a:solidFill>
            <a:srgbClr val="2A6496"/>
          </a:solidFill>
          <a:ln w="6350">
            <a:solidFill>
              <a:srgbClr val="1C3A5C"/>
            </a:solidFill>
            <a:prstDash val="solid"/>
          </a:ln>
        </p:spPr>
      </p:sp>
      <p:sp>
        <p:nvSpPr>
          <p:cNvPr id="9" name="Shape 7"/>
          <p:cNvSpPr/>
          <p:nvPr/>
        </p:nvSpPr>
        <p:spPr>
          <a:xfrm>
            <a:off x="1097280" y="1783080"/>
            <a:ext cx="438912" cy="347472"/>
          </a:xfrm>
          <a:prstGeom prst="rect">
            <a:avLst/>
          </a:prstGeom>
          <a:solidFill>
            <a:srgbClr val="0D1B2A"/>
          </a:solidFill>
          <a:ln w="6350">
            <a:solidFill>
              <a:srgbClr val="1C3A5C"/>
            </a:solidFill>
            <a:prstDash val="solid"/>
          </a:ln>
        </p:spPr>
      </p:sp>
      <p:sp>
        <p:nvSpPr>
          <p:cNvPr id="10" name="Shape 8"/>
          <p:cNvSpPr/>
          <p:nvPr/>
        </p:nvSpPr>
        <p:spPr>
          <a:xfrm>
            <a:off x="1600200" y="1783080"/>
            <a:ext cx="438912" cy="347472"/>
          </a:xfrm>
          <a:prstGeom prst="rect">
            <a:avLst/>
          </a:prstGeom>
          <a:solidFill>
            <a:srgbClr val="0D1B2A"/>
          </a:solidFill>
          <a:ln w="6350">
            <a:solidFill>
              <a:srgbClr val="1C3A5C"/>
            </a:solidFill>
            <a:prstDash val="solid"/>
          </a:ln>
        </p:spPr>
      </p:sp>
      <p:sp>
        <p:nvSpPr>
          <p:cNvPr id="11" name="Shape 9"/>
          <p:cNvSpPr/>
          <p:nvPr/>
        </p:nvSpPr>
        <p:spPr>
          <a:xfrm>
            <a:off x="2103120" y="1783080"/>
            <a:ext cx="438912" cy="347472"/>
          </a:xfrm>
          <a:prstGeom prst="rect">
            <a:avLst/>
          </a:prstGeom>
          <a:solidFill>
            <a:srgbClr val="0D1B2A"/>
          </a:solidFill>
          <a:ln w="6350">
            <a:solidFill>
              <a:srgbClr val="1C3A5C"/>
            </a:solidFill>
            <a:prstDash val="solid"/>
          </a:ln>
        </p:spPr>
      </p:sp>
      <p:sp>
        <p:nvSpPr>
          <p:cNvPr id="12" name="Shape 10"/>
          <p:cNvSpPr/>
          <p:nvPr/>
        </p:nvSpPr>
        <p:spPr>
          <a:xfrm>
            <a:off x="2606040" y="1783080"/>
            <a:ext cx="438912" cy="347472"/>
          </a:xfrm>
          <a:prstGeom prst="rect">
            <a:avLst/>
          </a:prstGeom>
          <a:solidFill>
            <a:srgbClr val="0D1B2A"/>
          </a:solidFill>
          <a:ln w="6350">
            <a:solidFill>
              <a:srgbClr val="1C3A5C"/>
            </a:solidFill>
            <a:prstDash val="solid"/>
          </a:ln>
        </p:spPr>
      </p:sp>
      <p:sp>
        <p:nvSpPr>
          <p:cNvPr id="13" name="Shape 11"/>
          <p:cNvSpPr/>
          <p:nvPr/>
        </p:nvSpPr>
        <p:spPr>
          <a:xfrm>
            <a:off x="594360" y="2203704"/>
            <a:ext cx="438912" cy="347472"/>
          </a:xfrm>
          <a:prstGeom prst="rect">
            <a:avLst/>
          </a:prstGeom>
          <a:solidFill>
            <a:srgbClr val="2A6496"/>
          </a:solidFill>
          <a:ln w="6350">
            <a:solidFill>
              <a:srgbClr val="1C3A5C"/>
            </a:solidFill>
            <a:prstDash val="solid"/>
          </a:ln>
        </p:spPr>
      </p:sp>
      <p:sp>
        <p:nvSpPr>
          <p:cNvPr id="14" name="Shape 12"/>
          <p:cNvSpPr/>
          <p:nvPr/>
        </p:nvSpPr>
        <p:spPr>
          <a:xfrm>
            <a:off x="1097280" y="2203704"/>
            <a:ext cx="438912" cy="347472"/>
          </a:xfrm>
          <a:prstGeom prst="rect">
            <a:avLst/>
          </a:prstGeom>
          <a:solidFill>
            <a:srgbClr val="2A6496"/>
          </a:solidFill>
          <a:ln w="6350">
            <a:solidFill>
              <a:srgbClr val="1C3A5C"/>
            </a:solidFill>
            <a:prstDash val="solid"/>
          </a:ln>
        </p:spPr>
      </p:sp>
      <p:sp>
        <p:nvSpPr>
          <p:cNvPr id="15" name="Shape 13"/>
          <p:cNvSpPr/>
          <p:nvPr/>
        </p:nvSpPr>
        <p:spPr>
          <a:xfrm>
            <a:off x="1600200" y="2203704"/>
            <a:ext cx="438912" cy="347472"/>
          </a:xfrm>
          <a:prstGeom prst="rect">
            <a:avLst/>
          </a:prstGeom>
          <a:solidFill>
            <a:srgbClr val="0D1B2A"/>
          </a:solidFill>
          <a:ln w="6350">
            <a:solidFill>
              <a:srgbClr val="1C3A5C"/>
            </a:solidFill>
            <a:prstDash val="solid"/>
          </a:ln>
        </p:spPr>
      </p:sp>
      <p:sp>
        <p:nvSpPr>
          <p:cNvPr id="16" name="Shape 14"/>
          <p:cNvSpPr/>
          <p:nvPr/>
        </p:nvSpPr>
        <p:spPr>
          <a:xfrm>
            <a:off x="2103120" y="2203704"/>
            <a:ext cx="438912" cy="347472"/>
          </a:xfrm>
          <a:prstGeom prst="rect">
            <a:avLst/>
          </a:prstGeom>
          <a:solidFill>
            <a:srgbClr val="0D1B2A"/>
          </a:solidFill>
          <a:ln w="6350">
            <a:solidFill>
              <a:srgbClr val="1C3A5C"/>
            </a:solidFill>
            <a:prstDash val="solid"/>
          </a:ln>
        </p:spPr>
      </p:sp>
      <p:sp>
        <p:nvSpPr>
          <p:cNvPr id="17" name="Shape 15"/>
          <p:cNvSpPr/>
          <p:nvPr/>
        </p:nvSpPr>
        <p:spPr>
          <a:xfrm>
            <a:off x="2606040" y="2203704"/>
            <a:ext cx="438912" cy="347472"/>
          </a:xfrm>
          <a:prstGeom prst="rect">
            <a:avLst/>
          </a:prstGeom>
          <a:solidFill>
            <a:srgbClr val="0D1B2A"/>
          </a:solidFill>
          <a:ln w="6350">
            <a:solidFill>
              <a:srgbClr val="1C3A5C"/>
            </a:solidFill>
            <a:prstDash val="solid"/>
          </a:ln>
        </p:spPr>
      </p:sp>
      <p:sp>
        <p:nvSpPr>
          <p:cNvPr id="18" name="Shape 16"/>
          <p:cNvSpPr/>
          <p:nvPr/>
        </p:nvSpPr>
        <p:spPr>
          <a:xfrm>
            <a:off x="594360" y="2624328"/>
            <a:ext cx="438912" cy="347472"/>
          </a:xfrm>
          <a:prstGeom prst="rect">
            <a:avLst/>
          </a:prstGeom>
          <a:solidFill>
            <a:srgbClr val="2A6496"/>
          </a:solidFill>
          <a:ln w="6350">
            <a:solidFill>
              <a:srgbClr val="1C3A5C"/>
            </a:solidFill>
            <a:prstDash val="solid"/>
          </a:ln>
        </p:spPr>
      </p:sp>
      <p:sp>
        <p:nvSpPr>
          <p:cNvPr id="19" name="Shape 17"/>
          <p:cNvSpPr/>
          <p:nvPr/>
        </p:nvSpPr>
        <p:spPr>
          <a:xfrm>
            <a:off x="1097280" y="2624328"/>
            <a:ext cx="438912" cy="347472"/>
          </a:xfrm>
          <a:prstGeom prst="rect">
            <a:avLst/>
          </a:prstGeom>
          <a:solidFill>
            <a:srgbClr val="2A6496"/>
          </a:solidFill>
          <a:ln w="6350">
            <a:solidFill>
              <a:srgbClr val="1C3A5C"/>
            </a:solidFill>
            <a:prstDash val="solid"/>
          </a:ln>
        </p:spPr>
      </p:sp>
      <p:sp>
        <p:nvSpPr>
          <p:cNvPr id="20" name="Shape 18"/>
          <p:cNvSpPr/>
          <p:nvPr/>
        </p:nvSpPr>
        <p:spPr>
          <a:xfrm>
            <a:off x="1600200" y="2624328"/>
            <a:ext cx="438912" cy="347472"/>
          </a:xfrm>
          <a:prstGeom prst="rect">
            <a:avLst/>
          </a:prstGeom>
          <a:solidFill>
            <a:srgbClr val="2A6496"/>
          </a:solidFill>
          <a:ln w="6350">
            <a:solidFill>
              <a:srgbClr val="1C3A5C"/>
            </a:solidFill>
            <a:prstDash val="solid"/>
          </a:ln>
        </p:spPr>
      </p:sp>
      <p:sp>
        <p:nvSpPr>
          <p:cNvPr id="21" name="Shape 19"/>
          <p:cNvSpPr/>
          <p:nvPr/>
        </p:nvSpPr>
        <p:spPr>
          <a:xfrm>
            <a:off x="2103120" y="2624328"/>
            <a:ext cx="438912" cy="347472"/>
          </a:xfrm>
          <a:prstGeom prst="rect">
            <a:avLst/>
          </a:prstGeom>
          <a:solidFill>
            <a:srgbClr val="0D1B2A"/>
          </a:solidFill>
          <a:ln w="6350">
            <a:solidFill>
              <a:srgbClr val="1C3A5C"/>
            </a:solidFill>
            <a:prstDash val="solid"/>
          </a:ln>
        </p:spPr>
      </p:sp>
      <p:sp>
        <p:nvSpPr>
          <p:cNvPr id="22" name="Shape 20"/>
          <p:cNvSpPr/>
          <p:nvPr/>
        </p:nvSpPr>
        <p:spPr>
          <a:xfrm>
            <a:off x="2606040" y="2624328"/>
            <a:ext cx="438912" cy="347472"/>
          </a:xfrm>
          <a:prstGeom prst="rect">
            <a:avLst/>
          </a:prstGeom>
          <a:solidFill>
            <a:srgbClr val="0D1B2A"/>
          </a:solidFill>
          <a:ln w="6350">
            <a:solidFill>
              <a:srgbClr val="1C3A5C"/>
            </a:solidFill>
            <a:prstDash val="solid"/>
          </a:ln>
        </p:spPr>
      </p:sp>
      <p:sp>
        <p:nvSpPr>
          <p:cNvPr id="23" name="Shape 21"/>
          <p:cNvSpPr/>
          <p:nvPr/>
        </p:nvSpPr>
        <p:spPr>
          <a:xfrm>
            <a:off x="594360" y="3044952"/>
            <a:ext cx="438912" cy="347472"/>
          </a:xfrm>
          <a:prstGeom prst="rect">
            <a:avLst/>
          </a:prstGeom>
          <a:solidFill>
            <a:srgbClr val="2A6496"/>
          </a:solidFill>
          <a:ln w="6350">
            <a:solidFill>
              <a:srgbClr val="1C3A5C"/>
            </a:solidFill>
            <a:prstDash val="solid"/>
          </a:ln>
        </p:spPr>
      </p:sp>
      <p:sp>
        <p:nvSpPr>
          <p:cNvPr id="24" name="Shape 22"/>
          <p:cNvSpPr/>
          <p:nvPr/>
        </p:nvSpPr>
        <p:spPr>
          <a:xfrm>
            <a:off x="1097280" y="3044952"/>
            <a:ext cx="438912" cy="347472"/>
          </a:xfrm>
          <a:prstGeom prst="rect">
            <a:avLst/>
          </a:prstGeom>
          <a:solidFill>
            <a:srgbClr val="2A6496"/>
          </a:solidFill>
          <a:ln w="6350">
            <a:solidFill>
              <a:srgbClr val="1C3A5C"/>
            </a:solidFill>
            <a:prstDash val="solid"/>
          </a:ln>
        </p:spPr>
      </p:sp>
      <p:sp>
        <p:nvSpPr>
          <p:cNvPr id="25" name="Shape 23"/>
          <p:cNvSpPr/>
          <p:nvPr/>
        </p:nvSpPr>
        <p:spPr>
          <a:xfrm>
            <a:off x="1600200" y="3044952"/>
            <a:ext cx="438912" cy="347472"/>
          </a:xfrm>
          <a:prstGeom prst="rect">
            <a:avLst/>
          </a:prstGeom>
          <a:solidFill>
            <a:srgbClr val="2A6496"/>
          </a:solidFill>
          <a:ln w="6350">
            <a:solidFill>
              <a:srgbClr val="1C3A5C"/>
            </a:solidFill>
            <a:prstDash val="solid"/>
          </a:ln>
        </p:spPr>
      </p:sp>
      <p:sp>
        <p:nvSpPr>
          <p:cNvPr id="26" name="Shape 24"/>
          <p:cNvSpPr/>
          <p:nvPr/>
        </p:nvSpPr>
        <p:spPr>
          <a:xfrm>
            <a:off x="2103120" y="3044952"/>
            <a:ext cx="438912" cy="347472"/>
          </a:xfrm>
          <a:prstGeom prst="rect">
            <a:avLst/>
          </a:prstGeom>
          <a:solidFill>
            <a:srgbClr val="2A6496"/>
          </a:solidFill>
          <a:ln w="6350">
            <a:solidFill>
              <a:srgbClr val="1C3A5C"/>
            </a:solidFill>
            <a:prstDash val="solid"/>
          </a:ln>
        </p:spPr>
      </p:sp>
      <p:sp>
        <p:nvSpPr>
          <p:cNvPr id="27" name="Shape 25"/>
          <p:cNvSpPr/>
          <p:nvPr/>
        </p:nvSpPr>
        <p:spPr>
          <a:xfrm>
            <a:off x="2606040" y="3044952"/>
            <a:ext cx="438912" cy="347472"/>
          </a:xfrm>
          <a:prstGeom prst="rect">
            <a:avLst/>
          </a:prstGeom>
          <a:solidFill>
            <a:srgbClr val="0D1B2A"/>
          </a:solidFill>
          <a:ln w="6350">
            <a:solidFill>
              <a:srgbClr val="1C3A5C"/>
            </a:solidFill>
            <a:prstDash val="solid"/>
          </a:ln>
        </p:spPr>
      </p:sp>
      <p:sp>
        <p:nvSpPr>
          <p:cNvPr id="28" name="Shape 26"/>
          <p:cNvSpPr/>
          <p:nvPr/>
        </p:nvSpPr>
        <p:spPr>
          <a:xfrm>
            <a:off x="594360" y="3465576"/>
            <a:ext cx="438912" cy="347472"/>
          </a:xfrm>
          <a:prstGeom prst="rect">
            <a:avLst/>
          </a:prstGeom>
          <a:solidFill>
            <a:srgbClr val="2A6496"/>
          </a:solidFill>
          <a:ln w="6350">
            <a:solidFill>
              <a:srgbClr val="1C3A5C"/>
            </a:solidFill>
            <a:prstDash val="solid"/>
          </a:ln>
        </p:spPr>
      </p:sp>
      <p:sp>
        <p:nvSpPr>
          <p:cNvPr id="29" name="Shape 27"/>
          <p:cNvSpPr/>
          <p:nvPr/>
        </p:nvSpPr>
        <p:spPr>
          <a:xfrm>
            <a:off x="1097280" y="3465576"/>
            <a:ext cx="438912" cy="347472"/>
          </a:xfrm>
          <a:prstGeom prst="rect">
            <a:avLst/>
          </a:prstGeom>
          <a:solidFill>
            <a:srgbClr val="2A6496"/>
          </a:solidFill>
          <a:ln w="6350">
            <a:solidFill>
              <a:srgbClr val="1C3A5C"/>
            </a:solidFill>
            <a:prstDash val="solid"/>
          </a:ln>
        </p:spPr>
      </p:sp>
      <p:sp>
        <p:nvSpPr>
          <p:cNvPr id="30" name="Shape 28"/>
          <p:cNvSpPr/>
          <p:nvPr/>
        </p:nvSpPr>
        <p:spPr>
          <a:xfrm>
            <a:off x="1600200" y="3465576"/>
            <a:ext cx="438912" cy="347472"/>
          </a:xfrm>
          <a:prstGeom prst="rect">
            <a:avLst/>
          </a:prstGeom>
          <a:solidFill>
            <a:srgbClr val="2A6496"/>
          </a:solidFill>
          <a:ln w="6350">
            <a:solidFill>
              <a:srgbClr val="1C3A5C"/>
            </a:solidFill>
            <a:prstDash val="solid"/>
          </a:ln>
        </p:spPr>
      </p:sp>
      <p:sp>
        <p:nvSpPr>
          <p:cNvPr id="31" name="Shape 29"/>
          <p:cNvSpPr/>
          <p:nvPr/>
        </p:nvSpPr>
        <p:spPr>
          <a:xfrm>
            <a:off x="2103120" y="3465576"/>
            <a:ext cx="438912" cy="347472"/>
          </a:xfrm>
          <a:prstGeom prst="rect">
            <a:avLst/>
          </a:prstGeom>
          <a:solidFill>
            <a:srgbClr val="2A6496"/>
          </a:solidFill>
          <a:ln w="6350">
            <a:solidFill>
              <a:srgbClr val="1C3A5C"/>
            </a:solidFill>
            <a:prstDash val="solid"/>
          </a:ln>
        </p:spPr>
      </p:sp>
      <p:sp>
        <p:nvSpPr>
          <p:cNvPr id="32" name="Shape 30"/>
          <p:cNvSpPr/>
          <p:nvPr/>
        </p:nvSpPr>
        <p:spPr>
          <a:xfrm>
            <a:off x="2606040" y="3465576"/>
            <a:ext cx="438912" cy="347472"/>
          </a:xfrm>
          <a:prstGeom prst="rect">
            <a:avLst/>
          </a:prstGeom>
          <a:solidFill>
            <a:srgbClr val="2A6496"/>
          </a:solidFill>
          <a:ln w="6350">
            <a:solidFill>
              <a:srgbClr val="1C3A5C"/>
            </a:solidFill>
            <a:prstDash val="solid"/>
          </a:ln>
        </p:spPr>
      </p:sp>
      <p:sp>
        <p:nvSpPr>
          <p:cNvPr id="33" name="Text 31"/>
          <p:cNvSpPr/>
          <p:nvPr/>
        </p:nvSpPr>
        <p:spPr>
          <a:xfrm>
            <a:off x="365760" y="3931920"/>
            <a:ext cx="3657600" cy="685800"/>
          </a:xfrm>
          <a:prstGeom prst="rect">
            <a:avLst/>
          </a:prstGeom>
          <a:noFill/>
          <a:ln/>
        </p:spPr>
        <p:txBody>
          <a:bodyPr wrap="square" lIns="0" tIns="0" rIns="0" bIns="0" rtlCol="0" anchor="ctr"/>
          <a:lstStyle/>
          <a:p>
            <a:pPr algn="ctr" indent="0" marL="0">
              <a:buNone/>
            </a:pPr>
            <a:r>
              <a:rPr lang="en-US" sz="1100" dirty="0">
                <a:solidFill>
                  <a:srgbClr val="94A3B8"/>
                </a:solidFill>
                <a:latin typeface="Malgun Gothic" pitchFamily="34" charset="0"/>
                <a:ea typeface="Malgun Gothic" pitchFamily="34" charset="-122"/>
                <a:cs typeface="Malgun Gothic" pitchFamily="34" charset="-120"/>
              </a:rPr>
              <a:t>프롬프트 처리</a:t>
            </a:r>
            <a:endParaRPr lang="en-US" sz="1100" dirty="0"/>
          </a:p>
          <a:p>
            <a:pPr algn="ctr" indent="0" marL="0">
              <a:buNone/>
            </a:pPr>
            <a:r>
              <a:rPr lang="en-US" sz="1100" dirty="0">
                <a:solidFill>
                  <a:srgbClr val="94A3B8"/>
                </a:solidFill>
                <a:latin typeface="Malgun Gothic" pitchFamily="34" charset="0"/>
                <a:ea typeface="Malgun Gothic" pitchFamily="34" charset="-122"/>
                <a:cs typeface="Malgun Gothic" pitchFamily="34" charset="-120"/>
              </a:rPr>
              <a:t>완성된 캔버스 저장</a:t>
            </a:r>
            <a:endParaRPr lang="en-US" sz="1100" dirty="0"/>
          </a:p>
        </p:txBody>
      </p:sp>
      <p:sp>
        <p:nvSpPr>
          <p:cNvPr id="34" name="Shape 32"/>
          <p:cNvSpPr/>
          <p:nvPr/>
        </p:nvSpPr>
        <p:spPr>
          <a:xfrm>
            <a:off x="4937760" y="868680"/>
            <a:ext cx="3931920" cy="3931920"/>
          </a:xfrm>
          <a:prstGeom prst="rect">
            <a:avLst/>
          </a:prstGeom>
          <a:solidFill>
            <a:srgbClr val="0B1E30"/>
          </a:solidFill>
          <a:ln w="19050">
            <a:solidFill>
              <a:srgbClr val="0891B2"/>
            </a:solidFill>
            <a:prstDash val="solid"/>
          </a:ln>
          <a:effectLst>
            <a:outerShdw sx="100000" sy="100000" kx="0" ky="0" algn="bl" rotWithShape="0" blurRad="101600" dist="38100" dir="8100000">
              <a:srgbClr val="000000">
                <a:alpha val="18000"/>
              </a:srgbClr>
            </a:outerShdw>
          </a:effectLst>
        </p:spPr>
      </p:sp>
      <p:sp>
        <p:nvSpPr>
          <p:cNvPr id="35" name="Shape 33"/>
          <p:cNvSpPr/>
          <p:nvPr/>
        </p:nvSpPr>
        <p:spPr>
          <a:xfrm>
            <a:off x="4937760" y="868680"/>
            <a:ext cx="3931920" cy="347472"/>
          </a:xfrm>
          <a:prstGeom prst="rect">
            <a:avLst/>
          </a:prstGeom>
          <a:solidFill>
            <a:srgbClr val="0891B2"/>
          </a:solidFill>
          <a:ln w="12700">
            <a:solidFill>
              <a:srgbClr val="0891B2"/>
            </a:solidFill>
            <a:prstDash val="solid"/>
          </a:ln>
        </p:spPr>
      </p:sp>
      <p:sp>
        <p:nvSpPr>
          <p:cNvPr id="36" name="Text 34"/>
          <p:cNvSpPr/>
          <p:nvPr/>
        </p:nvSpPr>
        <p:spPr>
          <a:xfrm>
            <a:off x="4937760" y="868680"/>
            <a:ext cx="39319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디노이저 모드</a:t>
            </a:r>
            <a:endParaRPr lang="en-US" sz="1300" dirty="0"/>
          </a:p>
        </p:txBody>
      </p:sp>
      <p:sp>
        <p:nvSpPr>
          <p:cNvPr id="37" name="Text 35"/>
          <p:cNvSpPr/>
          <p:nvPr/>
        </p:nvSpPr>
        <p:spPr>
          <a:xfrm>
            <a:off x="5074920" y="1325880"/>
            <a:ext cx="3566160" cy="320040"/>
          </a:xfrm>
          <a:prstGeom prst="rect">
            <a:avLst/>
          </a:prstGeom>
          <a:noFill/>
          <a:ln/>
        </p:spPr>
        <p:txBody>
          <a:bodyPr wrap="square" lIns="0" tIns="0" rIns="0" bIns="0" rtlCol="0" anchor="ctr"/>
          <a:lstStyle/>
          <a:p>
            <a:pPr algn="ctr" indent="0" marL="0">
              <a:buNone/>
            </a:pPr>
            <a:r>
              <a:rPr lang="en-US" sz="1200" b="1" dirty="0">
                <a:solidFill>
                  <a:srgbClr val="06B6D4"/>
                </a:solidFill>
                <a:latin typeface="Malgun Gothic" pitchFamily="34" charset="0"/>
                <a:ea typeface="Malgun Gothic" pitchFamily="34" charset="-122"/>
                <a:cs typeface="Malgun Gothic" pitchFamily="34" charset="-120"/>
              </a:rPr>
              <a:t>양방향 어텐션 (Bidirectional)</a:t>
            </a:r>
            <a:endParaRPr lang="en-US" sz="1200" dirty="0"/>
          </a:p>
        </p:txBody>
      </p:sp>
      <p:sp>
        <p:nvSpPr>
          <p:cNvPr id="38" name="Shape 36"/>
          <p:cNvSpPr/>
          <p:nvPr/>
        </p:nvSpPr>
        <p:spPr>
          <a:xfrm>
            <a:off x="5257800" y="1783080"/>
            <a:ext cx="438912" cy="347472"/>
          </a:xfrm>
          <a:prstGeom prst="rect">
            <a:avLst/>
          </a:prstGeom>
          <a:solidFill>
            <a:srgbClr val="0891B2"/>
          </a:solidFill>
          <a:ln w="6350">
            <a:solidFill>
              <a:srgbClr val="0D2A45"/>
            </a:solidFill>
            <a:prstDash val="solid"/>
          </a:ln>
        </p:spPr>
      </p:sp>
      <p:sp>
        <p:nvSpPr>
          <p:cNvPr id="39" name="Shape 37"/>
          <p:cNvSpPr/>
          <p:nvPr/>
        </p:nvSpPr>
        <p:spPr>
          <a:xfrm>
            <a:off x="5760720" y="1783080"/>
            <a:ext cx="438912" cy="347472"/>
          </a:xfrm>
          <a:prstGeom prst="rect">
            <a:avLst/>
          </a:prstGeom>
          <a:solidFill>
            <a:srgbClr val="0891B2"/>
          </a:solidFill>
          <a:ln w="6350">
            <a:solidFill>
              <a:srgbClr val="0D2A45"/>
            </a:solidFill>
            <a:prstDash val="solid"/>
          </a:ln>
        </p:spPr>
      </p:sp>
      <p:sp>
        <p:nvSpPr>
          <p:cNvPr id="40" name="Shape 38"/>
          <p:cNvSpPr/>
          <p:nvPr/>
        </p:nvSpPr>
        <p:spPr>
          <a:xfrm>
            <a:off x="6263640" y="1783080"/>
            <a:ext cx="438912" cy="347472"/>
          </a:xfrm>
          <a:prstGeom prst="rect">
            <a:avLst/>
          </a:prstGeom>
          <a:solidFill>
            <a:srgbClr val="0891B2"/>
          </a:solidFill>
          <a:ln w="6350">
            <a:solidFill>
              <a:srgbClr val="0D2A45"/>
            </a:solidFill>
            <a:prstDash val="solid"/>
          </a:ln>
        </p:spPr>
      </p:sp>
      <p:sp>
        <p:nvSpPr>
          <p:cNvPr id="41" name="Shape 39"/>
          <p:cNvSpPr/>
          <p:nvPr/>
        </p:nvSpPr>
        <p:spPr>
          <a:xfrm>
            <a:off x="6766560" y="1783080"/>
            <a:ext cx="438912" cy="347472"/>
          </a:xfrm>
          <a:prstGeom prst="rect">
            <a:avLst/>
          </a:prstGeom>
          <a:solidFill>
            <a:srgbClr val="0891B2"/>
          </a:solidFill>
          <a:ln w="6350">
            <a:solidFill>
              <a:srgbClr val="0D2A45"/>
            </a:solidFill>
            <a:prstDash val="solid"/>
          </a:ln>
        </p:spPr>
      </p:sp>
      <p:sp>
        <p:nvSpPr>
          <p:cNvPr id="42" name="Shape 40"/>
          <p:cNvSpPr/>
          <p:nvPr/>
        </p:nvSpPr>
        <p:spPr>
          <a:xfrm>
            <a:off x="7269480" y="1783080"/>
            <a:ext cx="438912" cy="347472"/>
          </a:xfrm>
          <a:prstGeom prst="rect">
            <a:avLst/>
          </a:prstGeom>
          <a:solidFill>
            <a:srgbClr val="0891B2"/>
          </a:solidFill>
          <a:ln w="6350">
            <a:solidFill>
              <a:srgbClr val="0D2A45"/>
            </a:solidFill>
            <a:prstDash val="solid"/>
          </a:ln>
        </p:spPr>
      </p:sp>
      <p:sp>
        <p:nvSpPr>
          <p:cNvPr id="43" name="Shape 41"/>
          <p:cNvSpPr/>
          <p:nvPr/>
        </p:nvSpPr>
        <p:spPr>
          <a:xfrm>
            <a:off x="5257800" y="2203704"/>
            <a:ext cx="438912" cy="347472"/>
          </a:xfrm>
          <a:prstGeom prst="rect">
            <a:avLst/>
          </a:prstGeom>
          <a:solidFill>
            <a:srgbClr val="0891B2"/>
          </a:solidFill>
          <a:ln w="6350">
            <a:solidFill>
              <a:srgbClr val="0D2A45"/>
            </a:solidFill>
            <a:prstDash val="solid"/>
          </a:ln>
        </p:spPr>
      </p:sp>
      <p:sp>
        <p:nvSpPr>
          <p:cNvPr id="44" name="Shape 42"/>
          <p:cNvSpPr/>
          <p:nvPr/>
        </p:nvSpPr>
        <p:spPr>
          <a:xfrm>
            <a:off x="5760720" y="2203704"/>
            <a:ext cx="438912" cy="347472"/>
          </a:xfrm>
          <a:prstGeom prst="rect">
            <a:avLst/>
          </a:prstGeom>
          <a:solidFill>
            <a:srgbClr val="0891B2"/>
          </a:solidFill>
          <a:ln w="6350">
            <a:solidFill>
              <a:srgbClr val="0D2A45"/>
            </a:solidFill>
            <a:prstDash val="solid"/>
          </a:ln>
        </p:spPr>
      </p:sp>
      <p:sp>
        <p:nvSpPr>
          <p:cNvPr id="45" name="Shape 43"/>
          <p:cNvSpPr/>
          <p:nvPr/>
        </p:nvSpPr>
        <p:spPr>
          <a:xfrm>
            <a:off x="6263640" y="2203704"/>
            <a:ext cx="438912" cy="347472"/>
          </a:xfrm>
          <a:prstGeom prst="rect">
            <a:avLst/>
          </a:prstGeom>
          <a:solidFill>
            <a:srgbClr val="0891B2"/>
          </a:solidFill>
          <a:ln w="6350">
            <a:solidFill>
              <a:srgbClr val="0D2A45"/>
            </a:solidFill>
            <a:prstDash val="solid"/>
          </a:ln>
        </p:spPr>
      </p:sp>
      <p:sp>
        <p:nvSpPr>
          <p:cNvPr id="46" name="Shape 44"/>
          <p:cNvSpPr/>
          <p:nvPr/>
        </p:nvSpPr>
        <p:spPr>
          <a:xfrm>
            <a:off x="6766560" y="2203704"/>
            <a:ext cx="438912" cy="347472"/>
          </a:xfrm>
          <a:prstGeom prst="rect">
            <a:avLst/>
          </a:prstGeom>
          <a:solidFill>
            <a:srgbClr val="0891B2"/>
          </a:solidFill>
          <a:ln w="6350">
            <a:solidFill>
              <a:srgbClr val="0D2A45"/>
            </a:solidFill>
            <a:prstDash val="solid"/>
          </a:ln>
        </p:spPr>
      </p:sp>
      <p:sp>
        <p:nvSpPr>
          <p:cNvPr id="47" name="Shape 45"/>
          <p:cNvSpPr/>
          <p:nvPr/>
        </p:nvSpPr>
        <p:spPr>
          <a:xfrm>
            <a:off x="7269480" y="2203704"/>
            <a:ext cx="438912" cy="347472"/>
          </a:xfrm>
          <a:prstGeom prst="rect">
            <a:avLst/>
          </a:prstGeom>
          <a:solidFill>
            <a:srgbClr val="0891B2"/>
          </a:solidFill>
          <a:ln w="6350">
            <a:solidFill>
              <a:srgbClr val="0D2A45"/>
            </a:solidFill>
            <a:prstDash val="solid"/>
          </a:ln>
        </p:spPr>
      </p:sp>
      <p:sp>
        <p:nvSpPr>
          <p:cNvPr id="48" name="Shape 46"/>
          <p:cNvSpPr/>
          <p:nvPr/>
        </p:nvSpPr>
        <p:spPr>
          <a:xfrm>
            <a:off x="5257800" y="2624328"/>
            <a:ext cx="438912" cy="347472"/>
          </a:xfrm>
          <a:prstGeom prst="rect">
            <a:avLst/>
          </a:prstGeom>
          <a:solidFill>
            <a:srgbClr val="0891B2"/>
          </a:solidFill>
          <a:ln w="6350">
            <a:solidFill>
              <a:srgbClr val="0D2A45"/>
            </a:solidFill>
            <a:prstDash val="solid"/>
          </a:ln>
        </p:spPr>
      </p:sp>
      <p:sp>
        <p:nvSpPr>
          <p:cNvPr id="49" name="Shape 47"/>
          <p:cNvSpPr/>
          <p:nvPr/>
        </p:nvSpPr>
        <p:spPr>
          <a:xfrm>
            <a:off x="5760720" y="2624328"/>
            <a:ext cx="438912" cy="347472"/>
          </a:xfrm>
          <a:prstGeom prst="rect">
            <a:avLst/>
          </a:prstGeom>
          <a:solidFill>
            <a:srgbClr val="0891B2"/>
          </a:solidFill>
          <a:ln w="6350">
            <a:solidFill>
              <a:srgbClr val="0D2A45"/>
            </a:solidFill>
            <a:prstDash val="solid"/>
          </a:ln>
        </p:spPr>
      </p:sp>
      <p:sp>
        <p:nvSpPr>
          <p:cNvPr id="50" name="Shape 48"/>
          <p:cNvSpPr/>
          <p:nvPr/>
        </p:nvSpPr>
        <p:spPr>
          <a:xfrm>
            <a:off x="6263640" y="2624328"/>
            <a:ext cx="438912" cy="347472"/>
          </a:xfrm>
          <a:prstGeom prst="rect">
            <a:avLst/>
          </a:prstGeom>
          <a:solidFill>
            <a:srgbClr val="0891B2"/>
          </a:solidFill>
          <a:ln w="6350">
            <a:solidFill>
              <a:srgbClr val="0D2A45"/>
            </a:solidFill>
            <a:prstDash val="solid"/>
          </a:ln>
        </p:spPr>
      </p:sp>
      <p:sp>
        <p:nvSpPr>
          <p:cNvPr id="51" name="Shape 49"/>
          <p:cNvSpPr/>
          <p:nvPr/>
        </p:nvSpPr>
        <p:spPr>
          <a:xfrm>
            <a:off x="6766560" y="2624328"/>
            <a:ext cx="438912" cy="347472"/>
          </a:xfrm>
          <a:prstGeom prst="rect">
            <a:avLst/>
          </a:prstGeom>
          <a:solidFill>
            <a:srgbClr val="0891B2"/>
          </a:solidFill>
          <a:ln w="6350">
            <a:solidFill>
              <a:srgbClr val="0D2A45"/>
            </a:solidFill>
            <a:prstDash val="solid"/>
          </a:ln>
        </p:spPr>
      </p:sp>
      <p:sp>
        <p:nvSpPr>
          <p:cNvPr id="52" name="Shape 50"/>
          <p:cNvSpPr/>
          <p:nvPr/>
        </p:nvSpPr>
        <p:spPr>
          <a:xfrm>
            <a:off x="7269480" y="2624328"/>
            <a:ext cx="438912" cy="347472"/>
          </a:xfrm>
          <a:prstGeom prst="rect">
            <a:avLst/>
          </a:prstGeom>
          <a:solidFill>
            <a:srgbClr val="0891B2"/>
          </a:solidFill>
          <a:ln w="6350">
            <a:solidFill>
              <a:srgbClr val="0D2A45"/>
            </a:solidFill>
            <a:prstDash val="solid"/>
          </a:ln>
        </p:spPr>
      </p:sp>
      <p:sp>
        <p:nvSpPr>
          <p:cNvPr id="53" name="Shape 51"/>
          <p:cNvSpPr/>
          <p:nvPr/>
        </p:nvSpPr>
        <p:spPr>
          <a:xfrm>
            <a:off x="5257800" y="3044952"/>
            <a:ext cx="438912" cy="347472"/>
          </a:xfrm>
          <a:prstGeom prst="rect">
            <a:avLst/>
          </a:prstGeom>
          <a:solidFill>
            <a:srgbClr val="0891B2"/>
          </a:solidFill>
          <a:ln w="6350">
            <a:solidFill>
              <a:srgbClr val="0D2A45"/>
            </a:solidFill>
            <a:prstDash val="solid"/>
          </a:ln>
        </p:spPr>
      </p:sp>
      <p:sp>
        <p:nvSpPr>
          <p:cNvPr id="54" name="Shape 52"/>
          <p:cNvSpPr/>
          <p:nvPr/>
        </p:nvSpPr>
        <p:spPr>
          <a:xfrm>
            <a:off x="5760720" y="3044952"/>
            <a:ext cx="438912" cy="347472"/>
          </a:xfrm>
          <a:prstGeom prst="rect">
            <a:avLst/>
          </a:prstGeom>
          <a:solidFill>
            <a:srgbClr val="0891B2"/>
          </a:solidFill>
          <a:ln w="6350">
            <a:solidFill>
              <a:srgbClr val="0D2A45"/>
            </a:solidFill>
            <a:prstDash val="solid"/>
          </a:ln>
        </p:spPr>
      </p:sp>
      <p:sp>
        <p:nvSpPr>
          <p:cNvPr id="55" name="Shape 53"/>
          <p:cNvSpPr/>
          <p:nvPr/>
        </p:nvSpPr>
        <p:spPr>
          <a:xfrm>
            <a:off x="6263640" y="3044952"/>
            <a:ext cx="438912" cy="347472"/>
          </a:xfrm>
          <a:prstGeom prst="rect">
            <a:avLst/>
          </a:prstGeom>
          <a:solidFill>
            <a:srgbClr val="0891B2"/>
          </a:solidFill>
          <a:ln w="6350">
            <a:solidFill>
              <a:srgbClr val="0D2A45"/>
            </a:solidFill>
            <a:prstDash val="solid"/>
          </a:ln>
        </p:spPr>
      </p:sp>
      <p:sp>
        <p:nvSpPr>
          <p:cNvPr id="56" name="Shape 54"/>
          <p:cNvSpPr/>
          <p:nvPr/>
        </p:nvSpPr>
        <p:spPr>
          <a:xfrm>
            <a:off x="6766560" y="3044952"/>
            <a:ext cx="438912" cy="347472"/>
          </a:xfrm>
          <a:prstGeom prst="rect">
            <a:avLst/>
          </a:prstGeom>
          <a:solidFill>
            <a:srgbClr val="0891B2"/>
          </a:solidFill>
          <a:ln w="6350">
            <a:solidFill>
              <a:srgbClr val="0D2A45"/>
            </a:solidFill>
            <a:prstDash val="solid"/>
          </a:ln>
        </p:spPr>
      </p:sp>
      <p:sp>
        <p:nvSpPr>
          <p:cNvPr id="57" name="Shape 55"/>
          <p:cNvSpPr/>
          <p:nvPr/>
        </p:nvSpPr>
        <p:spPr>
          <a:xfrm>
            <a:off x="7269480" y="3044952"/>
            <a:ext cx="438912" cy="347472"/>
          </a:xfrm>
          <a:prstGeom prst="rect">
            <a:avLst/>
          </a:prstGeom>
          <a:solidFill>
            <a:srgbClr val="0891B2"/>
          </a:solidFill>
          <a:ln w="6350">
            <a:solidFill>
              <a:srgbClr val="0D2A45"/>
            </a:solidFill>
            <a:prstDash val="solid"/>
          </a:ln>
        </p:spPr>
      </p:sp>
      <p:sp>
        <p:nvSpPr>
          <p:cNvPr id="58" name="Shape 56"/>
          <p:cNvSpPr/>
          <p:nvPr/>
        </p:nvSpPr>
        <p:spPr>
          <a:xfrm>
            <a:off x="5257800" y="3465576"/>
            <a:ext cx="438912" cy="347472"/>
          </a:xfrm>
          <a:prstGeom prst="rect">
            <a:avLst/>
          </a:prstGeom>
          <a:solidFill>
            <a:srgbClr val="0891B2"/>
          </a:solidFill>
          <a:ln w="6350">
            <a:solidFill>
              <a:srgbClr val="0D2A45"/>
            </a:solidFill>
            <a:prstDash val="solid"/>
          </a:ln>
        </p:spPr>
      </p:sp>
      <p:sp>
        <p:nvSpPr>
          <p:cNvPr id="59" name="Shape 57"/>
          <p:cNvSpPr/>
          <p:nvPr/>
        </p:nvSpPr>
        <p:spPr>
          <a:xfrm>
            <a:off x="5760720" y="3465576"/>
            <a:ext cx="438912" cy="347472"/>
          </a:xfrm>
          <a:prstGeom prst="rect">
            <a:avLst/>
          </a:prstGeom>
          <a:solidFill>
            <a:srgbClr val="0891B2"/>
          </a:solidFill>
          <a:ln w="6350">
            <a:solidFill>
              <a:srgbClr val="0D2A45"/>
            </a:solidFill>
            <a:prstDash val="solid"/>
          </a:ln>
        </p:spPr>
      </p:sp>
      <p:sp>
        <p:nvSpPr>
          <p:cNvPr id="60" name="Shape 58"/>
          <p:cNvSpPr/>
          <p:nvPr/>
        </p:nvSpPr>
        <p:spPr>
          <a:xfrm>
            <a:off x="6263640" y="3465576"/>
            <a:ext cx="438912" cy="347472"/>
          </a:xfrm>
          <a:prstGeom prst="rect">
            <a:avLst/>
          </a:prstGeom>
          <a:solidFill>
            <a:srgbClr val="0891B2"/>
          </a:solidFill>
          <a:ln w="6350">
            <a:solidFill>
              <a:srgbClr val="0D2A45"/>
            </a:solidFill>
            <a:prstDash val="solid"/>
          </a:ln>
        </p:spPr>
      </p:sp>
      <p:sp>
        <p:nvSpPr>
          <p:cNvPr id="61" name="Shape 59"/>
          <p:cNvSpPr/>
          <p:nvPr/>
        </p:nvSpPr>
        <p:spPr>
          <a:xfrm>
            <a:off x="6766560" y="3465576"/>
            <a:ext cx="438912" cy="347472"/>
          </a:xfrm>
          <a:prstGeom prst="rect">
            <a:avLst/>
          </a:prstGeom>
          <a:solidFill>
            <a:srgbClr val="0891B2"/>
          </a:solidFill>
          <a:ln w="6350">
            <a:solidFill>
              <a:srgbClr val="0D2A45"/>
            </a:solidFill>
            <a:prstDash val="solid"/>
          </a:ln>
        </p:spPr>
      </p:sp>
      <p:sp>
        <p:nvSpPr>
          <p:cNvPr id="62" name="Shape 60"/>
          <p:cNvSpPr/>
          <p:nvPr/>
        </p:nvSpPr>
        <p:spPr>
          <a:xfrm>
            <a:off x="7269480" y="3465576"/>
            <a:ext cx="438912" cy="347472"/>
          </a:xfrm>
          <a:prstGeom prst="rect">
            <a:avLst/>
          </a:prstGeom>
          <a:solidFill>
            <a:srgbClr val="0891B2"/>
          </a:solidFill>
          <a:ln w="6350">
            <a:solidFill>
              <a:srgbClr val="0D2A45"/>
            </a:solidFill>
            <a:prstDash val="solid"/>
          </a:ln>
        </p:spPr>
      </p:sp>
      <p:sp>
        <p:nvSpPr>
          <p:cNvPr id="63" name="Text 61"/>
          <p:cNvSpPr/>
          <p:nvPr/>
        </p:nvSpPr>
        <p:spPr>
          <a:xfrm>
            <a:off x="4937760" y="3931920"/>
            <a:ext cx="3840480" cy="685800"/>
          </a:xfrm>
          <a:prstGeom prst="rect">
            <a:avLst/>
          </a:prstGeom>
          <a:noFill/>
          <a:ln/>
        </p:spPr>
        <p:txBody>
          <a:bodyPr wrap="square" lIns="0" tIns="0" rIns="0" bIns="0" rtlCol="0" anchor="ctr"/>
          <a:lstStyle/>
          <a:p>
            <a:pPr algn="ctr" indent="0" marL="0">
              <a:buNone/>
            </a:pPr>
            <a:r>
              <a:rPr lang="en-US" sz="1100" dirty="0">
                <a:solidFill>
                  <a:srgbClr val="94A3B8"/>
                </a:solidFill>
                <a:latin typeface="Malgun Gothic" pitchFamily="34" charset="0"/>
                <a:ea typeface="Malgun Gothic" pitchFamily="34" charset="-122"/>
                <a:cs typeface="Malgun Gothic" pitchFamily="34" charset="-120"/>
              </a:rPr>
              <a:t>캔버스 내 전체 참조</a:t>
            </a:r>
            <a:endParaRPr lang="en-US" sz="1100" dirty="0"/>
          </a:p>
          <a:p>
            <a:pPr algn="ctr" indent="0" marL="0">
              <a:buNone/>
            </a:pPr>
            <a:r>
              <a:rPr lang="en-US" sz="1100" dirty="0">
                <a:solidFill>
                  <a:srgbClr val="94A3B8"/>
                </a:solidFill>
                <a:latin typeface="Malgun Gothic" pitchFamily="34" charset="0"/>
                <a:ea typeface="Malgun Gothic" pitchFamily="34" charset="-122"/>
                <a:cs typeface="Malgun Gothic" pitchFamily="34" charset="-120"/>
              </a:rPr>
              <a:t>일관성 있는 블록 생성</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0" y="182880"/>
            <a:ext cx="9144000" cy="4572000"/>
          </a:xfrm>
          <a:prstGeom prst="rect">
            <a:avLst/>
          </a:prstGeom>
          <a:noFill/>
          <a:ln/>
        </p:spPr>
        <p:txBody>
          <a:bodyPr wrap="square" lIns="0" tIns="0" rIns="0" bIns="0" rtlCol="0" anchor="ctr"/>
          <a:lstStyle/>
          <a:p>
            <a:pPr algn="ctr" indent="0" marL="0">
              <a:buNone/>
            </a:pPr>
            <a:r>
              <a:rPr lang="en-US" sz="22000" b="1" dirty="0">
                <a:solidFill>
                  <a:srgbClr val="0D2A45"/>
                </a:solidFill>
                <a:latin typeface="Malgun Gothic" pitchFamily="34" charset="0"/>
                <a:ea typeface="Malgun Gothic" pitchFamily="34" charset="-122"/>
                <a:cs typeface="Malgun Gothic" pitchFamily="34" charset="-120"/>
              </a:rPr>
              <a:t>05</a:t>
            </a:r>
            <a:endParaRPr lang="en-US" sz="22000" dirty="0"/>
          </a:p>
        </p:txBody>
      </p:sp>
      <p:sp>
        <p:nvSpPr>
          <p:cNvPr id="3" name="Shape 1"/>
          <p:cNvSpPr/>
          <p:nvPr/>
        </p:nvSpPr>
        <p:spPr>
          <a:xfrm>
            <a:off x="0" y="2103120"/>
            <a:ext cx="9144000" cy="914400"/>
          </a:xfrm>
          <a:prstGeom prst="rect">
            <a:avLst/>
          </a:prstGeom>
          <a:solidFill>
            <a:srgbClr val="1F4E79">
              <a:alpha val="80000"/>
            </a:srgbClr>
          </a:solidFill>
          <a:ln w="12700">
            <a:solidFill>
              <a:srgbClr val="1F4E79">
                <a:alpha val="80000"/>
              </a:srgbClr>
            </a:solidFill>
            <a:prstDash val="solid"/>
          </a:ln>
        </p:spPr>
      </p:sp>
      <p:sp>
        <p:nvSpPr>
          <p:cNvPr id="4" name="Text 2"/>
          <p:cNvSpPr/>
          <p:nvPr/>
        </p:nvSpPr>
        <p:spPr>
          <a:xfrm>
            <a:off x="457200" y="2121408"/>
            <a:ext cx="8229600" cy="45720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성능 &amp; 벤치마크</a:t>
            </a:r>
            <a:endParaRPr lang="en-US" sz="3200" dirty="0"/>
          </a:p>
        </p:txBody>
      </p:sp>
      <p:sp>
        <p:nvSpPr>
          <p:cNvPr id="5" name="Text 3"/>
          <p:cNvSpPr/>
          <p:nvPr/>
        </p:nvSpPr>
        <p:spPr>
          <a:xfrm>
            <a:off x="457200" y="2578608"/>
            <a:ext cx="8229600" cy="384048"/>
          </a:xfrm>
          <a:prstGeom prst="rect">
            <a:avLst/>
          </a:prstGeom>
          <a:noFill/>
          <a:ln/>
        </p:spPr>
        <p:txBody>
          <a:bodyPr wrap="square" lIns="0" tIns="0" rIns="0" bIns="0" rtlCol="0" anchor="ctr"/>
          <a:lstStyle/>
          <a:p>
            <a:pPr algn="ctr" indent="0" marL="0">
              <a:buNone/>
            </a:pPr>
            <a:r>
              <a:rPr lang="en-US" sz="1600" dirty="0">
                <a:solidFill>
                  <a:srgbClr val="BAE6FD"/>
                </a:solidFill>
                <a:latin typeface="Malgun Gothic" pitchFamily="34" charset="0"/>
                <a:ea typeface="Malgun Gothic" pitchFamily="34" charset="-122"/>
                <a:cs typeface="Malgun Gothic" pitchFamily="34" charset="-120"/>
              </a:rPr>
              <a:t>얼마나 빠르고, 얼마나 잘 하나</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BF4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4E79"/>
          </a:solidFill>
          <a:ln w="12700">
            <a:solidFill>
              <a:srgbClr val="1F4E79"/>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1F4E79"/>
                </a:solidFill>
                <a:latin typeface="Malgun Gothic" pitchFamily="34" charset="0"/>
                <a:ea typeface="Malgun Gothic" pitchFamily="34" charset="-122"/>
                <a:cs typeface="Malgun Gothic" pitchFamily="34" charset="-120"/>
              </a:rPr>
              <a:t>초당 1,000+ 토큰</a:t>
            </a:r>
            <a:endParaRPr lang="en-US" sz="2600" dirty="0"/>
          </a:p>
        </p:txBody>
      </p:sp>
      <p:sp>
        <p:nvSpPr>
          <p:cNvPr id="4" name="Shape 2"/>
          <p:cNvSpPr/>
          <p:nvPr/>
        </p:nvSpPr>
        <p:spPr>
          <a:xfrm>
            <a:off x="274320" y="868680"/>
            <a:ext cx="3200400" cy="105156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274320" y="914400"/>
            <a:ext cx="2011680" cy="594360"/>
          </a:xfrm>
          <a:prstGeom prst="rect">
            <a:avLst/>
          </a:prstGeom>
          <a:noFill/>
          <a:ln/>
        </p:spPr>
        <p:txBody>
          <a:bodyPr wrap="square" lIns="0" tIns="0" rIns="0" bIns="0" rtlCol="0" anchor="ctr"/>
          <a:lstStyle/>
          <a:p>
            <a:pPr algn="r" indent="0" marL="0">
              <a:buNone/>
            </a:pPr>
            <a:r>
              <a:rPr lang="en-US" sz="3200" b="1" dirty="0">
                <a:solidFill>
                  <a:srgbClr val="06B6D4"/>
                </a:solidFill>
                <a:latin typeface="Malgun Gothic" pitchFamily="34" charset="0"/>
                <a:ea typeface="Malgun Gothic" pitchFamily="34" charset="-122"/>
                <a:cs typeface="Malgun Gothic" pitchFamily="34" charset="-120"/>
              </a:rPr>
              <a:t>1,288</a:t>
            </a:r>
            <a:endParaRPr lang="en-US" sz="3200" dirty="0"/>
          </a:p>
        </p:txBody>
      </p:sp>
      <p:sp>
        <p:nvSpPr>
          <p:cNvPr id="6" name="Text 4"/>
          <p:cNvSpPr/>
          <p:nvPr/>
        </p:nvSpPr>
        <p:spPr>
          <a:xfrm>
            <a:off x="2331720" y="1188720"/>
            <a:ext cx="731520" cy="320040"/>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tok/s</a:t>
            </a:r>
            <a:endParaRPr lang="en-US" sz="1100" dirty="0"/>
          </a:p>
        </p:txBody>
      </p:sp>
      <p:sp>
        <p:nvSpPr>
          <p:cNvPr id="7" name="Text 5"/>
          <p:cNvSpPr/>
          <p:nvPr/>
        </p:nvSpPr>
        <p:spPr>
          <a:xfrm>
            <a:off x="320040" y="1527048"/>
            <a:ext cx="3017520" cy="274320"/>
          </a:xfrm>
          <a:prstGeom prst="rect">
            <a:avLst/>
          </a:prstGeom>
          <a:noFill/>
          <a:ln/>
        </p:spPr>
        <p:txBody>
          <a:bodyPr wrap="square" lIns="0" tIns="0" rIns="0" bIns="0" rtlCol="0" anchor="ctr"/>
          <a:lstStyle/>
          <a:p>
            <a:pPr algn="ctr" indent="0" marL="0">
              <a:buNone/>
            </a:pPr>
            <a:r>
              <a:rPr lang="en-US" sz="1100" dirty="0">
                <a:solidFill>
                  <a:srgbClr val="BAE6FD"/>
                </a:solidFill>
                <a:latin typeface="Malgun Gothic" pitchFamily="34" charset="0"/>
                <a:ea typeface="Malgun Gothic" pitchFamily="34" charset="-122"/>
                <a:cs typeface="Malgun Gothic" pitchFamily="34" charset="-120"/>
              </a:rPr>
              <a:t>H200</a:t>
            </a:r>
            <a:endParaRPr lang="en-US" sz="1100" dirty="0"/>
          </a:p>
        </p:txBody>
      </p:sp>
      <p:sp>
        <p:nvSpPr>
          <p:cNvPr id="8" name="Shape 6"/>
          <p:cNvSpPr/>
          <p:nvPr/>
        </p:nvSpPr>
        <p:spPr>
          <a:xfrm>
            <a:off x="274320" y="2103120"/>
            <a:ext cx="3200400" cy="105156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274320" y="2148840"/>
            <a:ext cx="2011680" cy="594360"/>
          </a:xfrm>
          <a:prstGeom prst="rect">
            <a:avLst/>
          </a:prstGeom>
          <a:noFill/>
          <a:ln/>
        </p:spPr>
        <p:txBody>
          <a:bodyPr wrap="square" lIns="0" tIns="0" rIns="0" bIns="0" rtlCol="0" anchor="ctr"/>
          <a:lstStyle/>
          <a:p>
            <a:pPr algn="r" indent="0" marL="0">
              <a:buNone/>
            </a:pPr>
            <a:r>
              <a:rPr lang="en-US" sz="3200" b="1" dirty="0">
                <a:solidFill>
                  <a:srgbClr val="06B6D4"/>
                </a:solidFill>
                <a:latin typeface="Malgun Gothic" pitchFamily="34" charset="0"/>
                <a:ea typeface="Malgun Gothic" pitchFamily="34" charset="-122"/>
                <a:cs typeface="Malgun Gothic" pitchFamily="34" charset="-120"/>
              </a:rPr>
              <a:t>1,008</a:t>
            </a:r>
            <a:endParaRPr lang="en-US" sz="3200" dirty="0"/>
          </a:p>
        </p:txBody>
      </p:sp>
      <p:sp>
        <p:nvSpPr>
          <p:cNvPr id="10" name="Text 8"/>
          <p:cNvSpPr/>
          <p:nvPr/>
        </p:nvSpPr>
        <p:spPr>
          <a:xfrm>
            <a:off x="2331720" y="2423160"/>
            <a:ext cx="731520" cy="320040"/>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tok/s</a:t>
            </a:r>
            <a:endParaRPr lang="en-US" sz="1100" dirty="0"/>
          </a:p>
        </p:txBody>
      </p:sp>
      <p:sp>
        <p:nvSpPr>
          <p:cNvPr id="11" name="Text 9"/>
          <p:cNvSpPr/>
          <p:nvPr/>
        </p:nvSpPr>
        <p:spPr>
          <a:xfrm>
            <a:off x="320040" y="2761488"/>
            <a:ext cx="3017520" cy="274320"/>
          </a:xfrm>
          <a:prstGeom prst="rect">
            <a:avLst/>
          </a:prstGeom>
          <a:noFill/>
          <a:ln/>
        </p:spPr>
        <p:txBody>
          <a:bodyPr wrap="square" lIns="0" tIns="0" rIns="0" bIns="0" rtlCol="0" anchor="ctr"/>
          <a:lstStyle/>
          <a:p>
            <a:pPr algn="ctr" indent="0" marL="0">
              <a:buNone/>
            </a:pPr>
            <a:r>
              <a:rPr lang="en-US" sz="1100" dirty="0">
                <a:solidFill>
                  <a:srgbClr val="BAE6FD"/>
                </a:solidFill>
                <a:latin typeface="Malgun Gothic" pitchFamily="34" charset="0"/>
                <a:ea typeface="Malgun Gothic" pitchFamily="34" charset="-122"/>
                <a:cs typeface="Malgun Gothic" pitchFamily="34" charset="-120"/>
              </a:rPr>
              <a:t>H100</a:t>
            </a:r>
            <a:endParaRPr lang="en-US" sz="1100" dirty="0"/>
          </a:p>
        </p:txBody>
      </p:sp>
      <p:sp>
        <p:nvSpPr>
          <p:cNvPr id="12" name="Shape 10"/>
          <p:cNvSpPr/>
          <p:nvPr/>
        </p:nvSpPr>
        <p:spPr>
          <a:xfrm>
            <a:off x="274320" y="3337560"/>
            <a:ext cx="3200400" cy="105156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274320" y="3383280"/>
            <a:ext cx="2011680" cy="594360"/>
          </a:xfrm>
          <a:prstGeom prst="rect">
            <a:avLst/>
          </a:prstGeom>
          <a:noFill/>
          <a:ln/>
        </p:spPr>
        <p:txBody>
          <a:bodyPr wrap="square" lIns="0" tIns="0" rIns="0" bIns="0" rtlCol="0" anchor="ctr"/>
          <a:lstStyle/>
          <a:p>
            <a:pPr algn="r" indent="0" marL="0">
              <a:buNone/>
            </a:pPr>
            <a:r>
              <a:rPr lang="en-US" sz="3200" b="1" dirty="0">
                <a:solidFill>
                  <a:srgbClr val="06B6D4"/>
                </a:solidFill>
                <a:latin typeface="Malgun Gothic" pitchFamily="34" charset="0"/>
                <a:ea typeface="Malgun Gothic" pitchFamily="34" charset="-122"/>
                <a:cs typeface="Malgun Gothic" pitchFamily="34" charset="-120"/>
              </a:rPr>
              <a:t>700+</a:t>
            </a:r>
            <a:endParaRPr lang="en-US" sz="3200" dirty="0"/>
          </a:p>
        </p:txBody>
      </p:sp>
      <p:sp>
        <p:nvSpPr>
          <p:cNvPr id="14" name="Text 12"/>
          <p:cNvSpPr/>
          <p:nvPr/>
        </p:nvSpPr>
        <p:spPr>
          <a:xfrm>
            <a:off x="2331720" y="3657600"/>
            <a:ext cx="731520" cy="320040"/>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tok/s</a:t>
            </a:r>
            <a:endParaRPr lang="en-US" sz="1100" dirty="0"/>
          </a:p>
        </p:txBody>
      </p:sp>
      <p:sp>
        <p:nvSpPr>
          <p:cNvPr id="15" name="Text 13"/>
          <p:cNvSpPr/>
          <p:nvPr/>
        </p:nvSpPr>
        <p:spPr>
          <a:xfrm>
            <a:off x="320040" y="3995928"/>
            <a:ext cx="3017520" cy="274320"/>
          </a:xfrm>
          <a:prstGeom prst="rect">
            <a:avLst/>
          </a:prstGeom>
          <a:noFill/>
          <a:ln/>
        </p:spPr>
        <p:txBody>
          <a:bodyPr wrap="square" lIns="0" tIns="0" rIns="0" bIns="0" rtlCol="0" anchor="ctr"/>
          <a:lstStyle/>
          <a:p>
            <a:pPr algn="ctr" indent="0" marL="0">
              <a:buNone/>
            </a:pPr>
            <a:r>
              <a:rPr lang="en-US" sz="1100" dirty="0">
                <a:solidFill>
                  <a:srgbClr val="BAE6FD"/>
                </a:solidFill>
                <a:latin typeface="Malgun Gothic" pitchFamily="34" charset="0"/>
                <a:ea typeface="Malgun Gothic" pitchFamily="34" charset="-122"/>
                <a:cs typeface="Malgun Gothic" pitchFamily="34" charset="-120"/>
              </a:rPr>
              <a:t>RTX 5090</a:t>
            </a:r>
            <a:endParaRPr lang="en-US" sz="1100" dirty="0"/>
          </a:p>
        </p:txBody>
      </p:sp>
      <p:graphicFrame>
        <p:nvGraphicFramePr>
          <p:cNvPr id="16" name="Chart 0" descr=""/>
          <p:cNvGraphicFramePr/>
          <p:nvPr/>
        </p:nvGraphicFramePr>
        <p:xfrm>
          <a:off x="3566160" y="6858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E3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891B2"/>
          </a:solidFill>
          <a:ln w="12700">
            <a:solidFill>
              <a:srgbClr val="0891B2"/>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400" b="1" dirty="0">
                <a:solidFill>
                  <a:srgbClr val="FFFFFF"/>
                </a:solidFill>
                <a:latin typeface="Malgun Gothic" pitchFamily="34" charset="0"/>
                <a:ea typeface="Malgun Gothic" pitchFamily="34" charset="-122"/>
                <a:cs typeface="Malgun Gothic" pitchFamily="34" charset="-120"/>
              </a:rPr>
              <a:t>Gemma 4 대비 품질 트레이드오프</a:t>
            </a:r>
            <a:endParaRPr lang="en-US" sz="2400" dirty="0"/>
          </a:p>
        </p:txBody>
      </p:sp>
      <p:graphicFrame>
        <p:nvGraphicFramePr>
          <p:cNvPr id="4" name="Chart 0" descr=""/>
          <p:cNvGraphicFramePr/>
          <p:nvPr/>
        </p:nvGraphicFramePr>
        <p:xfrm>
          <a:off x="365760" y="822960"/>
          <a:ext cx="841248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365760" y="4553712"/>
            <a:ext cx="8412480" cy="292608"/>
          </a:xfrm>
          <a:prstGeom prst="rect">
            <a:avLst/>
          </a:prstGeom>
          <a:noFill/>
          <a:ln/>
        </p:spPr>
        <p:txBody>
          <a:bodyPr wrap="square" lIns="0" tIns="0" rIns="0" bIns="0" rtlCol="0" anchor="ctr"/>
          <a:lstStyle/>
          <a:p>
            <a:pPr algn="ctr" indent="0" marL="0">
              <a:buNone/>
            </a:pPr>
            <a:r>
              <a:rPr lang="en-US" sz="1000" i="1" dirty="0">
                <a:solidFill>
                  <a:srgbClr val="94A3B8"/>
                </a:solidFill>
                <a:latin typeface="Malgun Gothic" pitchFamily="34" charset="0"/>
                <a:ea typeface="Malgun Gothic" pitchFamily="34" charset="-122"/>
                <a:cs typeface="Malgun Gothic" pitchFamily="34" charset="-120"/>
              </a:rPr>
              <a:t>속도 우선 = 품질 일부 타협 | 수학/추론에서 격차 더 크고, 코딩에서 격차 작음</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0" y="182880"/>
            <a:ext cx="9144000" cy="4572000"/>
          </a:xfrm>
          <a:prstGeom prst="rect">
            <a:avLst/>
          </a:prstGeom>
          <a:noFill/>
          <a:ln/>
        </p:spPr>
        <p:txBody>
          <a:bodyPr wrap="square" lIns="0" tIns="0" rIns="0" bIns="0" rtlCol="0" anchor="ctr"/>
          <a:lstStyle/>
          <a:p>
            <a:pPr algn="ctr" indent="0" marL="0">
              <a:buNone/>
            </a:pPr>
            <a:r>
              <a:rPr lang="en-US" sz="22000" b="1" dirty="0">
                <a:solidFill>
                  <a:srgbClr val="0D2A45"/>
                </a:solidFill>
                <a:latin typeface="Malgun Gothic" pitchFamily="34" charset="0"/>
                <a:ea typeface="Malgun Gothic" pitchFamily="34" charset="-122"/>
                <a:cs typeface="Malgun Gothic" pitchFamily="34" charset="-120"/>
              </a:rPr>
              <a:t>06</a:t>
            </a:r>
            <a:endParaRPr lang="en-US" sz="22000" dirty="0"/>
          </a:p>
        </p:txBody>
      </p:sp>
      <p:sp>
        <p:nvSpPr>
          <p:cNvPr id="3" name="Shape 1"/>
          <p:cNvSpPr/>
          <p:nvPr/>
        </p:nvSpPr>
        <p:spPr>
          <a:xfrm>
            <a:off x="0" y="2103120"/>
            <a:ext cx="9144000" cy="914400"/>
          </a:xfrm>
          <a:prstGeom prst="rect">
            <a:avLst/>
          </a:prstGeom>
          <a:solidFill>
            <a:srgbClr val="1F4E79">
              <a:alpha val="80000"/>
            </a:srgbClr>
          </a:solidFill>
          <a:ln w="12700">
            <a:solidFill>
              <a:srgbClr val="1F4E79">
                <a:alpha val="80000"/>
              </a:srgbClr>
            </a:solidFill>
            <a:prstDash val="solid"/>
          </a:ln>
        </p:spPr>
      </p:sp>
      <p:sp>
        <p:nvSpPr>
          <p:cNvPr id="4" name="Text 2"/>
          <p:cNvSpPr/>
          <p:nvPr/>
        </p:nvSpPr>
        <p:spPr>
          <a:xfrm>
            <a:off x="457200" y="2121408"/>
            <a:ext cx="8229600" cy="45720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스펙 &amp; 사용 방법</a:t>
            </a:r>
            <a:endParaRPr lang="en-US" sz="3200" dirty="0"/>
          </a:p>
        </p:txBody>
      </p:sp>
      <p:sp>
        <p:nvSpPr>
          <p:cNvPr id="5" name="Text 3"/>
          <p:cNvSpPr/>
          <p:nvPr/>
        </p:nvSpPr>
        <p:spPr>
          <a:xfrm>
            <a:off x="457200" y="2578608"/>
            <a:ext cx="8229600" cy="384048"/>
          </a:xfrm>
          <a:prstGeom prst="rect">
            <a:avLst/>
          </a:prstGeom>
          <a:noFill/>
          <a:ln/>
        </p:spPr>
        <p:txBody>
          <a:bodyPr wrap="square" lIns="0" tIns="0" rIns="0" bIns="0" rtlCol="0" anchor="ctr"/>
          <a:lstStyle/>
          <a:p>
            <a:pPr algn="ctr" indent="0" marL="0">
              <a:buNone/>
            </a:pPr>
            <a:r>
              <a:rPr lang="en-US" sz="1600" dirty="0">
                <a:solidFill>
                  <a:srgbClr val="BAE6FD"/>
                </a:solidFill>
                <a:latin typeface="Malgun Gothic" pitchFamily="34" charset="0"/>
                <a:ea typeface="Malgun Gothic" pitchFamily="34" charset="-122"/>
                <a:cs typeface="Malgun Gothic" pitchFamily="34" charset="-120"/>
              </a:rPr>
              <a:t>지금 바로 쓸 수 있다</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4E79"/>
          </a:solidFill>
          <a:ln w="12700">
            <a:solidFill>
              <a:srgbClr val="1F4E79"/>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1F4E79"/>
                </a:solidFill>
                <a:latin typeface="Malgun Gothic" pitchFamily="34" charset="0"/>
                <a:ea typeface="Malgun Gothic" pitchFamily="34" charset="-122"/>
                <a:cs typeface="Malgun Gothic" pitchFamily="34" charset="-120"/>
              </a:rPr>
              <a:t>26B MoE, 3.8B 활성</a:t>
            </a:r>
            <a:endParaRPr lang="en-US" sz="2600" dirty="0"/>
          </a:p>
        </p:txBody>
      </p:sp>
      <p:sp>
        <p:nvSpPr>
          <p:cNvPr id="4" name="Shape 2"/>
          <p:cNvSpPr/>
          <p:nvPr/>
        </p:nvSpPr>
        <p:spPr>
          <a:xfrm>
            <a:off x="274320" y="822960"/>
            <a:ext cx="3840480" cy="320040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274320" y="822960"/>
            <a:ext cx="3840480" cy="384048"/>
          </a:xfrm>
          <a:prstGeom prst="rect">
            <a:avLst/>
          </a:prstGeom>
          <a:noFill/>
          <a:ln/>
        </p:spPr>
        <p:txBody>
          <a:bodyPr wrap="square" lIns="0" tIns="0" rIns="0" bIns="0" rtlCol="0" anchor="ctr"/>
          <a:lstStyle/>
          <a:p>
            <a:pPr algn="ctr" indent="0" marL="0">
              <a:buNone/>
            </a:pPr>
            <a:r>
              <a:rPr lang="en-US" sz="1400" b="1" dirty="0">
                <a:solidFill>
                  <a:srgbClr val="06B6D4"/>
                </a:solidFill>
                <a:latin typeface="Malgun Gothic" pitchFamily="34" charset="0"/>
                <a:ea typeface="Malgun Gothic" pitchFamily="34" charset="-122"/>
                <a:cs typeface="Malgun Gothic" pitchFamily="34" charset="-120"/>
              </a:rPr>
              <a:t>아키텍처</a:t>
            </a:r>
            <a:endParaRPr lang="en-US" sz="1400" dirty="0"/>
          </a:p>
        </p:txBody>
      </p:sp>
      <p:sp>
        <p:nvSpPr>
          <p:cNvPr id="6" name="Text 4"/>
          <p:cNvSpPr/>
          <p:nvPr/>
        </p:nvSpPr>
        <p:spPr>
          <a:xfrm>
            <a:off x="411480" y="1298448"/>
            <a:ext cx="1737360" cy="329184"/>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총 파라미터</a:t>
            </a:r>
            <a:endParaRPr lang="en-US" sz="1100" dirty="0"/>
          </a:p>
        </p:txBody>
      </p:sp>
      <p:sp>
        <p:nvSpPr>
          <p:cNvPr id="7" name="Text 5"/>
          <p:cNvSpPr/>
          <p:nvPr/>
        </p:nvSpPr>
        <p:spPr>
          <a:xfrm>
            <a:off x="2148840" y="1298448"/>
            <a:ext cx="182880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algun Gothic" pitchFamily="34" charset="0"/>
                <a:ea typeface="Malgun Gothic" pitchFamily="34" charset="-122"/>
                <a:cs typeface="Malgun Gothic" pitchFamily="34" charset="-120"/>
              </a:rPr>
              <a:t>25.2B</a:t>
            </a:r>
            <a:endParaRPr lang="en-US" sz="1100" dirty="0"/>
          </a:p>
        </p:txBody>
      </p:sp>
      <p:sp>
        <p:nvSpPr>
          <p:cNvPr id="8" name="Shape 6"/>
          <p:cNvSpPr/>
          <p:nvPr/>
        </p:nvSpPr>
        <p:spPr>
          <a:xfrm>
            <a:off x="411480" y="1618488"/>
            <a:ext cx="3474720" cy="0"/>
          </a:xfrm>
          <a:prstGeom prst="line">
            <a:avLst/>
          </a:prstGeom>
          <a:noFill/>
          <a:ln w="6350">
            <a:solidFill>
              <a:srgbClr val="1C3A5C"/>
            </a:solidFill>
            <a:prstDash val="solid"/>
          </a:ln>
        </p:spPr>
      </p:sp>
      <p:sp>
        <p:nvSpPr>
          <p:cNvPr id="9" name="Text 7"/>
          <p:cNvSpPr/>
          <p:nvPr/>
        </p:nvSpPr>
        <p:spPr>
          <a:xfrm>
            <a:off x="411480" y="1691640"/>
            <a:ext cx="1737360" cy="329184"/>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활성 파라미터</a:t>
            </a:r>
            <a:endParaRPr lang="en-US" sz="1100" dirty="0"/>
          </a:p>
        </p:txBody>
      </p:sp>
      <p:sp>
        <p:nvSpPr>
          <p:cNvPr id="10" name="Text 8"/>
          <p:cNvSpPr/>
          <p:nvPr/>
        </p:nvSpPr>
        <p:spPr>
          <a:xfrm>
            <a:off x="2148840" y="1691640"/>
            <a:ext cx="182880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algun Gothic" pitchFamily="34" charset="0"/>
                <a:ea typeface="Malgun Gothic" pitchFamily="34" charset="-122"/>
                <a:cs typeface="Malgun Gothic" pitchFamily="34" charset="-120"/>
              </a:rPr>
              <a:t>3.8B</a:t>
            </a:r>
            <a:endParaRPr lang="en-US" sz="1100" dirty="0"/>
          </a:p>
        </p:txBody>
      </p:sp>
      <p:sp>
        <p:nvSpPr>
          <p:cNvPr id="11" name="Shape 9"/>
          <p:cNvSpPr/>
          <p:nvPr/>
        </p:nvSpPr>
        <p:spPr>
          <a:xfrm>
            <a:off x="411480" y="2011680"/>
            <a:ext cx="3474720" cy="0"/>
          </a:xfrm>
          <a:prstGeom prst="line">
            <a:avLst/>
          </a:prstGeom>
          <a:noFill/>
          <a:ln w="6350">
            <a:solidFill>
              <a:srgbClr val="1C3A5C"/>
            </a:solidFill>
            <a:prstDash val="solid"/>
          </a:ln>
        </p:spPr>
      </p:sp>
      <p:sp>
        <p:nvSpPr>
          <p:cNvPr id="12" name="Text 10"/>
          <p:cNvSpPr/>
          <p:nvPr/>
        </p:nvSpPr>
        <p:spPr>
          <a:xfrm>
            <a:off x="411480" y="2084832"/>
            <a:ext cx="1737360" cy="329184"/>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MoE 전문가</a:t>
            </a:r>
            <a:endParaRPr lang="en-US" sz="1100" dirty="0"/>
          </a:p>
        </p:txBody>
      </p:sp>
      <p:sp>
        <p:nvSpPr>
          <p:cNvPr id="13" name="Text 11"/>
          <p:cNvSpPr/>
          <p:nvPr/>
        </p:nvSpPr>
        <p:spPr>
          <a:xfrm>
            <a:off x="2148840" y="2084832"/>
            <a:ext cx="182880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algun Gothic" pitchFamily="34" charset="0"/>
                <a:ea typeface="Malgun Gothic" pitchFamily="34" charset="-122"/>
                <a:cs typeface="Malgun Gothic" pitchFamily="34" charset="-120"/>
              </a:rPr>
              <a:t>128개 (활성 8개)</a:t>
            </a:r>
            <a:endParaRPr lang="en-US" sz="1100" dirty="0"/>
          </a:p>
        </p:txBody>
      </p:sp>
      <p:sp>
        <p:nvSpPr>
          <p:cNvPr id="14" name="Shape 12"/>
          <p:cNvSpPr/>
          <p:nvPr/>
        </p:nvSpPr>
        <p:spPr>
          <a:xfrm>
            <a:off x="411480" y="2404872"/>
            <a:ext cx="3474720" cy="0"/>
          </a:xfrm>
          <a:prstGeom prst="line">
            <a:avLst/>
          </a:prstGeom>
          <a:noFill/>
          <a:ln w="6350">
            <a:solidFill>
              <a:srgbClr val="1C3A5C"/>
            </a:solidFill>
            <a:prstDash val="solid"/>
          </a:ln>
        </p:spPr>
      </p:sp>
      <p:sp>
        <p:nvSpPr>
          <p:cNvPr id="15" name="Text 13"/>
          <p:cNvSpPr/>
          <p:nvPr/>
        </p:nvSpPr>
        <p:spPr>
          <a:xfrm>
            <a:off x="411480" y="2478024"/>
            <a:ext cx="1737360" cy="329184"/>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레이어 수</a:t>
            </a:r>
            <a:endParaRPr lang="en-US" sz="1100" dirty="0"/>
          </a:p>
        </p:txBody>
      </p:sp>
      <p:sp>
        <p:nvSpPr>
          <p:cNvPr id="16" name="Text 14"/>
          <p:cNvSpPr/>
          <p:nvPr/>
        </p:nvSpPr>
        <p:spPr>
          <a:xfrm>
            <a:off x="2148840" y="2478024"/>
            <a:ext cx="182880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algun Gothic" pitchFamily="34" charset="0"/>
                <a:ea typeface="Malgun Gothic" pitchFamily="34" charset="-122"/>
                <a:cs typeface="Malgun Gothic" pitchFamily="34" charset="-120"/>
              </a:rPr>
              <a:t>30</a:t>
            </a:r>
            <a:endParaRPr lang="en-US" sz="1100" dirty="0"/>
          </a:p>
        </p:txBody>
      </p:sp>
      <p:sp>
        <p:nvSpPr>
          <p:cNvPr id="17" name="Shape 15"/>
          <p:cNvSpPr/>
          <p:nvPr/>
        </p:nvSpPr>
        <p:spPr>
          <a:xfrm>
            <a:off x="411480" y="2798064"/>
            <a:ext cx="3474720" cy="0"/>
          </a:xfrm>
          <a:prstGeom prst="line">
            <a:avLst/>
          </a:prstGeom>
          <a:noFill/>
          <a:ln w="6350">
            <a:solidFill>
              <a:srgbClr val="1C3A5C"/>
            </a:solidFill>
            <a:prstDash val="solid"/>
          </a:ln>
        </p:spPr>
      </p:sp>
      <p:sp>
        <p:nvSpPr>
          <p:cNvPr id="18" name="Text 16"/>
          <p:cNvSpPr/>
          <p:nvPr/>
        </p:nvSpPr>
        <p:spPr>
          <a:xfrm>
            <a:off x="411480" y="2871216"/>
            <a:ext cx="1737360" cy="329184"/>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컨텍스트 길이</a:t>
            </a:r>
            <a:endParaRPr lang="en-US" sz="1100" dirty="0"/>
          </a:p>
        </p:txBody>
      </p:sp>
      <p:sp>
        <p:nvSpPr>
          <p:cNvPr id="19" name="Text 17"/>
          <p:cNvSpPr/>
          <p:nvPr/>
        </p:nvSpPr>
        <p:spPr>
          <a:xfrm>
            <a:off x="2148840" y="2871216"/>
            <a:ext cx="182880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algun Gothic" pitchFamily="34" charset="0"/>
                <a:ea typeface="Malgun Gothic" pitchFamily="34" charset="-122"/>
                <a:cs typeface="Malgun Gothic" pitchFamily="34" charset="-120"/>
              </a:rPr>
              <a:t>256K 토큰</a:t>
            </a:r>
            <a:endParaRPr lang="en-US" sz="1100" dirty="0"/>
          </a:p>
        </p:txBody>
      </p:sp>
      <p:sp>
        <p:nvSpPr>
          <p:cNvPr id="20" name="Shape 18"/>
          <p:cNvSpPr/>
          <p:nvPr/>
        </p:nvSpPr>
        <p:spPr>
          <a:xfrm>
            <a:off x="411480" y="3191256"/>
            <a:ext cx="3474720" cy="0"/>
          </a:xfrm>
          <a:prstGeom prst="line">
            <a:avLst/>
          </a:prstGeom>
          <a:noFill/>
          <a:ln w="6350">
            <a:solidFill>
              <a:srgbClr val="1C3A5C"/>
            </a:solidFill>
            <a:prstDash val="solid"/>
          </a:ln>
        </p:spPr>
      </p:sp>
      <p:sp>
        <p:nvSpPr>
          <p:cNvPr id="21" name="Text 19"/>
          <p:cNvSpPr/>
          <p:nvPr/>
        </p:nvSpPr>
        <p:spPr>
          <a:xfrm>
            <a:off x="411480" y="3264408"/>
            <a:ext cx="1737360" cy="329184"/>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캔버스 크기</a:t>
            </a:r>
            <a:endParaRPr lang="en-US" sz="1100" dirty="0"/>
          </a:p>
        </p:txBody>
      </p:sp>
      <p:sp>
        <p:nvSpPr>
          <p:cNvPr id="22" name="Text 20"/>
          <p:cNvSpPr/>
          <p:nvPr/>
        </p:nvSpPr>
        <p:spPr>
          <a:xfrm>
            <a:off x="2148840" y="3264408"/>
            <a:ext cx="182880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algun Gothic" pitchFamily="34" charset="0"/>
                <a:ea typeface="Malgun Gothic" pitchFamily="34" charset="-122"/>
                <a:cs typeface="Malgun Gothic" pitchFamily="34" charset="-120"/>
              </a:rPr>
              <a:t>256 토큰</a:t>
            </a:r>
            <a:endParaRPr lang="en-US" sz="1100" dirty="0"/>
          </a:p>
        </p:txBody>
      </p:sp>
      <p:sp>
        <p:nvSpPr>
          <p:cNvPr id="23" name="Shape 21"/>
          <p:cNvSpPr/>
          <p:nvPr/>
        </p:nvSpPr>
        <p:spPr>
          <a:xfrm>
            <a:off x="411480" y="3584448"/>
            <a:ext cx="3474720" cy="0"/>
          </a:xfrm>
          <a:prstGeom prst="line">
            <a:avLst/>
          </a:prstGeom>
          <a:noFill/>
          <a:ln w="6350">
            <a:solidFill>
              <a:srgbClr val="1C3A5C"/>
            </a:solidFill>
            <a:prstDash val="solid"/>
          </a:ln>
        </p:spPr>
      </p:sp>
      <p:sp>
        <p:nvSpPr>
          <p:cNvPr id="24" name="Text 22"/>
          <p:cNvSpPr/>
          <p:nvPr/>
        </p:nvSpPr>
        <p:spPr>
          <a:xfrm>
            <a:off x="411480" y="3657600"/>
            <a:ext cx="1737360" cy="329184"/>
          </a:xfrm>
          <a:prstGeom prst="rect">
            <a:avLst/>
          </a:prstGeom>
          <a:noFill/>
          <a:ln/>
        </p:spPr>
        <p:txBody>
          <a:bodyPr wrap="square" lIns="0" tIns="0" rIns="0" bIns="0" rtlCol="0" anchor="ctr"/>
          <a:lstStyle/>
          <a:p>
            <a:pPr algn="l" indent="0" marL="0">
              <a:buNone/>
            </a:pPr>
            <a:r>
              <a:rPr lang="en-US" sz="1100" dirty="0">
                <a:solidFill>
                  <a:srgbClr val="94A3B8"/>
                </a:solidFill>
                <a:latin typeface="Malgun Gothic" pitchFamily="34" charset="0"/>
                <a:ea typeface="Malgun Gothic" pitchFamily="34" charset="-122"/>
                <a:cs typeface="Malgun Gothic" pitchFamily="34" charset="-120"/>
              </a:rPr>
              <a:t>어휘 크기</a:t>
            </a:r>
            <a:endParaRPr lang="en-US" sz="1100" dirty="0"/>
          </a:p>
        </p:txBody>
      </p:sp>
      <p:sp>
        <p:nvSpPr>
          <p:cNvPr id="25" name="Text 23"/>
          <p:cNvSpPr/>
          <p:nvPr/>
        </p:nvSpPr>
        <p:spPr>
          <a:xfrm>
            <a:off x="2148840" y="3657600"/>
            <a:ext cx="182880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algun Gothic" pitchFamily="34" charset="0"/>
                <a:ea typeface="Malgun Gothic" pitchFamily="34" charset="-122"/>
                <a:cs typeface="Malgun Gothic" pitchFamily="34" charset="-120"/>
              </a:rPr>
              <a:t>262K</a:t>
            </a:r>
            <a:endParaRPr lang="en-US" sz="1100" dirty="0"/>
          </a:p>
        </p:txBody>
      </p:sp>
      <p:sp>
        <p:nvSpPr>
          <p:cNvPr id="26" name="Shape 24"/>
          <p:cNvSpPr/>
          <p:nvPr/>
        </p:nvSpPr>
        <p:spPr>
          <a:xfrm>
            <a:off x="4754880" y="822960"/>
            <a:ext cx="4114800" cy="164592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27" name="Text 25"/>
          <p:cNvSpPr/>
          <p:nvPr/>
        </p:nvSpPr>
        <p:spPr>
          <a:xfrm>
            <a:off x="4754880" y="822960"/>
            <a:ext cx="4114800" cy="365760"/>
          </a:xfrm>
          <a:prstGeom prst="rect">
            <a:avLst/>
          </a:prstGeom>
          <a:noFill/>
          <a:ln/>
        </p:spPr>
        <p:txBody>
          <a:bodyPr wrap="square" lIns="0" tIns="0" rIns="0" bIns="0" rtlCol="0" anchor="ctr"/>
          <a:lstStyle/>
          <a:p>
            <a:pPr algn="ctr" indent="0" marL="0">
              <a:buNone/>
            </a:pPr>
            <a:r>
              <a:rPr lang="en-US" sz="1300" b="1" dirty="0">
                <a:solidFill>
                  <a:srgbClr val="06B6D4"/>
                </a:solidFill>
                <a:latin typeface="Malgun Gothic" pitchFamily="34" charset="0"/>
                <a:ea typeface="Malgun Gothic" pitchFamily="34" charset="-122"/>
                <a:cs typeface="Malgun Gothic" pitchFamily="34" charset="-120"/>
              </a:rPr>
              <a:t>지원 입력</a:t>
            </a:r>
            <a:endParaRPr lang="en-US" sz="1300" dirty="0"/>
          </a:p>
        </p:txBody>
      </p:sp>
      <p:sp>
        <p:nvSpPr>
          <p:cNvPr id="28" name="Text 26"/>
          <p:cNvSpPr/>
          <p:nvPr/>
        </p:nvSpPr>
        <p:spPr>
          <a:xfrm>
            <a:off x="4937760" y="1298448"/>
            <a:ext cx="3749040" cy="310896"/>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  텍스트</a:t>
            </a:r>
            <a:endParaRPr lang="en-US" sz="1200" dirty="0"/>
          </a:p>
        </p:txBody>
      </p:sp>
      <p:sp>
        <p:nvSpPr>
          <p:cNvPr id="29" name="Text 27"/>
          <p:cNvSpPr/>
          <p:nvPr/>
        </p:nvSpPr>
        <p:spPr>
          <a:xfrm>
            <a:off x="4937760" y="1645920"/>
            <a:ext cx="3749040" cy="310896"/>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  이미지 (가변 해상도)</a:t>
            </a:r>
            <a:endParaRPr lang="en-US" sz="1200" dirty="0"/>
          </a:p>
        </p:txBody>
      </p:sp>
      <p:sp>
        <p:nvSpPr>
          <p:cNvPr id="30" name="Text 28"/>
          <p:cNvSpPr/>
          <p:nvPr/>
        </p:nvSpPr>
        <p:spPr>
          <a:xfrm>
            <a:off x="4937760" y="1993392"/>
            <a:ext cx="3749040" cy="310896"/>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  영상 (최대 60초)</a:t>
            </a:r>
            <a:endParaRPr lang="en-US" sz="1200" dirty="0"/>
          </a:p>
        </p:txBody>
      </p:sp>
      <p:sp>
        <p:nvSpPr>
          <p:cNvPr id="31" name="Shape 29"/>
          <p:cNvSpPr/>
          <p:nvPr/>
        </p:nvSpPr>
        <p:spPr>
          <a:xfrm>
            <a:off x="4754880" y="2606040"/>
            <a:ext cx="4114800" cy="1417320"/>
          </a:xfrm>
          <a:prstGeom prst="rect">
            <a:avLst/>
          </a:prstGeom>
          <a:solidFill>
            <a:srgbClr val="1F4E79"/>
          </a:solidFill>
          <a:ln w="12700">
            <a:solidFill>
              <a:srgbClr val="1F4E79"/>
            </a:solidFill>
            <a:prstDash val="solid"/>
          </a:ln>
          <a:effectLst>
            <a:outerShdw sx="100000" sy="100000" kx="0" ky="0" algn="bl" rotWithShape="0" blurRad="101600" dist="38100" dir="8100000">
              <a:srgbClr val="000000">
                <a:alpha val="18000"/>
              </a:srgbClr>
            </a:outerShdw>
          </a:effectLst>
        </p:spPr>
      </p:sp>
      <p:sp>
        <p:nvSpPr>
          <p:cNvPr id="32" name="Text 30"/>
          <p:cNvSpPr/>
          <p:nvPr/>
        </p:nvSpPr>
        <p:spPr>
          <a:xfrm>
            <a:off x="4754880" y="2606040"/>
            <a:ext cx="4114800" cy="347472"/>
          </a:xfrm>
          <a:prstGeom prst="rect">
            <a:avLst/>
          </a:prstGeom>
          <a:noFill/>
          <a:ln/>
        </p:spPr>
        <p:txBody>
          <a:bodyPr wrap="square" lIns="0" tIns="0" rIns="0" bIns="0" rtlCol="0" anchor="ctr"/>
          <a:lstStyle/>
          <a:p>
            <a:pPr algn="ctr" indent="0" marL="0">
              <a:buNone/>
            </a:pPr>
            <a:r>
              <a:rPr lang="en-US" sz="1300" b="1" dirty="0">
                <a:solidFill>
                  <a:srgbClr val="06B6D4"/>
                </a:solidFill>
                <a:latin typeface="Malgun Gothic" pitchFamily="34" charset="0"/>
                <a:ea typeface="Malgun Gothic" pitchFamily="34" charset="-122"/>
                <a:cs typeface="Malgun Gothic" pitchFamily="34" charset="-120"/>
              </a:rPr>
              <a:t>라이선스 &amp; 지원</a:t>
            </a:r>
            <a:endParaRPr lang="en-US" sz="1300" dirty="0"/>
          </a:p>
        </p:txBody>
      </p:sp>
      <p:sp>
        <p:nvSpPr>
          <p:cNvPr id="33" name="Text 31"/>
          <p:cNvSpPr/>
          <p:nvPr/>
        </p:nvSpPr>
        <p:spPr>
          <a:xfrm>
            <a:off x="4937760" y="3035808"/>
            <a:ext cx="3749040" cy="292608"/>
          </a:xfrm>
          <a:prstGeom prst="rect">
            <a:avLst/>
          </a:prstGeom>
          <a:noFill/>
          <a:ln/>
        </p:spPr>
        <p:txBody>
          <a:bodyPr wrap="square" lIns="0" tIns="0" rIns="0" bIns="0" rtlCol="0" anchor="ctr"/>
          <a:lstStyle/>
          <a:p>
            <a:pPr algn="l" indent="0" marL="0">
              <a:buNone/>
            </a:pPr>
            <a:r>
              <a:rPr lang="en-US" sz="1100" dirty="0">
                <a:solidFill>
                  <a:srgbClr val="F0F6FF"/>
                </a:solidFill>
                <a:latin typeface="Malgun Gothic" pitchFamily="34" charset="0"/>
                <a:ea typeface="Malgun Gothic" pitchFamily="34" charset="-122"/>
                <a:cs typeface="Malgun Gothic" pitchFamily="34" charset="-120"/>
              </a:rPr>
              <a:t>→  Apache 2.0 라이선스</a:t>
            </a:r>
            <a:endParaRPr lang="en-US" sz="1100" dirty="0"/>
          </a:p>
        </p:txBody>
      </p:sp>
      <p:sp>
        <p:nvSpPr>
          <p:cNvPr id="34" name="Text 32"/>
          <p:cNvSpPr/>
          <p:nvPr/>
        </p:nvSpPr>
        <p:spPr>
          <a:xfrm>
            <a:off x="4937760" y="3364992"/>
            <a:ext cx="3749040" cy="292608"/>
          </a:xfrm>
          <a:prstGeom prst="rect">
            <a:avLst/>
          </a:prstGeom>
          <a:noFill/>
          <a:ln/>
        </p:spPr>
        <p:txBody>
          <a:bodyPr wrap="square" lIns="0" tIns="0" rIns="0" bIns="0" rtlCol="0" anchor="ctr"/>
          <a:lstStyle/>
          <a:p>
            <a:pPr algn="l" indent="0" marL="0">
              <a:buNone/>
            </a:pPr>
            <a:r>
              <a:rPr lang="en-US" sz="1100" dirty="0">
                <a:solidFill>
                  <a:srgbClr val="F0F6FF"/>
                </a:solidFill>
                <a:latin typeface="Malgun Gothic" pitchFamily="34" charset="0"/>
                <a:ea typeface="Malgun Gothic" pitchFamily="34" charset="-122"/>
                <a:cs typeface="Malgun Gothic" pitchFamily="34" charset="-120"/>
              </a:rPr>
              <a:t>→  35개 이상 언어 지원</a:t>
            </a:r>
            <a:endParaRPr lang="en-US" sz="1100" dirty="0"/>
          </a:p>
        </p:txBody>
      </p:sp>
      <p:sp>
        <p:nvSpPr>
          <p:cNvPr id="35" name="Text 33"/>
          <p:cNvSpPr/>
          <p:nvPr/>
        </p:nvSpPr>
        <p:spPr>
          <a:xfrm>
            <a:off x="4937760" y="3694176"/>
            <a:ext cx="3749040" cy="292608"/>
          </a:xfrm>
          <a:prstGeom prst="rect">
            <a:avLst/>
          </a:prstGeom>
          <a:noFill/>
          <a:ln/>
        </p:spPr>
        <p:txBody>
          <a:bodyPr wrap="square" lIns="0" tIns="0" rIns="0" bIns="0" rtlCol="0" anchor="ctr"/>
          <a:lstStyle/>
          <a:p>
            <a:pPr algn="l" indent="0" marL="0">
              <a:buNone/>
            </a:pPr>
            <a:r>
              <a:rPr lang="en-US" sz="1100" dirty="0">
                <a:solidFill>
                  <a:srgbClr val="F0F6FF"/>
                </a:solidFill>
                <a:latin typeface="Malgun Gothic" pitchFamily="34" charset="0"/>
                <a:ea typeface="Malgun Gothic" pitchFamily="34" charset="-122"/>
                <a:cs typeface="Malgun Gothic" pitchFamily="34" charset="-120"/>
              </a:rPr>
              <a:t>→  18GB VRAM (양자화)</a:t>
            </a:r>
            <a:endParaRPr lang="en-US" sz="1100" dirty="0"/>
          </a:p>
        </p:txBody>
      </p:sp>
      <p:sp>
        <p:nvSpPr>
          <p:cNvPr id="36" name="Shape 34"/>
          <p:cNvSpPr/>
          <p:nvPr/>
        </p:nvSpPr>
        <p:spPr>
          <a:xfrm>
            <a:off x="274320" y="4160520"/>
            <a:ext cx="8595360" cy="621792"/>
          </a:xfrm>
          <a:prstGeom prst="rect">
            <a:avLst/>
          </a:prstGeom>
          <a:solidFill>
            <a:srgbClr val="0891B2"/>
          </a:solidFill>
          <a:ln w="12700">
            <a:solidFill>
              <a:srgbClr val="0891B2"/>
            </a:solidFill>
            <a:prstDash val="solid"/>
          </a:ln>
        </p:spPr>
      </p:sp>
      <p:sp>
        <p:nvSpPr>
          <p:cNvPr id="37" name="Text 35"/>
          <p:cNvSpPr/>
          <p:nvPr/>
        </p:nvSpPr>
        <p:spPr>
          <a:xfrm>
            <a:off x="274320" y="4160520"/>
            <a:ext cx="859536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Malgun Gothic" pitchFamily="34" charset="0"/>
                <a:ea typeface="Malgun Gothic" pitchFamily="34" charset="-122"/>
                <a:cs typeface="Malgun Gothic" pitchFamily="34" charset="-120"/>
              </a:rPr>
              <a:t>출력: 텍스트 전용  |  오디오 입력 미지원  |  비전 인코더 ~550M 파라미터</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E3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891B2"/>
          </a:solidFill>
          <a:ln w="12700">
            <a:solidFill>
              <a:srgbClr val="0891B2"/>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Malgun Gothic" pitchFamily="34" charset="0"/>
                <a:ea typeface="Malgun Gothic" pitchFamily="34" charset="-122"/>
                <a:cs typeface="Malgun Gothic" pitchFamily="34" charset="-120"/>
              </a:rPr>
              <a:t>주요 배포 플랫폼</a:t>
            </a:r>
            <a:endParaRPr lang="en-US" sz="2600" dirty="0"/>
          </a:p>
        </p:txBody>
      </p:sp>
      <p:sp>
        <p:nvSpPr>
          <p:cNvPr id="4" name="Shape 2"/>
          <p:cNvSpPr/>
          <p:nvPr/>
        </p:nvSpPr>
        <p:spPr>
          <a:xfrm>
            <a:off x="274320" y="868680"/>
            <a:ext cx="2743200" cy="1828800"/>
          </a:xfrm>
          <a:prstGeom prst="rect">
            <a:avLst/>
          </a:prstGeom>
          <a:solidFill>
            <a:srgbClr val="0B1E30"/>
          </a:solidFill>
          <a:ln w="19050">
            <a:solidFill>
              <a:srgbClr val="0891B2"/>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1965960" y="941832"/>
            <a:ext cx="914400" cy="256032"/>
          </a:xfrm>
          <a:prstGeom prst="rect">
            <a:avLst/>
          </a:prstGeom>
          <a:solidFill>
            <a:srgbClr val="0891B2"/>
          </a:solidFill>
          <a:ln w="12700">
            <a:solidFill>
              <a:srgbClr val="0891B2"/>
            </a:solidFill>
            <a:prstDash val="solid"/>
          </a:ln>
        </p:spPr>
      </p:sp>
      <p:sp>
        <p:nvSpPr>
          <p:cNvPr id="6" name="Text 4"/>
          <p:cNvSpPr/>
          <p:nvPr/>
        </p:nvSpPr>
        <p:spPr>
          <a:xfrm>
            <a:off x="1965960" y="941832"/>
            <a:ext cx="91440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권장</a:t>
            </a:r>
            <a:endParaRPr lang="en-US" sz="850" dirty="0"/>
          </a:p>
        </p:txBody>
      </p:sp>
      <p:sp>
        <p:nvSpPr>
          <p:cNvPr id="7" name="Text 5"/>
          <p:cNvSpPr/>
          <p:nvPr/>
        </p:nvSpPr>
        <p:spPr>
          <a:xfrm>
            <a:off x="274320" y="941832"/>
            <a:ext cx="1719072" cy="594360"/>
          </a:xfrm>
          <a:prstGeom prst="rect">
            <a:avLst/>
          </a:prstGeom>
          <a:noFill/>
          <a:ln/>
        </p:spPr>
        <p:txBody>
          <a:bodyPr wrap="square" lIns="50800" tIns="50800" rIns="50800" bIns="50800" rtlCol="0" anchor="ctr"/>
          <a:lstStyle/>
          <a:p>
            <a:pPr algn="l" indent="0" marL="0">
              <a:buNone/>
            </a:pPr>
            <a:r>
              <a:rPr lang="en-US" sz="1300" b="1" dirty="0">
                <a:solidFill>
                  <a:srgbClr val="0891B2"/>
                </a:solidFill>
                <a:latin typeface="Malgun Gothic" pitchFamily="34" charset="0"/>
                <a:ea typeface="Malgun Gothic" pitchFamily="34" charset="-122"/>
                <a:cs typeface="Malgun Gothic" pitchFamily="34" charset="-120"/>
              </a:rPr>
              <a:t>vLLM</a:t>
            </a:r>
            <a:endParaRPr lang="en-US" sz="1300" dirty="0"/>
          </a:p>
        </p:txBody>
      </p:sp>
      <p:sp>
        <p:nvSpPr>
          <p:cNvPr id="8" name="Text 6"/>
          <p:cNvSpPr/>
          <p:nvPr/>
        </p:nvSpPr>
        <p:spPr>
          <a:xfrm>
            <a:off x="274320" y="1618488"/>
            <a:ext cx="2743200" cy="91440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네이티브 dLLM 지원</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최초 오픈소스 통합</a:t>
            </a:r>
            <a:endParaRPr lang="en-US" sz="1100" dirty="0"/>
          </a:p>
        </p:txBody>
      </p:sp>
      <p:sp>
        <p:nvSpPr>
          <p:cNvPr id="9" name="Shape 7"/>
          <p:cNvSpPr/>
          <p:nvPr/>
        </p:nvSpPr>
        <p:spPr>
          <a:xfrm>
            <a:off x="3200400" y="868680"/>
            <a:ext cx="2743200" cy="1828800"/>
          </a:xfrm>
          <a:prstGeom prst="rect">
            <a:avLst/>
          </a:prstGeom>
          <a:solidFill>
            <a:srgbClr val="0B1E30"/>
          </a:solidFill>
          <a:ln w="19050">
            <a:solidFill>
              <a:srgbClr val="2A6496"/>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4892040" y="941832"/>
            <a:ext cx="914400" cy="256032"/>
          </a:xfrm>
          <a:prstGeom prst="rect">
            <a:avLst/>
          </a:prstGeom>
          <a:solidFill>
            <a:srgbClr val="2A6496"/>
          </a:solidFill>
          <a:ln w="12700">
            <a:solidFill>
              <a:srgbClr val="2A6496"/>
            </a:solidFill>
            <a:prstDash val="solid"/>
          </a:ln>
        </p:spPr>
      </p:sp>
      <p:sp>
        <p:nvSpPr>
          <p:cNvPr id="11" name="Text 9"/>
          <p:cNvSpPr/>
          <p:nvPr/>
        </p:nvSpPr>
        <p:spPr>
          <a:xfrm>
            <a:off x="4892040" y="941832"/>
            <a:ext cx="91440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공식</a:t>
            </a:r>
            <a:endParaRPr lang="en-US" sz="850" dirty="0"/>
          </a:p>
        </p:txBody>
      </p:sp>
      <p:sp>
        <p:nvSpPr>
          <p:cNvPr id="12" name="Text 10"/>
          <p:cNvSpPr/>
          <p:nvPr/>
        </p:nvSpPr>
        <p:spPr>
          <a:xfrm>
            <a:off x="3200400" y="941832"/>
            <a:ext cx="1719072" cy="594360"/>
          </a:xfrm>
          <a:prstGeom prst="rect">
            <a:avLst/>
          </a:prstGeom>
          <a:noFill/>
          <a:ln/>
        </p:spPr>
        <p:txBody>
          <a:bodyPr wrap="square" lIns="50800" tIns="50800" rIns="50800" bIns="50800" rtlCol="0" anchor="ctr"/>
          <a:lstStyle/>
          <a:p>
            <a:pPr algn="l" indent="0" marL="0">
              <a:buNone/>
            </a:pPr>
            <a:r>
              <a:rPr lang="en-US" sz="1300" b="1" dirty="0">
                <a:solidFill>
                  <a:srgbClr val="2A6496"/>
                </a:solidFill>
                <a:latin typeface="Malgun Gothic" pitchFamily="34" charset="0"/>
                <a:ea typeface="Malgun Gothic" pitchFamily="34" charset="-122"/>
                <a:cs typeface="Malgun Gothic" pitchFamily="34" charset="-120"/>
              </a:rPr>
              <a:t>HuggingFace</a:t>
            </a:r>
            <a:endParaRPr lang="en-US" sz="1300" dirty="0"/>
          </a:p>
          <a:p>
            <a:pPr algn="l" indent="0" marL="0">
              <a:buNone/>
            </a:pPr>
            <a:r>
              <a:rPr lang="en-US" sz="1300" b="1" dirty="0">
                <a:solidFill>
                  <a:srgbClr val="2A6496"/>
                </a:solidFill>
                <a:latin typeface="Malgun Gothic" pitchFamily="34" charset="0"/>
                <a:ea typeface="Malgun Gothic" pitchFamily="34" charset="-122"/>
                <a:cs typeface="Malgun Gothic" pitchFamily="34" charset="-120"/>
              </a:rPr>
              <a:t>Transformers</a:t>
            </a:r>
            <a:endParaRPr lang="en-US" sz="1300" dirty="0"/>
          </a:p>
        </p:txBody>
      </p:sp>
      <p:sp>
        <p:nvSpPr>
          <p:cNvPr id="13" name="Text 11"/>
          <p:cNvSpPr/>
          <p:nvPr/>
        </p:nvSpPr>
        <p:spPr>
          <a:xfrm>
            <a:off x="3200400" y="1618488"/>
            <a:ext cx="2743200" cy="91440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DiffusionGemmaFor</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BlockDiffusion 클래스</a:t>
            </a:r>
            <a:endParaRPr lang="en-US" sz="1100" dirty="0"/>
          </a:p>
        </p:txBody>
      </p:sp>
      <p:sp>
        <p:nvSpPr>
          <p:cNvPr id="14" name="Shape 12"/>
          <p:cNvSpPr/>
          <p:nvPr/>
        </p:nvSpPr>
        <p:spPr>
          <a:xfrm>
            <a:off x="6126480" y="868680"/>
            <a:ext cx="2743200" cy="1828800"/>
          </a:xfrm>
          <a:prstGeom prst="rect">
            <a:avLst/>
          </a:prstGeom>
          <a:solidFill>
            <a:srgbClr val="0B1E30"/>
          </a:solidFill>
          <a:ln w="19050">
            <a:solidFill>
              <a:srgbClr val="2A6496"/>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7818120" y="941832"/>
            <a:ext cx="914400" cy="256032"/>
          </a:xfrm>
          <a:prstGeom prst="rect">
            <a:avLst/>
          </a:prstGeom>
          <a:solidFill>
            <a:srgbClr val="2A6496"/>
          </a:solidFill>
          <a:ln w="12700">
            <a:solidFill>
              <a:srgbClr val="2A6496"/>
            </a:solidFill>
            <a:prstDash val="solid"/>
          </a:ln>
        </p:spPr>
      </p:sp>
      <p:sp>
        <p:nvSpPr>
          <p:cNvPr id="16" name="Text 14"/>
          <p:cNvSpPr/>
          <p:nvPr/>
        </p:nvSpPr>
        <p:spPr>
          <a:xfrm>
            <a:off x="7818120" y="941832"/>
            <a:ext cx="91440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지원</a:t>
            </a:r>
            <a:endParaRPr lang="en-US" sz="850" dirty="0"/>
          </a:p>
        </p:txBody>
      </p:sp>
      <p:sp>
        <p:nvSpPr>
          <p:cNvPr id="17" name="Text 15"/>
          <p:cNvSpPr/>
          <p:nvPr/>
        </p:nvSpPr>
        <p:spPr>
          <a:xfrm>
            <a:off x="6126480" y="941832"/>
            <a:ext cx="1719072" cy="594360"/>
          </a:xfrm>
          <a:prstGeom prst="rect">
            <a:avLst/>
          </a:prstGeom>
          <a:noFill/>
          <a:ln/>
        </p:spPr>
        <p:txBody>
          <a:bodyPr wrap="square" lIns="50800" tIns="50800" rIns="50800" bIns="50800" rtlCol="0" anchor="ctr"/>
          <a:lstStyle/>
          <a:p>
            <a:pPr algn="l" indent="0" marL="0">
              <a:buNone/>
            </a:pPr>
            <a:r>
              <a:rPr lang="en-US" sz="1300" b="1" dirty="0">
                <a:solidFill>
                  <a:srgbClr val="2A6496"/>
                </a:solidFill>
                <a:latin typeface="Malgun Gothic" pitchFamily="34" charset="0"/>
                <a:ea typeface="Malgun Gothic" pitchFamily="34" charset="-122"/>
                <a:cs typeface="Malgun Gothic" pitchFamily="34" charset="-120"/>
              </a:rPr>
              <a:t>SGLang</a:t>
            </a:r>
            <a:endParaRPr lang="en-US" sz="1300" dirty="0"/>
          </a:p>
          <a:p>
            <a:pPr algn="l" indent="0" marL="0">
              <a:buNone/>
            </a:pPr>
            <a:r>
              <a:rPr lang="en-US" sz="1300" b="1" dirty="0">
                <a:solidFill>
                  <a:srgbClr val="2A6496"/>
                </a:solidFill>
                <a:latin typeface="Malgun Gothic" pitchFamily="34" charset="0"/>
                <a:ea typeface="Malgun Gothic" pitchFamily="34" charset="-122"/>
                <a:cs typeface="Malgun Gothic" pitchFamily="34" charset="-120"/>
              </a:rPr>
              <a:t>MLX</a:t>
            </a:r>
            <a:endParaRPr lang="en-US" sz="1300" dirty="0"/>
          </a:p>
        </p:txBody>
      </p:sp>
      <p:sp>
        <p:nvSpPr>
          <p:cNvPr id="18" name="Text 16"/>
          <p:cNvSpPr/>
          <p:nvPr/>
        </p:nvSpPr>
        <p:spPr>
          <a:xfrm>
            <a:off x="6126480" y="1618488"/>
            <a:ext cx="2743200" cy="91440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로컬 &amp; Apple</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Silicon 환경</a:t>
            </a:r>
            <a:endParaRPr lang="en-US" sz="1100" dirty="0"/>
          </a:p>
        </p:txBody>
      </p:sp>
      <p:sp>
        <p:nvSpPr>
          <p:cNvPr id="19" name="Shape 17"/>
          <p:cNvSpPr/>
          <p:nvPr/>
        </p:nvSpPr>
        <p:spPr>
          <a:xfrm>
            <a:off x="274320" y="2880360"/>
            <a:ext cx="2743200" cy="1828800"/>
          </a:xfrm>
          <a:prstGeom prst="rect">
            <a:avLst/>
          </a:prstGeom>
          <a:solidFill>
            <a:srgbClr val="0B1E30"/>
          </a:solidFill>
          <a:ln w="19050">
            <a:solidFill>
              <a:srgbClr val="5B21B6"/>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1965960" y="2953512"/>
            <a:ext cx="914400" cy="256032"/>
          </a:xfrm>
          <a:prstGeom prst="rect">
            <a:avLst/>
          </a:prstGeom>
          <a:solidFill>
            <a:srgbClr val="5B21B6"/>
          </a:solidFill>
          <a:ln w="12700">
            <a:solidFill>
              <a:srgbClr val="5B21B6"/>
            </a:solidFill>
            <a:prstDash val="solid"/>
          </a:ln>
        </p:spPr>
      </p:sp>
      <p:sp>
        <p:nvSpPr>
          <p:cNvPr id="21" name="Text 19"/>
          <p:cNvSpPr/>
          <p:nvPr/>
        </p:nvSpPr>
        <p:spPr>
          <a:xfrm>
            <a:off x="1965960" y="2953512"/>
            <a:ext cx="91440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엔터프라이즈</a:t>
            </a:r>
            <a:endParaRPr lang="en-US" sz="850" dirty="0"/>
          </a:p>
        </p:txBody>
      </p:sp>
      <p:sp>
        <p:nvSpPr>
          <p:cNvPr id="22" name="Text 20"/>
          <p:cNvSpPr/>
          <p:nvPr/>
        </p:nvSpPr>
        <p:spPr>
          <a:xfrm>
            <a:off x="274320" y="2953512"/>
            <a:ext cx="1719072" cy="594360"/>
          </a:xfrm>
          <a:prstGeom prst="rect">
            <a:avLst/>
          </a:prstGeom>
          <a:noFill/>
          <a:ln/>
        </p:spPr>
        <p:txBody>
          <a:bodyPr wrap="square" lIns="50800" tIns="50800" rIns="50800" bIns="50800" rtlCol="0" anchor="ctr"/>
          <a:lstStyle/>
          <a:p>
            <a:pPr algn="l" indent="0" marL="0">
              <a:buNone/>
            </a:pPr>
            <a:r>
              <a:rPr lang="en-US" sz="1300" b="1" dirty="0">
                <a:solidFill>
                  <a:srgbClr val="5B21B6"/>
                </a:solidFill>
                <a:latin typeface="Malgun Gothic" pitchFamily="34" charset="0"/>
                <a:ea typeface="Malgun Gothic" pitchFamily="34" charset="-122"/>
                <a:cs typeface="Malgun Gothic" pitchFamily="34" charset="-120"/>
              </a:rPr>
              <a:t>NVIDIA NIM</a:t>
            </a:r>
            <a:endParaRPr lang="en-US" sz="1300" dirty="0"/>
          </a:p>
          <a:p>
            <a:pPr algn="l" indent="0" marL="0">
              <a:buNone/>
            </a:pPr>
            <a:r>
              <a:rPr lang="en-US" sz="1300" b="1" dirty="0">
                <a:solidFill>
                  <a:srgbClr val="5B21B6"/>
                </a:solidFill>
                <a:latin typeface="Malgun Gothic" pitchFamily="34" charset="0"/>
                <a:ea typeface="Malgun Gothic" pitchFamily="34" charset="-122"/>
                <a:cs typeface="Malgun Gothic" pitchFamily="34" charset="-120"/>
              </a:rPr>
              <a:t>&amp; NeMo</a:t>
            </a:r>
            <a:endParaRPr lang="en-US" sz="1300" dirty="0"/>
          </a:p>
        </p:txBody>
      </p:sp>
      <p:sp>
        <p:nvSpPr>
          <p:cNvPr id="23" name="Text 21"/>
          <p:cNvSpPr/>
          <p:nvPr/>
        </p:nvSpPr>
        <p:spPr>
          <a:xfrm>
            <a:off x="274320" y="3630168"/>
            <a:ext cx="2743200" cy="91440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엔터프라이즈 배포</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파인튜닝 지원</a:t>
            </a:r>
            <a:endParaRPr lang="en-US" sz="1100" dirty="0"/>
          </a:p>
        </p:txBody>
      </p:sp>
      <p:sp>
        <p:nvSpPr>
          <p:cNvPr id="24" name="Shape 22"/>
          <p:cNvSpPr/>
          <p:nvPr/>
        </p:nvSpPr>
        <p:spPr>
          <a:xfrm>
            <a:off x="3200400" y="2880360"/>
            <a:ext cx="2743200" cy="1828800"/>
          </a:xfrm>
          <a:prstGeom prst="rect">
            <a:avLst/>
          </a:prstGeom>
          <a:solidFill>
            <a:srgbClr val="0B1E30"/>
          </a:solidFill>
          <a:ln w="19050">
            <a:solidFill>
              <a:srgbClr val="1D6FA4"/>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892040" y="2953512"/>
            <a:ext cx="914400" cy="256032"/>
          </a:xfrm>
          <a:prstGeom prst="rect">
            <a:avLst/>
          </a:prstGeom>
          <a:solidFill>
            <a:srgbClr val="1D6FA4"/>
          </a:solidFill>
          <a:ln w="12700">
            <a:solidFill>
              <a:srgbClr val="1D6FA4"/>
            </a:solidFill>
            <a:prstDash val="solid"/>
          </a:ln>
        </p:spPr>
      </p:sp>
      <p:sp>
        <p:nvSpPr>
          <p:cNvPr id="26" name="Text 24"/>
          <p:cNvSpPr/>
          <p:nvPr/>
        </p:nvSpPr>
        <p:spPr>
          <a:xfrm>
            <a:off x="4892040" y="2953512"/>
            <a:ext cx="91440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클라우드</a:t>
            </a:r>
            <a:endParaRPr lang="en-US" sz="850" dirty="0"/>
          </a:p>
        </p:txBody>
      </p:sp>
      <p:sp>
        <p:nvSpPr>
          <p:cNvPr id="27" name="Text 25"/>
          <p:cNvSpPr/>
          <p:nvPr/>
        </p:nvSpPr>
        <p:spPr>
          <a:xfrm>
            <a:off x="3200400" y="2953512"/>
            <a:ext cx="1719072" cy="594360"/>
          </a:xfrm>
          <a:prstGeom prst="rect">
            <a:avLst/>
          </a:prstGeom>
          <a:noFill/>
          <a:ln/>
        </p:spPr>
        <p:txBody>
          <a:bodyPr wrap="square" lIns="50800" tIns="50800" rIns="50800" bIns="50800" rtlCol="0" anchor="ctr"/>
          <a:lstStyle/>
          <a:p>
            <a:pPr algn="l" indent="0" marL="0">
              <a:buNone/>
            </a:pPr>
            <a:r>
              <a:rPr lang="en-US" sz="1300" b="1" dirty="0">
                <a:solidFill>
                  <a:srgbClr val="1D6FA4"/>
                </a:solidFill>
                <a:latin typeface="Malgun Gothic" pitchFamily="34" charset="0"/>
                <a:ea typeface="Malgun Gothic" pitchFamily="34" charset="-122"/>
                <a:cs typeface="Malgun Gothic" pitchFamily="34" charset="-120"/>
              </a:rPr>
              <a:t>Google</a:t>
            </a:r>
            <a:endParaRPr lang="en-US" sz="1300" dirty="0"/>
          </a:p>
          <a:p>
            <a:pPr algn="l" indent="0" marL="0">
              <a:buNone/>
            </a:pPr>
            <a:r>
              <a:rPr lang="en-US" sz="1300" b="1" dirty="0">
                <a:solidFill>
                  <a:srgbClr val="1D6FA4"/>
                </a:solidFill>
                <a:latin typeface="Malgun Gothic" pitchFamily="34" charset="0"/>
                <a:ea typeface="Malgun Gothic" pitchFamily="34" charset="-122"/>
                <a:cs typeface="Malgun Gothic" pitchFamily="34" charset="-120"/>
              </a:rPr>
              <a:t>Vertex AI</a:t>
            </a:r>
            <a:endParaRPr lang="en-US" sz="1300" dirty="0"/>
          </a:p>
        </p:txBody>
      </p:sp>
      <p:sp>
        <p:nvSpPr>
          <p:cNvPr id="28" name="Text 26"/>
          <p:cNvSpPr/>
          <p:nvPr/>
        </p:nvSpPr>
        <p:spPr>
          <a:xfrm>
            <a:off x="3200400" y="3630168"/>
            <a:ext cx="2743200" cy="91440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Model Garden</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클라우드 배포</a:t>
            </a:r>
            <a:endParaRPr lang="en-US" sz="1100" dirty="0"/>
          </a:p>
        </p:txBody>
      </p:sp>
      <p:sp>
        <p:nvSpPr>
          <p:cNvPr id="29" name="Shape 27"/>
          <p:cNvSpPr/>
          <p:nvPr/>
        </p:nvSpPr>
        <p:spPr>
          <a:xfrm>
            <a:off x="6126480" y="2880360"/>
            <a:ext cx="2743200" cy="1828800"/>
          </a:xfrm>
          <a:prstGeom prst="rect">
            <a:avLst/>
          </a:prstGeom>
          <a:solidFill>
            <a:srgbClr val="0B1E30"/>
          </a:solidFill>
          <a:ln w="19050">
            <a:solidFill>
              <a:srgbClr val="065A82"/>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7818120" y="2953512"/>
            <a:ext cx="914400" cy="256032"/>
          </a:xfrm>
          <a:prstGeom prst="rect">
            <a:avLst/>
          </a:prstGeom>
          <a:solidFill>
            <a:srgbClr val="065A82"/>
          </a:solidFill>
          <a:ln w="12700">
            <a:solidFill>
              <a:srgbClr val="065A82"/>
            </a:solidFill>
            <a:prstDash val="solid"/>
          </a:ln>
        </p:spPr>
      </p:sp>
      <p:sp>
        <p:nvSpPr>
          <p:cNvPr id="31" name="Text 29"/>
          <p:cNvSpPr/>
          <p:nvPr/>
        </p:nvSpPr>
        <p:spPr>
          <a:xfrm>
            <a:off x="7818120" y="2953512"/>
            <a:ext cx="91440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파인튜닝</a:t>
            </a:r>
            <a:endParaRPr lang="en-US" sz="850" dirty="0"/>
          </a:p>
        </p:txBody>
      </p:sp>
      <p:sp>
        <p:nvSpPr>
          <p:cNvPr id="32" name="Text 30"/>
          <p:cNvSpPr/>
          <p:nvPr/>
        </p:nvSpPr>
        <p:spPr>
          <a:xfrm>
            <a:off x="6126480" y="2953512"/>
            <a:ext cx="1719072" cy="594360"/>
          </a:xfrm>
          <a:prstGeom prst="rect">
            <a:avLst/>
          </a:prstGeom>
          <a:noFill/>
          <a:ln/>
        </p:spPr>
        <p:txBody>
          <a:bodyPr wrap="square" lIns="50800" tIns="50800" rIns="50800" bIns="50800" rtlCol="0" anchor="ctr"/>
          <a:lstStyle/>
          <a:p>
            <a:pPr algn="l" indent="0" marL="0">
              <a:buNone/>
            </a:pPr>
            <a:r>
              <a:rPr lang="en-US" sz="1300" b="1" dirty="0">
                <a:solidFill>
                  <a:srgbClr val="065A82"/>
                </a:solidFill>
                <a:latin typeface="Malgun Gothic" pitchFamily="34" charset="0"/>
                <a:ea typeface="Malgun Gothic" pitchFamily="34" charset="-122"/>
                <a:cs typeface="Malgun Gothic" pitchFamily="34" charset="-120"/>
              </a:rPr>
              <a:t>Unsloth</a:t>
            </a:r>
            <a:endParaRPr lang="en-US" sz="1300" dirty="0"/>
          </a:p>
          <a:p>
            <a:pPr algn="l" indent="0" marL="0">
              <a:buNone/>
            </a:pPr>
            <a:r>
              <a:rPr lang="en-US" sz="1300" b="1" dirty="0">
                <a:solidFill>
                  <a:srgbClr val="065A82"/>
                </a:solidFill>
                <a:latin typeface="Malgun Gothic" pitchFamily="34" charset="0"/>
                <a:ea typeface="Malgun Gothic" pitchFamily="34" charset="-122"/>
                <a:cs typeface="Malgun Gothic" pitchFamily="34" charset="-120"/>
              </a:rPr>
              <a:t>Kaggle</a:t>
            </a:r>
            <a:endParaRPr lang="en-US" sz="1300" dirty="0"/>
          </a:p>
        </p:txBody>
      </p:sp>
      <p:sp>
        <p:nvSpPr>
          <p:cNvPr id="33" name="Text 31"/>
          <p:cNvSpPr/>
          <p:nvPr/>
        </p:nvSpPr>
        <p:spPr>
          <a:xfrm>
            <a:off x="6126480" y="3630168"/>
            <a:ext cx="2743200" cy="914400"/>
          </a:xfrm>
          <a:prstGeom prst="rect">
            <a:avLst/>
          </a:prstGeom>
          <a:noFill/>
          <a:ln/>
        </p:spPr>
        <p:txBody>
          <a:bodyPr wrap="square" lIns="0" tIns="0" rIns="0" bIns="0" rtlCol="0" anchor="ctr"/>
          <a:lstStyle/>
          <a:p>
            <a:pPr algn="ctr" indent="0" marL="0">
              <a:buNone/>
            </a:pPr>
            <a:r>
              <a:rPr lang="en-US" sz="1100" dirty="0">
                <a:solidFill>
                  <a:srgbClr val="F0F6FF"/>
                </a:solidFill>
                <a:latin typeface="Malgun Gothic" pitchFamily="34" charset="0"/>
                <a:ea typeface="Malgun Gothic" pitchFamily="34" charset="-122"/>
                <a:cs typeface="Malgun Gothic" pitchFamily="34" charset="-120"/>
              </a:rPr>
              <a:t>효율적 파인튜닝</a:t>
            </a:r>
            <a:endParaRPr lang="en-US" sz="1100" dirty="0"/>
          </a:p>
          <a:p>
            <a:pPr algn="ctr" indent="0" marL="0">
              <a:buNone/>
            </a:pPr>
            <a:r>
              <a:rPr lang="en-US" sz="1100" dirty="0">
                <a:solidFill>
                  <a:srgbClr val="F0F6FF"/>
                </a:solidFill>
                <a:latin typeface="Malgun Gothic" pitchFamily="34" charset="0"/>
                <a:ea typeface="Malgun Gothic" pitchFamily="34" charset="-122"/>
                <a:cs typeface="Malgun Gothic" pitchFamily="34" charset="-120"/>
              </a:rPr>
              <a:t>&amp; 탐색</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0" y="182880"/>
            <a:ext cx="9144000" cy="4572000"/>
          </a:xfrm>
          <a:prstGeom prst="rect">
            <a:avLst/>
          </a:prstGeom>
          <a:noFill/>
          <a:ln/>
        </p:spPr>
        <p:txBody>
          <a:bodyPr wrap="square" lIns="0" tIns="0" rIns="0" bIns="0" rtlCol="0" anchor="ctr"/>
          <a:lstStyle/>
          <a:p>
            <a:pPr algn="ctr" indent="0" marL="0">
              <a:buNone/>
            </a:pPr>
            <a:r>
              <a:rPr lang="en-US" sz="22000" b="1" dirty="0">
                <a:solidFill>
                  <a:srgbClr val="0D2A45"/>
                </a:solidFill>
                <a:latin typeface="Malgun Gothic" pitchFamily="34" charset="0"/>
                <a:ea typeface="Malgun Gothic" pitchFamily="34" charset="-122"/>
                <a:cs typeface="Malgun Gothic" pitchFamily="34" charset="-120"/>
              </a:rPr>
              <a:t>07</a:t>
            </a:r>
            <a:endParaRPr lang="en-US" sz="22000" dirty="0"/>
          </a:p>
        </p:txBody>
      </p:sp>
      <p:sp>
        <p:nvSpPr>
          <p:cNvPr id="3" name="Shape 1"/>
          <p:cNvSpPr/>
          <p:nvPr/>
        </p:nvSpPr>
        <p:spPr>
          <a:xfrm>
            <a:off x="0" y="2103120"/>
            <a:ext cx="9144000" cy="914400"/>
          </a:xfrm>
          <a:prstGeom prst="rect">
            <a:avLst/>
          </a:prstGeom>
          <a:solidFill>
            <a:srgbClr val="1F4E79">
              <a:alpha val="80000"/>
            </a:srgbClr>
          </a:solidFill>
          <a:ln w="12700">
            <a:solidFill>
              <a:srgbClr val="1F4E79">
                <a:alpha val="80000"/>
              </a:srgbClr>
            </a:solidFill>
            <a:prstDash val="solid"/>
          </a:ln>
        </p:spPr>
      </p:sp>
      <p:sp>
        <p:nvSpPr>
          <p:cNvPr id="4" name="Text 2"/>
          <p:cNvSpPr/>
          <p:nvPr/>
        </p:nvSpPr>
        <p:spPr>
          <a:xfrm>
            <a:off x="457200" y="2121408"/>
            <a:ext cx="8229600" cy="45720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한계 &amp; 전망</a:t>
            </a:r>
            <a:endParaRPr lang="en-US" sz="3200" dirty="0"/>
          </a:p>
        </p:txBody>
      </p:sp>
      <p:sp>
        <p:nvSpPr>
          <p:cNvPr id="5" name="Text 3"/>
          <p:cNvSpPr/>
          <p:nvPr/>
        </p:nvSpPr>
        <p:spPr>
          <a:xfrm>
            <a:off x="457200" y="2578608"/>
            <a:ext cx="8229600" cy="384048"/>
          </a:xfrm>
          <a:prstGeom prst="rect">
            <a:avLst/>
          </a:prstGeom>
          <a:noFill/>
          <a:ln/>
        </p:spPr>
        <p:txBody>
          <a:bodyPr wrap="square" lIns="0" tIns="0" rIns="0" bIns="0" rtlCol="0" anchor="ctr"/>
          <a:lstStyle/>
          <a:p>
            <a:pPr algn="ctr" indent="0" marL="0">
              <a:buNone/>
            </a:pPr>
            <a:r>
              <a:rPr lang="en-US" sz="1600" dirty="0">
                <a:solidFill>
                  <a:srgbClr val="BAE6FD"/>
                </a:solidFill>
                <a:latin typeface="Malgun Gothic" pitchFamily="34" charset="0"/>
                <a:ea typeface="Malgun Gothic" pitchFamily="34" charset="-122"/>
                <a:cs typeface="Malgun Gothic" pitchFamily="34" charset="-120"/>
              </a:rPr>
              <a:t>아직 해결해야 할 것들</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BF4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4E79"/>
          </a:solidFill>
          <a:ln w="12700">
            <a:solidFill>
              <a:srgbClr val="1F4E79"/>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1F4E79"/>
                </a:solidFill>
                <a:latin typeface="Malgun Gothic" pitchFamily="34" charset="0"/>
                <a:ea typeface="Malgun Gothic" pitchFamily="34" charset="-122"/>
                <a:cs typeface="Malgun Gothic" pitchFamily="34" charset="-120"/>
              </a:rPr>
              <a:t>솔직한 트레이드오프</a:t>
            </a:r>
            <a:endParaRPr lang="en-US" sz="2600" dirty="0"/>
          </a:p>
        </p:txBody>
      </p:sp>
      <p:sp>
        <p:nvSpPr>
          <p:cNvPr id="4" name="Shape 2"/>
          <p:cNvSpPr/>
          <p:nvPr/>
        </p:nvSpPr>
        <p:spPr>
          <a:xfrm>
            <a:off x="274320" y="868680"/>
            <a:ext cx="4114800" cy="1143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68680"/>
            <a:ext cx="137160" cy="1143000"/>
          </a:xfrm>
          <a:prstGeom prst="rect">
            <a:avLst/>
          </a:prstGeom>
          <a:solidFill>
            <a:srgbClr val="EF4444"/>
          </a:solidFill>
          <a:ln w="12700">
            <a:solidFill>
              <a:srgbClr val="EF4444"/>
            </a:solidFill>
            <a:prstDash val="solid"/>
          </a:ln>
        </p:spPr>
      </p:sp>
      <p:sp>
        <p:nvSpPr>
          <p:cNvPr id="6" name="Shape 4"/>
          <p:cNvSpPr/>
          <p:nvPr/>
        </p:nvSpPr>
        <p:spPr>
          <a:xfrm>
            <a:off x="530352" y="1161288"/>
            <a:ext cx="438912" cy="438912"/>
          </a:xfrm>
          <a:prstGeom prst="ellipse">
            <a:avLst/>
          </a:prstGeom>
          <a:solidFill>
            <a:srgbClr val="FEE2E2"/>
          </a:solidFill>
          <a:ln w="12700">
            <a:solidFill>
              <a:srgbClr val="EF4444"/>
            </a:solidFill>
            <a:prstDash val="solid"/>
          </a:ln>
        </p:spPr>
      </p:sp>
      <p:sp>
        <p:nvSpPr>
          <p:cNvPr id="7" name="Text 5"/>
          <p:cNvSpPr/>
          <p:nvPr/>
        </p:nvSpPr>
        <p:spPr>
          <a:xfrm>
            <a:off x="530352" y="1161288"/>
            <a:ext cx="438912" cy="438912"/>
          </a:xfrm>
          <a:prstGeom prst="rect">
            <a:avLst/>
          </a:prstGeom>
          <a:noFill/>
          <a:ln/>
        </p:spPr>
        <p:txBody>
          <a:bodyPr wrap="square" lIns="0" tIns="0" rIns="0" bIns="0" rtlCol="0" anchor="ctr"/>
          <a:lstStyle/>
          <a:p>
            <a:pPr algn="ctr" indent="0" marL="0">
              <a:buNone/>
            </a:pPr>
            <a:r>
              <a:rPr lang="en-US" sz="1200" b="1" dirty="0">
                <a:solidFill>
                  <a:srgbClr val="EF4444"/>
                </a:solidFill>
                <a:latin typeface="Malgun Gothic" pitchFamily="34" charset="0"/>
                <a:ea typeface="Malgun Gothic" pitchFamily="34" charset="-122"/>
                <a:cs typeface="Malgun Gothic" pitchFamily="34" charset="-120"/>
              </a:rPr>
              <a:t>01</a:t>
            </a:r>
            <a:endParaRPr lang="en-US" sz="1200" dirty="0"/>
          </a:p>
        </p:txBody>
      </p:sp>
      <p:sp>
        <p:nvSpPr>
          <p:cNvPr id="8" name="Text 6"/>
          <p:cNvSpPr/>
          <p:nvPr/>
        </p:nvSpPr>
        <p:spPr>
          <a:xfrm>
            <a:off x="1078992" y="941832"/>
            <a:ext cx="3200400" cy="347472"/>
          </a:xfrm>
          <a:prstGeom prst="rect">
            <a:avLst/>
          </a:prstGeom>
          <a:noFill/>
          <a:ln/>
        </p:spPr>
        <p:txBody>
          <a:bodyPr wrap="square" lIns="0" tIns="0" rIns="0" bIns="0" rtlCol="0" anchor="ctr"/>
          <a:lstStyle/>
          <a:p>
            <a:pPr algn="l" indent="0" marL="0">
              <a:buNone/>
            </a:pPr>
            <a:r>
              <a:rPr lang="en-US" sz="1300" b="1" dirty="0">
                <a:solidFill>
                  <a:srgbClr val="1F4E79"/>
                </a:solidFill>
                <a:latin typeface="Malgun Gothic" pitchFamily="34" charset="0"/>
                <a:ea typeface="Malgun Gothic" pitchFamily="34" charset="-122"/>
                <a:cs typeface="Malgun Gothic" pitchFamily="34" charset="-120"/>
              </a:rPr>
              <a:t>추론 품질 격차</a:t>
            </a:r>
            <a:endParaRPr lang="en-US" sz="1300" dirty="0"/>
          </a:p>
        </p:txBody>
      </p:sp>
      <p:sp>
        <p:nvSpPr>
          <p:cNvPr id="9" name="Text 7"/>
          <p:cNvSpPr/>
          <p:nvPr/>
        </p:nvSpPr>
        <p:spPr>
          <a:xfrm>
            <a:off x="1078992" y="1325880"/>
            <a:ext cx="3218688" cy="548640"/>
          </a:xfrm>
          <a:prstGeom prst="rect">
            <a:avLst/>
          </a:prstGeom>
          <a:noFill/>
          <a:ln/>
        </p:spPr>
        <p:txBody>
          <a:bodyPr wrap="square" lIns="0" tIns="0" rIns="0" bIns="0" rtlCol="0" anchor="ctr"/>
          <a:lstStyle/>
          <a:p>
            <a:pPr algn="l" indent="0" marL="0">
              <a:buNone/>
            </a:pPr>
            <a:r>
              <a:rPr lang="en-US" sz="1050" dirty="0">
                <a:solidFill>
                  <a:srgbClr val="334155"/>
                </a:solidFill>
                <a:latin typeface="Malgun Gothic" pitchFamily="34" charset="0"/>
                <a:ea typeface="Malgun Gothic" pitchFamily="34" charset="-122"/>
                <a:cs typeface="Malgun Gothic" pitchFamily="34" charset="-120"/>
              </a:rPr>
              <a:t>수학/논리 태스크에서 Gemma 4 대비 10~20%p 낮음</a:t>
            </a:r>
            <a:endParaRPr lang="en-US" sz="1050" dirty="0"/>
          </a:p>
        </p:txBody>
      </p:sp>
      <p:sp>
        <p:nvSpPr>
          <p:cNvPr id="10" name="Shape 8"/>
          <p:cNvSpPr/>
          <p:nvPr/>
        </p:nvSpPr>
        <p:spPr>
          <a:xfrm>
            <a:off x="274320" y="2194560"/>
            <a:ext cx="4114800" cy="1143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274320" y="2194560"/>
            <a:ext cx="137160" cy="1143000"/>
          </a:xfrm>
          <a:prstGeom prst="rect">
            <a:avLst/>
          </a:prstGeom>
          <a:solidFill>
            <a:srgbClr val="EF4444"/>
          </a:solidFill>
          <a:ln w="12700">
            <a:solidFill>
              <a:srgbClr val="EF4444"/>
            </a:solidFill>
            <a:prstDash val="solid"/>
          </a:ln>
        </p:spPr>
      </p:sp>
      <p:sp>
        <p:nvSpPr>
          <p:cNvPr id="12" name="Shape 10"/>
          <p:cNvSpPr/>
          <p:nvPr/>
        </p:nvSpPr>
        <p:spPr>
          <a:xfrm>
            <a:off x="530352" y="2487168"/>
            <a:ext cx="438912" cy="438912"/>
          </a:xfrm>
          <a:prstGeom prst="ellipse">
            <a:avLst/>
          </a:prstGeom>
          <a:solidFill>
            <a:srgbClr val="FEE2E2"/>
          </a:solidFill>
          <a:ln w="12700">
            <a:solidFill>
              <a:srgbClr val="EF4444"/>
            </a:solidFill>
            <a:prstDash val="solid"/>
          </a:ln>
        </p:spPr>
      </p:sp>
      <p:sp>
        <p:nvSpPr>
          <p:cNvPr id="13" name="Text 11"/>
          <p:cNvSpPr/>
          <p:nvPr/>
        </p:nvSpPr>
        <p:spPr>
          <a:xfrm>
            <a:off x="530352" y="2487168"/>
            <a:ext cx="438912" cy="438912"/>
          </a:xfrm>
          <a:prstGeom prst="rect">
            <a:avLst/>
          </a:prstGeom>
          <a:noFill/>
          <a:ln/>
        </p:spPr>
        <p:txBody>
          <a:bodyPr wrap="square" lIns="0" tIns="0" rIns="0" bIns="0" rtlCol="0" anchor="ctr"/>
          <a:lstStyle/>
          <a:p>
            <a:pPr algn="ctr" indent="0" marL="0">
              <a:buNone/>
            </a:pPr>
            <a:r>
              <a:rPr lang="en-US" sz="1200" b="1" dirty="0">
                <a:solidFill>
                  <a:srgbClr val="EF4444"/>
                </a:solidFill>
                <a:latin typeface="Malgun Gothic" pitchFamily="34" charset="0"/>
                <a:ea typeface="Malgun Gothic" pitchFamily="34" charset="-122"/>
                <a:cs typeface="Malgun Gothic" pitchFamily="34" charset="-120"/>
              </a:rPr>
              <a:t>02</a:t>
            </a:r>
            <a:endParaRPr lang="en-US" sz="1200" dirty="0"/>
          </a:p>
        </p:txBody>
      </p:sp>
      <p:sp>
        <p:nvSpPr>
          <p:cNvPr id="14" name="Text 12"/>
          <p:cNvSpPr/>
          <p:nvPr/>
        </p:nvSpPr>
        <p:spPr>
          <a:xfrm>
            <a:off x="1078992" y="2267712"/>
            <a:ext cx="3200400" cy="347472"/>
          </a:xfrm>
          <a:prstGeom prst="rect">
            <a:avLst/>
          </a:prstGeom>
          <a:noFill/>
          <a:ln/>
        </p:spPr>
        <p:txBody>
          <a:bodyPr wrap="square" lIns="0" tIns="0" rIns="0" bIns="0" rtlCol="0" anchor="ctr"/>
          <a:lstStyle/>
          <a:p>
            <a:pPr algn="l" indent="0" marL="0">
              <a:buNone/>
            </a:pPr>
            <a:r>
              <a:rPr lang="en-US" sz="1300" b="1" dirty="0">
                <a:solidFill>
                  <a:srgbClr val="1F4E79"/>
                </a:solidFill>
                <a:latin typeface="Malgun Gothic" pitchFamily="34" charset="0"/>
                <a:ea typeface="Malgun Gothic" pitchFamily="34" charset="-122"/>
                <a:cs typeface="Malgun Gothic" pitchFamily="34" charset="-120"/>
              </a:rPr>
              <a:t>다중 사용자 환경 한계</a:t>
            </a:r>
            <a:endParaRPr lang="en-US" sz="1300" dirty="0"/>
          </a:p>
        </p:txBody>
      </p:sp>
      <p:sp>
        <p:nvSpPr>
          <p:cNvPr id="15" name="Text 13"/>
          <p:cNvSpPr/>
          <p:nvPr/>
        </p:nvSpPr>
        <p:spPr>
          <a:xfrm>
            <a:off x="1078992" y="2651760"/>
            <a:ext cx="3218688" cy="548640"/>
          </a:xfrm>
          <a:prstGeom prst="rect">
            <a:avLst/>
          </a:prstGeom>
          <a:noFill/>
          <a:ln/>
        </p:spPr>
        <p:txBody>
          <a:bodyPr wrap="square" lIns="0" tIns="0" rIns="0" bIns="0" rtlCol="0" anchor="ctr"/>
          <a:lstStyle/>
          <a:p>
            <a:pPr algn="l" indent="0" marL="0">
              <a:buNone/>
            </a:pPr>
            <a:r>
              <a:rPr lang="en-US" sz="1050" dirty="0">
                <a:solidFill>
                  <a:srgbClr val="334155"/>
                </a:solidFill>
                <a:latin typeface="Malgun Gothic" pitchFamily="34" charset="0"/>
                <a:ea typeface="Malgun Gothic" pitchFamily="34" charset="-122"/>
                <a:cs typeface="Malgun Gothic" pitchFamily="34" charset="-120"/>
              </a:rPr>
              <a:t>단일 유저 최적화 — 클라우드 서빙 이점 감소</a:t>
            </a:r>
            <a:endParaRPr lang="en-US" sz="1050" dirty="0"/>
          </a:p>
        </p:txBody>
      </p:sp>
      <p:sp>
        <p:nvSpPr>
          <p:cNvPr id="16" name="Shape 14"/>
          <p:cNvSpPr/>
          <p:nvPr/>
        </p:nvSpPr>
        <p:spPr>
          <a:xfrm>
            <a:off x="274320" y="3520440"/>
            <a:ext cx="4114800" cy="1143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274320" y="3520440"/>
            <a:ext cx="137160" cy="1143000"/>
          </a:xfrm>
          <a:prstGeom prst="rect">
            <a:avLst/>
          </a:prstGeom>
          <a:solidFill>
            <a:srgbClr val="EF4444"/>
          </a:solidFill>
          <a:ln w="12700">
            <a:solidFill>
              <a:srgbClr val="EF4444"/>
            </a:solidFill>
            <a:prstDash val="solid"/>
          </a:ln>
        </p:spPr>
      </p:sp>
      <p:sp>
        <p:nvSpPr>
          <p:cNvPr id="18" name="Shape 16"/>
          <p:cNvSpPr/>
          <p:nvPr/>
        </p:nvSpPr>
        <p:spPr>
          <a:xfrm>
            <a:off x="530352" y="3813048"/>
            <a:ext cx="438912" cy="438912"/>
          </a:xfrm>
          <a:prstGeom prst="ellipse">
            <a:avLst/>
          </a:prstGeom>
          <a:solidFill>
            <a:srgbClr val="FEE2E2"/>
          </a:solidFill>
          <a:ln w="12700">
            <a:solidFill>
              <a:srgbClr val="EF4444"/>
            </a:solidFill>
            <a:prstDash val="solid"/>
          </a:ln>
        </p:spPr>
      </p:sp>
      <p:sp>
        <p:nvSpPr>
          <p:cNvPr id="19" name="Text 17"/>
          <p:cNvSpPr/>
          <p:nvPr/>
        </p:nvSpPr>
        <p:spPr>
          <a:xfrm>
            <a:off x="530352" y="3813048"/>
            <a:ext cx="438912" cy="438912"/>
          </a:xfrm>
          <a:prstGeom prst="rect">
            <a:avLst/>
          </a:prstGeom>
          <a:noFill/>
          <a:ln/>
        </p:spPr>
        <p:txBody>
          <a:bodyPr wrap="square" lIns="0" tIns="0" rIns="0" bIns="0" rtlCol="0" anchor="ctr"/>
          <a:lstStyle/>
          <a:p>
            <a:pPr algn="ctr" indent="0" marL="0">
              <a:buNone/>
            </a:pPr>
            <a:r>
              <a:rPr lang="en-US" sz="1200" b="1" dirty="0">
                <a:solidFill>
                  <a:srgbClr val="EF4444"/>
                </a:solidFill>
                <a:latin typeface="Malgun Gothic" pitchFamily="34" charset="0"/>
                <a:ea typeface="Malgun Gothic" pitchFamily="34" charset="-122"/>
                <a:cs typeface="Malgun Gothic" pitchFamily="34" charset="-120"/>
              </a:rPr>
              <a:t>03</a:t>
            </a:r>
            <a:endParaRPr lang="en-US" sz="1200" dirty="0"/>
          </a:p>
        </p:txBody>
      </p:sp>
      <p:sp>
        <p:nvSpPr>
          <p:cNvPr id="20" name="Text 18"/>
          <p:cNvSpPr/>
          <p:nvPr/>
        </p:nvSpPr>
        <p:spPr>
          <a:xfrm>
            <a:off x="1078992" y="3593592"/>
            <a:ext cx="3200400" cy="347472"/>
          </a:xfrm>
          <a:prstGeom prst="rect">
            <a:avLst/>
          </a:prstGeom>
          <a:noFill/>
          <a:ln/>
        </p:spPr>
        <p:txBody>
          <a:bodyPr wrap="square" lIns="0" tIns="0" rIns="0" bIns="0" rtlCol="0" anchor="ctr"/>
          <a:lstStyle/>
          <a:p>
            <a:pPr algn="l" indent="0" marL="0">
              <a:buNone/>
            </a:pPr>
            <a:r>
              <a:rPr lang="en-US" sz="1300" b="1" dirty="0">
                <a:solidFill>
                  <a:srgbClr val="1F4E79"/>
                </a:solidFill>
                <a:latin typeface="Malgun Gothic" pitchFamily="34" charset="0"/>
                <a:ea typeface="Malgun Gothic" pitchFamily="34" charset="-122"/>
                <a:cs typeface="Malgun Gothic" pitchFamily="34" charset="-120"/>
              </a:rPr>
              <a:t>파인튜닝 생태계 초기</a:t>
            </a:r>
            <a:endParaRPr lang="en-US" sz="1300" dirty="0"/>
          </a:p>
        </p:txBody>
      </p:sp>
      <p:sp>
        <p:nvSpPr>
          <p:cNvPr id="21" name="Text 19"/>
          <p:cNvSpPr/>
          <p:nvPr/>
        </p:nvSpPr>
        <p:spPr>
          <a:xfrm>
            <a:off x="1078992" y="3977640"/>
            <a:ext cx="3218688" cy="548640"/>
          </a:xfrm>
          <a:prstGeom prst="rect">
            <a:avLst/>
          </a:prstGeom>
          <a:noFill/>
          <a:ln/>
        </p:spPr>
        <p:txBody>
          <a:bodyPr wrap="square" lIns="0" tIns="0" rIns="0" bIns="0" rtlCol="0" anchor="ctr"/>
          <a:lstStyle/>
          <a:p>
            <a:pPr algn="l" indent="0" marL="0">
              <a:buNone/>
            </a:pPr>
            <a:r>
              <a:rPr lang="en-US" sz="1050" dirty="0">
                <a:solidFill>
                  <a:srgbClr val="334155"/>
                </a:solidFill>
                <a:latin typeface="Malgun Gothic" pitchFamily="34" charset="0"/>
                <a:ea typeface="Malgun Gothic" pitchFamily="34" charset="-122"/>
                <a:cs typeface="Malgun Gothic" pitchFamily="34" charset="-120"/>
              </a:rPr>
              <a:t>LoRA 미지원, JAX 기반 도구만 공식 지원</a:t>
            </a:r>
            <a:endParaRPr lang="en-US" sz="1050" dirty="0"/>
          </a:p>
        </p:txBody>
      </p:sp>
      <p:sp>
        <p:nvSpPr>
          <p:cNvPr id="22" name="Shape 20"/>
          <p:cNvSpPr/>
          <p:nvPr/>
        </p:nvSpPr>
        <p:spPr>
          <a:xfrm>
            <a:off x="4846320" y="868680"/>
            <a:ext cx="4114800" cy="1143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4846320" y="868680"/>
            <a:ext cx="137160" cy="1143000"/>
          </a:xfrm>
          <a:prstGeom prst="rect">
            <a:avLst/>
          </a:prstGeom>
          <a:solidFill>
            <a:srgbClr val="EF4444"/>
          </a:solidFill>
          <a:ln w="12700">
            <a:solidFill>
              <a:srgbClr val="EF4444"/>
            </a:solidFill>
            <a:prstDash val="solid"/>
          </a:ln>
        </p:spPr>
      </p:sp>
      <p:sp>
        <p:nvSpPr>
          <p:cNvPr id="24" name="Shape 22"/>
          <p:cNvSpPr/>
          <p:nvPr/>
        </p:nvSpPr>
        <p:spPr>
          <a:xfrm>
            <a:off x="5102352" y="1161288"/>
            <a:ext cx="438912" cy="438912"/>
          </a:xfrm>
          <a:prstGeom prst="ellipse">
            <a:avLst/>
          </a:prstGeom>
          <a:solidFill>
            <a:srgbClr val="FEE2E2"/>
          </a:solidFill>
          <a:ln w="12700">
            <a:solidFill>
              <a:srgbClr val="EF4444"/>
            </a:solidFill>
            <a:prstDash val="solid"/>
          </a:ln>
        </p:spPr>
      </p:sp>
      <p:sp>
        <p:nvSpPr>
          <p:cNvPr id="25" name="Text 23"/>
          <p:cNvSpPr/>
          <p:nvPr/>
        </p:nvSpPr>
        <p:spPr>
          <a:xfrm>
            <a:off x="5102352" y="1161288"/>
            <a:ext cx="438912" cy="438912"/>
          </a:xfrm>
          <a:prstGeom prst="rect">
            <a:avLst/>
          </a:prstGeom>
          <a:noFill/>
          <a:ln/>
        </p:spPr>
        <p:txBody>
          <a:bodyPr wrap="square" lIns="0" tIns="0" rIns="0" bIns="0" rtlCol="0" anchor="ctr"/>
          <a:lstStyle/>
          <a:p>
            <a:pPr algn="ctr" indent="0" marL="0">
              <a:buNone/>
            </a:pPr>
            <a:r>
              <a:rPr lang="en-US" sz="1200" b="1" dirty="0">
                <a:solidFill>
                  <a:srgbClr val="EF4444"/>
                </a:solidFill>
                <a:latin typeface="Malgun Gothic" pitchFamily="34" charset="0"/>
                <a:ea typeface="Malgun Gothic" pitchFamily="34" charset="-122"/>
                <a:cs typeface="Malgun Gothic" pitchFamily="34" charset="-120"/>
              </a:rPr>
              <a:t>04</a:t>
            </a:r>
            <a:endParaRPr lang="en-US" sz="1200" dirty="0"/>
          </a:p>
        </p:txBody>
      </p:sp>
      <p:sp>
        <p:nvSpPr>
          <p:cNvPr id="26" name="Text 24"/>
          <p:cNvSpPr/>
          <p:nvPr/>
        </p:nvSpPr>
        <p:spPr>
          <a:xfrm>
            <a:off x="5650992" y="941832"/>
            <a:ext cx="3200400" cy="347472"/>
          </a:xfrm>
          <a:prstGeom prst="rect">
            <a:avLst/>
          </a:prstGeom>
          <a:noFill/>
          <a:ln/>
        </p:spPr>
        <p:txBody>
          <a:bodyPr wrap="square" lIns="0" tIns="0" rIns="0" bIns="0" rtlCol="0" anchor="ctr"/>
          <a:lstStyle/>
          <a:p>
            <a:pPr algn="l" indent="0" marL="0">
              <a:buNone/>
            </a:pPr>
            <a:r>
              <a:rPr lang="en-US" sz="1300" b="1" dirty="0">
                <a:solidFill>
                  <a:srgbClr val="1F4E79"/>
                </a:solidFill>
                <a:latin typeface="Malgun Gothic" pitchFamily="34" charset="0"/>
                <a:ea typeface="Malgun Gothic" pitchFamily="34" charset="-122"/>
                <a:cs typeface="Malgun Gothic" pitchFamily="34" charset="-120"/>
              </a:rPr>
              <a:t>오디오 미지원</a:t>
            </a:r>
            <a:endParaRPr lang="en-US" sz="1300" dirty="0"/>
          </a:p>
        </p:txBody>
      </p:sp>
      <p:sp>
        <p:nvSpPr>
          <p:cNvPr id="27" name="Text 25"/>
          <p:cNvSpPr/>
          <p:nvPr/>
        </p:nvSpPr>
        <p:spPr>
          <a:xfrm>
            <a:off x="5650992" y="1325880"/>
            <a:ext cx="3218688" cy="548640"/>
          </a:xfrm>
          <a:prstGeom prst="rect">
            <a:avLst/>
          </a:prstGeom>
          <a:noFill/>
          <a:ln/>
        </p:spPr>
        <p:txBody>
          <a:bodyPr wrap="square" lIns="0" tIns="0" rIns="0" bIns="0" rtlCol="0" anchor="ctr"/>
          <a:lstStyle/>
          <a:p>
            <a:pPr algn="l" indent="0" marL="0">
              <a:buNone/>
            </a:pPr>
            <a:r>
              <a:rPr lang="en-US" sz="1050" dirty="0">
                <a:solidFill>
                  <a:srgbClr val="334155"/>
                </a:solidFill>
                <a:latin typeface="Malgun Gothic" pitchFamily="34" charset="0"/>
                <a:ea typeface="Malgun Gothic" pitchFamily="34" charset="-122"/>
                <a:cs typeface="Malgun Gothic" pitchFamily="34" charset="-120"/>
              </a:rPr>
              <a:t>텍스트/이미지/영상만 입력 가능</a:t>
            </a:r>
            <a:endParaRPr lang="en-US" sz="1050" dirty="0"/>
          </a:p>
        </p:txBody>
      </p:sp>
      <p:sp>
        <p:nvSpPr>
          <p:cNvPr id="28" name="Shape 26"/>
          <p:cNvSpPr/>
          <p:nvPr/>
        </p:nvSpPr>
        <p:spPr>
          <a:xfrm>
            <a:off x="4846320" y="2194560"/>
            <a:ext cx="4114800" cy="1143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4846320" y="2194560"/>
            <a:ext cx="137160" cy="1143000"/>
          </a:xfrm>
          <a:prstGeom prst="rect">
            <a:avLst/>
          </a:prstGeom>
          <a:solidFill>
            <a:srgbClr val="EF4444"/>
          </a:solidFill>
          <a:ln w="12700">
            <a:solidFill>
              <a:srgbClr val="EF4444"/>
            </a:solidFill>
            <a:prstDash val="solid"/>
          </a:ln>
        </p:spPr>
      </p:sp>
      <p:sp>
        <p:nvSpPr>
          <p:cNvPr id="30" name="Shape 28"/>
          <p:cNvSpPr/>
          <p:nvPr/>
        </p:nvSpPr>
        <p:spPr>
          <a:xfrm>
            <a:off x="5102352" y="2487168"/>
            <a:ext cx="438912" cy="438912"/>
          </a:xfrm>
          <a:prstGeom prst="ellipse">
            <a:avLst/>
          </a:prstGeom>
          <a:solidFill>
            <a:srgbClr val="FEE2E2"/>
          </a:solidFill>
          <a:ln w="12700">
            <a:solidFill>
              <a:srgbClr val="EF4444"/>
            </a:solidFill>
            <a:prstDash val="solid"/>
          </a:ln>
        </p:spPr>
      </p:sp>
      <p:sp>
        <p:nvSpPr>
          <p:cNvPr id="31" name="Text 29"/>
          <p:cNvSpPr/>
          <p:nvPr/>
        </p:nvSpPr>
        <p:spPr>
          <a:xfrm>
            <a:off x="5102352" y="2487168"/>
            <a:ext cx="438912" cy="438912"/>
          </a:xfrm>
          <a:prstGeom prst="rect">
            <a:avLst/>
          </a:prstGeom>
          <a:noFill/>
          <a:ln/>
        </p:spPr>
        <p:txBody>
          <a:bodyPr wrap="square" lIns="0" tIns="0" rIns="0" bIns="0" rtlCol="0" anchor="ctr"/>
          <a:lstStyle/>
          <a:p>
            <a:pPr algn="ctr" indent="0" marL="0">
              <a:buNone/>
            </a:pPr>
            <a:r>
              <a:rPr lang="en-US" sz="1200" b="1" dirty="0">
                <a:solidFill>
                  <a:srgbClr val="EF4444"/>
                </a:solidFill>
                <a:latin typeface="Malgun Gothic" pitchFamily="34" charset="0"/>
                <a:ea typeface="Malgun Gothic" pitchFamily="34" charset="-122"/>
                <a:cs typeface="Malgun Gothic" pitchFamily="34" charset="-120"/>
              </a:rPr>
              <a:t>05</a:t>
            </a:r>
            <a:endParaRPr lang="en-US" sz="1200" dirty="0"/>
          </a:p>
        </p:txBody>
      </p:sp>
      <p:sp>
        <p:nvSpPr>
          <p:cNvPr id="32" name="Text 30"/>
          <p:cNvSpPr/>
          <p:nvPr/>
        </p:nvSpPr>
        <p:spPr>
          <a:xfrm>
            <a:off x="5650992" y="2267712"/>
            <a:ext cx="3200400" cy="347472"/>
          </a:xfrm>
          <a:prstGeom prst="rect">
            <a:avLst/>
          </a:prstGeom>
          <a:noFill/>
          <a:ln/>
        </p:spPr>
        <p:txBody>
          <a:bodyPr wrap="square" lIns="0" tIns="0" rIns="0" bIns="0" rtlCol="0" anchor="ctr"/>
          <a:lstStyle/>
          <a:p>
            <a:pPr algn="l" indent="0" marL="0">
              <a:buNone/>
            </a:pPr>
            <a:r>
              <a:rPr lang="en-US" sz="1300" b="1" dirty="0">
                <a:solidFill>
                  <a:srgbClr val="1F4E79"/>
                </a:solidFill>
                <a:latin typeface="Malgun Gothic" pitchFamily="34" charset="0"/>
                <a:ea typeface="Malgun Gothic" pitchFamily="34" charset="-122"/>
                <a:cs typeface="Malgun Gothic" pitchFamily="34" charset="-120"/>
              </a:rPr>
              <a:t>긴 컨텍스트 일관성</a:t>
            </a:r>
            <a:endParaRPr lang="en-US" sz="1300" dirty="0"/>
          </a:p>
        </p:txBody>
      </p:sp>
      <p:sp>
        <p:nvSpPr>
          <p:cNvPr id="33" name="Text 31"/>
          <p:cNvSpPr/>
          <p:nvPr/>
        </p:nvSpPr>
        <p:spPr>
          <a:xfrm>
            <a:off x="5650992" y="2651760"/>
            <a:ext cx="3218688" cy="548640"/>
          </a:xfrm>
          <a:prstGeom prst="rect">
            <a:avLst/>
          </a:prstGeom>
          <a:noFill/>
          <a:ln/>
        </p:spPr>
        <p:txBody>
          <a:bodyPr wrap="square" lIns="0" tIns="0" rIns="0" bIns="0" rtlCol="0" anchor="ctr"/>
          <a:lstStyle/>
          <a:p>
            <a:pPr algn="l" indent="0" marL="0">
              <a:buNone/>
            </a:pPr>
            <a:r>
              <a:rPr lang="en-US" sz="1050" dirty="0">
                <a:solidFill>
                  <a:srgbClr val="334155"/>
                </a:solidFill>
                <a:latin typeface="Malgun Gothic" pitchFamily="34" charset="0"/>
                <a:ea typeface="Malgun Gothic" pitchFamily="34" charset="-122"/>
                <a:cs typeface="Malgun Gothic" pitchFamily="34" charset="-120"/>
              </a:rPr>
              <a:t>256토큰 캔버스 간 경계에서 일관성 저하 가능</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E3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891B2"/>
          </a:solidFill>
          <a:ln w="12700">
            <a:solidFill>
              <a:srgbClr val="0891B2"/>
            </a:solidFill>
            <a:prstDash val="solid"/>
          </a:ln>
        </p:spPr>
      </p:sp>
      <p:sp>
        <p:nvSpPr>
          <p:cNvPr id="3" name="Text 1"/>
          <p:cNvSpPr/>
          <p:nvPr/>
        </p:nvSpPr>
        <p:spPr>
          <a:xfrm>
            <a:off x="365760" y="201168"/>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Malgun Gothic" pitchFamily="34" charset="0"/>
                <a:ea typeface="Malgun Gothic" pitchFamily="34" charset="-122"/>
                <a:cs typeface="Malgun Gothic" pitchFamily="34" charset="-120"/>
              </a:rPr>
              <a:t>디퓨전 LLM의 미래</a:t>
            </a:r>
            <a:endParaRPr lang="en-US" sz="2600" dirty="0"/>
          </a:p>
        </p:txBody>
      </p:sp>
      <p:sp>
        <p:nvSpPr>
          <p:cNvPr id="4" name="Shape 2"/>
          <p:cNvSpPr/>
          <p:nvPr/>
        </p:nvSpPr>
        <p:spPr>
          <a:xfrm>
            <a:off x="365760" y="896112"/>
            <a:ext cx="2560320" cy="3657600"/>
          </a:xfrm>
          <a:prstGeom prst="rect">
            <a:avLst/>
          </a:prstGeom>
          <a:solidFill>
            <a:srgbClr val="0B1E30"/>
          </a:solidFill>
          <a:ln w="25400">
            <a:solidFill>
              <a:srgbClr val="0891B2"/>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896112"/>
            <a:ext cx="2560320" cy="438912"/>
          </a:xfrm>
          <a:prstGeom prst="rect">
            <a:avLst/>
          </a:prstGeom>
          <a:solidFill>
            <a:srgbClr val="0891B2"/>
          </a:solidFill>
          <a:ln w="12700">
            <a:solidFill>
              <a:srgbClr val="0891B2"/>
            </a:solidFill>
            <a:prstDash val="solid"/>
          </a:ln>
        </p:spPr>
      </p:sp>
      <p:sp>
        <p:nvSpPr>
          <p:cNvPr id="6" name="Text 4"/>
          <p:cNvSpPr/>
          <p:nvPr/>
        </p:nvSpPr>
        <p:spPr>
          <a:xfrm>
            <a:off x="365760" y="896112"/>
            <a:ext cx="256032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현재</a:t>
            </a:r>
            <a:endParaRPr lang="en-US" sz="1000" dirty="0"/>
          </a:p>
        </p:txBody>
      </p:sp>
      <p:sp>
        <p:nvSpPr>
          <p:cNvPr id="7" name="Text 5"/>
          <p:cNvSpPr/>
          <p:nvPr/>
        </p:nvSpPr>
        <p:spPr>
          <a:xfrm>
            <a:off x="365760" y="1097280"/>
            <a:ext cx="256032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속도 우선</a:t>
            </a:r>
            <a:endParaRPr lang="en-US" sz="1200" dirty="0"/>
          </a:p>
        </p:txBody>
      </p:sp>
      <p:sp>
        <p:nvSpPr>
          <p:cNvPr id="8" name="Shape 6"/>
          <p:cNvSpPr/>
          <p:nvPr/>
        </p:nvSpPr>
        <p:spPr>
          <a:xfrm>
            <a:off x="530352" y="1591056"/>
            <a:ext cx="256032" cy="256032"/>
          </a:xfrm>
          <a:prstGeom prst="ellipse">
            <a:avLst/>
          </a:prstGeom>
          <a:solidFill>
            <a:srgbClr val="0891B2">
              <a:alpha val="50000"/>
            </a:srgbClr>
          </a:solidFill>
          <a:ln w="12700">
            <a:solidFill>
              <a:srgbClr val="0891B2"/>
            </a:solidFill>
            <a:prstDash val="solid"/>
          </a:ln>
        </p:spPr>
      </p:sp>
      <p:sp>
        <p:nvSpPr>
          <p:cNvPr id="9" name="Text 7"/>
          <p:cNvSpPr/>
          <p:nvPr/>
        </p:nvSpPr>
        <p:spPr>
          <a:xfrm>
            <a:off x="877824" y="1536192"/>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1,000+ tok/s</a:t>
            </a:r>
            <a:endParaRPr lang="en-US" sz="1200" dirty="0"/>
          </a:p>
        </p:txBody>
      </p:sp>
      <p:sp>
        <p:nvSpPr>
          <p:cNvPr id="10" name="Shape 8"/>
          <p:cNvSpPr/>
          <p:nvPr/>
        </p:nvSpPr>
        <p:spPr>
          <a:xfrm>
            <a:off x="530352" y="2432304"/>
            <a:ext cx="256032" cy="256032"/>
          </a:xfrm>
          <a:prstGeom prst="ellipse">
            <a:avLst/>
          </a:prstGeom>
          <a:solidFill>
            <a:srgbClr val="0891B2">
              <a:alpha val="50000"/>
            </a:srgbClr>
          </a:solidFill>
          <a:ln w="12700">
            <a:solidFill>
              <a:srgbClr val="0891B2"/>
            </a:solidFill>
            <a:prstDash val="solid"/>
          </a:ln>
        </p:spPr>
      </p:sp>
      <p:sp>
        <p:nvSpPr>
          <p:cNvPr id="11" name="Text 9"/>
          <p:cNvSpPr/>
          <p:nvPr/>
        </p:nvSpPr>
        <p:spPr>
          <a:xfrm>
            <a:off x="877824" y="2377440"/>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오픈소스 공개</a:t>
            </a:r>
            <a:endParaRPr lang="en-US" sz="1200" dirty="0"/>
          </a:p>
        </p:txBody>
      </p:sp>
      <p:sp>
        <p:nvSpPr>
          <p:cNvPr id="12" name="Shape 10"/>
          <p:cNvSpPr/>
          <p:nvPr/>
        </p:nvSpPr>
        <p:spPr>
          <a:xfrm>
            <a:off x="530352" y="3273552"/>
            <a:ext cx="256032" cy="256032"/>
          </a:xfrm>
          <a:prstGeom prst="ellipse">
            <a:avLst/>
          </a:prstGeom>
          <a:solidFill>
            <a:srgbClr val="0891B2">
              <a:alpha val="50000"/>
            </a:srgbClr>
          </a:solidFill>
          <a:ln w="12700">
            <a:solidFill>
              <a:srgbClr val="0891B2"/>
            </a:solidFill>
            <a:prstDash val="solid"/>
          </a:ln>
        </p:spPr>
      </p:sp>
      <p:sp>
        <p:nvSpPr>
          <p:cNvPr id="13" name="Text 11"/>
          <p:cNvSpPr/>
          <p:nvPr/>
        </p:nvSpPr>
        <p:spPr>
          <a:xfrm>
            <a:off x="877824" y="3218688"/>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초기 생태계</a:t>
            </a:r>
            <a:endParaRPr lang="en-US" sz="1200" dirty="0"/>
          </a:p>
        </p:txBody>
      </p:sp>
      <p:sp>
        <p:nvSpPr>
          <p:cNvPr id="14" name="Text 12"/>
          <p:cNvSpPr/>
          <p:nvPr/>
        </p:nvSpPr>
        <p:spPr>
          <a:xfrm>
            <a:off x="2944368" y="2468880"/>
            <a:ext cx="347472" cy="365760"/>
          </a:xfrm>
          <a:prstGeom prst="rect">
            <a:avLst/>
          </a:prstGeom>
          <a:noFill/>
          <a:ln/>
        </p:spPr>
        <p:txBody>
          <a:bodyPr wrap="square" lIns="0" tIns="0" rIns="0" bIns="0" rtlCol="0" anchor="ctr"/>
          <a:lstStyle/>
          <a:p>
            <a:pPr algn="ctr" indent="0" marL="0">
              <a:buNone/>
            </a:pPr>
            <a:r>
              <a:rPr lang="en-US" sz="2200" dirty="0">
                <a:solidFill>
                  <a:srgbClr val="94A3B8"/>
                </a:solidFill>
                <a:latin typeface="Malgun Gothic" pitchFamily="34" charset="0"/>
                <a:ea typeface="Malgun Gothic" pitchFamily="34" charset="-122"/>
                <a:cs typeface="Malgun Gothic" pitchFamily="34" charset="-120"/>
              </a:rPr>
              <a:t>→</a:t>
            </a:r>
            <a:endParaRPr lang="en-US" sz="2200" dirty="0"/>
          </a:p>
        </p:txBody>
      </p:sp>
      <p:sp>
        <p:nvSpPr>
          <p:cNvPr id="15" name="Shape 13"/>
          <p:cNvSpPr/>
          <p:nvPr/>
        </p:nvSpPr>
        <p:spPr>
          <a:xfrm>
            <a:off x="3291840" y="896112"/>
            <a:ext cx="2560320" cy="3657600"/>
          </a:xfrm>
          <a:prstGeom prst="rect">
            <a:avLst/>
          </a:prstGeom>
          <a:solidFill>
            <a:srgbClr val="0B1E30"/>
          </a:solidFill>
          <a:ln w="25400">
            <a:solidFill>
              <a:srgbClr val="F59E0B"/>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3291840" y="896112"/>
            <a:ext cx="2560320" cy="438912"/>
          </a:xfrm>
          <a:prstGeom prst="rect">
            <a:avLst/>
          </a:prstGeom>
          <a:solidFill>
            <a:srgbClr val="F59E0B"/>
          </a:solidFill>
          <a:ln w="12700">
            <a:solidFill>
              <a:srgbClr val="F59E0B"/>
            </a:solidFill>
            <a:prstDash val="solid"/>
          </a:ln>
        </p:spPr>
      </p:sp>
      <p:sp>
        <p:nvSpPr>
          <p:cNvPr id="17" name="Text 15"/>
          <p:cNvSpPr/>
          <p:nvPr/>
        </p:nvSpPr>
        <p:spPr>
          <a:xfrm>
            <a:off x="3291840" y="896112"/>
            <a:ext cx="256032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단기</a:t>
            </a:r>
            <a:endParaRPr lang="en-US" sz="1000" dirty="0"/>
          </a:p>
        </p:txBody>
      </p:sp>
      <p:sp>
        <p:nvSpPr>
          <p:cNvPr id="18" name="Text 16"/>
          <p:cNvSpPr/>
          <p:nvPr/>
        </p:nvSpPr>
        <p:spPr>
          <a:xfrm>
            <a:off x="3291840" y="1097280"/>
            <a:ext cx="256032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품질 개선</a:t>
            </a:r>
            <a:endParaRPr lang="en-US" sz="1200" dirty="0"/>
          </a:p>
        </p:txBody>
      </p:sp>
      <p:sp>
        <p:nvSpPr>
          <p:cNvPr id="19" name="Shape 17"/>
          <p:cNvSpPr/>
          <p:nvPr/>
        </p:nvSpPr>
        <p:spPr>
          <a:xfrm>
            <a:off x="3456432" y="1591056"/>
            <a:ext cx="256032" cy="256032"/>
          </a:xfrm>
          <a:prstGeom prst="ellipse">
            <a:avLst/>
          </a:prstGeom>
          <a:solidFill>
            <a:srgbClr val="F59E0B">
              <a:alpha val="50000"/>
            </a:srgbClr>
          </a:solidFill>
          <a:ln w="12700">
            <a:solidFill>
              <a:srgbClr val="F59E0B"/>
            </a:solidFill>
            <a:prstDash val="solid"/>
          </a:ln>
        </p:spPr>
      </p:sp>
      <p:sp>
        <p:nvSpPr>
          <p:cNvPr id="20" name="Text 18"/>
          <p:cNvSpPr/>
          <p:nvPr/>
        </p:nvSpPr>
        <p:spPr>
          <a:xfrm>
            <a:off x="3803904" y="1536192"/>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추론 성능 향상</a:t>
            </a:r>
            <a:endParaRPr lang="en-US" sz="1200" dirty="0"/>
          </a:p>
        </p:txBody>
      </p:sp>
      <p:sp>
        <p:nvSpPr>
          <p:cNvPr id="21" name="Shape 19"/>
          <p:cNvSpPr/>
          <p:nvPr/>
        </p:nvSpPr>
        <p:spPr>
          <a:xfrm>
            <a:off x="3456432" y="2432304"/>
            <a:ext cx="256032" cy="256032"/>
          </a:xfrm>
          <a:prstGeom prst="ellipse">
            <a:avLst/>
          </a:prstGeom>
          <a:solidFill>
            <a:srgbClr val="F59E0B">
              <a:alpha val="50000"/>
            </a:srgbClr>
          </a:solidFill>
          <a:ln w="12700">
            <a:solidFill>
              <a:srgbClr val="F59E0B"/>
            </a:solidFill>
            <a:prstDash val="solid"/>
          </a:ln>
        </p:spPr>
      </p:sp>
      <p:sp>
        <p:nvSpPr>
          <p:cNvPr id="22" name="Text 20"/>
          <p:cNvSpPr/>
          <p:nvPr/>
        </p:nvSpPr>
        <p:spPr>
          <a:xfrm>
            <a:off x="3803904" y="2377440"/>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하이브리드 AR+디퓨전</a:t>
            </a:r>
            <a:endParaRPr lang="en-US" sz="1200" dirty="0"/>
          </a:p>
        </p:txBody>
      </p:sp>
      <p:sp>
        <p:nvSpPr>
          <p:cNvPr id="23" name="Shape 21"/>
          <p:cNvSpPr/>
          <p:nvPr/>
        </p:nvSpPr>
        <p:spPr>
          <a:xfrm>
            <a:off x="3456432" y="3273552"/>
            <a:ext cx="256032" cy="256032"/>
          </a:xfrm>
          <a:prstGeom prst="ellipse">
            <a:avLst/>
          </a:prstGeom>
          <a:solidFill>
            <a:srgbClr val="F59E0B">
              <a:alpha val="50000"/>
            </a:srgbClr>
          </a:solidFill>
          <a:ln w="12700">
            <a:solidFill>
              <a:srgbClr val="F59E0B"/>
            </a:solidFill>
            <a:prstDash val="solid"/>
          </a:ln>
        </p:spPr>
      </p:sp>
      <p:sp>
        <p:nvSpPr>
          <p:cNvPr id="24" name="Text 22"/>
          <p:cNvSpPr/>
          <p:nvPr/>
        </p:nvSpPr>
        <p:spPr>
          <a:xfrm>
            <a:off x="3803904" y="3218688"/>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파인튜닝 생태계</a:t>
            </a:r>
            <a:endParaRPr lang="en-US" sz="1200" dirty="0"/>
          </a:p>
        </p:txBody>
      </p:sp>
      <p:sp>
        <p:nvSpPr>
          <p:cNvPr id="25" name="Text 23"/>
          <p:cNvSpPr/>
          <p:nvPr/>
        </p:nvSpPr>
        <p:spPr>
          <a:xfrm>
            <a:off x="5870448" y="2468880"/>
            <a:ext cx="347472" cy="365760"/>
          </a:xfrm>
          <a:prstGeom prst="rect">
            <a:avLst/>
          </a:prstGeom>
          <a:noFill/>
          <a:ln/>
        </p:spPr>
        <p:txBody>
          <a:bodyPr wrap="square" lIns="0" tIns="0" rIns="0" bIns="0" rtlCol="0" anchor="ctr"/>
          <a:lstStyle/>
          <a:p>
            <a:pPr algn="ctr" indent="0" marL="0">
              <a:buNone/>
            </a:pPr>
            <a:r>
              <a:rPr lang="en-US" sz="2200" dirty="0">
                <a:solidFill>
                  <a:srgbClr val="94A3B8"/>
                </a:solidFill>
                <a:latin typeface="Malgun Gothic" pitchFamily="34" charset="0"/>
                <a:ea typeface="Malgun Gothic" pitchFamily="34" charset="-122"/>
                <a:cs typeface="Malgun Gothic" pitchFamily="34" charset="-120"/>
              </a:rPr>
              <a:t>→</a:t>
            </a:r>
            <a:endParaRPr lang="en-US" sz="2200" dirty="0"/>
          </a:p>
        </p:txBody>
      </p:sp>
      <p:sp>
        <p:nvSpPr>
          <p:cNvPr id="26" name="Shape 24"/>
          <p:cNvSpPr/>
          <p:nvPr/>
        </p:nvSpPr>
        <p:spPr>
          <a:xfrm>
            <a:off x="6217920" y="896112"/>
            <a:ext cx="2560320" cy="3657600"/>
          </a:xfrm>
          <a:prstGeom prst="rect">
            <a:avLst/>
          </a:prstGeom>
          <a:solidFill>
            <a:srgbClr val="0B1E30"/>
          </a:solidFill>
          <a:ln w="25400">
            <a:solidFill>
              <a:srgbClr val="10B981"/>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6217920" y="896112"/>
            <a:ext cx="2560320" cy="438912"/>
          </a:xfrm>
          <a:prstGeom prst="rect">
            <a:avLst/>
          </a:prstGeom>
          <a:solidFill>
            <a:srgbClr val="10B981"/>
          </a:solidFill>
          <a:ln w="12700">
            <a:solidFill>
              <a:srgbClr val="10B981"/>
            </a:solidFill>
            <a:prstDash val="solid"/>
          </a:ln>
        </p:spPr>
      </p:sp>
      <p:sp>
        <p:nvSpPr>
          <p:cNvPr id="28" name="Text 26"/>
          <p:cNvSpPr/>
          <p:nvPr/>
        </p:nvSpPr>
        <p:spPr>
          <a:xfrm>
            <a:off x="6217920" y="896112"/>
            <a:ext cx="256032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장기</a:t>
            </a:r>
            <a:endParaRPr lang="en-US" sz="1000" dirty="0"/>
          </a:p>
        </p:txBody>
      </p:sp>
      <p:sp>
        <p:nvSpPr>
          <p:cNvPr id="29" name="Text 27"/>
          <p:cNvSpPr/>
          <p:nvPr/>
        </p:nvSpPr>
        <p:spPr>
          <a:xfrm>
            <a:off x="6217920" y="1097280"/>
            <a:ext cx="256032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새 패러다임</a:t>
            </a:r>
            <a:endParaRPr lang="en-US" sz="1200" dirty="0"/>
          </a:p>
        </p:txBody>
      </p:sp>
      <p:sp>
        <p:nvSpPr>
          <p:cNvPr id="30" name="Shape 28"/>
          <p:cNvSpPr/>
          <p:nvPr/>
        </p:nvSpPr>
        <p:spPr>
          <a:xfrm>
            <a:off x="6382512" y="1591056"/>
            <a:ext cx="256032" cy="256032"/>
          </a:xfrm>
          <a:prstGeom prst="ellipse">
            <a:avLst/>
          </a:prstGeom>
          <a:solidFill>
            <a:srgbClr val="10B981">
              <a:alpha val="50000"/>
            </a:srgbClr>
          </a:solidFill>
          <a:ln w="12700">
            <a:solidFill>
              <a:srgbClr val="10B981"/>
            </a:solidFill>
            <a:prstDash val="solid"/>
          </a:ln>
        </p:spPr>
      </p:sp>
      <p:sp>
        <p:nvSpPr>
          <p:cNvPr id="31" name="Text 29"/>
          <p:cNvSpPr/>
          <p:nvPr/>
        </p:nvSpPr>
        <p:spPr>
          <a:xfrm>
            <a:off x="6729984" y="1536192"/>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에이전틱 AI 핵심</a:t>
            </a:r>
            <a:endParaRPr lang="en-US" sz="1200" dirty="0"/>
          </a:p>
        </p:txBody>
      </p:sp>
      <p:sp>
        <p:nvSpPr>
          <p:cNvPr id="32" name="Shape 30"/>
          <p:cNvSpPr/>
          <p:nvPr/>
        </p:nvSpPr>
        <p:spPr>
          <a:xfrm>
            <a:off x="6382512" y="2432304"/>
            <a:ext cx="256032" cy="256032"/>
          </a:xfrm>
          <a:prstGeom prst="ellipse">
            <a:avLst/>
          </a:prstGeom>
          <a:solidFill>
            <a:srgbClr val="10B981">
              <a:alpha val="50000"/>
            </a:srgbClr>
          </a:solidFill>
          <a:ln w="12700">
            <a:solidFill>
              <a:srgbClr val="10B981"/>
            </a:solidFill>
            <a:prstDash val="solid"/>
          </a:ln>
        </p:spPr>
      </p:sp>
      <p:sp>
        <p:nvSpPr>
          <p:cNvPr id="33" name="Text 31"/>
          <p:cNvSpPr/>
          <p:nvPr/>
        </p:nvSpPr>
        <p:spPr>
          <a:xfrm>
            <a:off x="6729984" y="2377440"/>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더 큰 캔버스</a:t>
            </a:r>
            <a:endParaRPr lang="en-US" sz="1200" dirty="0"/>
          </a:p>
        </p:txBody>
      </p:sp>
      <p:sp>
        <p:nvSpPr>
          <p:cNvPr id="34" name="Shape 32"/>
          <p:cNvSpPr/>
          <p:nvPr/>
        </p:nvSpPr>
        <p:spPr>
          <a:xfrm>
            <a:off x="6382512" y="3273552"/>
            <a:ext cx="256032" cy="256032"/>
          </a:xfrm>
          <a:prstGeom prst="ellipse">
            <a:avLst/>
          </a:prstGeom>
          <a:solidFill>
            <a:srgbClr val="10B981">
              <a:alpha val="50000"/>
            </a:srgbClr>
          </a:solidFill>
          <a:ln w="12700">
            <a:solidFill>
              <a:srgbClr val="10B981"/>
            </a:solidFill>
            <a:prstDash val="solid"/>
          </a:ln>
        </p:spPr>
      </p:sp>
      <p:sp>
        <p:nvSpPr>
          <p:cNvPr id="35" name="Text 33"/>
          <p:cNvSpPr/>
          <p:nvPr/>
        </p:nvSpPr>
        <p:spPr>
          <a:xfrm>
            <a:off x="6729984" y="3218688"/>
            <a:ext cx="1965960" cy="384048"/>
          </a:xfrm>
          <a:prstGeom prst="rect">
            <a:avLst/>
          </a:prstGeom>
          <a:noFill/>
          <a:ln/>
        </p:spPr>
        <p:txBody>
          <a:bodyPr wrap="square" lIns="0" tIns="0" rIns="0" bIns="0" rtlCol="0" anchor="ctr"/>
          <a:lstStyle/>
          <a:p>
            <a:pPr algn="l" indent="0" marL="0">
              <a:buNone/>
            </a:pPr>
            <a:r>
              <a:rPr lang="en-US" sz="1200" dirty="0">
                <a:solidFill>
                  <a:srgbClr val="F0F6FF"/>
                </a:solidFill>
                <a:latin typeface="Malgun Gothic" pitchFamily="34" charset="0"/>
                <a:ea typeface="Malgun Gothic" pitchFamily="34" charset="-122"/>
                <a:cs typeface="Malgun Gothic" pitchFamily="34" charset="-120"/>
              </a:rPr>
              <a:t>AR 대안</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w="12700">
            <a:solidFill>
              <a:srgbClr val="0891B2"/>
            </a:solidFill>
            <a:prstDash val="solid"/>
          </a:ln>
        </p:spPr>
      </p:sp>
      <p:sp>
        <p:nvSpPr>
          <p:cNvPr id="3" name="Text 1"/>
          <p:cNvSpPr/>
          <p:nvPr/>
        </p:nvSpPr>
        <p:spPr>
          <a:xfrm>
            <a:off x="411480" y="228600"/>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Malgun Gothic" pitchFamily="34" charset="0"/>
                <a:ea typeface="Malgun Gothic" pitchFamily="34" charset="-122"/>
                <a:cs typeface="Malgun Gothic" pitchFamily="34" charset="-120"/>
              </a:rPr>
              <a:t>핵심 요약</a:t>
            </a:r>
            <a:endParaRPr lang="en-US" sz="2800" dirty="0"/>
          </a:p>
        </p:txBody>
      </p:sp>
      <p:sp>
        <p:nvSpPr>
          <p:cNvPr id="4" name="Shape 2"/>
          <p:cNvSpPr/>
          <p:nvPr/>
        </p:nvSpPr>
        <p:spPr>
          <a:xfrm>
            <a:off x="411480" y="749808"/>
            <a:ext cx="8229600" cy="0"/>
          </a:xfrm>
          <a:prstGeom prst="line">
            <a:avLst/>
          </a:prstGeom>
          <a:noFill/>
          <a:ln w="19050">
            <a:solidFill>
              <a:srgbClr val="0891B2"/>
            </a:solidFill>
            <a:prstDash val="solid"/>
          </a:ln>
        </p:spPr>
      </p:sp>
      <p:sp>
        <p:nvSpPr>
          <p:cNvPr id="5" name="Shape 3"/>
          <p:cNvSpPr/>
          <p:nvPr/>
        </p:nvSpPr>
        <p:spPr>
          <a:xfrm>
            <a:off x="365760" y="960120"/>
            <a:ext cx="329184" cy="329184"/>
          </a:xfrm>
          <a:prstGeom prst="rect">
            <a:avLst/>
          </a:prstGeom>
          <a:solidFill>
            <a:srgbClr val="0891B2"/>
          </a:solidFill>
          <a:ln w="12700">
            <a:solidFill>
              <a:srgbClr val="0891B2"/>
            </a:solidFill>
            <a:prstDash val="solid"/>
          </a:ln>
        </p:spPr>
      </p:sp>
      <p:sp>
        <p:nvSpPr>
          <p:cNvPr id="6" name="Text 4"/>
          <p:cNvSpPr/>
          <p:nvPr/>
        </p:nvSpPr>
        <p:spPr>
          <a:xfrm>
            <a:off x="365760" y="9601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01</a:t>
            </a:r>
            <a:endParaRPr lang="en-US" sz="1100" dirty="0"/>
          </a:p>
        </p:txBody>
      </p:sp>
      <p:sp>
        <p:nvSpPr>
          <p:cNvPr id="7" name="Text 5"/>
          <p:cNvSpPr/>
          <p:nvPr/>
        </p:nvSpPr>
        <p:spPr>
          <a:xfrm>
            <a:off x="822960" y="914400"/>
            <a:ext cx="7955280" cy="438912"/>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DiffusionGemma = 텍스트 디퓨전 LLM (이미지 생성 X)</a:t>
            </a:r>
            <a:endParaRPr lang="en-US" sz="1400" dirty="0"/>
          </a:p>
        </p:txBody>
      </p:sp>
      <p:sp>
        <p:nvSpPr>
          <p:cNvPr id="8" name="Shape 6"/>
          <p:cNvSpPr/>
          <p:nvPr/>
        </p:nvSpPr>
        <p:spPr>
          <a:xfrm>
            <a:off x="365760" y="1691640"/>
            <a:ext cx="329184" cy="329184"/>
          </a:xfrm>
          <a:prstGeom prst="rect">
            <a:avLst/>
          </a:prstGeom>
          <a:solidFill>
            <a:srgbClr val="0891B2"/>
          </a:solidFill>
          <a:ln w="12700">
            <a:solidFill>
              <a:srgbClr val="0891B2"/>
            </a:solidFill>
            <a:prstDash val="solid"/>
          </a:ln>
        </p:spPr>
      </p:sp>
      <p:sp>
        <p:nvSpPr>
          <p:cNvPr id="9" name="Text 7"/>
          <p:cNvSpPr/>
          <p:nvPr/>
        </p:nvSpPr>
        <p:spPr>
          <a:xfrm>
            <a:off x="365760" y="1691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02</a:t>
            </a:r>
            <a:endParaRPr lang="en-US" sz="1100" dirty="0"/>
          </a:p>
        </p:txBody>
      </p:sp>
      <p:sp>
        <p:nvSpPr>
          <p:cNvPr id="10" name="Text 8"/>
          <p:cNvSpPr/>
          <p:nvPr/>
        </p:nvSpPr>
        <p:spPr>
          <a:xfrm>
            <a:off x="822960" y="1645920"/>
            <a:ext cx="7955280" cy="438912"/>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H100 기준 1,008 tok/s — AR 대비 5~6배 빠름</a:t>
            </a:r>
            <a:endParaRPr lang="en-US" sz="1400" dirty="0"/>
          </a:p>
        </p:txBody>
      </p:sp>
      <p:sp>
        <p:nvSpPr>
          <p:cNvPr id="11" name="Shape 9"/>
          <p:cNvSpPr/>
          <p:nvPr/>
        </p:nvSpPr>
        <p:spPr>
          <a:xfrm>
            <a:off x="365760" y="2423160"/>
            <a:ext cx="329184" cy="329184"/>
          </a:xfrm>
          <a:prstGeom prst="rect">
            <a:avLst/>
          </a:prstGeom>
          <a:solidFill>
            <a:srgbClr val="0891B2"/>
          </a:solidFill>
          <a:ln w="12700">
            <a:solidFill>
              <a:srgbClr val="0891B2"/>
            </a:solidFill>
            <a:prstDash val="solid"/>
          </a:ln>
        </p:spPr>
      </p:sp>
      <p:sp>
        <p:nvSpPr>
          <p:cNvPr id="12" name="Text 10"/>
          <p:cNvSpPr/>
          <p:nvPr/>
        </p:nvSpPr>
        <p:spPr>
          <a:xfrm>
            <a:off x="365760" y="24231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03</a:t>
            </a:r>
            <a:endParaRPr lang="en-US" sz="1100" dirty="0"/>
          </a:p>
        </p:txBody>
      </p:sp>
      <p:sp>
        <p:nvSpPr>
          <p:cNvPr id="13" name="Text 11"/>
          <p:cNvSpPr/>
          <p:nvPr/>
        </p:nvSpPr>
        <p:spPr>
          <a:xfrm>
            <a:off x="822960" y="2377440"/>
            <a:ext cx="7955280" cy="438912"/>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Apache 2.0 완전 오픈소스 | Hugging Face 공개</a:t>
            </a:r>
            <a:endParaRPr lang="en-US" sz="1400" dirty="0"/>
          </a:p>
        </p:txBody>
      </p:sp>
      <p:sp>
        <p:nvSpPr>
          <p:cNvPr id="14" name="Shape 12"/>
          <p:cNvSpPr/>
          <p:nvPr/>
        </p:nvSpPr>
        <p:spPr>
          <a:xfrm>
            <a:off x="365760" y="3154680"/>
            <a:ext cx="329184" cy="329184"/>
          </a:xfrm>
          <a:prstGeom prst="rect">
            <a:avLst/>
          </a:prstGeom>
          <a:solidFill>
            <a:srgbClr val="0891B2"/>
          </a:solidFill>
          <a:ln w="12700">
            <a:solidFill>
              <a:srgbClr val="0891B2"/>
            </a:solidFill>
            <a:prstDash val="solid"/>
          </a:ln>
        </p:spPr>
      </p:sp>
      <p:sp>
        <p:nvSpPr>
          <p:cNvPr id="15" name="Text 13"/>
          <p:cNvSpPr/>
          <p:nvPr/>
        </p:nvSpPr>
        <p:spPr>
          <a:xfrm>
            <a:off x="365760" y="31546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04</a:t>
            </a:r>
            <a:endParaRPr lang="en-US" sz="1100" dirty="0"/>
          </a:p>
        </p:txBody>
      </p:sp>
      <p:sp>
        <p:nvSpPr>
          <p:cNvPr id="16" name="Text 14"/>
          <p:cNvSpPr/>
          <p:nvPr/>
        </p:nvSpPr>
        <p:spPr>
          <a:xfrm>
            <a:off x="822960" y="3108960"/>
            <a:ext cx="7955280" cy="438912"/>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품질 vs 속도 트레이드오프 (수학/추론 -10~20%p)</a:t>
            </a:r>
            <a:endParaRPr lang="en-US" sz="1400" dirty="0"/>
          </a:p>
        </p:txBody>
      </p:sp>
      <p:sp>
        <p:nvSpPr>
          <p:cNvPr id="17" name="Shape 15"/>
          <p:cNvSpPr/>
          <p:nvPr/>
        </p:nvSpPr>
        <p:spPr>
          <a:xfrm>
            <a:off x="365760" y="3886200"/>
            <a:ext cx="329184" cy="329184"/>
          </a:xfrm>
          <a:prstGeom prst="rect">
            <a:avLst/>
          </a:prstGeom>
          <a:solidFill>
            <a:srgbClr val="0891B2"/>
          </a:solidFill>
          <a:ln w="12700">
            <a:solidFill>
              <a:srgbClr val="0891B2"/>
            </a:solidFill>
            <a:prstDash val="solid"/>
          </a:ln>
        </p:spPr>
      </p:sp>
      <p:sp>
        <p:nvSpPr>
          <p:cNvPr id="18" name="Text 16"/>
          <p:cNvSpPr/>
          <p:nvPr/>
        </p:nvSpPr>
        <p:spPr>
          <a:xfrm>
            <a:off x="365760" y="38862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05</a:t>
            </a:r>
            <a:endParaRPr lang="en-US" sz="1100" dirty="0"/>
          </a:p>
        </p:txBody>
      </p:sp>
      <p:sp>
        <p:nvSpPr>
          <p:cNvPr id="19" name="Text 17"/>
          <p:cNvSpPr/>
          <p:nvPr/>
        </p:nvSpPr>
        <p:spPr>
          <a:xfrm>
            <a:off x="822960" y="3840480"/>
            <a:ext cx="7955280" cy="438912"/>
          </a:xfrm>
          <a:prstGeom prst="rect">
            <a:avLst/>
          </a:prstGeom>
          <a:noFill/>
          <a:ln/>
        </p:spPr>
        <p:txBody>
          <a:bodyPr wrap="square" lIns="0" tIns="0" rIns="0" bIns="0" rtlCol="0" anchor="ctr"/>
          <a:lstStyle/>
          <a:p>
            <a:pPr algn="l" indent="0" marL="0">
              <a:buNone/>
            </a:pPr>
            <a:r>
              <a:rPr lang="en-US" sz="1400" dirty="0">
                <a:solidFill>
                  <a:srgbClr val="F0F6FF"/>
                </a:solidFill>
                <a:latin typeface="Malgun Gothic" pitchFamily="34" charset="0"/>
                <a:ea typeface="Malgun Gothic" pitchFamily="34" charset="-122"/>
                <a:cs typeface="Malgun Gothic" pitchFamily="34" charset="-120"/>
              </a:rPr>
              <a:t>생태계 초기 단계 — 코딩·에이전틱 AI에 적합</a:t>
            </a:r>
            <a:endParaRPr lang="en-US" sz="1400" dirty="0"/>
          </a:p>
        </p:txBody>
      </p:sp>
      <p:sp>
        <p:nvSpPr>
          <p:cNvPr id="20" name="Shape 18"/>
          <p:cNvSpPr/>
          <p:nvPr/>
        </p:nvSpPr>
        <p:spPr>
          <a:xfrm>
            <a:off x="365760" y="4617720"/>
            <a:ext cx="8412480" cy="475488"/>
          </a:xfrm>
          <a:prstGeom prst="rect">
            <a:avLst/>
          </a:prstGeom>
          <a:solidFill>
            <a:srgbClr val="0F2942"/>
          </a:solidFill>
          <a:ln w="12700">
            <a:solidFill>
              <a:srgbClr val="2A6496"/>
            </a:solidFill>
            <a:prstDash val="solid"/>
          </a:ln>
        </p:spPr>
      </p:sp>
      <p:sp>
        <p:nvSpPr>
          <p:cNvPr id="21" name="Text 19"/>
          <p:cNvSpPr/>
          <p:nvPr/>
        </p:nvSpPr>
        <p:spPr>
          <a:xfrm>
            <a:off x="365760" y="4617720"/>
            <a:ext cx="8412480" cy="475488"/>
          </a:xfrm>
          <a:prstGeom prst="rect">
            <a:avLst/>
          </a:prstGeom>
          <a:noFill/>
          <a:ln/>
        </p:spPr>
        <p:txBody>
          <a:bodyPr wrap="square" lIns="0" tIns="0" rIns="0" bIns="0" rtlCol="0" anchor="ctr"/>
          <a:lstStyle/>
          <a:p>
            <a:pPr algn="ctr" indent="0" marL="0">
              <a:buNone/>
            </a:pPr>
            <a:r>
              <a:rPr lang="en-US" sz="1100" i="1" dirty="0">
                <a:solidFill>
                  <a:srgbClr val="BAE6FD"/>
                </a:solidFill>
                <a:latin typeface="Malgun Gothic" pitchFamily="34" charset="0"/>
                <a:ea typeface="Malgun Gothic" pitchFamily="34" charset="-122"/>
                <a:cs typeface="Malgun Gothic" pitchFamily="34" charset="-120"/>
              </a:rPr>
              <a:t>"이미지 디퓨전이 영상 생성을 바꿨듯, 텍스트 디퓨전이 LLM 추론 방식을 바꾸려 한다"</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E3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891B2"/>
          </a:solidFill>
          <a:ln w="12700">
            <a:solidFill>
              <a:srgbClr val="0891B2"/>
            </a:solidFill>
            <a:prstDash val="solid"/>
          </a:ln>
        </p:spPr>
      </p:sp>
      <p:sp>
        <p:nvSpPr>
          <p:cNvPr id="3" name="Text 1"/>
          <p:cNvSpPr/>
          <p:nvPr/>
        </p:nvSpPr>
        <p:spPr>
          <a:xfrm>
            <a:off x="0" y="731520"/>
            <a:ext cx="9144000" cy="1188720"/>
          </a:xfrm>
          <a:prstGeom prst="rect">
            <a:avLst/>
          </a:prstGeom>
          <a:noFill/>
          <a:ln/>
        </p:spPr>
        <p:txBody>
          <a:bodyPr wrap="square" lIns="0" tIns="0" rIns="0" bIns="0" rtlCol="0" anchor="ctr"/>
          <a:lstStyle/>
          <a:p>
            <a:pPr algn="ctr" indent="0" marL="0">
              <a:buNone/>
            </a:pPr>
            <a:r>
              <a:rPr lang="en-US" sz="6400" b="1" dirty="0">
                <a:solidFill>
                  <a:srgbClr val="FFFFFF"/>
                </a:solidFill>
                <a:latin typeface="Malgun Gothic" pitchFamily="34" charset="0"/>
                <a:ea typeface="Malgun Gothic" pitchFamily="34" charset="-122"/>
                <a:cs typeface="Malgun Gothic" pitchFamily="34" charset="-120"/>
              </a:rPr>
              <a:t>Q &amp; A</a:t>
            </a:r>
            <a:endParaRPr lang="en-US" sz="6400" dirty="0"/>
          </a:p>
        </p:txBody>
      </p:sp>
      <p:sp>
        <p:nvSpPr>
          <p:cNvPr id="4" name="Shape 2"/>
          <p:cNvSpPr/>
          <p:nvPr/>
        </p:nvSpPr>
        <p:spPr>
          <a:xfrm>
            <a:off x="1828800" y="2103120"/>
            <a:ext cx="5486400" cy="0"/>
          </a:xfrm>
          <a:prstGeom prst="line">
            <a:avLst/>
          </a:prstGeom>
          <a:noFill/>
          <a:ln w="19050">
            <a:solidFill>
              <a:srgbClr val="0891B2"/>
            </a:solidFill>
            <a:prstDash val="solid"/>
          </a:ln>
        </p:spPr>
      </p:sp>
      <p:sp>
        <p:nvSpPr>
          <p:cNvPr id="5" name="Text 3"/>
          <p:cNvSpPr/>
          <p:nvPr/>
        </p:nvSpPr>
        <p:spPr>
          <a:xfrm>
            <a:off x="457200" y="2286000"/>
            <a:ext cx="8229600" cy="320040"/>
          </a:xfrm>
          <a:prstGeom prst="rect">
            <a:avLst/>
          </a:prstGeom>
          <a:noFill/>
          <a:ln/>
        </p:spPr>
        <p:txBody>
          <a:bodyPr wrap="square" lIns="0" tIns="0" rIns="0" bIns="0" rtlCol="0" anchor="ctr"/>
          <a:lstStyle/>
          <a:p>
            <a:pPr algn="ctr" indent="0" marL="0">
              <a:buNone/>
            </a:pPr>
            <a:r>
              <a:rPr lang="en-US" sz="1300" b="1" dirty="0">
                <a:solidFill>
                  <a:srgbClr val="06B6D4"/>
                </a:solidFill>
                <a:latin typeface="Malgun Gothic" pitchFamily="34" charset="0"/>
                <a:ea typeface="Malgun Gothic" pitchFamily="34" charset="-122"/>
                <a:cs typeface="Malgun Gothic" pitchFamily="34" charset="-120"/>
              </a:rPr>
              <a:t>참고 자료</a:t>
            </a:r>
            <a:endParaRPr lang="en-US" sz="1300" dirty="0"/>
          </a:p>
        </p:txBody>
      </p:sp>
      <p:sp>
        <p:nvSpPr>
          <p:cNvPr id="6" name="Text 4"/>
          <p:cNvSpPr/>
          <p:nvPr/>
        </p:nvSpPr>
        <p:spPr>
          <a:xfrm>
            <a:off x="1371600" y="2743200"/>
            <a:ext cx="6400800" cy="274320"/>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 ai.google.dev/gemma/docs/diffusiongemma</a:t>
            </a:r>
            <a:endParaRPr lang="en-US" sz="1000" dirty="0"/>
          </a:p>
        </p:txBody>
      </p:sp>
      <p:sp>
        <p:nvSpPr>
          <p:cNvPr id="7" name="Text 5"/>
          <p:cNvSpPr/>
          <p:nvPr/>
        </p:nvSpPr>
        <p:spPr>
          <a:xfrm>
            <a:off x="1371600" y="3063240"/>
            <a:ext cx="6400800" cy="274320"/>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 ai.google.dev/gemma/docs/diffusiongemma/explained</a:t>
            </a:r>
            <a:endParaRPr lang="en-US" sz="1000" dirty="0"/>
          </a:p>
        </p:txBody>
      </p:sp>
      <p:sp>
        <p:nvSpPr>
          <p:cNvPr id="8" name="Text 6"/>
          <p:cNvSpPr/>
          <p:nvPr/>
        </p:nvSpPr>
        <p:spPr>
          <a:xfrm>
            <a:off x="1371600" y="3383280"/>
            <a:ext cx="6400800" cy="274320"/>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 huggingface.co/google/diffusiongemma-26B-A4B-it</a:t>
            </a:r>
            <a:endParaRPr lang="en-US" sz="1000" dirty="0"/>
          </a:p>
        </p:txBody>
      </p:sp>
      <p:sp>
        <p:nvSpPr>
          <p:cNvPr id="9" name="Text 7"/>
          <p:cNvSpPr/>
          <p:nvPr/>
        </p:nvSpPr>
        <p:spPr>
          <a:xfrm>
            <a:off x="1371600" y="3703320"/>
            <a:ext cx="6400800" cy="274320"/>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 vllm.ai/blog/2026-06-10-diffusion-gemma</a:t>
            </a:r>
            <a:endParaRPr lang="en-US" sz="1000" dirty="0"/>
          </a:p>
        </p:txBody>
      </p:sp>
      <p:sp>
        <p:nvSpPr>
          <p:cNvPr id="10" name="Text 8"/>
          <p:cNvSpPr/>
          <p:nvPr/>
        </p:nvSpPr>
        <p:spPr>
          <a:xfrm>
            <a:off x="1371600" y="4023360"/>
            <a:ext cx="6400800" cy="274320"/>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 arxiv.org/abs/2502.09992  (LLaDA — Large Language Diffusion Models)</a:t>
            </a:r>
            <a:endParaRPr lang="en-US" sz="1000" dirty="0"/>
          </a:p>
        </p:txBody>
      </p:sp>
      <p:sp>
        <p:nvSpPr>
          <p:cNvPr id="11" name="Text 9"/>
          <p:cNvSpPr/>
          <p:nvPr/>
        </p:nvSpPr>
        <p:spPr>
          <a:xfrm>
            <a:off x="1371600" y="4343400"/>
            <a:ext cx="6400800" cy="274320"/>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 deepmind.google/models/gemini-diffusion</a:t>
            </a:r>
            <a:endParaRPr lang="en-US" sz="1000" dirty="0"/>
          </a:p>
        </p:txBody>
      </p:sp>
      <p:sp>
        <p:nvSpPr>
          <p:cNvPr id="12" name="Text 10"/>
          <p:cNvSpPr/>
          <p:nvPr/>
        </p:nvSpPr>
        <p:spPr>
          <a:xfrm>
            <a:off x="1371600" y="4663440"/>
            <a:ext cx="6400800" cy="274320"/>
          </a:xfrm>
          <a:prstGeom prst="rect">
            <a:avLst/>
          </a:prstGeom>
          <a:noFill/>
          <a:ln/>
        </p:spPr>
        <p:txBody>
          <a:bodyPr wrap="square" lIns="0" tIns="0" rIns="0" bIns="0" rtlCol="0" anchor="ctr"/>
          <a:lstStyle/>
          <a:p>
            <a:pPr algn="l" indent="0" marL="0">
              <a:buNone/>
            </a:pPr>
            <a:r>
              <a:rPr lang="en-US" sz="1000" dirty="0">
                <a:solidFill>
                  <a:srgbClr val="94A3B8"/>
                </a:solidFill>
                <a:latin typeface="Malgun Gothic" pitchFamily="34" charset="0"/>
                <a:ea typeface="Malgun Gothic" pitchFamily="34" charset="-122"/>
                <a:cs typeface="Malgun Gothic" pitchFamily="34" charset="-120"/>
              </a:rPr>
              <a:t>• inceptionlabs.ai/blog/introducing-mercury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DiffusionGemma</dc:title>
  <dc:subject>PptxGenJS Presentation</dc:subject>
  <dc:creator>Research Producer</dc:creator>
  <cp:lastModifiedBy>Research Producer</cp:lastModifiedBy>
  <cp:revision>1</cp:revision>
  <dcterms:created xsi:type="dcterms:W3CDTF">2026-06-11T10:32:25Z</dcterms:created>
  <dcterms:modified xsi:type="dcterms:W3CDTF">2026-06-11T10:32:25Z</dcterms:modified>
</cp:coreProperties>
</file>