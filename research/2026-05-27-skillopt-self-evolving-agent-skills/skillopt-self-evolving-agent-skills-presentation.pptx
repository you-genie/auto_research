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SkillOpt는 Microsoft 연구팀이 2026년 5월 22일 공개한 논문으로, 에이전트 스킬을 딥러닝 훈련 규율로 최적화하는 최초의 체계적 프레임워크입니다.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발표는 SkillOpt 논문의 핵심 내용을 9개 섹션으로 나누어 살펴봅니다.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에이전트 스킬 방법론의 한계를 살펴봅니다.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방법들은 수작업, 원샷 LLM 생성, 느슨한 자기수정 방식입니다. 공통 문제는 신뢰할 수 있는 피드백 기반 개선 메커니즘이 없다는 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SkillOpt의 핵심 아이디어는 스킬 문서를 frozen 에이전트의 외부 상태(external state)로 보고, 딥러닝 훈련과 동일한 규율로 최적화하는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SkillOpt가 최적화하는 대상인 스킬 문서의 개념을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스킬 문서는 에이전트의 컨텍스트로 주어지는 마크다운 지시서입니다. 훈련 후 best_skill.md 파일 하나만 배포하면 되고, 추론 시 추가 비용이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Optimizer는 배포에 포함되지 않습니다. 훈련 시에만 스킬 개선을 제안하고, 최적화된 스킬 문서만 배포합니다. 이 분리가 배포 비용을 0으로 만드는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SkillOpt의 핵심 알고리즘 구조를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핵심은 각 스텝에서 validation gate를 통과한 경우에만 스킬이 업데이트된다는 것입니다. 실제로 제안된 edit의 95% 이상이 거절됩니다.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SkillOpt를 안정적으로 만드는 6가지 메커니즘을 살펴봅니다.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6가지 메커니즘은 딥러닝의 learning rate, validation split, negative feedback, momentum, regularization, meta-learning에 각각 대응됩니다.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SkillOpt의 실험 설계와 주요 결과를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6개 벤치마크 모두에서 큰 성능 향상이 나타났습니다. 특히 SpreadsheetBench와 OfficeQA에서 +39포인트의 놀라운 향상을 보였습니다.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특히 Cross-Harness 전이 결과가 인상적입니다. Codex에서 학습한 스킬이 Claude Code에서 in-domain SkillOpt 결과를 초과했습니다.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Slow/Meta Update 제거 시 SpreadsheetBench에서 22.5포인트 하락이 발생합니다. 이는 가장 중요한 메커니즘임을 보여줍니다.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SkillOpt는 기존 연구들이 갖추지 못했던 검증 게이트와 텍스트 학습률 제어를 모두 도입했습니다.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SkillOpt는 에이전트 스킬 최적화를 딥러닝 훈련과 동형(isomorphic)으로 재정의했습니다. 텍스트 공간에서의 "학습"이 얼마나 멀리 갈 수 있을지 앞으로의 연구가 기대됩니다.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BA3D4"/>
          </a:solidFill>
          <a:ln w="12700">
            <a:solidFill>
              <a:srgbClr val="5BA3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292608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274320"/>
            <a:ext cx="4114800" cy="4114800"/>
          </a:xfrm>
          <a:prstGeom prst="ellipse">
            <a:avLst/>
          </a:prstGeom>
          <a:solidFill>
            <a:srgbClr val="162F48">
              <a:alpha val="70000"/>
            </a:srgbClr>
          </a:solidFill>
          <a:ln w="12700">
            <a:solidFill>
              <a:srgbClr val="162F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SkillOpt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자가진화 에이전트 스킬을 위한 Executive Strategy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804672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arXiv:2605.23904  |  Microsoft &amp; SJTU &amp; Tongji &amp; Fudan  |  2026.05.22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SkillOpt | arXiv:2605.23904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55280" y="49011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58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32688" y="731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9875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스킬 최적화인가?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563624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63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1536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SkillOpt 핵심 개념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17922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스킬 문서란 무엇인가?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68296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68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2688" y="2340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Strategy 알고리즘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" y="2596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딥러닝 훈련을 텍스트 공간으로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72968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2688" y="31455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6가지 핵심 메커니즘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" y="34015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안정적인 스킬 학습의 비결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" y="39502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결과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2688" y="4206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 벤치마크, 7개 모델, 3개 Harness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0" y="758952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758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04688" y="731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전이 &amp; Ablation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04688" y="9875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일반화와 구성 요소 분석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0" y="1563624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1563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04688" y="1536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계보 비교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04688" y="17922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선행 연구와의 차별점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0" y="2368296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2368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04688" y="2340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한계점 &amp; 향후 연구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04688" y="2596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과제와 미래 방향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0" y="3172968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04688" y="31455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시사점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04688" y="34015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기여 요약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SkillOpt | arXiv:2605.23904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955280" y="49011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011680"/>
            <a:ext cx="54864" cy="1097280"/>
          </a:xfrm>
          <a:prstGeom prst="rect">
            <a:avLst/>
          </a:prstGeom>
          <a:solidFill>
            <a:srgbClr val="5BA3D4"/>
          </a:solidFill>
          <a:ln w="12700">
            <a:solidFill>
              <a:srgbClr val="5BA3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9202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문제 정의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0B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기존 스킬 접근이 부족한가?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SkillOpt | arXiv:2605.23904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9011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스킬 접근의 3가지 한계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2651760" cy="3017520"/>
          </a:xfrm>
          <a:prstGeom prst="rect">
            <a:avLst/>
          </a:prstGeom>
          <a:solidFill>
            <a:srgbClr val="F5F8FC"/>
          </a:solidFill>
          <a:ln w="12700">
            <a:solidFill>
              <a:srgbClr val="D1E4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685800"/>
            <a:ext cx="265176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41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수작업 (Hand-crafted)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높음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확장성 없음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도메인 대응 어려움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2004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신뢰할 수 있는 개선 없음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685800"/>
            <a:ext cx="2651760" cy="3017520"/>
          </a:xfrm>
          <a:prstGeom prst="rect">
            <a:avLst/>
          </a:prstGeom>
          <a:solidFill>
            <a:srgbClr val="F5F8FC"/>
          </a:solidFill>
          <a:ln w="12700">
            <a:solidFill>
              <a:srgbClr val="D1E4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685800"/>
            <a:ext cx="2651760" cy="109728"/>
          </a:xfrm>
          <a:prstGeom prst="rect">
            <a:avLst/>
          </a:prstGeom>
          <a:solidFill>
            <a:srgbClr val="5BA3D4"/>
          </a:solidFill>
          <a:ln w="12700">
            <a:solidFill>
              <a:srgbClr val="5BA3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841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74720" y="138988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원샷 LLM 생성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74720" y="19202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피드백 루프 부재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불안정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메커니즘 없음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32004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신뢰할 수 있는 개선 없음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685800"/>
            <a:ext cx="2651760" cy="3017520"/>
          </a:xfrm>
          <a:prstGeom prst="rect">
            <a:avLst/>
          </a:prstGeom>
          <a:solidFill>
            <a:srgbClr val="F5F8FC"/>
          </a:solidFill>
          <a:ln w="12700">
            <a:solidFill>
              <a:srgbClr val="D1E4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685800"/>
            <a:ext cx="2651760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841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55080" y="138988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느슨한 자기수정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55080" y="19202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제어 없이 발산 가능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Voyager, EvoSkill 등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게이트 없음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32004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신뢰할 수 있는 개선 없음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8229600" cy="65836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88620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"None of which reliably improves over its starting point under feedback."</a:t>
            </a:r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SkillOpt, arXiv:2605.23904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SkillOpt | arXiv:2605.23904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955280" y="49011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SkillOpt의 핵심 주장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384048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85800"/>
            <a:ext cx="3840480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040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기존: 가중치 공간 최적화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 데이터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94560" y="12070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라벨된 입출력 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 가능 파라미터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17190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가중치 (수십억 개)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2311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학습률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2311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step size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743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게이트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2743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eval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2552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32552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파인튜닝된 모델 전체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2423160"/>
            <a:ext cx="457200" cy="0"/>
          </a:xfrm>
          <a:prstGeom prst="line">
            <a:avLst/>
          </a:prstGeom>
          <a:noFill/>
          <a:ln w="3175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15968" y="224028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937760" y="685800"/>
            <a:ext cx="3840480" cy="3657600"/>
          </a:xfrm>
          <a:prstGeom prst="rect">
            <a:avLst/>
          </a:prstGeom>
          <a:solidFill>
            <a:srgbClr val="F5F8FC"/>
          </a:solidFill>
          <a:ln w="19050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685800"/>
            <a:ext cx="3840480" cy="365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7040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SkillOpt: 텍스트 공간 최적화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12070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 데이터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120700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롤아웃 궤적 + 점수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4920" y="17190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 가능 파라미터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171907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스킬 문서 (1K 토큰)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4920" y="223113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학습률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2231136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예산 L_t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74920" y="27432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게이트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0" y="274320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validation split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74920" y="325526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325526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best_skill.md 하나만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SkillOpt | arXiv:2605.23904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955280" y="49011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011680"/>
            <a:ext cx="54864" cy="1097280"/>
          </a:xfrm>
          <a:prstGeom prst="rect">
            <a:avLst/>
          </a:prstGeom>
          <a:solidFill>
            <a:srgbClr val="5BA3D4"/>
          </a:solidFill>
          <a:ln w="12700">
            <a:solidFill>
              <a:srgbClr val="5BA3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9202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SkillOpt 핵심 개념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0B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스킬 문서란 무엇인가?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SkillOpt | arXiv:2605.23904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9011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스킬 문서 (Skill Document)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54864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132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468880" y="7132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마크다운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54864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984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크기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468880" y="12984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379 ~ 1,995 토큰 (중앙값 ~920)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1883664"/>
            <a:ext cx="54864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8366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68880" y="188366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절차 / 도구 정책 / 출력 형식 / 도메인 휴리스틱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468880"/>
            <a:ext cx="54864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68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468880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best_skill.md 하나만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3054096"/>
            <a:ext cx="54864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05409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오버헤드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468880" y="30540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LLM 호출 0회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0" y="685800"/>
            <a:ext cx="379476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66360" y="74980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best_skill.md — 학습된 규칙 예시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66360" y="1097280"/>
            <a:ext cx="35204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11887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SearchQA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66360" y="1481328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단서 표현에서 예상 답변 유형을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추론 → 고유 증거 지지 최단 엔티티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66360" y="20574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SpreadsheetBench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66360" y="2350008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수식 평가 후 정적 값으로 전체 범위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기록 (Excel 재계산 의존 금지)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66360" y="29260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ALFWorld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66360" y="3218688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horizon-aware 방문 원장 유지,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반복 실패 후 탐색 다양화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SkillOpt | arXiv:2605.23904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55280" y="49011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모델의 역할 분리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 단계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474720" cy="822960"/>
          </a:xfrm>
          <a:prstGeom prst="rect">
            <a:avLst/>
          </a:prstGeom>
          <a:solidFill>
            <a:srgbClr val="FEF9C3"/>
          </a:solidFill>
          <a:ln w="19050">
            <a:solidFill>
              <a:srgbClr val="FDE04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789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Model (O)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스킬 분석 &amp; 수정 제안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 시만 동작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9019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edit 제안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3474720" cy="822960"/>
          </a:xfrm>
          <a:prstGeom prst="rect">
            <a:avLst/>
          </a:prstGeom>
          <a:solidFill>
            <a:srgbClr val="EAF2FA"/>
          </a:solidFill>
          <a:ln w="19050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313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Model (M)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26243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태스크 수행 (Frozen)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GPT-5.5 / Claude / Qwen ...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validated skill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429000"/>
            <a:ext cx="3474720" cy="640080"/>
          </a:xfrm>
          <a:prstGeom prst="rect">
            <a:avLst/>
          </a:prstGeom>
          <a:solidFill>
            <a:srgbClr val="D1FAE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930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best_skill.md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06240" y="594360"/>
            <a:ext cx="0" cy="402336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572000" y="640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단계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4069080" cy="822960"/>
          </a:xfrm>
          <a:prstGeom prst="rect">
            <a:avLst/>
          </a:prstGeom>
          <a:solidFill>
            <a:srgbClr val="EAF2FA"/>
          </a:solidFill>
          <a:ln w="19050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107899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Model (M)  —  Frozen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54880" y="138988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없음, 그대로 사용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190195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context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240280"/>
            <a:ext cx="4069080" cy="640080"/>
          </a:xfrm>
          <a:prstGeom prst="rect">
            <a:avLst/>
          </a:prstGeom>
          <a:solidFill>
            <a:srgbClr val="D1FAE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30428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best_skill.md  (379~1,995 tokens)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3063240"/>
            <a:ext cx="4069080" cy="1051560"/>
          </a:xfrm>
          <a:prstGeom prst="rect">
            <a:avLst/>
          </a:prstGeom>
          <a:solidFill>
            <a:srgbClr val="F5F8F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12724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배포 불필요
</a:t>
            </a:r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추가 비용 = 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스킬 문서 하나로 즉시 배포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SkillOpt | arXiv:2605.23904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55280" y="49011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011680"/>
            <a:ext cx="54864" cy="1097280"/>
          </a:xfrm>
          <a:prstGeom prst="rect">
            <a:avLst/>
          </a:prstGeom>
          <a:solidFill>
            <a:srgbClr val="5BA3D4"/>
          </a:solidFill>
          <a:ln w="12700">
            <a:solidFill>
              <a:srgbClr val="5BA3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9202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Executive Strategy 알고리즘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0B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딥러닝 훈련을 텍스트 공간으로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SkillOpt | arXiv:2605.23904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9011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최적화 루프 (Algorithm 1)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1920240" cy="2560320"/>
          </a:xfrm>
          <a:prstGeom prst="rect">
            <a:avLst/>
          </a:prstGeom>
          <a:solidFill>
            <a:srgbClr val="F5F8FC"/>
          </a:solidFill>
          <a:ln w="12700">
            <a:solidFill>
              <a:srgbClr val="D1E4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85800"/>
            <a:ext cx="192024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841248"/>
            <a:ext cx="640080" cy="6400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841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17373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Target이 태스크 실행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궤적·점수 수집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417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468880" y="685800"/>
            <a:ext cx="1920240" cy="2560320"/>
          </a:xfrm>
          <a:prstGeom prst="rect">
            <a:avLst/>
          </a:prstGeom>
          <a:solidFill>
            <a:srgbClr val="F5F8FC"/>
          </a:solidFill>
          <a:ln w="12700">
            <a:solidFill>
              <a:srgbClr val="D1E4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685800"/>
            <a:ext cx="1920240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841248"/>
            <a:ext cx="640080" cy="64008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841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60320" y="15727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1965960"/>
            <a:ext cx="17373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실패/성공 미니배치 분석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Optimizer가 edit 제안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1417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0" y="685800"/>
            <a:ext cx="1920240" cy="2560320"/>
          </a:xfrm>
          <a:prstGeom prst="rect">
            <a:avLst/>
          </a:prstGeom>
          <a:solidFill>
            <a:srgbClr val="F5F8FC"/>
          </a:solidFill>
          <a:ln w="12700">
            <a:solidFill>
              <a:srgbClr val="D1E4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685800"/>
            <a:ext cx="1920240" cy="10972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0" y="841248"/>
            <a:ext cx="640080" cy="6400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841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63440" y="15727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3440" y="1965960"/>
            <a:ext cx="17373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우선 병합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 edit 선택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1417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675120" y="685800"/>
            <a:ext cx="1920240" cy="2560320"/>
          </a:xfrm>
          <a:prstGeom prst="rect">
            <a:avLst/>
          </a:prstGeom>
          <a:solidFill>
            <a:srgbClr val="F5F8FC"/>
          </a:solidFill>
          <a:ln w="12700">
            <a:solidFill>
              <a:srgbClr val="D1E4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75120" y="685800"/>
            <a:ext cx="1920240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841248"/>
            <a:ext cx="640080" cy="64008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841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766560" y="15727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66560" y="1965960"/>
            <a:ext cx="17373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split 평가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improvement만 채택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429000"/>
            <a:ext cx="8412480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429000"/>
            <a:ext cx="73152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493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에포크 경계 처리 (Epoch Boundary)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38221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Update</a:t>
            </a:r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이전/현재 에포크 스킬 비교 → 종단적 가이던스 생성 → </a:t>
            </a:r>
            <a:pPr algn="l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Section</a:t>
            </a:r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갱신
</a:t>
            </a:r>
            <a:pPr algn="l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Skill</a:t>
            </a:r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Optimizer 측 메모리 갱신 (미래 에포크 효율 향상)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SkillOpt | arXiv:2605.23904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955280" y="49011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011680"/>
            <a:ext cx="54864" cy="1097280"/>
          </a:xfrm>
          <a:prstGeom prst="rect">
            <a:avLst/>
          </a:prstGeom>
          <a:solidFill>
            <a:srgbClr val="5BA3D4"/>
          </a:solidFill>
          <a:ln w="12700">
            <a:solidFill>
              <a:srgbClr val="5BA3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9202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6가지 핵심 메커니즘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0B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안정적인 스킬 학습의 비결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SkillOpt | arXiv:2605.23904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9011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메커니즘 6가지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2651760" cy="1828800"/>
          </a:xfrm>
          <a:prstGeom prst="rect">
            <a:avLst/>
          </a:prstGeom>
          <a:solidFill>
            <a:srgbClr val="F5F8FC"/>
          </a:solidFill>
          <a:ln w="12700">
            <a:solidFill>
              <a:srgbClr val="D1E4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58368"/>
            <a:ext cx="2651760" cy="91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955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Bounded Edits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학습률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L_t 예산으로 한 스텝 최대 수정량 제한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075688"/>
            <a:ext cx="1828800" cy="256032"/>
          </a:xfrm>
          <a:prstGeom prst="rect">
            <a:avLst/>
          </a:prstGeom>
          <a:solidFill>
            <a:srgbClr val="2E75B6">
              <a:alpha val="2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0848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유사: gradient LR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658368"/>
            <a:ext cx="2651760" cy="1828800"/>
          </a:xfrm>
          <a:prstGeom prst="rect">
            <a:avLst/>
          </a:prstGeom>
          <a:solidFill>
            <a:srgbClr val="F5F8FC"/>
          </a:solidFill>
          <a:ln w="12700">
            <a:solidFill>
              <a:srgbClr val="D1E4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658368"/>
            <a:ext cx="2651760" cy="914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7955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Validation Gate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11155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게이트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37560" y="13898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improvement만 채택 (동점도 거절)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37560" y="2075688"/>
            <a:ext cx="1828800" cy="256032"/>
          </a:xfrm>
          <a:prstGeom prst="rect">
            <a:avLst/>
          </a:prstGeom>
          <a:solidFill>
            <a:srgbClr val="0369A1">
              <a:alpha val="20000"/>
            </a:srgbClr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20848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유사: val split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658368"/>
            <a:ext cx="2651760" cy="1828800"/>
          </a:xfrm>
          <a:prstGeom prst="rect">
            <a:avLst/>
          </a:prstGeom>
          <a:solidFill>
            <a:srgbClr val="F5F8FC"/>
          </a:solidFill>
          <a:ln w="12700">
            <a:solidFill>
              <a:srgbClr val="D1E4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658368"/>
            <a:ext cx="2651760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7955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Rejected-Edit Buffer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11155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 피드백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72200" y="13898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거절된 edit을 다음 스텝의 negative feedback으로 활용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2075688"/>
            <a:ext cx="1828800" cy="256032"/>
          </a:xfrm>
          <a:prstGeom prst="rect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9632" y="20848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유사: momentum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670048"/>
            <a:ext cx="2651760" cy="1828800"/>
          </a:xfrm>
          <a:prstGeom prst="rect">
            <a:avLst/>
          </a:prstGeom>
          <a:solidFill>
            <a:srgbClr val="F5F8FC"/>
          </a:solidFill>
          <a:ln w="12700">
            <a:solidFill>
              <a:srgbClr val="D1E4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670048"/>
            <a:ext cx="2651760" cy="914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807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Slow Update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31272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에포크 경계 갱신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340156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이전/현재 에포크 비교 → 종단적 가이던스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4087368"/>
            <a:ext cx="1828800" cy="256032"/>
          </a:xfrm>
          <a:prstGeom prst="rect">
            <a:avLst/>
          </a:prstGeom>
          <a:solidFill>
            <a:srgbClr val="0284C7">
              <a:alpha val="20000"/>
            </a:srgbClr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40965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유사: LR schedule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0" y="2670048"/>
            <a:ext cx="2651760" cy="1828800"/>
          </a:xfrm>
          <a:prstGeom prst="rect">
            <a:avLst/>
          </a:prstGeom>
          <a:solidFill>
            <a:srgbClr val="F5F8FC"/>
          </a:solidFill>
          <a:ln w="12700">
            <a:solidFill>
              <a:srgbClr val="D1E4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0" y="2670048"/>
            <a:ext cx="2651760" cy="91440"/>
          </a:xfrm>
          <a:prstGeom prst="rect">
            <a:avLst/>
          </a:prstGeom>
          <a:solidFill>
            <a:srgbClr val="5BA3D4"/>
          </a:solidFill>
          <a:ln w="12700">
            <a:solidFill>
              <a:srgbClr val="5BA3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2807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Protected Section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37560" y="31272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보호 영역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337560" y="340156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step-level edit 불가 영역 → epoch에서만 수정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337560" y="4087368"/>
            <a:ext cx="1828800" cy="256032"/>
          </a:xfrm>
          <a:prstGeom prst="rect">
            <a:avLst/>
          </a:prstGeom>
          <a:solidFill>
            <a:srgbClr val="5BA3D4">
              <a:alpha val="20000"/>
            </a:srgbClr>
          </a:solidFill>
          <a:ln w="12700">
            <a:solidFill>
              <a:srgbClr val="5BA3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64992" y="40965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유사: regularizer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35040" y="2670048"/>
            <a:ext cx="2651760" cy="1828800"/>
          </a:xfrm>
          <a:prstGeom prst="rect">
            <a:avLst/>
          </a:prstGeom>
          <a:solidFill>
            <a:srgbClr val="F5F8FC"/>
          </a:solidFill>
          <a:ln w="12700">
            <a:solidFill>
              <a:srgbClr val="D1E4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35040" y="2670048"/>
            <a:ext cx="265176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2807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Meta Skill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172200" y="31272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메모리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172200" y="340156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측 학습 메모리 → 배포 artifact에 미포함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72200" y="4087368"/>
            <a:ext cx="1828800" cy="256032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99632" y="40965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유사: meta-learning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SkillOpt | arXiv:2605.23904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955280" y="49011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011680"/>
            <a:ext cx="54864" cy="1097280"/>
          </a:xfrm>
          <a:prstGeom prst="rect">
            <a:avLst/>
          </a:prstGeom>
          <a:solidFill>
            <a:srgbClr val="5BA3D4"/>
          </a:solidFill>
          <a:ln w="12700">
            <a:solidFill>
              <a:srgbClr val="5BA3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9202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실험 결과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0B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 벤치마크 × 7개 모델 × 3개 Harness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SkillOpt | arXiv:2605.23904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9011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GPT-5.5 Direct Chat 결과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21792"/>
          <a:ext cx="5669280" cy="393192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1005840"/>
                <a:gridCol w="9144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벤치마크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스킬 없음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SkillOpt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향상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SearchQA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SpreadsheetBench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+38.9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OfficeQA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+39.0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DocVQA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LiveMathematicianBench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+29.3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ALFWorld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6E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+23.5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621792"/>
            <a:ext cx="2286000" cy="13716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92240" y="7315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52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92240" y="13898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or Tied-Best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92240" y="2148840"/>
            <a:ext cx="2286000" cy="100584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2240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+5.4 pts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92240" y="2743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대비 추가 향상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92240" y="3291840"/>
            <a:ext cx="2286000" cy="1234440"/>
          </a:xfrm>
          <a:prstGeom prst="rect">
            <a:avLst/>
          </a:prstGeom>
          <a:solidFill>
            <a:srgbClr val="F5F8F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0" y="33375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7개 모델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3개 Harness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6개 벤치마크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SkillOpt | arXiv:2605.23904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955280" y="49011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Harness별 성능 및 전이 실험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GPT-5.5 Harness별 평균 향상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Chat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057400" y="1124712"/>
            <a:ext cx="292608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107899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+23.5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019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에이전트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57400" y="1947672"/>
            <a:ext cx="3090672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39512" y="190195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+24.8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724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057400" y="2770632"/>
            <a:ext cx="237744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72491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0" y="594360"/>
            <a:ext cx="0" cy="4023360"/>
          </a:xfrm>
          <a:prstGeom prst="line">
            <a:avLst/>
          </a:prstGeom>
          <a:noFill/>
          <a:ln w="9525">
            <a:solidFill>
              <a:srgbClr val="CBD5E1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572000" y="62179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Cross-Harness 전이 (SpreadsheetBench)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0" y="1078992"/>
            <a:ext cx="4206240" cy="1280160"/>
          </a:xfrm>
          <a:prstGeom prst="rect">
            <a:avLst/>
          </a:prstGeom>
          <a:solidFill>
            <a:srgbClr val="F5F8FC"/>
          </a:solidFill>
          <a:ln w="12700">
            <a:solidFill>
              <a:srgbClr val="D1E4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1704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스킬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35040" y="1234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00800" y="1143000"/>
            <a:ext cx="1371600" cy="36576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143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81.8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63440" y="18470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+59.7 ★ In-domain 초과!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2487168"/>
            <a:ext cx="4206240" cy="1097280"/>
          </a:xfrm>
          <a:prstGeom prst="rect">
            <a:avLst/>
          </a:prstGeom>
          <a:solidFill>
            <a:srgbClr val="F5F8FC"/>
          </a:solidFill>
          <a:ln w="12700">
            <a:solidFill>
              <a:srgbClr val="D1E4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5786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스킬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29077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0" y="26974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675120" y="26334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71.1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63440" y="3200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+43.6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3611880"/>
            <a:ext cx="3840480" cy="731520"/>
          </a:xfrm>
          <a:prstGeom prst="rect">
            <a:avLst/>
          </a:prstGeom>
          <a:solidFill>
            <a:srgbClr val="F5F8F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65760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간 전이: GPT-5.4 스킬 → GPT-5.4-mini (+9.4)  → GPT-5.4-nano (+3.0)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SkillOpt | arXiv:2605.23904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955280" y="49011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분석 핵심 결과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SpreadsheetBench 성능 하락 (포인트)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0" y="4160520"/>
            <a:ext cx="6583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977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기준선 (제거 없음)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0" y="4160520"/>
            <a:ext cx="1463040" cy="27432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6949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-22.5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94560" y="72877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Slow/Meta Update 제거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80560" y="4160520"/>
            <a:ext cx="146304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45902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120" y="492861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Rejected-Edit Buffer 제거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75120" y="4160520"/>
            <a:ext cx="1463040" cy="3383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45445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-2.75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488289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LR 제거 (무제한)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960120"/>
            <a:ext cx="8412480" cy="2514600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960120"/>
            <a:ext cx="73152" cy="25146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10241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Slow/Meta Update: 가장 중요한 메커니즘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" y="141732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제거 시 SpreadsheetBench: </a:t>
            </a:r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77.5 → 55.0 (-22.5 포인트)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전체 ablation 중 최대 하락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1847088"/>
            <a:ext cx="8046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중요한가:
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에포크 경계에서 이전/현재 에포크 비교 → 지속적 실패 패턴 식별 → Protected Section에 종단적 가이던스 기록
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 step-level 수정으로는 포착할 수 없는 장기 패턴을 학습하는 유일한 메커니즘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SkillOpt | arXiv:2605.23904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955280" y="49011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계보 비교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621792"/>
          <a:ext cx="8412480" cy="4023360"/>
        </p:xfrm>
        <a:graphic>
          <a:graphicData uri="http://schemas.openxmlformats.org/drawingml/2006/table">
            <a:tbl>
              <a:tblPr/>
              <a:tblGrid>
                <a:gridCol w="1645920"/>
                <a:gridCol w="640080"/>
                <a:gridCol w="1737360"/>
                <a:gridCol w="1280160"/>
                <a:gridCol w="118872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스킬 형식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검증 게이트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텍스트 LR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Voyager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functions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(아키텍처)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TextGrad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프롬프트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Trace2Skill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자연어 문서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EvoSkill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스킬 폴더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SkillOpt 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자연어 문서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86E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86E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86E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SkillOpt | arXiv:2605.23904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955280" y="49011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BA3D4"/>
          </a:solidFill>
          <a:ln w="12700">
            <a:solidFill>
              <a:srgbClr val="5BA3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시사점 &amp; 향후 연구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840480" cy="3200400"/>
          </a:xfrm>
          <a:prstGeom prst="rect">
            <a:avLst/>
          </a:prstGeom>
          <a:solidFill>
            <a:srgbClr val="162F4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241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기여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274320" cy="274320"/>
          </a:xfrm>
          <a:prstGeom prst="ellipse">
            <a:avLst/>
          </a:prstGeom>
          <a:solidFill>
            <a:srgbClr val="5BA3D4"/>
          </a:solidFill>
          <a:ln w="12700">
            <a:solidFill>
              <a:srgbClr val="5BA3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63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"Skill as trainable state" 패러다임 최초 확립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274320" cy="274320"/>
          </a:xfrm>
          <a:prstGeom prst="ellipse">
            <a:avLst/>
          </a:prstGeom>
          <a:solidFill>
            <a:srgbClr val="5BA3D4"/>
          </a:solidFill>
          <a:ln w="12700">
            <a:solidFill>
              <a:srgbClr val="5BA3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305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추가 비용 =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(best_skill.md만 필요)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816352"/>
            <a:ext cx="274320" cy="274320"/>
          </a:xfrm>
          <a:prstGeom prst="ellipse">
            <a:avLst/>
          </a:prstGeom>
          <a:solidFill>
            <a:srgbClr val="5BA3D4"/>
          </a:solidFill>
          <a:ln w="12700">
            <a:solidFill>
              <a:srgbClr val="5BA3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9806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52/52 evaluation cell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across-the-board best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483864"/>
            <a:ext cx="274320" cy="274320"/>
          </a:xfrm>
          <a:prstGeom prst="ellipse">
            <a:avLst/>
          </a:prstGeom>
          <a:solidFill>
            <a:srgbClr val="5BA3D4"/>
          </a:solidFill>
          <a:ln w="12700">
            <a:solidFill>
              <a:srgbClr val="5BA3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46557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강력한 전이 가능성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(모델·harness·벤치마크 간)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960120"/>
            <a:ext cx="4206240" cy="3200400"/>
          </a:xfrm>
          <a:prstGeom prst="rect">
            <a:avLst/>
          </a:prstGeom>
          <a:solidFill>
            <a:srgbClr val="162F4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0241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연구 방향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1508760"/>
            <a:ext cx="54864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4813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도메인 스킬 라이브러리 (인프라 공유)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176272"/>
            <a:ext cx="54864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1488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보상 없는 validation gate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(오픈엔드 태스크 대응)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843784"/>
            <a:ext cx="54864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81635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스킬 → 모델 가중치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self-distillation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3511296"/>
            <a:ext cx="54864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48386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meta skill의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벤치마크 간 재사용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D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 | Q &amp; A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SkillOpt | arXiv:2605.23904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55280" y="49011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SkillOpt: Executive Strategy for Self-Evolving Agent Skills</dc:title>
  <dc:subject>PptxGenJS Presentation</dc:subject>
  <dc:creator>Research Summary</dc:creator>
  <cp:lastModifiedBy>Research Summary</cp:lastModifiedBy>
  <cp:revision>1</cp:revision>
  <dcterms:created xsi:type="dcterms:W3CDTF">2026-05-27T12:45:31Z</dcterms:created>
  <dcterms:modified xsi:type="dcterms:W3CDTF">2026-05-27T12:45:31Z</dcterms:modified>
</cp:coreProperties>
</file>