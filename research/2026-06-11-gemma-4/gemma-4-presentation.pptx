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AIME 2026 수학 벤치마크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AIME 벤치마크 (%)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Gemma 3 27B</c:v>
                  </c:pt>
                  <c:pt idx="1">
                    <c:v>Gemma 4 31B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89.2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Arena 텍스트 리더보드 순위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Arena 순위 (낮을수록 좋음)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GPT-4o
(closed)</c:v>
                  </c:pt>
                  <c:pt idx="1">
                    <c:v>Gemma 4 26B
MoE (4B active)</c:v>
                  </c:pt>
                  <c:pt idx="2">
                    <c:v>Gemma 4 31B
Dense</c:v>
                  </c:pt>
                  <c:pt idx="3">
                    <c:v>Llama 4
Scout 109B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4월 2일 구글 딥마인드가 공식 출시한 Gemma 4 시리즈에 대한 종합 발표입니다. Apache 2.0 라이선스로 완전한 상업적 자유를 보장하는 오픈 웨이트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7개 섹션으로 구성되어 있으며, 기술적 심층 분석부터 실용적 배포 가이드까지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Gemma는 Gemini 모델을 만들면서 축적한 연구를 오픈 생태계에 공개하는 구글의 전략적 오픈소스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Gemma는 거대 유료 모델인 Gemini와 동일한 연구 기반을 사용하지만, 누구나 자유롭게 다운로드하고 배포할 수 있는 오픈 웨이트 형태로 제공됩니다. Gemma 4부터 Apache 2.0으로 라이선스가 더욱 자유로워졌습니다.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2024년 2월 첫 출시 이후 불과 2년 만에 4세대까지 빠르게 진화했습니다.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변화 두 가지: 1) 컨텍스트 길이가 8K→256K로 32배 증가, 2) 라이선스가 Apache 2.0으로 변경되어 진정한 상업적 자유 획득.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세대 만에 수학 벤치마크(AIME 2026)에서 30%포인트 이상 향상되었습니다. 단순한 파라미터 증가가 아닌 아키텍처 혁신의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4의 주요 아키텍처 혁신 6가지를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레이어를 풀 어텐션으로 처리하면 O(n²) 비용이 발생합니다. 슬라이딩 윈도우와 글로벌 어텐션을 교대로 쌓아 효율성과 성능을 동시에 확보했습니다.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Mixture of Experts 아키텍처의 핵심은 전체 파라미터를 저장하지만 추론 시에는 일부만 활성화한다는 것입니다. 26B의 표현력을 4B의 계산 비용으로 얻는 효율적인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PLE는 모바일/엣지 환경에서 특히 중요합니다. MTP는 speculative decoding의 Gemma 4 구현으로, 실질적인 추론 속도 개선을 제공합니다.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12B 통합 모델은 인코더 없이 이미지와 오디오를 직접 LLM 임베딩 공간에 투영하는 혁신적인 접근 방식을 사용합니다. 소형 모델들은 별도 인코더를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4는 용도와 하드웨어 환경에 맞게 5가지 크기로 제공됩니다.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E2B/E4B는 Per-Layer Embeddings로 효율화, 26B A4B는 MoE로 높은 처리량 대비 낮은 계산 비용, 31B Dense는 파인튜닝과 최고 품질이 필요한 경우에 적합합니다.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6월 5일 발표된 QAT 체크포인트는 학습 과정에 양자화를 통합하여 품질 손실을 최소화합니다. vLLM, llama.cpp, Ollama, LM Studio 모두 지원합니다.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4는 특히 수학과 경쟁 프로그래밍 분야에서 압도적인 성능을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표시는 해당 카테고리 1위를 나타냅니다. Gemma 4는 수학(AIME), 경쟁 프로그래밍(Codeforces), 비전(MMMU Pro)에서 1위. 일반 지식(MMLU Pro)과 GPQA에서는 Qwen 3.5에 소폭 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26B A4B MoE 모델은 추론 시 3.8B 파라미터만 활성화하면서 Arena 텍스트 순위 6위에 올랐습니다. 이는 파라미터 효율 측면에서 오픈 웨이트 모델의 새 지평입니다.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4는 출시 당일부터 광범위한 도구와 플랫폼에서 지원됩니다.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`ollama run gemma4:31b` 한 줄로 로컬 실행이 가능합니다. 기업 환경에서는 Vertex AI의 완전 관리형 배포와 파인튜닝 지원을 활용할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생각 모드는 모델이 최종 답변 전에 내부 추론 과정을 거치도록 합니다. AIME 수학 문제나 복잡한 코딩 태스크에서 특히 효과가 큽니다. 멀티턴 대화에서는 반드시 이전 턴의 생각 토큰을 제거해야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어떤 모델도 완벽하지 않습니다. Gemma 4의 현재 한계와 앞으로의 방향을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중요한 제약은 오디오 출력 미지원(입력만 가능)과 실시간 비디오 처리 불가입니다. 안전-크리티컬 분야에서는 반드시 인간 감독 하에 사용해야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구글이 Gemini 연구를 빠르게 오픈 생태계로 이식하는 전략을 유지하는 한, 다음 세대도 멀지 않았습니다. DiffusionGemma는 이산 확산 기반 텍스트 생성이라는 새로운 아키텍처 방향을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4는 단순한 오픈소스 모델 하나가 아닙니다. 구글 딥마인드의 최신 연구를 Apache 2.0으로 자유롭게 제공하면서, 31B 모델로 수백B급 클로즈드 모델과 경쟁하는 새로운 기준을 세웠습니다.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마칩니다. Gemma 4에 대한 질문이 있으시면 지금 말씀해주세요. 공식 문서는 ai.google.dev/gemma에서 확인하실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82880"/>
            <a:ext cx="2194560" cy="219456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274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31B로 400B를 이긴 구글의 오픈 웨이트 모델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337560"/>
            <a:ext cx="2011680" cy="438912"/>
          </a:xfrm>
          <a:prstGeom prst="rect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3337560"/>
            <a:ext cx="2011680" cy="438912"/>
          </a:xfrm>
          <a:prstGeom prst="rect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337560"/>
            <a:ext cx="2011680" cy="438912"/>
          </a:xfrm>
          <a:prstGeom prst="rect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96696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96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시리즈 소개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996696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96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21808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세대별 진화 (1→2→3→4)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527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아키텍처 혁신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1563624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1527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라인업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093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성능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2130552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21808" y="2093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&amp; 배포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6609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 &amp; 향후 전망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시리즈란?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DeepMind의 오픈 웨이트 모델 패밀리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= "Gemini의 오픈소스 사촌"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474720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클로즈드 상용 모델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통해 접근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구독/종량제 과금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비공개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성능 우선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7640" y="2468880"/>
            <a:ext cx="11887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 웨이트 공개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914400"/>
            <a:ext cx="3474720" cy="3291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 웨이트 모델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라이선스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다운로드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가능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이용 자유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연구를 그대로 가져와 오픈 웨이트로 공개 — Gemma 4부터 Apache 2.0 적용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세대별 진화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1 → 2 → 3 → 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4세대 진화 한눈에 보기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 크기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컨텍스트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오디오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라이선스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3 → 4: 도약의 크기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749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개선 사항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컨텍스트: 128K → 256K (2배)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56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입력 추가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32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아키텍처 도입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전환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수학: ~55% → 89.2%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LiveCodeBench: ~50% → 80.0%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663440" y="914400"/>
          <a:ext cx="4114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아키텍처 혁신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심층 분석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하이브리드 어텐션 메커니즘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73152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로컬(슬라이딩) + 글로벌 교차 배치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73152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 비율 (대형), 4:1 비율 (소형)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7315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31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레이어는 항상 글로벌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7315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K=V 최적화 → KV 캐시 절감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7315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47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효율성과 성능 동시 확보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914400"/>
            <a:ext cx="347472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914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(슬라이딩)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1408176"/>
            <a:ext cx="347472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408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(슬라이딩)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901952"/>
            <a:ext cx="347472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9019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(슬라이딩)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395728"/>
            <a:ext cx="347472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23957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(슬라이딩)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889504"/>
            <a:ext cx="347472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28895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(슬라이딩)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383280"/>
            <a:ext cx="3474720" cy="402336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3383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(풀 어텐션)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877056"/>
            <a:ext cx="347472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4370832"/>
            <a:ext cx="347472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43708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(마지막 항상!)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MoE: 26B의 지식, 4B의 비용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파라미터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9326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25.2B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3840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476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 활성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3.8B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384048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352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9077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 + 1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5760" y="3877056"/>
            <a:ext cx="384048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227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토큰당 선택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89534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라우터 (Router)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14630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04304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9408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7776" y="205740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9408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37776" y="2715768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04304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62672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9408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37776" y="3374136"/>
            <a:ext cx="512064" cy="5120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2377440"/>
            <a:ext cx="731520" cy="7315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980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29768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전문가 (8개)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4297680"/>
            <a:ext cx="228600" cy="2286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비활성 전문가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효율화 기법: PLE &amp; MTP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Embeddings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모델(E2B/E4B) 전용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865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레이어마다 256차원 임베딩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플래시 메모리에서 로드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10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절약 + 표현력 향상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227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모바일/엣지 최적화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87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Multi-Token Prediction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1371600" cy="1371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빠름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76M 드래프터 병렬 예측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803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모델이 한번에 검증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3배 추론 속도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손실 없음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멀티모달 처리 파이프라인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28600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554480"/>
            <a:ext cx="20116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228600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(16×16 패치)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/ 550M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25880" y="3063240"/>
            <a:ext cx="201168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868680"/>
            <a:ext cx="2286000" cy="6858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868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오디오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9080" y="1554480"/>
            <a:ext cx="201168" cy="4572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9202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3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2194560"/>
            <a:ext cx="228600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833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 인코더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멜-스펙트로그램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3063240"/>
            <a:ext cx="201168" cy="36576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868680"/>
            <a:ext cx="228600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868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비디오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201168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9202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2194560"/>
            <a:ext cx="228600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추출 1fps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오디오 처리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3063240"/>
            <a:ext cx="201168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01568"/>
            <a:ext cx="8412480" cy="91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임베딩 공간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12B 통합 모델: 인코더 없이 직접 선형 투영 (encoder-free)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모델 라인업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엣지부터 서버까지 5가지 크기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5가지 모델 비교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38862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182880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컨텍스트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메모리(BF16)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용도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2.3B 활성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 / IoT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4.5B 활성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엣지 / 노트북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11.95B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서버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26B A4B (MoE)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3.8B 활성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고처리량 서버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31B Dense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최고 품질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QAT: 양자화 인식 학습으로 어디서나 실행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22860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절감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2651760" cy="2286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일반 26B A4B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57.7 GB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1089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고사양 서버 필요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QAT 26B A4B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 GB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 노트북 실행!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도구: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54480" y="3401568"/>
            <a:ext cx="12801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99232" y="3401568"/>
            <a:ext cx="12801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99232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43984" y="3401568"/>
            <a:ext cx="12801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43984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88736" y="3401568"/>
            <a:ext cx="12801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88736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33488" y="3401568"/>
            <a:ext cx="12801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33488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E2B는 QAT 적용 시 모바일에서 약 1GB 수준으로 실행 가능 (2026.06.05 발표)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벤치마크 성능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31B로 400B를 이기다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벤치마크 비교 (vs Qwen 3.5 27B / Llama 4 Scout)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9319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 31B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3.5 27B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GPQA Diamond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 2026 (수학)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LiveCodeBench v6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Codeforces 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MMMU Pro (비전)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 Text 순위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~#10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해당 카테고리 1위  |  수학·코딩·비전에서 Gemma 4가 앞서고, 일반 지식은 Qwen 3.5가 소폭 우세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26B MoE의 경이로운 효율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960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3.8B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7607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 활성 파라미터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221992"/>
            <a:ext cx="301752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2219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760720" y="2816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텍스트 전세계 순위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3483864"/>
            <a:ext cx="301752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4838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6.6x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760720" y="4078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대비 성능 효율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"바이트 당 최고 성능의 오픈 모델"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생태계 &amp; 배포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어디서든, 어떻게든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폭넓은 생태계 지원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로컬 실행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943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설치: ollama run gemma4:31b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943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포맷, CPU 실행 가능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5943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974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1560" y="2697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인터페이스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5943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91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최적화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943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실행 지원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3931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클라우드 배포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5943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087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15087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관리형 + 파인튜닝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103120"/>
            <a:ext cx="5943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0312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32120" y="2103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GPU (Blackwell)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697480"/>
            <a:ext cx="5943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974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2120" y="2697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쿠버네티스 추론 서빙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291840"/>
            <a:ext cx="5943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91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32120" y="32918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추론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886200"/>
            <a:ext cx="5943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862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허브 / Inference API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생각 모드 (Thinking Mode)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생각 모드 활성화
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processor.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apply_chat_template
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message,
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enable_thinking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4754880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내부 추론 과정... ] (숨겨진 생각 토큰)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475488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최종 답변 ]  (사용자에게 표시)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724912"/>
            <a:ext cx="1371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4752" y="36301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051560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전 내부 추론 생성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1828800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수학·코딩에 효과적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2606040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 추론 정확도 향상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338328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멀티턴: 이전 생각 토큰 제거 필수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3840480"/>
            <a:ext cx="347472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8587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멀티턴 대화 시 주의!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생각 토큰 반드시 제거 후 전달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한계점 &amp; 향후 전망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 잡힌 시각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한계점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기술적 제약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비디오 처리: 최대 1fps, 60초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출력(TTS) 없음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SWE-bench: Qwen 3.5에 밀림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컷오프: 2025년 1월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수치 계산 한계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39319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안전 &amp; 윤리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할루시네이션 발생 가능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Abliteration 안전 우회 취약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의료/법률/금융 자율 배포 금지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27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편향 내재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675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 언어 성능 격차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안전-크리티컬 분야(의료·법률·금융)에서는 반드시 인간 감독 하에 사용하세요.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앞으로의 방향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7452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출시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874520"/>
            <a:ext cx="548640" cy="5486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체크포인트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12B 모델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874520"/>
            <a:ext cx="548640" cy="5486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하반기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통합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87452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(추정)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196596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QAT 최적화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성능 지속 개선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작은 모델 실행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3383280"/>
            <a:ext cx="1965960" cy="13716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33472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DiffusionGemma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33472" y="3931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이산 확산 방식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1100+ 토큰/초 (H100)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18304" y="3383280"/>
            <a:ext cx="196596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9744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멀티모달 확장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9744" y="3931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출력 추가?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처리?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94576" y="3383280"/>
            <a:ext cx="1965960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86016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86016" y="3931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모델 예상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진화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07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2026.04.02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출시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560320" cy="1325880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07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라인업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 ~ 31B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2560320" cy="13258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307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0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컨텍스트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지원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560320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816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성능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2743200"/>
            <a:ext cx="2560320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2816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 MoE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순위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743200"/>
            <a:ext cx="2560320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2816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무제한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4360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자유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"바이트 당 최고 성능의 오픈 모델"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2E86AB">
              <a:alpha val="15000"/>
            </a:srgbClr>
          </a:solidFill>
          <a:ln w="12700">
            <a:solidFill>
              <a:srgbClr val="2E86A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0" y="3337560"/>
            <a:ext cx="3291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문서: ai.google.dev/gemma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HuggingFace: huggingface.co/google  |  Ollama: ollama.com/library/gemma4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4 — 31B로 400B를 이긴 구글의 오픈 웨이트 모델</dc:title>
  <dc:subject>PptxGenJS Presentation</dc:subject>
  <dc:creator>Google DeepMind Research</dc:creator>
  <cp:lastModifiedBy>Google DeepMind Research</cp:lastModifiedBy>
  <cp:revision>1</cp:revision>
  <dcterms:created xsi:type="dcterms:W3CDTF">2026-06-11T10:33:51Z</dcterms:created>
  <dcterms:modified xsi:type="dcterms:W3CDTF">2026-06-11T10:33:51Z</dcterms:modified>
</cp:coreProperties>
</file>