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1628"/>
                </a:solidFill>
                <a:latin typeface="Arial"/>
              </a:rPr>
              <a:t>정확도 (%) — N값에 따른 변화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Ouro 1.4B (6 연산)</c:v>
                </c:pt>
              </c:strCache>
            </c:strRef>
          </c:tx>
          <c:spPr>
            <a:solidFill>
              <a:srgbClr val="1B8F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N=1</c:v>
                  </c:pt>
                  <c:pt idx="1">
                    <c:v>N=2</c:v>
                  </c:pt>
                  <c:pt idx="2">
                    <c:v>N=4</c:v>
                  </c:pt>
                  <c:pt idx="3">
                    <c:v>N=6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41.9</c:v>
                </c:pt>
                <c:pt idx="1">
                  <c:v>49.5</c:v>
                </c:pt>
                <c:pt idx="2">
                  <c:v>57.8</c:v>
                </c:pt>
                <c:pt idx="3">
                  <c:v>61.5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Jet-Nemotron 2B (6 연산)</c:v>
                </c:pt>
              </c:strCache>
            </c:strRef>
          </c:tx>
          <c:spPr>
            <a:solidFill>
              <a:srgbClr val="5BB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N=1</c:v>
                  </c:pt>
                  <c:pt idx="1">
                    <c:v>N=2</c:v>
                  </c:pt>
                  <c:pt idx="2">
                    <c:v>N=4</c:v>
                  </c:pt>
                  <c:pt idx="3">
                    <c:v>N=6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74.2</c:v>
                </c:pt>
                <c:pt idx="1">
                  <c:v>76.5</c:v>
                </c:pt>
                <c:pt idx="2">
                  <c:v>79.1</c:v>
                </c:pt>
                <c:pt idx="3">
                  <c:v>81.2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6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A162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2026년 5월에 발표된 두 편의 'Language Models Need Sleep' 논문을 심층 분석합니다. arXiv 2605.26099는 SSM Fast Weight 갱신에 집중하고, ICLR 2026 논문은 Continual Learning을 위한 Sleep 패러다임을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두 논문의 공통 문제의식에서 시작해, 각각의 방법론, 실험 결과, 그리고 LLM 커뮤니티에 주는 시사점 순으로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섹션에서는 Sleep 아이디어가 나온 배경인 LLM의 컨텍스트 한계 문제를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트랜스포머의 Attention 메커니즘은 컨텍스트 길이에 따라 이차적으로 복잡도가 증가합니다. KV 캐시는 메모리를 선형적으로 소비하고, 창 밖으로 밀려난 정보는 그냥 사라집니다. 이것이 핵심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동물이 수면 중 해마 리플레이를 통해 단기 기억을 장기 기억으로 변환하는 것처럼, LLM도 오프라인 반복 처리를 통해 컨텍스트를 내재화할 수 있다는 것이 두 논문의 공통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논문은 제목은 동일하지만 해결하려는 문제와 방법론이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A는 컨텍스트 창이 가득 찼을 때 Fast Weight를 오프라인으로 정제하는 아키텍처 접근입니다. 논문 B는 In-Context Learning의 비영속성 문제를 RL 기반 Knowledge Seeding으로 해결하는 Continual Learning 접근입니다.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논문 A의 핵심 방법론을 살펴보겠습니다.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모델은 평상시 Wake 상태에서 단일 포워드 패스로 예측합니다. 컨텍스트 윈도우가 가득 차면 Sleep 단계로 진입해 N번의 오프라인 재귀 패스를 수행하고 Fast Weight를 갱신합니다. KV 캐시를 초기화하고 Wake 상태로 복귀합니다.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Weight는 SSM 블록의 동적 상태로 컨텍스트에 따라 변합니다. Sleep 중에는 Gated Hebbian Rule로 N번 반복 정제합니다. Wake 단계 예측은 여전히 단일 포워드 패스라 레이턴시가 보존됩니다.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논문 B의 Sleep 패러다임을 살펴보겠습니다.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Consolidation 단계는 인간 NREM 수면에 해당합니다. 단기 기억을 선별해 장기 파라미터로 통합합니다. Dreaming 단계는 REM 수면에 해당하며, 모델이 스스로 훈련 데이터를 생성하고 자기 개선을 수행합니다.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Seeding의 핵심은 '무엇을 기억할지'를 모델이 스스로 결정한다는 것입니다. RL이 어떤 in-context 지식을 장기 파라미터로 승격시킬지를 학습합니다.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논문의 핵심 실험 결과를 살펴보겠습니다.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벤치마크는 난이도가 점점 높아집니다. Ouro 1.4B에서 6 연산 문제의 47% 향상이 가장 인상적인 결과입니다. 추론이 깊어질수록 Sleep의 이득이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패턴은 '추론이 깊어질수록 Sleep의 이득이 커진다'는 것입니다. Ouro 1.4B에서 더 극적인 향상을 보이는 것은 기본 성능이 낮을수록 Sleep의 기여가 더 크다는 것을 시사합니다.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B는 ICL, 압축 기반 방법, 자기 적응 방법 등 다양한 베이스라인 대비 일관된 성능 향상을 보고했습니다. 특히 Continual Learning 시나리오에서 Catastrophic Forgetting에 대한 내성이 확인되었습니다.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논문이 인정하는 한계점과 앞으로의 연구 방향을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A의 주요 한계는 훈련 안정성과 SSM 의존성입니다. N이 커지면 역전파 그래프가 깊어져 불안정해질 수 있으며, Pure Transformer에는 직접 적용할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논문이 공통으로 제시하는 미래 방향은 Sleep 스케줄의 자동화, Pure Transformer 확장, Sleep-Aware 사전학습, 그리고 실용적 배포를 위한 시스템 최적화입니다.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Sleep 프레임워크가 LLM 커뮤니티에 주는 더 넓은 시사점을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Sleep은 Test-Time Compute를 '추론 중'이 아니라 '추론 사이'에 투자합니다. CoT나 o-series 모델이 추론 도중 compute를 늘리는 것과 달리, Sleep은 오프라인 단계에 투자해 실제 추론 레이턴시를 아낍니다.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Sleep 프레임워크는 Continual Learning을 훈련 단계 문제에서 추론 단계 메모리 관리 문제로 재정의합니다. 파인튜닝 없이도 지속적 학습이 가능하다는 것을 의미하며, 훨씬 실용적인 접근입니다.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논문의 핵심 메시지는 명확합니다. LLM에게 '잠잘 시간'을 주면, 같은 메모리 예산으로 더 깊은 추론이 가능해집니다.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발표를 마칩니다. 두 논문 모두 arXiv와 OpenReview에서 무료로 접근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8FAE">
              <a:alpha val="20000"/>
            </a:srgbClr>
          </a:solidFill>
          <a:ln w="12700">
            <a:solidFill>
              <a:srgbClr val="1B8FA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1A3A5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548640"/>
            <a:ext cx="1005840" cy="1005840"/>
          </a:xfrm>
          <a:prstGeom prst="ellipse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457200"/>
            <a:ext cx="822960" cy="82296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LLM도 잠이 필요하다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Need Sleep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편의 핵심 논문 심층 분석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5월 27일   |   arXiv 2605.26099   &amp;   ICLR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54864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957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왜 지금 "수면"인가?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73352"/>
            <a:ext cx="8321040" cy="45720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673352"/>
            <a:ext cx="54864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0992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두 논문 개요 비교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203704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203704"/>
            <a:ext cx="54864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02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논문 A: Fast Weight &amp; Sleep Phase  (arXiv 2605.26099)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734056"/>
            <a:ext cx="8321040" cy="45720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734056"/>
            <a:ext cx="54864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706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논문 B: Knowledge Seeding &amp; Dreaming  (ICLR 2026)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264408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64408"/>
            <a:ext cx="54864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0098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실험 결과 비교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3794760"/>
            <a:ext cx="8321040" cy="45720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794760"/>
            <a:ext cx="54864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3133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한계점 &amp; 후속 연구 방향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4325112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25112"/>
            <a:ext cx="54864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616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커뮤니티 시사점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B8FAE">
              <a:alpha val="25000"/>
            </a:srgbClr>
          </a:solidFill>
          <a:ln w="12700">
            <a:solidFill>
              <a:srgbClr val="1B8FAE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왜 지금 "수면"인가?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직면한 근본적 기억 문제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LLM의 기억 딜레마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4160520" cy="54864"/>
          </a:xfrm>
          <a:prstGeom prst="rect">
            <a:avLst/>
          </a:prstGeom>
          <a:solidFill>
            <a:srgbClr val="E85D3F"/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548640" cy="548640"/>
          </a:xfrm>
          <a:prstGeom prst="ellipse">
            <a:avLst/>
          </a:prstGeom>
          <a:solidFill>
            <a:srgbClr val="E85D3F">
              <a:alpha val="15000"/>
            </a:srgbClr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O(L²)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52728" y="12618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이차 복잡도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6642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길이 증가 시 연산 비용 폭발적 증가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971800"/>
            <a:ext cx="41605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154680"/>
            <a:ext cx="548640" cy="548640"/>
          </a:xfrm>
          <a:prstGeom prst="ellipse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↑MEM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52728" y="3136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메모리 부담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5387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길이에 비례해 GPU 메모리 선형 증가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97280"/>
            <a:ext cx="4160520" cy="54864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280160"/>
            <a:ext cx="548640" cy="548640"/>
          </a:xfrm>
          <a:prstGeom prst="ellipse">
            <a:avLst/>
          </a:prstGeom>
          <a:solidFill>
            <a:srgbClr val="1B8FAE">
              <a:alpha val="15000"/>
            </a:srgbClr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87568" y="12618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기억 부재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16642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창 밖으로 밀려난 정보는 완전 소멸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971800"/>
            <a:ext cx="4160520" cy="54864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154680"/>
            <a:ext cx="548640" cy="548640"/>
          </a:xfrm>
          <a:prstGeom prst="ellipse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87568" y="3136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74920" y="35387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지식 학습 시 기존 지식이 파괴됨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생물학적 영감: 해마 리플레이 (Hippocampal Replay)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(Wake)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 축적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기억 형성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2011680"/>
            <a:ext cx="256032" cy="4572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9019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188720"/>
            <a:ext cx="2560320" cy="73152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 (Sleep)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783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해마 리플레이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N번 반복 재생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2011680"/>
            <a:ext cx="256032" cy="4572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19019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188720"/>
            <a:ext cx="256032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 강화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기억으로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변환·통합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429000"/>
            <a:ext cx="8321040" cy="10241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유비 (Analogy)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221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Phase (토큰 처리)   →   Sleep Phase (N번 오프라인 패스)   →   Fast Weight 갱신 완료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B8FAE">
              <a:alpha val="25000"/>
            </a:srgbClr>
          </a:solidFill>
          <a:ln w="12700">
            <a:solidFill>
              <a:srgbClr val="1B8FAE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두 논문 개요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제목, 다른 접근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논문 비교 개요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54864" cy="36576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97280"/>
            <a:ext cx="3977640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3385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A  —  arXiv 2605.26099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664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McLeish, Goldstein, Fanti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762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1762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/ University of Maryland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883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6883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수면으로 Fast Weight 갱신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SSM-Attention 하이브리드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124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37124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장문맥 추론 한계 극복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97280"/>
            <a:ext cx="54864" cy="365760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097280"/>
            <a:ext cx="3977640" cy="45720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3385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B  —  ICLR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6642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1664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Behrouz, Hashemi, Mirrokni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1762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1762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6883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26883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Seeding + Dreaming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7124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37124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 → 파라미터 영속화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24528" y="2514600"/>
            <a:ext cx="694944" cy="6949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24528" y="25146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B8FAE">
              <a:alpha val="25000"/>
            </a:srgbClr>
          </a:solidFill>
          <a:ln w="12700">
            <a:solidFill>
              <a:srgbClr val="1B8FAE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논문 A: Fast Weight &amp; Sleep Phase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2605.26099 — Lee et al. (CMU, UMD)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Phase 작동 원리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103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10312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887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Phase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1920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읽기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Forward 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KV Cache 누적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41448" y="2761488"/>
            <a:ext cx="201168" cy="4572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6334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15768" y="1097280"/>
            <a:ext cx="1737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15768" y="1097280"/>
            <a:ext cx="173736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1887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07208" y="1737360"/>
            <a:ext cx="1554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윈도우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도달 시 전환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71416" y="2761488"/>
            <a:ext cx="201168" cy="4572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26334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45736" y="1097280"/>
            <a:ext cx="2103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097280"/>
            <a:ext cx="2103120" cy="64008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1887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Phase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37176" y="1737360"/>
            <a:ext cx="1920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N번 오프라인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재귀 패스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 Weight 갱신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67144" y="2761488"/>
            <a:ext cx="201168" cy="4572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0296" y="26334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41464" y="1097280"/>
            <a:ext cx="2103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41464" y="1097280"/>
            <a:ext cx="2103120" cy="64008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4616" y="11887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재개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32904" y="1737360"/>
            <a:ext cx="1920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초기화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 유지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재개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46817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Wake 단계 예측은 여전히 Single Forward Pass → 추론 레이턴시 보존!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기술: Fast Weight &amp; Gated Hebbian Rule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4864" cy="3566160"/>
          </a:xfrm>
          <a:prstGeom prst="rect">
            <a:avLst/>
          </a:prstGeom>
          <a:solidFill>
            <a:srgbClr val="7B9AB2"/>
          </a:solidFill>
          <a:ln w="12700">
            <a:solidFill>
              <a:srgbClr val="7B9A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Weight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모델 파라미터</a:t>
            </a:r>
            <a:endParaRPr lang="en-US" sz="13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후 고정됨</a:t>
            </a:r>
            <a:endParaRPr lang="en-US" sz="13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컨텍스트와 무관하게 유지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0" cy="0"/>
          </a:xfrm>
          <a:prstGeom prst="line">
            <a:avLst/>
          </a:prstGeom>
          <a:noFill/>
          <a:ln w="12700">
            <a:solidFill>
              <a:srgbClr val="E8EFF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3218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  (S_t)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63931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블록의 고정 크기 hidden state</a:t>
            </a:r>
            <a:endParaRPr lang="en-US" sz="13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컨텍스트에 따라 동적으로 갱신</a:t>
            </a:r>
            <a:endParaRPr lang="en-US" sz="13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중 Gated Hebbian Rule로 정제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54864" cy="356616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중 업데이트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00600" y="1664208"/>
            <a:ext cx="37490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719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S_t^(n+1)  =  f( S_t^(n) , context 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방식 (E2E 역전파)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834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Phase + Prediction Phase 전체에 역전파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N번 패스가 미분 가능한 계산 그래프에 포함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 자체에 그래디언트 흐름 (기존 재귀 모델과 차별점)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B8FAE">
              <a:alpha val="25000"/>
            </a:srgbClr>
          </a:solidFill>
          <a:ln w="12700">
            <a:solidFill>
              <a:srgbClr val="1B8FAE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논문 B: Knowledge Seeding &amp; Dreaming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— Behrouz, Hashemi, Mirrokni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패러다임의 두 단계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54864" cy="361188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97280"/>
            <a:ext cx="3977640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Memory Consolidation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(NREM 수면과 유사)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Seeding: RL 기반 상향식 증류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모델 기억 → 큰 네트워크로 파라미터 확장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지식 → 장기 파라미터로 영속화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"무엇을 기억할지" RL이 학습으로 결정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54864" cy="361188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77640" cy="45720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43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Dreaming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 수면과 유사)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993392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강화학습으로 합성 데이터 커리큘럼 생성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감독 없이 자기 생성 훈련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 선택적 간섭 제어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지식 자율 습득 (Self-Modification)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Seeding: ICL → 장기 파라미터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514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2514600" cy="73152"/>
          </a:xfrm>
          <a:prstGeom prst="rect">
            <a:avLst/>
          </a:prstGeom>
          <a:solidFill>
            <a:srgbClr val="E85D3F"/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280160"/>
            <a:ext cx="777240" cy="777240"/>
          </a:xfrm>
          <a:prstGeom prst="ellipse">
            <a:avLst/>
          </a:prstGeom>
          <a:solidFill>
            <a:srgbClr val="E85D3F">
              <a:alpha val="20000"/>
            </a:srgbClr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ICL은 컨텍스트 창 안에서만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유효한 단기 기억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세션 종료 시 소멸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2807208"/>
            <a:ext cx="457200" cy="4572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6791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514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43000"/>
            <a:ext cx="2514600" cy="73152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1280160"/>
            <a:ext cx="777240" cy="777240"/>
          </a:xfrm>
          <a:prstGeom prst="ellipse">
            <a:avLst/>
          </a:prstGeom>
          <a:solidFill>
            <a:srgbClr val="1B8FAE">
              <a:alpha val="20000"/>
            </a:srgbClr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1945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RL이 '무엇을 기억할지' 선택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파라미터 확장(Upward Distillation)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용량 증가 &amp; 선별 통합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15000" y="2807208"/>
            <a:ext cx="457200" cy="4572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6791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89320" y="1143000"/>
            <a:ext cx="2514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143000"/>
            <a:ext cx="25146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280160"/>
            <a:ext cx="777240" cy="777240"/>
          </a:xfrm>
          <a:prstGeom prst="ellipse">
            <a:avLst/>
          </a:prstGeom>
          <a:solidFill>
            <a:srgbClr val="2ECC71">
              <a:alpha val="2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21945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 지식의 장기 파라미터 영속화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세션 넘어 지속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 제어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626864"/>
            <a:ext cx="83210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645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차별점: 기존 CL 방법들은 외부에서 중요도를 지정 → SLEEP은 RL이 스스로 학습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B8FAE">
              <a:alpha val="25000"/>
            </a:srgbClr>
          </a:solidFill>
          <a:ln w="12700">
            <a:solidFill>
              <a:srgbClr val="1B8FAE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실험 결과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얼마나 "잘 잔" 모델이 똑똑해지는가?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A — 3가지 벤치마크 (난이도 순)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2697480" cy="50292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1704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1887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Automaton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1435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7190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추론 깊이 테스트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t=32: N=1(10%) → N=4(30%+)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639312"/>
            <a:ext cx="1783080" cy="64008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639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+200%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19272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9272" y="1097280"/>
            <a:ext cx="2697480" cy="50292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1704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9624" y="11887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Graph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9624" y="1435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17190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k=16 홉 검색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N=4만 훈련 예산 내 진전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76472" y="3639312"/>
            <a:ext cx="1783080" cy="64008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76472" y="3639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유일 성공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27064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7064" y="1097280"/>
            <a:ext cx="269748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11704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57416" y="11887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GSM-Infinite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57416" y="1435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추론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17190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 1.4B, 6 연산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N=1(41.9%) → N=6(61.5%)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84264" y="3639312"/>
            <a:ext cx="1783080" cy="640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84264" y="3639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시간(N)이 길수록 성능이 향상된다</a:t>
            </a:r>
            <a:endParaRPr lang="en-US" sz="3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05156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05156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051560"/>
            <a:ext cx="54864" cy="352044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1704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패턴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" indent="-3175">
              <a:spcAft>
                <a:spcPts val="8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↑ = 성능 ↑</a:t>
            </a:r>
            <a:endParaRPr lang="en-US" sz="1200" dirty="0"/>
          </a:p>
          <a:p>
            <a:pPr marL="3175" indent="-3175">
              <a:spcAft>
                <a:spcPts val="8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깊을수록 N 효과 극대화</a:t>
            </a:r>
            <a:endParaRPr lang="en-US" sz="1200" dirty="0"/>
          </a:p>
          <a:p>
            <a:pPr marL="3175" indent="-3175">
              <a:spcAft>
                <a:spcPts val="8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 1.4B: +47% 향상</a:t>
            </a:r>
            <a:endParaRPr lang="en-US" sz="1200" dirty="0"/>
          </a:p>
          <a:p>
            <a:pPr marL="3175" indent="-3175">
              <a:spcAft>
                <a:spcPts val="8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Jet-Nemotron 2B: +9.4%</a:t>
            </a:r>
            <a:endParaRPr lang="en-US" sz="1200" dirty="0"/>
          </a:p>
          <a:p>
            <a:pPr marL="3175" indent="-3175">
              <a:spcAft>
                <a:spcPts val="8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 이후 수렴 경향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B — SLEEP vs 베이스라인 비교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54864" cy="3566160"/>
          </a:xfrm>
          <a:prstGeom prst="rect">
            <a:avLst/>
          </a:prstGeom>
          <a:solidFill>
            <a:srgbClr val="E85D3F"/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SLEEP이 능가하는 베이스라인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292608" cy="292608"/>
          </a:xfrm>
          <a:prstGeom prst="ellipse">
            <a:avLst/>
          </a:prstGeom>
          <a:solidFill>
            <a:srgbClr val="E85D3F">
              <a:alpha val="20000"/>
            </a:srgbClr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ICL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39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 순수 활용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88336"/>
            <a:ext cx="292608" cy="292608"/>
          </a:xfrm>
          <a:prstGeom prst="ellipse">
            <a:avLst/>
          </a:prstGeom>
          <a:solidFill>
            <a:srgbClr val="E85D3F">
              <a:alpha val="20000"/>
            </a:srgbClr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426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90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캐시 압축 기반 방법론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292608" cy="292608"/>
          </a:xfrm>
          <a:prstGeom prst="ellipse">
            <a:avLst/>
          </a:prstGeom>
          <a:solidFill>
            <a:srgbClr val="E85D3F">
              <a:alpha val="20000"/>
            </a:srgbClr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5935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Self-adapting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9410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자기 적응 방법들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1097280"/>
            <a:ext cx="4572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06240" y="1097280"/>
            <a:ext cx="54864" cy="356616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1188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영역에서 일관된 우위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00" y="1691640"/>
            <a:ext cx="4206240" cy="566928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1691640"/>
            <a:ext cx="54864" cy="566928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장문맥 이해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43400" y="2441448"/>
            <a:ext cx="4206240" cy="566928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43400" y="2441448"/>
            <a:ext cx="54864" cy="566928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532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통합 (Knowledge Incorporation)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43400" y="3191256"/>
            <a:ext cx="4206240" cy="566928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3191256"/>
            <a:ext cx="54864" cy="5669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2826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추론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43400" y="3941064"/>
            <a:ext cx="4206240" cy="566928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43400" y="3941064"/>
            <a:ext cx="54864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0325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46817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ICLR 2026 논문 — 상세 수치는 camera-ready 버전에서 확인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B8FAE">
              <a:alpha val="25000"/>
            </a:srgbClr>
          </a:solidFill>
          <a:ln w="12700">
            <a:solidFill>
              <a:srgbClr val="1B8FAE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한계점 &amp; 후속 방향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해결되지 않은 문제들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A 주요 한계점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4160520" cy="54864"/>
          </a:xfrm>
          <a:prstGeom prst="rect">
            <a:avLst/>
          </a:prstGeom>
          <a:solidFill>
            <a:srgbClr val="E85D3F"/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261872"/>
            <a:ext cx="502920" cy="502920"/>
          </a:xfrm>
          <a:prstGeom prst="ellipse">
            <a:avLst/>
          </a:prstGeom>
          <a:solidFill>
            <a:srgbClr val="E85D3F">
              <a:alpha val="15000"/>
            </a:srgbClr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불안정성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깊어지면 역전파 그래프 불안정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해결책: Implicit Gradients / Truncated BPTT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97280"/>
            <a:ext cx="41605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0912" y="1261872"/>
            <a:ext cx="502920" cy="502920"/>
          </a:xfrm>
          <a:prstGeom prst="ellipse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 작업 한정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처리 가능 태스크엔 이득 제한적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셀룰러 자동화·그래프 순회·수학 추론에 특화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8803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80360"/>
            <a:ext cx="4160520" cy="54864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3044952"/>
            <a:ext cx="502920" cy="502920"/>
          </a:xfrm>
          <a:prstGeom prst="ellipse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처리량 감소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" y="3474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N에 대략 반비례 (N=4 → 약 4배 느림)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레이턴시는 보존되지만 훈련 비용 증가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8803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880360"/>
            <a:ext cx="4160520" cy="54864"/>
          </a:xfrm>
          <a:prstGeom prst="rect">
            <a:avLst/>
          </a:prstGeom>
          <a:solidFill>
            <a:srgbClr val="7B9AB2"/>
          </a:solidFill>
          <a:ln w="12700">
            <a:solidFill>
              <a:srgbClr val="7B9A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10912" y="3044952"/>
            <a:ext cx="502920" cy="502920"/>
          </a:xfrm>
          <a:prstGeom prst="ellipse">
            <a:avLst/>
          </a:prstGeom>
          <a:solidFill>
            <a:srgbClr val="7B9AB2">
              <a:alpha val="15000"/>
            </a:srgbClr>
          </a:solidFill>
          <a:ln w="12700">
            <a:solidFill>
              <a:srgbClr val="7B9A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블록 의존성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3474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Transformer에 직접 적용 불가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SSM-Attention 하이브리드 아키텍처 전제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후속 연구 방향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685800" cy="169164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16152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스케줄 자동화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16152" y="171907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메타-러닝으로 언제/얼마나 잘지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스스로 결정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685800" cy="169164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50992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Transformer 확장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50992" y="171907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 없이 Attention만으로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Phase 구현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971800"/>
            <a:ext cx="685800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74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16152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Sleep-Aware 사전학습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16152" y="35935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처음부터 Sleep Phase를 고려한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 방식 설계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71800"/>
            <a:ext cx="685800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474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50992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최적화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50992" y="35935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Phase를 비동기 배치 처리로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 배포 최적화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B8FAE">
              <a:alpha val="25000"/>
            </a:srgbClr>
          </a:solidFill>
          <a:ln w="12700">
            <a:solidFill>
              <a:srgbClr val="1B8FAE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커뮤니티 시사점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학습·추론 생태계에 던지는 질문들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Compute 트렌드와의 접점</a:t>
            </a:r>
            <a:endParaRPr lang="en-US" sz="3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256032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834640"/>
                <a:gridCol w="1371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접근 방식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투자 시점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레이턴시 영향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/ o-series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중 (Wake)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단계별 추론 개선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(논문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사이 (오프라인)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메모리 통합, Wake 레이턴시 보존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보존!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Seeding (논문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 업데이트 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 지식 장기화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840480"/>
            <a:ext cx="832104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391363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Sleep은 Test-Time Compute를 "추론 중"이 아니라 "추론 사이"에 투자한다 — 추론 레이턴시를 희생하지 않는 유일한 접근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FA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 패러다임 전환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886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3886200" cy="457200"/>
          </a:xfrm>
          <a:prstGeom prst="rect">
            <a:avLst/>
          </a:prstGeom>
          <a:solidFill>
            <a:srgbClr val="E85D3F"/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Continual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단계에서 Forgetting 방지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EWC: 중요 파라미터 변화 억제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Buffer: 이전 데이터 재생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외부에서 중요도 지정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2148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886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3886200" cy="4572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612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기반 Continual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664208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단계 메모리 관리로 재정의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없이 지속적 학습 가능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RL이 스스로 중요 기억 선별</a:t>
            </a:r>
            <a:endParaRPr lang="en-US" sz="1200" dirty="0"/>
          </a:p>
          <a:p>
            <a:pPr marL="3175" indent="-3175">
              <a:spcAft>
                <a:spcPts val="600"/>
              </a:spcAft>
              <a:buSzPct val="100000"/>
              <a:buChar char="舦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확장으로 용량 확보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886200"/>
            <a:ext cx="832104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950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뇌과학 유비: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270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NREM = Memory Consolidation  |  REM = Dreaming  |  선택적 망각 = KV Cache 초기화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B8FAE">
              <a:alpha val="15000"/>
            </a:srgbClr>
          </a:solidFill>
          <a:ln w="12700">
            <a:solidFill>
              <a:srgbClr val="1B8FAE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822960"/>
            <a:ext cx="786384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822960"/>
            <a:ext cx="64008" cy="18288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9144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"컨텍스트 창의 단기 기억을 오프라인으로 반복 처리해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Weight에 내재화하면,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메모리 예산으로 훨씬 깊은 추론이 가능하다."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2514600" cy="59436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추론 / 코드 실행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880360"/>
            <a:ext cx="2514600" cy="59436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홉 지식 추론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880360"/>
            <a:ext cx="2514600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장문맥 Continual 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Phase는 SSM-Transformer 하이브리드 모델 주류화 흐름에서 장문맥 처리 파이프라인의 표준 구성요소가 될 것입니다.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8FAE"/>
          </a:solidFill>
          <a:ln w="12700">
            <a:solidFill>
              <a:srgbClr val="1B8F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37160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828800"/>
            <a:ext cx="3200400" cy="3200400"/>
          </a:xfrm>
          <a:prstGeom prst="ellipse">
            <a:avLst/>
          </a:prstGeom>
          <a:solidFill>
            <a:srgbClr val="1B8FAE">
              <a:alpha val="20000"/>
            </a:srgbClr>
          </a:solidFill>
          <a:ln w="12700">
            <a:solidFill>
              <a:srgbClr val="1B8FA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arxiv.org/abs/2605.26099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B: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openreview.net/forum?id=iiZy6xyVVE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LLM도 잠이 필요하다 — Language Models Need Sleep</dc:title>
  <dc:subject>PptxGenJS Presentation</dc:subject>
  <dc:creator>Research Producer</dc:creator>
  <cp:lastModifiedBy>Research Producer</cp:lastModifiedBy>
  <cp:revision>1</cp:revision>
  <dcterms:created xsi:type="dcterms:W3CDTF">2026-05-27T12:19:07Z</dcterms:created>
  <dcterms:modified xsi:type="dcterms:W3CDTF">2026-05-27T12:19:07Z</dcterms:modified>
</cp:coreProperties>
</file>