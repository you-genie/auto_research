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RAG/에이전틱 시스템의 응답 정확도 평가에서 LLM 판사의 신뢰성을 인간 동의(Cohen's κ) 기반으로 정량화한 Judge's Verdict 논문을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발표는 논문의 기술적 내용을 중심으로 하되, 실무에서 LLM 판사를 어떻게 선택하고 활용할지에 대한 시사점도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1: 문제 배경입니다.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"서울은 대한민국의 수도입니다"와 "대한민국 수도는 서울이에요"는 같은 말이지만 Exact Match 점수는 0입니다. 이런 표면적 지표의 한계가 LLM 판사 등장의 배경입니다.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2: 기존 방식의 한계입니다.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이것이 이 논문의 핵심 동기입니다. 상관관계 r=0.95라는 숫자만 보고 "이 판사는 좋다"고 결론 내리면 안 됩니다. 실제로 같은 점수를 주는지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편향들은 별도 연구들로 증명되었습니다. Zheng et al.(NeurIPS 2024)은 자기선호 편향과 자기인식 능력의 선형 상관관계를, Ye et al.(IJCNLP 2025)은 위치 편향의 10%+ 정확도 변동을 실증했습니다.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3: Judge's Verdict 핵심 기여입니다.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Turing의 이미테이션 게임처럼, LLM을 인간 평가자 그룹에 몰래 섞어서 통계적으로 구분 가능한지 테스트하는 아이디어가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4: 방법론입니다.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구조는 중요합니다. 1단계만으로는 36개가 통과하지만, 실제 동의 기준을 적용하면 27개로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우연 보정이 핵심입니다. 두 평가자가 무작위로 찍어도 어느 정도 일치할 수 있는데, κ는 그 우연 수준을 빼고 실제 동의를 측정합니다.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LLM을 3명의 인간 평가자 그룹에 섞고, 모든 쌍의 κ를 계산합니다. 인간-인간 κ 분포에서 평균과 표준편차를 추출하고, LLM의 κ를 그 분포에 대입해 z-score를 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5: 실험 설계와 핵심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어노테이터 자격 조건이 엄격합니다. 북미 거주, 학사 이상, 해당 도메인 전문 지식, 영어 원어민. 3단계 프로세스(온보딩→350개 파일럿(80% 기준)→본 작업)를 거쳤습니다.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27개 Tier 1 중 23개가 Human-Like, 4개가 Super-Consistent입니다. 상위 모델들이 30B-72B 범위에 집중된 것도 주목할 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세 번째 발견이 미해결 과제입니다. Super-Consistent 모델이 경계 케이스를 더 잘 판단하는 건지, 아니면 단순화하는 건지 아직 모릅니다.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섹션 6: 실무 시사점입니다.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유형 중 어느 것이 더 좋다는 게 아닙니다. 평가 목적과 맥락에 따라 선택해야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첫 번째 항목: 판사를 쓰기 전에 판사 자체를 검증하는 과정을 반드시 거치세요. 상관관계만 보면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논문에서 솔직하게 인정하는 한계들입니다. 특히 Super-Consistent 미해결 문제가 가장 흥미로운 후속 연구 방향입니다.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자료가 공개되어 있어 직접 재현하거나 새 모델을 평가해볼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논문의 가장 중요한 메시지는 단순합니다. LLM 판사를 쓰기 전에 그 판사가 정말 인간처럼 판단하는지 검증하세요. 상관관계 하나로는 충분하지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인간처럼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판단할 수 있을까?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"Judge's Verdict" 논문 완전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246120"/>
            <a:ext cx="5029200" cy="384048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arXiv:2510.09738  |  Han et al. (NVIDIA)  | 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심사 중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0515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10515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24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배경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LLM 판사가 필요한가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931920" cy="10515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73152" cy="10515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방식의 한계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상관관계는 충분하지 않다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931920" cy="10515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20440"/>
            <a:ext cx="73152" cy="10515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593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프레임워크 3가지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3931920" cy="10515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51560"/>
            <a:ext cx="73152" cy="10515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1124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κ와 z-score 판정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10515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73152" cy="10515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&amp; 결과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49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54개 모델 성적표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3931920" cy="10515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20440"/>
            <a:ext cx="73152" cy="10515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3593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시사점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949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언제, 어떻게 쓸 것인가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배경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RAG/Agent 평가의 딜레마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판사가 왜 필요한가?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/ F1 지표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표면 매칭만 측정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포착 불가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"서울" ≠ "대한민국 수도"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평가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신뢰도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비용·시간 과다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불가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1031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MT-Bench 등장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효율적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질문: 신뢰 가능한가?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핵심 질문: 이 LLM 판사를 어떻게 신뢰하나?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방식의 한계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상관관계는 충분하지 않다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상관관계의 함정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7490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피어슨 상관계수 "매우 강함"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749040" cy="10972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05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0.45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 "보통(Moderate)"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10972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3774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방향의 일치만 측정 → 체계적 편향 미검출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0972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1089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동일 판단 비율 측정 → 우연 보정 포함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0972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8404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r=0.95라도 κ=0.45(z=−15.2) 가능 — 상관관계만으로는 부족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판사의 알려진 편향들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유형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1005840"/>
            <a:ext cx="3108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005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실증된 영향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256032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81328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편향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(Position Bias)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1463040"/>
            <a:ext cx="310896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1481328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순서에 따라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변동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481328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평가 10%+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변동 (IJCNLP 2025)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04288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22576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장황함 편향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(Verbosity Bias)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2304288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6392" y="2322576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답변을 더 높게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평가하는 경향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304288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322576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 없는 장문 답변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유리하게 평가됨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45536"/>
            <a:ext cx="256032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163824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자기선호 편향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(Self-Preference)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3145536"/>
            <a:ext cx="310896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36392" y="3163824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자신의 출력을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선호하는 경향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145536"/>
            <a:ext cx="274320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3163824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자기인식 능력과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상관 (NeurIPS 2024)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86784"/>
            <a:ext cx="2560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005072"/>
            <a:ext cx="24140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권위 편향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(Authority Bias)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63240" y="3986784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4005072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출처·포맷에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영향받음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986784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4005072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내용보다 형식에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민감하게 반응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핵심 기여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평가 프레임워크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핵심 기여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6060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 도입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30428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상관관계를 넘어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동의 측정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 보정 포함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인간-인간 κ=0.801 기준선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6060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6060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0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17190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판사를 위한 튜링 테스트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1568" y="230428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LLM을 인간 그룹에 섞어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z-score로 분류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vs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Super-Consistent 구분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0604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26060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60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17190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 벤치마크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304288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54개 모델 동시 평가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공개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데이터셋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GitHub 코드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 와 z-score 판정 시스템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평가 파이프라인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상관관계 필터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≥ 0.80 기준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54개 중 36개 통과 → 18개 탈락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463040"/>
            <a:ext cx="73152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371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6576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Cohen's κ + Turing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4447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36개 중 27개 Tier 1 진입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추가 탈락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2606040" cy="1417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 (18개)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2278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정렬 실패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0.80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55848" y="2651760"/>
            <a:ext cx="260604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5584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1A (23개)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47288" y="32278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&lt;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2651760"/>
            <a:ext cx="2606040" cy="1417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1B (4개)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5936" y="32278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Super-Consistent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27개 모델만이 Tier 1 인간 수준 판사로 인정됨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 이해하기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(P₀ − Pₑ) / (1 − Pₑ)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P₀: 실제 동의 비율   |   Pₑ: 우연에 의한 기대 동의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234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인간-인간 기준선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0.801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20116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05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 – 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87168" y="2450592"/>
            <a:ext cx="6199632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45059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Perfect (거의 완벽)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20116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352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– 0.80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87168" y="2935224"/>
            <a:ext cx="6199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93522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(상당함)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201168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98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 – 0.60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87168" y="3419856"/>
            <a:ext cx="6199632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41985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(보통)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2011680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044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 – 0.40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87168" y="3904488"/>
            <a:ext cx="61996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90448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(약함)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201168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89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87168" y="4389120"/>
            <a:ext cx="6199632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38912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/ Poor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판사를 위한 튜링 테스트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(κ_LLM − μ_human) / σ_human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2606040"/>
          </a:xfrm>
          <a:prstGeom prst="rect">
            <a:avLst/>
          </a:prstGeom>
          <a:solidFill>
            <a:srgbClr val="2E3E8A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65176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&lt; −1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3163824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수준 미달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 수준 불충분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651760" cy="2606040"/>
          </a:xfrm>
          <a:prstGeom prst="rect">
            <a:avLst/>
          </a:prstGeom>
          <a:solidFill>
            <a:srgbClr val="2E3E8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92024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 &lt;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4871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3163824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인간처럼 판단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뉘앙스 보존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23개 모델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651760" cy="2606040"/>
          </a:xfrm>
          <a:prstGeom prst="rect">
            <a:avLst/>
          </a:prstGeom>
          <a:solidFill>
            <a:srgbClr val="2E3E8A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920240"/>
            <a:ext cx="265176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4871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Super-Consistent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7648" y="3163824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초고일관성 판사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경계케이스 단순화?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모델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|z|=1은 Super-Consistent 구분을 유지하는 실용적 최솟값 — 완화하면 두 유형 구분 소실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설계 &amp; 핵심 결과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1,994개 샘플 · 54개 모델 · 5,982개 어노테이션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설계: 1,994개 샘플 · 54개 모델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01168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08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11096" y="1005840"/>
            <a:ext cx="868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11096" y="10058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00584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1005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426464"/>
            <a:ext cx="150876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264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v2.0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11096" y="1426464"/>
            <a:ext cx="86868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14264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16352" y="1426464"/>
            <a:ext cx="137160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62072" y="14264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독해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29384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293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11096" y="1929384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19293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16352" y="192938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19293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멀티홉 추론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432304"/>
            <a:ext cx="150876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323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11096" y="2432304"/>
            <a:ext cx="86868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56816" y="243230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16352" y="2432304"/>
            <a:ext cx="137160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24323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QA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935224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35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TechQA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11096" y="2935224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56816" y="29352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16352" y="29352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62072" y="29352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문서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438144"/>
            <a:ext cx="150876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4381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DC767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911096" y="3438144"/>
            <a:ext cx="86868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56816" y="343814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816352" y="3438144"/>
            <a:ext cx="1371600" cy="457200"/>
          </a:xfrm>
          <a:prstGeom prst="rect">
            <a:avLst/>
          </a:prstGeom>
          <a:solidFill>
            <a:srgbClr val="EE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34381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문서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941064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9410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911096" y="3941064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56816" y="394106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816352" y="394106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62072" y="39410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내부 문서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46320" y="1005840"/>
            <a:ext cx="38404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46320" y="1005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5,982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493776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어노테이션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2377440"/>
            <a:ext cx="38404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46320" y="2377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400" dirty="0"/>
          </a:p>
        </p:txBody>
      </p:sp>
      <p:sp>
        <p:nvSpPr>
          <p:cNvPr id="52" name="Text 50"/>
          <p:cNvSpPr/>
          <p:nvPr/>
        </p:nvSpPr>
        <p:spPr>
          <a:xfrm>
            <a:off x="493776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대상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 오픈소스 + 11 클로즈드)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46320" y="3749040"/>
            <a:ext cx="384048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4632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3400" dirty="0"/>
          </a:p>
        </p:txBody>
      </p:sp>
      <p:sp>
        <p:nvSpPr>
          <p:cNvPr id="55" name="Text 53"/>
          <p:cNvSpPr/>
          <p:nvPr/>
        </p:nvSpPr>
        <p:spPr>
          <a:xfrm>
            <a:off x="4937760" y="4389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합의 Fleiss' κ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결과: 54개 모델 성적표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1A — Human-Like (인간형, 23개)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2377440" cy="320040"/>
          </a:xfrm>
          <a:prstGeom prst="rect">
            <a:avLst/>
          </a:prstGeom>
          <a:solidFill>
            <a:srgbClr val="0D6B62"/>
          </a:solidFill>
          <a:ln w="12700">
            <a:solidFill>
              <a:srgbClr val="0D6B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70632" y="1353312"/>
            <a:ext cx="822960" cy="320040"/>
          </a:xfrm>
          <a:prstGeom prst="rect">
            <a:avLst/>
          </a:prstGeom>
          <a:solidFill>
            <a:srgbClr val="0D6B62"/>
          </a:solidFill>
          <a:ln w="12700">
            <a:solidFill>
              <a:srgbClr val="0D6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13533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1024" y="1353312"/>
            <a:ext cx="777240" cy="320040"/>
          </a:xfrm>
          <a:prstGeom prst="rect">
            <a:avLst/>
          </a:prstGeom>
          <a:solidFill>
            <a:srgbClr val="0D6B62"/>
          </a:solidFill>
          <a:ln w="12700">
            <a:solidFill>
              <a:srgbClr val="0D6B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3533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237744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Qwen3-30B-A3B-Instruct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0632" y="1691640"/>
            <a:ext cx="82296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691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21024" y="1691640"/>
            <a:ext cx="77724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16916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103120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103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Qwen2.5-72B-Instruct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70632" y="210312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21031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21024" y="210312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21031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514600"/>
            <a:ext cx="237744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14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Gemini-2.5-Flash-Lite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70632" y="2514600"/>
            <a:ext cx="82296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2514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21024" y="2514600"/>
            <a:ext cx="77724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25146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2926080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Llama-3.3-70B-Instruct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70632" y="292608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2926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21024" y="292608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66744" y="29260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337560"/>
            <a:ext cx="237744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Nvidia-Llama-3.3-Nemotron-Super-49b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70632" y="3337560"/>
            <a:ext cx="82296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16352" y="3337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21024" y="3337560"/>
            <a:ext cx="777240" cy="384048"/>
          </a:xfrm>
          <a:prstGeom prst="rect">
            <a:avLst/>
          </a:prstGeom>
          <a:solidFill>
            <a:srgbClr val="E6F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66744" y="33375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987552"/>
            <a:ext cx="4023360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1B — Super-Consistent (초일관, 4개)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663440" y="1353312"/>
            <a:ext cx="2377440" cy="320040"/>
          </a:xfrm>
          <a:prstGeom prst="rect">
            <a:avLst/>
          </a:prstGeom>
          <a:solidFill>
            <a:srgbClr val="C0304F"/>
          </a:solidFill>
          <a:ln w="12700">
            <a:solidFill>
              <a:srgbClr val="C030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1353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68312" y="1353312"/>
            <a:ext cx="822960" cy="320040"/>
          </a:xfrm>
          <a:prstGeom prst="rect">
            <a:avLst/>
          </a:prstGeom>
          <a:solidFill>
            <a:srgbClr val="C0304F"/>
          </a:solidFill>
          <a:ln w="12700">
            <a:solidFill>
              <a:srgbClr val="C030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68312" y="13533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18704" y="1353312"/>
            <a:ext cx="777240" cy="320040"/>
          </a:xfrm>
          <a:prstGeom prst="rect">
            <a:avLst/>
          </a:prstGeom>
          <a:solidFill>
            <a:srgbClr val="C0304F"/>
          </a:solidFill>
          <a:ln w="12700">
            <a:solidFill>
              <a:srgbClr val="C030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18704" y="13533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1691640"/>
            <a:ext cx="2377440" cy="384048"/>
          </a:xfrm>
          <a:prstGeom prst="rect">
            <a:avLst/>
          </a:prstGeom>
          <a:solidFill>
            <a:srgbClr val="FFF0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Mixtral-8x22b-instruct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68312" y="1691640"/>
            <a:ext cx="822960" cy="384048"/>
          </a:xfrm>
          <a:prstGeom prst="rect">
            <a:avLst/>
          </a:prstGeom>
          <a:solidFill>
            <a:srgbClr val="FFF0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1691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918704" y="1691640"/>
            <a:ext cx="777240" cy="384048"/>
          </a:xfrm>
          <a:prstGeom prst="rect">
            <a:avLst/>
          </a:prstGeom>
          <a:solidFill>
            <a:srgbClr val="FFF0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64424" y="16916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+1.45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63440" y="2103120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2103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Meta-Llama-3-70B-Instruct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068312" y="210312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4032" y="21031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918704" y="210312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64424" y="21031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+1.43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63440" y="2514600"/>
            <a:ext cx="2377440" cy="384048"/>
          </a:xfrm>
          <a:prstGeom prst="rect">
            <a:avLst/>
          </a:prstGeom>
          <a:solidFill>
            <a:srgbClr val="FFF0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2514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Gemma-3-27b-it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68312" y="2514600"/>
            <a:ext cx="822960" cy="384048"/>
          </a:xfrm>
          <a:prstGeom prst="rect">
            <a:avLst/>
          </a:prstGeom>
          <a:solidFill>
            <a:srgbClr val="FFF0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14032" y="2514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918704" y="2514600"/>
            <a:ext cx="777240" cy="384048"/>
          </a:xfrm>
          <a:prstGeom prst="rect">
            <a:avLst/>
          </a:prstGeom>
          <a:solidFill>
            <a:srgbClr val="FFF0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64424" y="25146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663440" y="2926080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Bagel-34b-v0.2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068312" y="292608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14032" y="2926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0.804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918704" y="2926080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64424" y="29260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+1.01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65760" y="3749040"/>
            <a:ext cx="83210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37490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인간-인간 기준선 κ = 0.801 (Almost Perfect 하한) · 30B~72B 파라미터 모델이 상위권 석권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핵심 발견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321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73152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078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 ≠ 판사 성능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5361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30B~72B 범위 모델이 상위권 독식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아키텍처·훈련 전략이 결정적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Lite ≈ 대형 오픈소스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321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59152"/>
            <a:ext cx="73152" cy="1234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상관관계의 함정 실재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88950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r=0.95라도 κ=0.45(z=−15.2) 가능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편향은 상관관계로 미검출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상관관계는 시작점, κ가 진짜 기준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832104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12464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12464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37856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vs Super-Consistent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242816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유형은 트레이드오프 관계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Super-Consistent가 항상 더 나은 건 아님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맥락에 맞는 판사 선택이 핵심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시사점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언제, 어떻게 LLM 판사를 쓸 것인가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판사 유형별 사용 가이드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판사 (Tier 1A)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18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리뷰어 대체/보조 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258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케이스 뉘앙스 보존 필요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898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판사 결과를 사람에게 설명 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538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감성·의도 평가가 포함된 태스크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Qwen2.5-72B, Llama-3.3-70B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148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05840"/>
            <a:ext cx="411480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Super-Consistent 판사 (Tier 1B)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1618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평가에서 높은 재현성 필요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292608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258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정답/오답이 있는 태스크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292608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2898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테스트·실험 비교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3520440"/>
            <a:ext cx="292608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3538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일관된 기준이 최우선일 때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754880" y="4160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Mixtral-8x22b, Meta-Llama-3-70B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판사 도입 체크리스트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384048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078992"/>
            <a:ext cx="7772400" cy="59436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0789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판사 자체를 Cohen's κ로 검증했나?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0789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상관관계만으로는 부족 — κ+z-score 필수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384048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47088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1847088"/>
            <a:ext cx="7772400" cy="59436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용도에 맞는 판사 유형 선택했나?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18470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vs Super-Consistent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384048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1518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615184"/>
            <a:ext cx="7772400" cy="59436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61518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커버리지 검토했나?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61518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벤치마크는 영어/북미 편향 존재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384048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8328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3383280"/>
            <a:ext cx="7772400" cy="59436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383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충분한 샘플 크기 확보했나?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383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수백 개 이상 권장 (κ 안정성)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384048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5137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" y="4151376"/>
            <a:ext cx="7772400" cy="59436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15137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위치·장황함·자기선호 편향 별도 점검 완료?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415137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판사 검증과 편향 점검은 별개의 작업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한계와 남은 과제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078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편향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1463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영어/북미 도메인에 한정 — 의료·법률·다국어·멀티모달 미검증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3134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어노테이터 다양성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" y="2697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 북미 출신 → 문화적·지역적 다양성 부족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3547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Super-Consistent 미해결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2688" y="39319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케이스 개선인가, 단순화인가? → 통제 실험 필요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00584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05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67528" y="1078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판사 개발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67528" y="14630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30B+ 중심 → 4B~8B 경량 fine-tuning이 다음 목표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2402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24028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40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67528" y="23134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시간적 안정성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367528" y="2697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업데이트 시 판사 성능 변동 → 주기적 재평가 필요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자료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| arXiv:2510.09738 | Han et al. (NVIDIA) 2025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60020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612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논문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arXiv:2510.09738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심사 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160020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1612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 데이터셋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nvidia/judges-verdict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31920" cy="160020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코드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nvidia/judges-verdict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2834640"/>
            <a:ext cx="3931920" cy="1600200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리더보드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오픈소스/클로즈드 별도 랭킹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321040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상관관계는 시작점, Cohen's κ가 진짜 기준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84048" cy="475488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865376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54개 LLM 중 27개만이 인간 수준의 판사로 인정됨 (50%)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384048" cy="475488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4203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57860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Human-Like(23개)와 Super-Consistent(4개)는 목적이 다름 — 맥락에 맞게 선택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255264"/>
            <a:ext cx="384048" cy="475488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5526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29184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크기보다 훈련 전략이 중요 (30B~72B 범위가 상위권)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3968496"/>
            <a:ext cx="384048" cy="475488"/>
          </a:xfrm>
          <a:prstGeom prst="rect">
            <a:avLst/>
          </a:prstGeom>
          <a:solidFill>
            <a:srgbClr val="2E3E8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6849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005072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판사 도입 전 반드시 인간 동의 기반 검증 필수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2423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Verdict  |  arXiv:2510.09738  |  Han et al. (NVIDIA) 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611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huggingface.co/datasets/nvidia/judges-verdict  |  Code: github.com/nvidia/judges-verdict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Judge's Verdict — LLM Judge Capability Analysis</dc:title>
  <dc:subject>PptxGenJS Presentation</dc:subject>
  <dc:creator>PptxGenJS</dc:creator>
  <cp:lastModifiedBy>PptxGenJS</cp:lastModifiedBy>
  <cp:revision>1</cp:revision>
  <dcterms:created xsi:type="dcterms:W3CDTF">2026-06-23T11:49:54Z</dcterms:created>
  <dcterms:modified xsi:type="dcterms:W3CDTF">2026-06-23T11:49:54Z</dcterms:modified>
</cp:coreProperties>
</file>