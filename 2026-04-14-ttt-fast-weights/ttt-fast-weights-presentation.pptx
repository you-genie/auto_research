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Time Training은 추론 시점에 모델 파라미터를 업데이트하는 새로운 패러다임입니다.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약 30-40분 분량입니다.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Transformer와 RNN의 근본적인 트레이드오프를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O(n²) 복잡도가 핵심 병목입니다.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고정 크기 히든 스테이트의 표현력 한계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TTT의 핵심 직관TTT의 핵심 직관: RNN의 히든 스테이트를 단순한 벡터 대신 학습 능력이 있는 작은 모델로 교체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Weights 개념의 역사를 따라가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Hinton 1987 → TTT 2024Fast Weights는 Hinton이 1987년에 제안한 개념입니다. TTT는 이 아이디어의 현대적 실현입니다.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가중치의 역할 분담Ba et al. (2016): Fast Weights는 최근 과거의 임시 메모리 역할. TTT에서는 이를 테스트 시점까지 확장합니다.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TTT 레이어의 구체적인 작동 방식을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혁신: 히든 스테이트를 벡터에서 가중치 행렬로TTT의 핵심 혁신: 히든 스테이트 h_t를 단순 벡터 대신 가중치 행렬 W_t로 표현. 업데이트 규칙도 경사하강법.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자기지도학습 손실함수의 구조자기지도 과제는 한 뷰(θ_K·x_t)에서 다른 뷰(θ_V·x_t)를 재구성하는 것. 세 프로젝션은 외부 루프에서 최적화됩니다.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메타러닝과 유사한 구조이중 루프 구조는 MAML과 개념적으로 유사합니다. 외부 루프가 '어떻게 빠르게 적응할지'를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5배+ 속도 향상의 비결듀얼 폼은 중간 가중치 W_t를 명시적으로 계산하지 않고도 출력을 도출합니다. 표준 matmul로 구현 가능하며 5배+ 속도 향상.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구체적인 TTT 레이어 구현과 실험 결과를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내부 모델 구현TTT-Linear는 계산 효율이 높고 TTT-MLP는 표현력이 뛰어납니다. TTT-MLP가 긴 컨텍스트에서 더 큰 이점을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 Sun et al. (2024) — Perplexity 비교가장 중요한 발견: Mamba는 16K 컨텍스트 이후 perplexity 개선이 멈추지만 TTT 레이어는 Transformer처럼 계속 향상됩니다.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구글 딥마인드에서 발표한 Titans와 이후의 연구 흐름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인간의 기억 체계를 모방한 설계Titans는 인간의 기억 체계에서 영감. Long-Term Memory 모듈이 TTT 메커니즘으로 추론 시에도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Behrouz, Zhong, Mirrokni — Google DeepMind, 2025Titans의 핵심 혁신: 선택적 업데이트. 서프라이즈가 낮은 정보는 장기 메모리에 다시 저장하지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Tandon, Dalal, Li et al. (2025)  |  arXiv:2512.23675E2E-TTT는 학습 목표와 테스트 목표의 불일치 문제를 해결합니다. 3B 파라미터 기준 수치.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Test-Time Training Done Right  |  ICLR 2026  |  arXiv:2505.23884LaCT의 핵심: 청크 크기를 대폭 늘려 GPU 병렬화를 극대화. 청크 내 토큰은 순서 없는 집합으로 취급.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TTT를 다른 아키텍처들과 비교하고 전체 생태계를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vs. Mamba vs. TTTTTT는 Transformer의 긴 컨텍스트 표현력과 RNN의 선형 복잡도를 동시에 달성하는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Weight 프레임워크의 통합적 시각TTT 논문: 선형 어텐션과 Self-Attention이 TTT의 특수 케이스임을 수학적으로 증명했습니다.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 아키텍처 계보DeltaNet 계열과 TTT 계열이 각각 발전하면서 하이브리드 아키텍처로 수렴하는 경향이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TTT의 현재 한계와 앞으로의 연구 방향을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기술적·실용적 한계TTT의 가장 큰 실용적 한계는 GPU 효율성입니다. LaCT가 상당 부분 해결했지만 추가 엔지니어링이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4가지 핵심 방향E2E-TTT 연구팀: "연구 커뮤니티가 2026년에 긴 컨텍스트 문제의 기본적인 해법에 도달할 수 있을 것"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TTT는 추론과 학습의 경계를 허물고, AI 모델이 새로운 정보를 접할 때마다 능동적으로 적응하는 방향을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받겠습니다. 기술 세부 사항, 구현 관련 질문, 특정 논문에 대한 심층 논의를 원하시면 편하게 질문해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560320"/>
            <a:ext cx="2743200" cy="2743200"/>
          </a:xfrm>
          <a:prstGeom prst="ellipse">
            <a:avLst/>
          </a:prstGeom>
          <a:solidFill>
            <a:srgbClr val="1F4E79">
              <a:alpha val="4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Time Training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Fast Weights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추론할 때도 배우는 AI: TTT의 개념부터 최신 연구까지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5029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Research  |  2026-04-14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960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패러다임의 한계 — Train vs. Test 분리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Weights의 역사 — Hinton 1987 → 2016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88036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핵심 메커니즘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84048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840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TTT-Linear &amp; TTT-MLP (Yu Sun et al., 2024)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96012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3520" y="9601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Titans: 구글의 장기 메모리 (2025)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192024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1920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E2E-TTT &amp; LaCT: 효율화 연구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288036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2880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vs. Transformer 비교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54880" y="3840480"/>
            <a:ext cx="47548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03520" y="3840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향후 전망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 왜 TTT인가?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패러다임의 한계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강력하지만 비싸다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3840480" cy="3017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14400"/>
            <a:ext cx="384048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371600"/>
            <a:ext cx="3621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 표현력 탁월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 의존성 포착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학습 가능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914400"/>
            <a:ext cx="3840480" cy="3017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914400"/>
            <a:ext cx="3840480" cy="38404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0288" y="1371600"/>
            <a:ext cx="3621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복잡도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선형 증가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토큰 → 사실상 불가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4160520"/>
            <a:ext cx="8001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416052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2배 → 연산량 4배 (O(n²))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RNN/Mamba: 빠르지만 '기억력'이 나쁘다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3840480" cy="3017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14400"/>
            <a:ext cx="384048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371600"/>
            <a:ext cx="3621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선형 복잡도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메모리 크기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추론 속도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914400"/>
            <a:ext cx="3840480" cy="3017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914400"/>
            <a:ext cx="3840480" cy="38404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9144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0288" y="1371600"/>
            <a:ext cx="3621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히든 스테이트 = 고정 크기 벡터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16K+ 토큰에서 성능 정체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압축 손실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4160520"/>
            <a:ext cx="80010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416052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Mamba: 16K 토큰 이후 Perplexity 개선 정체 (Yu Sun et al., 2024)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TTT의 목표: 두 마리 토끼 잡기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2743200" cy="2011680"/>
          </a:xfrm>
          <a:prstGeom prst="rect">
            <a:avLst/>
          </a:prstGeom>
          <a:solidFill>
            <a:srgbClr val="1B3A5C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9601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선형 복잡도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메모리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80760" y="960120"/>
            <a:ext cx="2743200" cy="2011680"/>
          </a:xfrm>
          <a:prstGeom prst="rect">
            <a:avLst/>
          </a:prstGeom>
          <a:solidFill>
            <a:srgbClr val="1B3A5C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9601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 표현력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복잡도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063240" y="1920240"/>
            <a:ext cx="6400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40680" y="1920240"/>
            <a:ext cx="6400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960120"/>
            <a:ext cx="1737360" cy="2011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03320" y="96012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0040" y="3246120"/>
            <a:ext cx="8503920" cy="822960"/>
          </a:xfrm>
          <a:prstGeom prst="rect">
            <a:avLst/>
          </a:prstGeom>
          <a:solidFill>
            <a:srgbClr val="0D213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32461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"히든 스테이트 자체를 학습 모델로 만들어라"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복잡도  +  높은 표현력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2. Fast Weights의 역사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1987년부터 이어진 아이디어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Weights: 35년의 여정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417320" y="1005840"/>
            <a:ext cx="36576" cy="37490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15568" y="1005840"/>
            <a:ext cx="640080" cy="64008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&amp; Plaut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1325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Fast Weights to Deblur Old Memories"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vs. Fast weights 개념 제안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생물학적 시냅스 다중 시간 스케일에서 착안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17320" y="1005840"/>
            <a:ext cx="36576" cy="37490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5568" y="1965960"/>
            <a:ext cx="640080" cy="6400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2024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Hinton et al.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20240" y="2286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Fast Weights to Attend to the Recent Past"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딥러닝에 Fast Weights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과거 임시 메모리로 활용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417320" y="1005840"/>
            <a:ext cx="36576" cy="37490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15568" y="292608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920240" y="2926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DeltaNet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92024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델타 규칙으로 선택적 키-밸류 업데이트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 관점의 선형 어텐션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417320" y="1005840"/>
            <a:ext cx="36576" cy="374904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15568" y="3886200"/>
            <a:ext cx="640080" cy="6400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20240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Layer (Yu Sun)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920240" y="4206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자기지도학습으로 추론 시 실시간 Fast Weight 업데이트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TTT-Linear &amp; TTT-MLP 제안 (ICML 2025)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Weights vs. Fast Weights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384048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60120"/>
            <a:ext cx="384048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9601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Weights (일반 가중치)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417320"/>
            <a:ext cx="3621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훈련 데이터로 학습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천천히, 드물게 업데이트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 지식 저장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후 고정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83480" y="960120"/>
            <a:ext cx="384048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960120"/>
            <a:ext cx="384048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9601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Weights (빠른 가중치)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93208" y="1417320"/>
            <a:ext cx="362102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최근/현재 데이터로 업데이트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빠르게, 자주 변화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기억 저장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시에도 업데이트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87952" y="19202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= "테스트 시퀀스 자체가 Fast Weight 업데이트의 데이터"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3. TTT의 핵심 메커니즘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히든 스테이트가 학습한다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Layer: 히든 스테이트 = ML 모델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3840480" cy="3200400"/>
          </a:xfrm>
          <a:prstGeom prst="rect">
            <a:avLst/>
          </a:prstGeom>
          <a:solidFill>
            <a:srgbClr val="E8EEF4"/>
          </a:solidFill>
          <a:ln w="19050">
            <a:solidFill>
              <a:srgbClr val="CF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960120"/>
            <a:ext cx="384048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RNN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σ(W · h_{t-1} + U · x_t)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히든 스테이트 = </a:t>
            </a:r>
            <a:pPr algn="ctr" indent="0" marL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크기 벡터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업데이트 규칙: 손으로 설계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표현력 제한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83480" y="960120"/>
            <a:ext cx="3840480" cy="3200400"/>
          </a:xfrm>
          <a:prstGeom prst="rect">
            <a:avLst/>
          </a:prstGeom>
          <a:solidFill>
            <a:srgbClr val="0D2137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960120"/>
            <a:ext cx="384048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Layer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W_t = W_{t-1} - η·∇ℓ(W_{t-1}; x_t)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= f(x_t; W_t)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7492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히든 스테이트 = </a:t>
            </a:r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모델 W_t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063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업데이트 규칙: 경사하강법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표현력: 내부 모델에 따라 확장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학습하는가? 멀티뷰 재구성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14400" y="1005840"/>
            <a:ext cx="7315200" cy="777240"/>
          </a:xfrm>
          <a:prstGeom prst="rect">
            <a:avLst/>
          </a:prstGeom>
          <a:solidFill>
            <a:srgbClr val="0D213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ℓ(W; x_t)  =  ||f(θ_K · x_t; W)  −  θ_V · x_t||²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" y="2011680"/>
            <a:ext cx="274320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011680"/>
            <a:ext cx="2743200" cy="4114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θ_K  —  키 뷰 (입력)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487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모델에 입력되는 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 최적화됨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2011680"/>
            <a:ext cx="274320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011680"/>
            <a:ext cx="27432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θ_V  —  밸류 뷰 (타겟)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91840" y="2487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 대상 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루프에서 학습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2011680"/>
            <a:ext cx="274320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2011680"/>
            <a:ext cx="2743200" cy="4114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θ_Q  —  쿼리 뷰 (예측)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72200" y="2487168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출력 예측에 사용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태스크와 연결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θ_K, θ_V, θ_Q는 외부 루프에서 학습됨 → 재구성 과제 자체도 학습!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루프(Bilevel) 최적화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8046720" cy="1417320"/>
          </a:xfrm>
          <a:prstGeom prst="rect">
            <a:avLst/>
          </a:prstGeom>
          <a:solidFill>
            <a:srgbClr val="1B3A5C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005840"/>
            <a:ext cx="80467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005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루프 (Outer Loop)  —  학습 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4447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다음 토큰 예측 손실로 θ_K, θ_V, θ_Q 등 최적화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내부 루프의 '자기지도 과제'가 언어 모델링에 도움이 되도록 정렬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실행 시 초기화  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8046720" cy="1417320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971800"/>
            <a:ext cx="804672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9718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루프 (Inner Loop)  —  추론 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41071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자기지도 손실로 W_t 업데이트 (경사하강법)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각 토큰마다 실행 → 현재 시퀀스에 적응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최적화: 미니배치 + 듀얼 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38404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60120"/>
            <a:ext cx="3840480" cy="38404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9601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순수 온라인 TTT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417320"/>
            <a:ext cx="36210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하나씩 순차 처리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병렬화 불가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극도로 느림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83480" y="960120"/>
            <a:ext cx="384048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960120"/>
            <a:ext cx="384048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96012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미니배치 TTT (b=16)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93208" y="1417320"/>
            <a:ext cx="362102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토큰을 묶어 병렬 처리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폼으로 중간 계산 생략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5배+ 속도 향상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3192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solidFill>
            <a:srgbClr val="0D213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4904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이론: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TTT-Linear (배치 GD) = 선형 어텐션     |     Nadaraya-Watson TTT = Self-Attention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4. TTT-Linear &amp; TTT-MLP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Sun et al., ICML 2025  |  arXiv:2407.04620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TTT-Linear vs. TTT-MLP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3931920" cy="3840480"/>
          </a:xfrm>
          <a:prstGeom prst="rect">
            <a:avLst/>
          </a:prstGeom>
          <a:solidFill>
            <a:srgbClr val="0D2137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60120"/>
            <a:ext cx="3931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TTT-Linear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W · x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모델 = 선형 변환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비용 낮음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어텐션과 수학적 동치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우선 선택지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960120"/>
            <a:ext cx="3931920" cy="38404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960120"/>
            <a:ext cx="3931920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TTT-MLP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W2·gelu(W1·x)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21945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모델 = 2층 MLP (4배 확장)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+ 잔차 연결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표현력 훨씬 높음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I/O 병목 존재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결과: 125M ~ 1.3B 파라미터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컨텍스트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TTT-Linear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TTT-MLP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경쟁력 있음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경쟁력 있음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Mamba 초과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6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6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정체 시작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Transformer와 동등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6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초과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정체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F4E79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0292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Mamba는 16K 이후 perplexity 개선이 정체되지만, TTT는 32K+에서도 계속 향상 (Transformer와 유사)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5. Titans &amp; 최신 연구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 |  arXiv:2501.00663  |  2025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Titans: 3가지 메모리 모듈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274320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60120"/>
            <a:ext cx="274320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960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(단기 기억)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69164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윈도우 어텐션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컨텍스트 포착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의존성 모델링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74320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60120"/>
            <a:ext cx="27432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960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(장기 기억)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10128" y="169164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기반 파라미터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타임 학습 (TTT)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정보 선택적 저장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0760" y="960120"/>
            <a:ext cx="2743200" cy="2926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960120"/>
            <a:ext cx="2743200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960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(영구 지식)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0488" y="1691640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가능한 파라미터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지식 인코딩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4114800"/>
            <a:ext cx="850392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0040" y="41148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기억 체계(작업 기억 · 장기 기억 · 의미 기억)에서 영감  |  2M+ 토큰 컨텍스트 처리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Titans: 2M 토큰 컨텍스트 처리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1480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137160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모델링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Transformer·선형 순환 모델 초과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137160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Needle-in-Haystack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토큰에서 높은 정확도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194560"/>
            <a:ext cx="411480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194560"/>
            <a:ext cx="13716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게놈학(Genomics)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2651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DNA 시퀀스 처리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194560"/>
            <a:ext cx="4114800" cy="1005840"/>
          </a:xfrm>
          <a:prstGeom prst="rect">
            <a:avLst/>
          </a:prstGeom>
          <a:solidFill>
            <a:srgbClr val="F0F4F8"/>
          </a:solidFill>
          <a:ln w="254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194560"/>
            <a:ext cx="137160" cy="10058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시계열(Time Series)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2651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패턴 포착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3566160"/>
            <a:ext cx="8503920" cy="1280160"/>
          </a:xfrm>
          <a:prstGeom prst="rect">
            <a:avLst/>
          </a:prstGeom>
          <a:solidFill>
            <a:srgbClr val="0D2137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356616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 업데이트: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"새롭고 중요한 정보만" 장기 메모리에 저장 → 이미 아는 것은 재저장 안 함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TTT: 완전한 목표 정렬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840480" cy="2286000"/>
          </a:xfrm>
          <a:prstGeom prst="rect">
            <a:avLst/>
          </a:prstGeom>
          <a:solidFill>
            <a:srgbClr val="E8EEF4"/>
          </a:solidFill>
          <a:ln w="19050">
            <a:solidFill>
              <a:srgbClr val="CF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TTT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자기지도 목표 = 멀티뷰 재구성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목표 = 다음 토큰 예측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두 목표가 간접 연결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983480" y="1005840"/>
            <a:ext cx="3840480" cy="2286000"/>
          </a:xfrm>
          <a:prstGeom prst="rect">
            <a:avLst/>
          </a:prstGeom>
          <a:solidFill>
            <a:srgbClr val="0D2137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E2E-TTT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1508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자기지도 목표 = 다음 토큰 예측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목표 = 다음 토큰 예측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완전한 엔드-투-엔드 정렬!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520440"/>
            <a:ext cx="2743200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2.7×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2004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컨텍스트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어텐션 대비 빠름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0" y="3520440"/>
            <a:ext cx="2743200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0040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35×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컨텍스트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어텐션 대비 빠름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80760" y="3520440"/>
            <a:ext cx="2743200" cy="1325880"/>
          </a:xfrm>
          <a:prstGeom prst="rect">
            <a:avLst/>
          </a:prstGeom>
          <a:solidFill>
            <a:srgbClr val="1B3A5C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8076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08076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 어텐션 Transformer 대비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LaCT: GPU 활용률 5% → 70%+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3840480" cy="2194560"/>
          </a:xfrm>
          <a:prstGeom prst="rect">
            <a:avLst/>
          </a:prstGeom>
          <a:solidFill>
            <a:srgbClr val="E8EEF4"/>
          </a:solidFill>
          <a:ln w="25400">
            <a:solidFill>
              <a:srgbClr val="FF6F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기존 TTT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08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크기: 16~64 토큰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활용률: &lt;5%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배치 → 병렬화 불가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983480" y="1005840"/>
            <a:ext cx="3840480" cy="219456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LaCT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15087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크기: 2,048 ~ 1,048,576 토큰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활용률: &gt;70% (A100)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의존성 → 윈도우 어텐션 보완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429000"/>
            <a:ext cx="850392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" y="3474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도메인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88620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모델링  |  자동회귀 비디오 생성 (14B 파라미터)  |  Novel View Synthesis (1M+ 컨텍스트)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6. 비교 분석 &amp; 생태계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TTT, Transformer, 관련 아키텍처들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종합 비교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Mamba (RNN)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TTT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히든 스테이트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(n 비례)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 크기 벡터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모델 W_t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컨텍스트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뛰어남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16K+ 정체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계속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메모리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n에 비례 증가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활용률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 (최적화됨)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개선 중 (LaCT 70%+)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생태계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성숙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성장 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TTT는 아키텍처들을 통합한다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프레임워크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691640" y="1737360"/>
            <a:ext cx="2423160" cy="54864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737360"/>
            <a:ext cx="0" cy="45720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2468880" cy="54864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2286000"/>
            <a:ext cx="27432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286000"/>
            <a:ext cx="27432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내부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배치 GD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어텐션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(수학적 동치)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0" y="2286000"/>
            <a:ext cx="27432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학습기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(NW estimator)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(수학적 동치)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80760" y="2286000"/>
            <a:ext cx="27432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2286000"/>
            <a:ext cx="274320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내부 모델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2788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(새로운 영역)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Transformer도 TTT의 특수 케이스 → 더 강력한 내부 모델 = 더 강력한 시퀀스 모델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Weights 생태계 (2024–2025)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474720" y="1005840"/>
            <a:ext cx="219456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Weights 계열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2011680"/>
            <a:ext cx="2468880" cy="5486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DeltaNet (2021)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델타 규칙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880360"/>
            <a:ext cx="246888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GatedDeltaNet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2025 (NVLabs)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011680"/>
            <a:ext cx="246888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375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 Layer (2024)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Sun et 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45920" y="2880360"/>
            <a:ext cx="2011680" cy="5943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4592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2025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86200" y="2880360"/>
            <a:ext cx="201168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88620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E2E-TTT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2880360"/>
            <a:ext cx="2011680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2880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0" y="2011680"/>
            <a:ext cx="2377440" cy="5486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HGRN2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순환 하이브리드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77440"/>
            <a:ext cx="32004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7. 한계와 전망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넘어야 할 산, 그리고 기회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TTT가 넘어야 할 과제들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4114800" cy="38404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005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비효율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1463040"/>
            <a:ext cx="38953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구현 GPU 활용률 &lt;5%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LaCT로 개선 중이나 Transformer 수준 미달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CUDA 커널 부재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411480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00584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복잡성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18888" y="1463040"/>
            <a:ext cx="38953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루프 최적화 (Bilevel)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조정 까다로움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메타러닝 학습 비용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971800"/>
            <a:ext cx="41148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" y="297180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대역폭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9768" y="3429000"/>
            <a:ext cx="38953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TTT-MLP: W_t 읽기/쓰기 HBM 집약적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모델이 클수록 병목 심화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 HBM 필수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18888" y="297180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미성숙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18888" y="3429000"/>
            <a:ext cx="38953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모델 부족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벤치마크 비교 부족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대비 라이브러리 미비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이후: TTT의 미래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114800" cy="1783080"/>
          </a:xfrm>
          <a:prstGeom prst="rect">
            <a:avLst/>
          </a:prstGeom>
          <a:solidFill>
            <a:srgbClr val="0D2137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548640" cy="1783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10058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아키텍처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16002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TTT 레이어 혼합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단기: 로컬 어텐션 / 장기: TTT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14800" cy="178308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548640" cy="1783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00584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49240" y="10058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TTT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49240" y="160020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언어·비디오·3D 통합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LaCT가 가능성 입증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0D2137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971800"/>
            <a:ext cx="548640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97180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60120" y="2971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하드웨어 최적화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0120" y="3566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커널, FlashTTT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인식 청크 전략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2971800"/>
            <a:ext cx="4114800" cy="1783080"/>
          </a:xfrm>
          <a:prstGeom prst="rect">
            <a:avLst/>
          </a:prstGeom>
          <a:solidFill>
            <a:srgbClr val="0D2137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971800"/>
            <a:ext cx="548640" cy="178308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2971800"/>
            <a:ext cx="548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49240" y="2971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컨텍스트의 해법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49240" y="3566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"2026년에 기본 해법 도달 가능"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E2E-TTT 연구팀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정리: TTT가 중요한 이유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패러다임 전환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9601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분리 → 연속적 학습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 통합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7373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Transformer·RNN·선형 어텐션을 하나의 프레임워크로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가능성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E2E-TTT: 35배 속도(2M ctx)  |  LaCT: GPU 70%+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미성숙하지만 유망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3291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부족, 그러나 빠르게 성장 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hidden state is a machine learning model itself, and the update rule a step of self-supervised learning."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Yu Sun et al., 2024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 |  참고 문헌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8321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Sun et al. (2024). TTT Layers. arXiv:2407.04620  (ICML 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Behrouz, Zhong, Mirrokni (2025). Titans. arXiv:2501.00663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Tandon et al. (2025). E2E-TTT. arXiv:2512.23675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(2025). LaCT / TTT Done Right. arXiv:2505.23884  (ICLR 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Ba, Hinton et al. (2016). Fast Weights. arXiv:1610.06258  (NeurIPS 2016)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&amp; Plaut (1987). Fast Weights. CogSci 1987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(2024). GatedDeltaNet. arXiv:2412.06464  (ICLR 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et al. (2023). TTT on Video Streams. arXiv:2307.05014  (JMLR 2024)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test-time-training.github.io  |  Auto Research 2026-04-14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Time Training &amp; Fast Weights</dc:title>
  <dc:subject>PptxGenJS Presentation</dc:subject>
  <dc:creator>Auto Research</dc:creator>
  <cp:lastModifiedBy>Auto Research</cp:lastModifiedBy>
  <cp:revision>1</cp:revision>
  <dcterms:created xsi:type="dcterms:W3CDTF">2026-04-14T11:59:19Z</dcterms:created>
  <dcterms:modified xsi:type="dcterms:W3CDTF">2026-04-14T11:59:19Z</dcterms:modified>
</cp:coreProperties>
</file>