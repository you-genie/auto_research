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Google이 2025년 11월 발표한 에이전트 우선 개발 플랫폼 Antigravity를 종합 분석합니다. 발표 배경, 아키텍처, 경쟁 비교, 보안 이슈, 사용자 반응까지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총 11개 주제를 순서대로 다루며, 특히 벤치마크 신뢰성, 보안 사고, 커뮤니티 반발에 비판적 시각을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Antigravity는 단순한 코드 완성 도구가 아니라, 계획 수립부터 터미널 실행, 브라우저 UI 테스트까지 자율로 수행하는 에이전트 플랫폼입니다. VS Code를 헤비하게 포크하여 에이전트 오케스트레이션을 중심에 놓았습니다.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불과 6개월 만에 v1.0에서 2.0으로 빠르게 진화했습니다. 하지만 Gemini CLI 오픈소스 종료와 클로즈드 소스 Antigravity CLI로의 강제 전환은 개발자 커뮤니티에서 강한 반발을 일으켰습니다.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Antigravity는 병렬 에이전트와 브라우저 통합에서 독보적이나, 안정성과 엔터프라이즈 컴플라이언스에서는 아직 Cursor와 Claude Code에 뒤처집니다.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4개 서비스 표면이 동일한 Agent Harness를 공유합니다. Gemini 3.5 Flash는 Antigravity 자체로 훈련된 모델로, Gemini 3.1 Pro 대비 거의 모든 벤치마크에서 우수하고 4배 빠릅니다.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Artifacts 시스템이 핵심입니다. 에이전트가 투명하게 작업 결과물을 남기고, 개발자는 에이전트를 멈추지 않고 Google Docs 스타일로 코멘트만 달면 에이전트가 반영합니다.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Google이 직접 발표한 수치로 독립 재현 검증이 부족합니다. 특히 Antigravity 2.0의 기본 모델인 Gemini 3.5 Flash의 SWE-bench 점수가 아직 공식 발표되지 않은 점은 눈여겨봐야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무료 프리뷰 기간이 끝나면 유료 전환 가능성이 있습니다. 토큰 제한이 5시간마다 걸려서 병렬 에이전트를 제대로 쓰려면 AI Ultra($100/월)가 사실상 필수입니다. Claude Code Pro($17)와 비교하면 약 6배 차이입니다.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출시 당일 자동 업데이트로 코드 에디터, 터미널, 파일 탐색기가 모두 사라진 사건은 제품 성숙도에 대한 큰 의문을 남겼습니다. 한국 커뮤니티는 전반적으로 긍정적이나, 실무 도입은 시기상조라는 평이 많습니다.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에이전트형 도구는 기존 IDE보다 공격 표면이 훨씬 넓습니다. 특히 에이전트가 파일 시스템, 터미널, 브라우저를 모두 접근할 수 있기 때문에 프롬프트 인젝션 공격이 치명적입니다. 기업 환경 도입 시 보안 정책 검토가 필수입니다.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공식 Codelabs 가이드 기준입니다. 자동 업데이트를 비활성화하는 것을 권장합니다. v1.23.2 이상에서 강제 업데이트 사태 발생 이력이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Antigravity는 방향은 맞습니다. 하지만 보안 사고, 강제 업데이트 사태, 오픈소스 후퇴, 미성숙한 엔터프라이즈 지원을 고려하면 아직 메인 개발 도구로 쓰기에는 이릅니다. 무료 프리뷰를 활용해 실험해보고, Google 생태계 프로젝트에서 점진적으로 도입하는 전략을 권장합니다.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60152" cy="1371600"/>
          </a:xfrm>
          <a:prstGeom prst="rect">
            <a:avLst/>
          </a:prstGeom>
          <a:noFill/>
        </p:spPr>
        <p:txBody>
          <a:bodyPr wrap="square">
            <a:spAutoFit/>
          </a:bodyPr>
          <a:lstStyle/>
          <a:p>
            <a:pPr algn="ctr"/>
            <a:r>
              <a:rPr sz="5400" b="1">
                <a:solidFill>
                  <a:srgbClr val="FFFFFF"/>
                </a:solidFill>
                <a:latin typeface="Malgun Gothic"/>
              </a:rPr>
              <a:t>Google Antigravity</a:t>
            </a:r>
          </a:p>
        </p:txBody>
      </p:sp>
      <p:sp>
        <p:nvSpPr>
          <p:cNvPr id="5" name="TextBox 4"/>
          <p:cNvSpPr txBox="1"/>
          <p:nvPr/>
        </p:nvSpPr>
        <p:spPr>
          <a:xfrm>
            <a:off x="914400" y="3200400"/>
            <a:ext cx="10360152" cy="822960"/>
          </a:xfrm>
          <a:prstGeom prst="rect">
            <a:avLst/>
          </a:prstGeom>
          <a:noFill/>
        </p:spPr>
        <p:txBody>
          <a:bodyPr wrap="square">
            <a:spAutoFit/>
          </a:bodyPr>
          <a:lstStyle/>
          <a:p>
            <a:pPr algn="ctr"/>
            <a:r>
              <a:rPr sz="2800" b="0">
                <a:solidFill>
                  <a:srgbClr val="D6E4F0"/>
                </a:solidFill>
                <a:latin typeface="Malgun Gothic"/>
              </a:rPr>
              <a:t>에이전트 우선 개발 플랫폼 종합 분석</a:t>
            </a:r>
          </a:p>
        </p:txBody>
      </p:sp>
      <p:sp>
        <p:nvSpPr>
          <p:cNvPr id="6" name="TextBox 5"/>
          <p:cNvSpPr txBox="1"/>
          <p:nvPr/>
        </p:nvSpPr>
        <p:spPr>
          <a:xfrm>
            <a:off x="914400" y="4754880"/>
            <a:ext cx="10360152" cy="548640"/>
          </a:xfrm>
          <a:prstGeom prst="rect">
            <a:avLst/>
          </a:prstGeom>
          <a:noFill/>
        </p:spPr>
        <p:txBody>
          <a:bodyPr wrap="square">
            <a:spAutoFit/>
          </a:bodyPr>
          <a:lstStyle/>
          <a:p>
            <a:pPr algn="ctr"/>
            <a:r>
              <a:rPr sz="1600" b="0">
                <a:solidFill>
                  <a:srgbClr val="D6E4F0"/>
                </a:solidFill>
                <a:latin typeface="Malgun Gothic"/>
              </a:rPr>
              <a:t>2026-05-22  |  AI 코딩 에이전트 리서치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목차</a:t>
            </a:r>
          </a:p>
        </p:txBody>
      </p:sp>
      <p:sp>
        <p:nvSpPr>
          <p:cNvPr id="4" name="TextBox 3"/>
          <p:cNvSpPr txBox="1"/>
          <p:nvPr/>
        </p:nvSpPr>
        <p:spPr>
          <a:xfrm>
            <a:off x="731520" y="1188720"/>
            <a:ext cx="5029200" cy="640080"/>
          </a:xfrm>
          <a:prstGeom prst="rect">
            <a:avLst/>
          </a:prstGeom>
          <a:noFill/>
        </p:spPr>
        <p:txBody>
          <a:bodyPr wrap="square">
            <a:spAutoFit/>
          </a:bodyPr>
          <a:lstStyle/>
          <a:p>
            <a:pPr algn="l"/>
            <a:r>
              <a:rPr sz="1800" b="1">
                <a:solidFill>
                  <a:srgbClr val="1F4E79"/>
                </a:solidFill>
                <a:latin typeface="Malgun Gothic"/>
              </a:rPr>
              <a:t>01  Antigravity란?</a:t>
            </a:r>
          </a:p>
        </p:txBody>
      </p:sp>
      <p:sp>
        <p:nvSpPr>
          <p:cNvPr id="5" name="TextBox 4"/>
          <p:cNvSpPr txBox="1"/>
          <p:nvPr/>
        </p:nvSpPr>
        <p:spPr>
          <a:xfrm>
            <a:off x="731520" y="1938528"/>
            <a:ext cx="5029200" cy="640080"/>
          </a:xfrm>
          <a:prstGeom prst="rect">
            <a:avLst/>
          </a:prstGeom>
          <a:noFill/>
        </p:spPr>
        <p:txBody>
          <a:bodyPr wrap="square">
            <a:spAutoFit/>
          </a:bodyPr>
          <a:lstStyle/>
          <a:p>
            <a:pPr algn="l"/>
            <a:r>
              <a:rPr sz="1800" b="0">
                <a:solidFill>
                  <a:srgbClr val="1F4E79"/>
                </a:solidFill>
                <a:latin typeface="Malgun Gothic"/>
              </a:rPr>
              <a:t>02  발표 히스토리</a:t>
            </a:r>
          </a:p>
        </p:txBody>
      </p:sp>
      <p:sp>
        <p:nvSpPr>
          <p:cNvPr id="6" name="TextBox 5"/>
          <p:cNvSpPr txBox="1"/>
          <p:nvPr/>
        </p:nvSpPr>
        <p:spPr>
          <a:xfrm>
            <a:off x="731520" y="2688336"/>
            <a:ext cx="5029200" cy="640080"/>
          </a:xfrm>
          <a:prstGeom prst="rect">
            <a:avLst/>
          </a:prstGeom>
          <a:noFill/>
        </p:spPr>
        <p:txBody>
          <a:bodyPr wrap="square">
            <a:spAutoFit/>
          </a:bodyPr>
          <a:lstStyle/>
          <a:p>
            <a:pPr algn="l"/>
            <a:r>
              <a:rPr sz="1800" b="0">
                <a:solidFill>
                  <a:srgbClr val="1F4E79"/>
                </a:solidFill>
                <a:latin typeface="Malgun Gothic"/>
              </a:rPr>
              <a:t>03  경쟁 도구 비교</a:t>
            </a:r>
          </a:p>
        </p:txBody>
      </p:sp>
      <p:sp>
        <p:nvSpPr>
          <p:cNvPr id="7" name="TextBox 6"/>
          <p:cNvSpPr txBox="1"/>
          <p:nvPr/>
        </p:nvSpPr>
        <p:spPr>
          <a:xfrm>
            <a:off x="731520" y="3438144"/>
            <a:ext cx="5029200" cy="640080"/>
          </a:xfrm>
          <a:prstGeom prst="rect">
            <a:avLst/>
          </a:prstGeom>
          <a:noFill/>
        </p:spPr>
        <p:txBody>
          <a:bodyPr wrap="square">
            <a:spAutoFit/>
          </a:bodyPr>
          <a:lstStyle/>
          <a:p>
            <a:pPr algn="l"/>
            <a:r>
              <a:rPr sz="1800" b="0">
                <a:solidFill>
                  <a:srgbClr val="1F4E79"/>
                </a:solidFill>
                <a:latin typeface="Malgun Gothic"/>
              </a:rPr>
              <a:t>04  아키텍처 &amp; 기술 스택</a:t>
            </a:r>
          </a:p>
        </p:txBody>
      </p:sp>
      <p:sp>
        <p:nvSpPr>
          <p:cNvPr id="8" name="TextBox 7"/>
          <p:cNvSpPr txBox="1"/>
          <p:nvPr/>
        </p:nvSpPr>
        <p:spPr>
          <a:xfrm>
            <a:off x="731520" y="4187952"/>
            <a:ext cx="5029200" cy="640080"/>
          </a:xfrm>
          <a:prstGeom prst="rect">
            <a:avLst/>
          </a:prstGeom>
          <a:noFill/>
        </p:spPr>
        <p:txBody>
          <a:bodyPr wrap="square">
            <a:spAutoFit/>
          </a:bodyPr>
          <a:lstStyle/>
          <a:p>
            <a:pPr algn="l"/>
            <a:r>
              <a:rPr sz="1800" b="0">
                <a:solidFill>
                  <a:srgbClr val="1F4E79"/>
                </a:solidFill>
                <a:latin typeface="Malgun Gothic"/>
              </a:rPr>
              <a:t>05  사용자 경험</a:t>
            </a:r>
          </a:p>
        </p:txBody>
      </p:sp>
      <p:sp>
        <p:nvSpPr>
          <p:cNvPr id="9" name="TextBox 8"/>
          <p:cNvSpPr txBox="1"/>
          <p:nvPr/>
        </p:nvSpPr>
        <p:spPr>
          <a:xfrm>
            <a:off x="731520" y="4937759"/>
            <a:ext cx="5029200" cy="640080"/>
          </a:xfrm>
          <a:prstGeom prst="rect">
            <a:avLst/>
          </a:prstGeom>
          <a:noFill/>
        </p:spPr>
        <p:txBody>
          <a:bodyPr wrap="square">
            <a:spAutoFit/>
          </a:bodyPr>
          <a:lstStyle/>
          <a:p>
            <a:pPr algn="l"/>
            <a:r>
              <a:rPr sz="1800" b="0">
                <a:solidFill>
                  <a:srgbClr val="1F4E79"/>
                </a:solidFill>
                <a:latin typeface="Malgun Gothic"/>
              </a:rPr>
              <a:t>06  벤치마크 성능</a:t>
            </a:r>
          </a:p>
        </p:txBody>
      </p:sp>
      <p:sp>
        <p:nvSpPr>
          <p:cNvPr id="10" name="TextBox 9"/>
          <p:cNvSpPr txBox="1"/>
          <p:nvPr/>
        </p:nvSpPr>
        <p:spPr>
          <a:xfrm>
            <a:off x="6583680" y="1188720"/>
            <a:ext cx="5029200" cy="640080"/>
          </a:xfrm>
          <a:prstGeom prst="rect">
            <a:avLst/>
          </a:prstGeom>
          <a:noFill/>
        </p:spPr>
        <p:txBody>
          <a:bodyPr wrap="square">
            <a:spAutoFit/>
          </a:bodyPr>
          <a:lstStyle/>
          <a:p>
            <a:pPr algn="l"/>
            <a:r>
              <a:rPr sz="1800" b="0">
                <a:solidFill>
                  <a:srgbClr val="1F4E79"/>
                </a:solidFill>
                <a:latin typeface="Malgun Gothic"/>
              </a:rPr>
              <a:t>07  가격 체계</a:t>
            </a:r>
          </a:p>
        </p:txBody>
      </p:sp>
      <p:sp>
        <p:nvSpPr>
          <p:cNvPr id="11" name="TextBox 10"/>
          <p:cNvSpPr txBox="1"/>
          <p:nvPr/>
        </p:nvSpPr>
        <p:spPr>
          <a:xfrm>
            <a:off x="6583680" y="1938528"/>
            <a:ext cx="5029200" cy="640080"/>
          </a:xfrm>
          <a:prstGeom prst="rect">
            <a:avLst/>
          </a:prstGeom>
          <a:noFill/>
        </p:spPr>
        <p:txBody>
          <a:bodyPr wrap="square">
            <a:spAutoFit/>
          </a:bodyPr>
          <a:lstStyle/>
          <a:p>
            <a:pPr algn="l"/>
            <a:r>
              <a:rPr sz="1800" b="0">
                <a:solidFill>
                  <a:srgbClr val="1F4E79"/>
                </a:solidFill>
                <a:latin typeface="Malgun Gothic"/>
              </a:rPr>
              <a:t>08  커뮤니티 반응</a:t>
            </a:r>
          </a:p>
        </p:txBody>
      </p:sp>
      <p:sp>
        <p:nvSpPr>
          <p:cNvPr id="12" name="TextBox 11"/>
          <p:cNvSpPr txBox="1"/>
          <p:nvPr/>
        </p:nvSpPr>
        <p:spPr>
          <a:xfrm>
            <a:off x="6583680" y="2688336"/>
            <a:ext cx="5029200" cy="640080"/>
          </a:xfrm>
          <a:prstGeom prst="rect">
            <a:avLst/>
          </a:prstGeom>
          <a:noFill/>
        </p:spPr>
        <p:txBody>
          <a:bodyPr wrap="square">
            <a:spAutoFit/>
          </a:bodyPr>
          <a:lstStyle/>
          <a:p>
            <a:pPr algn="l"/>
            <a:r>
              <a:rPr sz="1800" b="0">
                <a:solidFill>
                  <a:srgbClr val="1F4E79"/>
                </a:solidFill>
                <a:latin typeface="Malgun Gothic"/>
              </a:rPr>
              <a:t>09  한계 &amp; 보안 리스크</a:t>
            </a:r>
          </a:p>
        </p:txBody>
      </p:sp>
      <p:sp>
        <p:nvSpPr>
          <p:cNvPr id="13" name="TextBox 12"/>
          <p:cNvSpPr txBox="1"/>
          <p:nvPr/>
        </p:nvSpPr>
        <p:spPr>
          <a:xfrm>
            <a:off x="6583680" y="3438144"/>
            <a:ext cx="5029200" cy="640080"/>
          </a:xfrm>
          <a:prstGeom prst="rect">
            <a:avLst/>
          </a:prstGeom>
          <a:noFill/>
        </p:spPr>
        <p:txBody>
          <a:bodyPr wrap="square">
            <a:spAutoFit/>
          </a:bodyPr>
          <a:lstStyle/>
          <a:p>
            <a:pPr algn="l"/>
            <a:r>
              <a:rPr sz="1800" b="0">
                <a:solidFill>
                  <a:srgbClr val="1F4E79"/>
                </a:solidFill>
                <a:latin typeface="Malgun Gothic"/>
              </a:rPr>
              <a:t>10  빠른 시작 가이드</a:t>
            </a:r>
          </a:p>
        </p:txBody>
      </p:sp>
      <p:sp>
        <p:nvSpPr>
          <p:cNvPr id="14" name="TextBox 13"/>
          <p:cNvSpPr txBox="1"/>
          <p:nvPr/>
        </p:nvSpPr>
        <p:spPr>
          <a:xfrm>
            <a:off x="6583680" y="4187952"/>
            <a:ext cx="5029200" cy="640080"/>
          </a:xfrm>
          <a:prstGeom prst="rect">
            <a:avLst/>
          </a:prstGeom>
          <a:noFill/>
        </p:spPr>
        <p:txBody>
          <a:bodyPr wrap="square">
            <a:spAutoFit/>
          </a:bodyPr>
          <a:lstStyle/>
          <a:p>
            <a:pPr algn="l"/>
            <a:r>
              <a:rPr sz="1800" b="0">
                <a:solidFill>
                  <a:srgbClr val="1F4E79"/>
                </a:solidFill>
                <a:latin typeface="Malgun Gothic"/>
              </a:rPr>
              <a:t>11  결론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Google Antigravity란?</a:t>
            </a:r>
          </a:p>
        </p:txBody>
      </p:sp>
      <p:sp>
        <p:nvSpPr>
          <p:cNvPr id="4" name="Rectangle 3"/>
          <p:cNvSpPr/>
          <p:nvPr/>
        </p:nvSpPr>
        <p:spPr>
          <a:xfrm>
            <a:off x="457200" y="1097280"/>
            <a:ext cx="5303520" cy="50292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4754880" cy="4572000"/>
          </a:xfrm>
          <a:prstGeom prst="rect">
            <a:avLst/>
          </a:prstGeom>
          <a:noFill/>
        </p:spPr>
        <p:txBody>
          <a:bodyPr wrap="square">
            <a:spAutoFit/>
          </a:bodyPr>
          <a:lstStyle/>
          <a:p>
            <a:pPr algn="l"/>
            <a:r>
              <a:rPr sz="1600" b="0">
                <a:solidFill>
                  <a:srgbClr val="1F4E79"/>
                </a:solidFill>
                <a:latin typeface="Malgun Gothic"/>
              </a:rPr>
              <a:t>발표일: 2025-11-18
개발 조직: Google Antigravity Team
기반 기술: VS Code 헤비 포크
현재 버전: 2.0 (2026-05-19)
가격: 개인 무료 (공개 프리뷰)
플랫폼: macOS / Windows / Linux</a:t>
            </a:r>
          </a:p>
        </p:txBody>
      </p:sp>
      <p:sp>
        <p:nvSpPr>
          <p:cNvPr id="6" name="Rectangle 5"/>
          <p:cNvSpPr/>
          <p:nvPr/>
        </p:nvSpPr>
        <p:spPr>
          <a:xfrm>
            <a:off x="6400800" y="1097280"/>
            <a:ext cx="5303520" cy="2194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188720"/>
            <a:ext cx="4754880" cy="457200"/>
          </a:xfrm>
          <a:prstGeom prst="rect">
            <a:avLst/>
          </a:prstGeom>
          <a:noFill/>
        </p:spPr>
        <p:txBody>
          <a:bodyPr wrap="square">
            <a:spAutoFit/>
          </a:bodyPr>
          <a:lstStyle/>
          <a:p>
            <a:pPr algn="l"/>
            <a:r>
              <a:rPr sz="1500" b="1">
                <a:solidFill>
                  <a:srgbClr val="C0392B"/>
                </a:solidFill>
                <a:latin typeface="Malgun Gothic"/>
              </a:rPr>
              <a:t>기존 AI 코딩 도구</a:t>
            </a:r>
          </a:p>
        </p:txBody>
      </p:sp>
      <p:sp>
        <p:nvSpPr>
          <p:cNvPr id="8" name="TextBox 7"/>
          <p:cNvSpPr txBox="1"/>
          <p:nvPr/>
        </p:nvSpPr>
        <p:spPr>
          <a:xfrm>
            <a:off x="6675120" y="1645920"/>
            <a:ext cx="4754880" cy="731520"/>
          </a:xfrm>
          <a:prstGeom prst="rect">
            <a:avLst/>
          </a:prstGeom>
          <a:noFill/>
        </p:spPr>
        <p:txBody>
          <a:bodyPr wrap="square">
            <a:spAutoFit/>
          </a:bodyPr>
          <a:lstStyle/>
          <a:p>
            <a:pPr algn="l"/>
            <a:r>
              <a:rPr sz="1400" b="0">
                <a:solidFill>
                  <a:srgbClr val="404040"/>
                </a:solidFill>
                <a:latin typeface="Malgun Gothic"/>
              </a:rPr>
              <a:t>코드 한 줄 제안 → 순차 실행 → 인간이 승인</a:t>
            </a:r>
          </a:p>
        </p:txBody>
      </p:sp>
      <p:sp>
        <p:nvSpPr>
          <p:cNvPr id="9" name="Rectangle 8"/>
          <p:cNvSpPr/>
          <p:nvPr/>
        </p:nvSpPr>
        <p:spPr>
          <a:xfrm>
            <a:off x="6400800" y="3474720"/>
            <a:ext cx="5303520" cy="2651760"/>
          </a:xfrm>
          <a:prstGeom prst="rect">
            <a:avLst/>
          </a:prstGeom>
          <a:solidFill>
            <a:srgbClr val="E8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3566160"/>
            <a:ext cx="4754880" cy="457200"/>
          </a:xfrm>
          <a:prstGeom prst="rect">
            <a:avLst/>
          </a:prstGeom>
          <a:noFill/>
        </p:spPr>
        <p:txBody>
          <a:bodyPr wrap="square">
            <a:spAutoFit/>
          </a:bodyPr>
          <a:lstStyle/>
          <a:p>
            <a:pPr algn="l"/>
            <a:r>
              <a:rPr sz="1500" b="1">
                <a:solidFill>
                  <a:srgbClr val="27AE60"/>
                </a:solidFill>
                <a:latin typeface="Malgun Gothic"/>
              </a:rPr>
              <a:t>Antigravity (에이전트 우선)</a:t>
            </a:r>
          </a:p>
        </p:txBody>
      </p:sp>
      <p:sp>
        <p:nvSpPr>
          <p:cNvPr id="11" name="TextBox 10"/>
          <p:cNvSpPr txBox="1"/>
          <p:nvPr/>
        </p:nvSpPr>
        <p:spPr>
          <a:xfrm>
            <a:off x="6675120" y="4023360"/>
            <a:ext cx="4754880" cy="1828800"/>
          </a:xfrm>
          <a:prstGeom prst="rect">
            <a:avLst/>
          </a:prstGeom>
          <a:noFill/>
        </p:spPr>
        <p:txBody>
          <a:bodyPr wrap="square">
            <a:spAutoFit/>
          </a:bodyPr>
          <a:lstStyle/>
          <a:p>
            <a:pPr algn="l"/>
            <a:r>
              <a:rPr sz="1400" b="0">
                <a:solidFill>
                  <a:srgbClr val="404040"/>
                </a:solidFill>
                <a:latin typeface="Malgun Gothic"/>
              </a:rPr>
              <a:t>작업 단위 자율 실행
병렬 에이전트 (최대 5개)
브라우저 UI 테스트 내장
스케줄 태스크 (백그라운드)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발표 히스토리</a:t>
            </a:r>
          </a:p>
        </p:txBody>
      </p:sp>
      <p:sp>
        <p:nvSpPr>
          <p:cNvPr id="4" name="Rectangle 3"/>
          <p:cNvSpPr/>
          <p:nvPr/>
        </p:nvSpPr>
        <p:spPr>
          <a:xfrm>
            <a:off x="457200" y="1280160"/>
            <a:ext cx="2011680" cy="12801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828800" cy="457200"/>
          </a:xfrm>
          <a:prstGeom prst="rect">
            <a:avLst/>
          </a:prstGeom>
          <a:noFill/>
        </p:spPr>
        <p:txBody>
          <a:bodyPr wrap="square">
            <a:spAutoFit/>
          </a:bodyPr>
          <a:lstStyle/>
          <a:p>
            <a:pPr algn="ctr"/>
            <a:r>
              <a:rPr sz="1700" b="1">
                <a:solidFill>
                  <a:srgbClr val="FFFFFF"/>
                </a:solidFill>
                <a:latin typeface="Malgun Gothic"/>
              </a:rPr>
              <a:t>2025-11-18</a:t>
            </a:r>
          </a:p>
        </p:txBody>
      </p:sp>
      <p:sp>
        <p:nvSpPr>
          <p:cNvPr id="6" name="TextBox 5"/>
          <p:cNvSpPr txBox="1"/>
          <p:nvPr/>
        </p:nvSpPr>
        <p:spPr>
          <a:xfrm>
            <a:off x="2743200" y="1280160"/>
            <a:ext cx="8961120" cy="502920"/>
          </a:xfrm>
          <a:prstGeom prst="rect">
            <a:avLst/>
          </a:prstGeom>
          <a:noFill/>
        </p:spPr>
        <p:txBody>
          <a:bodyPr wrap="square">
            <a:spAutoFit/>
          </a:bodyPr>
          <a:lstStyle/>
          <a:p>
            <a:pPr algn="l"/>
            <a:r>
              <a:rPr sz="1800" b="1">
                <a:solidFill>
                  <a:srgbClr val="1F4E79"/>
                </a:solidFill>
                <a:latin typeface="Malgun Gothic"/>
              </a:rPr>
              <a:t>Antigravity v1.0 공개 프리뷰</a:t>
            </a:r>
          </a:p>
        </p:txBody>
      </p:sp>
      <p:sp>
        <p:nvSpPr>
          <p:cNvPr id="7" name="TextBox 6"/>
          <p:cNvSpPr txBox="1"/>
          <p:nvPr/>
        </p:nvSpPr>
        <p:spPr>
          <a:xfrm>
            <a:off x="2743200" y="1783080"/>
            <a:ext cx="8961120" cy="685800"/>
          </a:xfrm>
          <a:prstGeom prst="rect">
            <a:avLst/>
          </a:prstGeom>
          <a:noFill/>
        </p:spPr>
        <p:txBody>
          <a:bodyPr wrap="square">
            <a:spAutoFit/>
          </a:bodyPr>
          <a:lstStyle/>
          <a:p>
            <a:pPr algn="l"/>
            <a:r>
              <a:rPr sz="1400" b="0">
                <a:solidFill>
                  <a:srgbClr val="404040"/>
                </a:solidFill>
                <a:latin typeface="Malgun Gothic"/>
              </a:rPr>
              <a:t>Gemini 3 동시 발표 / 개인 무료 / 에이전트 우선 IDE 공개</a:t>
            </a:r>
          </a:p>
        </p:txBody>
      </p:sp>
      <p:sp>
        <p:nvSpPr>
          <p:cNvPr id="8" name="Rectangle 7"/>
          <p:cNvSpPr/>
          <p:nvPr/>
        </p:nvSpPr>
        <p:spPr>
          <a:xfrm>
            <a:off x="457200" y="2926080"/>
            <a:ext cx="2011680" cy="12801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063240"/>
            <a:ext cx="1828800" cy="457200"/>
          </a:xfrm>
          <a:prstGeom prst="rect">
            <a:avLst/>
          </a:prstGeom>
          <a:noFill/>
        </p:spPr>
        <p:txBody>
          <a:bodyPr wrap="square">
            <a:spAutoFit/>
          </a:bodyPr>
          <a:lstStyle/>
          <a:p>
            <a:pPr algn="ctr"/>
            <a:r>
              <a:rPr sz="1700" b="1">
                <a:solidFill>
                  <a:srgbClr val="FFFFFF"/>
                </a:solidFill>
                <a:latin typeface="Malgun Gothic"/>
              </a:rPr>
              <a:t>2026-05-19</a:t>
            </a:r>
          </a:p>
        </p:txBody>
      </p:sp>
      <p:sp>
        <p:nvSpPr>
          <p:cNvPr id="10" name="TextBox 9"/>
          <p:cNvSpPr txBox="1"/>
          <p:nvPr/>
        </p:nvSpPr>
        <p:spPr>
          <a:xfrm>
            <a:off x="2743200" y="2926080"/>
            <a:ext cx="8961120" cy="502920"/>
          </a:xfrm>
          <a:prstGeom prst="rect">
            <a:avLst/>
          </a:prstGeom>
          <a:noFill/>
        </p:spPr>
        <p:txBody>
          <a:bodyPr wrap="square">
            <a:spAutoFit/>
          </a:bodyPr>
          <a:lstStyle/>
          <a:p>
            <a:pPr algn="l"/>
            <a:r>
              <a:rPr sz="1800" b="1">
                <a:solidFill>
                  <a:srgbClr val="1F4E79"/>
                </a:solidFill>
                <a:latin typeface="Malgun Gothic"/>
              </a:rPr>
              <a:t>Antigravity 2.0 (Google I/O)</a:t>
            </a:r>
          </a:p>
        </p:txBody>
      </p:sp>
      <p:sp>
        <p:nvSpPr>
          <p:cNvPr id="11" name="TextBox 10"/>
          <p:cNvSpPr txBox="1"/>
          <p:nvPr/>
        </p:nvSpPr>
        <p:spPr>
          <a:xfrm>
            <a:off x="2743200" y="3429000"/>
            <a:ext cx="8961120" cy="685800"/>
          </a:xfrm>
          <a:prstGeom prst="rect">
            <a:avLst/>
          </a:prstGeom>
          <a:noFill/>
        </p:spPr>
        <p:txBody>
          <a:bodyPr wrap="square">
            <a:spAutoFit/>
          </a:bodyPr>
          <a:lstStyle/>
          <a:p>
            <a:pPr algn="l"/>
            <a:r>
              <a:rPr sz="1400" b="0">
                <a:solidFill>
                  <a:srgbClr val="404040"/>
                </a:solidFill>
                <a:latin typeface="Malgun Gothic"/>
              </a:rPr>
              <a:t>CLI (Go) + SDK + 엔터프라이즈 플랫폼 추가 / Gemini 3.5 Flash 기본 모델</a:t>
            </a:r>
          </a:p>
        </p:txBody>
      </p:sp>
      <p:sp>
        <p:nvSpPr>
          <p:cNvPr id="12" name="Rectangle 11"/>
          <p:cNvSpPr/>
          <p:nvPr/>
        </p:nvSpPr>
        <p:spPr>
          <a:xfrm>
            <a:off x="457200" y="4572000"/>
            <a:ext cx="2011680" cy="12801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709160"/>
            <a:ext cx="1828800" cy="457200"/>
          </a:xfrm>
          <a:prstGeom prst="rect">
            <a:avLst/>
          </a:prstGeom>
          <a:noFill/>
        </p:spPr>
        <p:txBody>
          <a:bodyPr wrap="square">
            <a:spAutoFit/>
          </a:bodyPr>
          <a:lstStyle/>
          <a:p>
            <a:pPr algn="ctr"/>
            <a:r>
              <a:rPr sz="1700" b="1">
                <a:solidFill>
                  <a:srgbClr val="FFFFFF"/>
                </a:solidFill>
                <a:latin typeface="Malgun Gothic"/>
              </a:rPr>
              <a:t>2026-06-18</a:t>
            </a:r>
          </a:p>
        </p:txBody>
      </p:sp>
      <p:sp>
        <p:nvSpPr>
          <p:cNvPr id="14" name="TextBox 13"/>
          <p:cNvSpPr txBox="1"/>
          <p:nvPr/>
        </p:nvSpPr>
        <p:spPr>
          <a:xfrm>
            <a:off x="2743200" y="4572000"/>
            <a:ext cx="8961120" cy="502920"/>
          </a:xfrm>
          <a:prstGeom prst="rect">
            <a:avLst/>
          </a:prstGeom>
          <a:noFill/>
        </p:spPr>
        <p:txBody>
          <a:bodyPr wrap="square">
            <a:spAutoFit/>
          </a:bodyPr>
          <a:lstStyle/>
          <a:p>
            <a:pPr algn="l"/>
            <a:r>
              <a:rPr sz="1800" b="1">
                <a:solidFill>
                  <a:srgbClr val="1F4E79"/>
                </a:solidFill>
                <a:latin typeface="Malgun Gothic"/>
              </a:rPr>
              <a:t>Gemini CLI 서비스 종료</a:t>
            </a:r>
          </a:p>
        </p:txBody>
      </p:sp>
      <p:sp>
        <p:nvSpPr>
          <p:cNvPr id="15" name="TextBox 14"/>
          <p:cNvSpPr txBox="1"/>
          <p:nvPr/>
        </p:nvSpPr>
        <p:spPr>
          <a:xfrm>
            <a:off x="2743200" y="5074920"/>
            <a:ext cx="8961120" cy="685800"/>
          </a:xfrm>
          <a:prstGeom prst="rect">
            <a:avLst/>
          </a:prstGeom>
          <a:noFill/>
        </p:spPr>
        <p:txBody>
          <a:bodyPr wrap="square">
            <a:spAutoFit/>
          </a:bodyPr>
          <a:lstStyle/>
          <a:p>
            <a:pPr algn="l"/>
            <a:r>
              <a:rPr sz="1400" b="0">
                <a:solidFill>
                  <a:srgbClr val="404040"/>
                </a:solidFill>
                <a:latin typeface="Malgun Gothic"/>
              </a:rPr>
              <a:t>Apache 2.0 오픈소스 → 클로즈드 Antigravity CLI로 강제 전환 (논란)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AI 코딩 도구 경쟁 지형도</a:t>
            </a:r>
          </a:p>
        </p:txBody>
      </p:sp>
      <p:sp>
        <p:nvSpPr>
          <p:cNvPr id="4" name="Rectangle 3"/>
          <p:cNvSpPr/>
          <p:nvPr/>
        </p:nvSpPr>
        <p:spPr>
          <a:xfrm>
            <a:off x="182880" y="1005840"/>
            <a:ext cx="1600200" cy="56692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097280"/>
            <a:ext cx="1508760" cy="429768"/>
          </a:xfrm>
          <a:prstGeom prst="rect">
            <a:avLst/>
          </a:prstGeom>
          <a:noFill/>
        </p:spPr>
        <p:txBody>
          <a:bodyPr wrap="square">
            <a:spAutoFit/>
          </a:bodyPr>
          <a:lstStyle/>
          <a:p>
            <a:pPr algn="ctr"/>
            <a:r>
              <a:rPr sz="1300" b="1">
                <a:solidFill>
                  <a:srgbClr val="FFFFFF"/>
                </a:solidFill>
                <a:latin typeface="Malgun Gothic"/>
              </a:rPr>
              <a:t>항목</a:t>
            </a:r>
          </a:p>
        </p:txBody>
      </p:sp>
      <p:sp>
        <p:nvSpPr>
          <p:cNvPr id="6" name="Rectangle 5"/>
          <p:cNvSpPr/>
          <p:nvPr/>
        </p:nvSpPr>
        <p:spPr>
          <a:xfrm>
            <a:off x="1828800" y="1005840"/>
            <a:ext cx="1965960" cy="56692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1097280"/>
            <a:ext cx="1874520" cy="429768"/>
          </a:xfrm>
          <a:prstGeom prst="rect">
            <a:avLst/>
          </a:prstGeom>
          <a:noFill/>
        </p:spPr>
        <p:txBody>
          <a:bodyPr wrap="square">
            <a:spAutoFit/>
          </a:bodyPr>
          <a:lstStyle/>
          <a:p>
            <a:pPr algn="ctr"/>
            <a:r>
              <a:rPr sz="1300" b="1">
                <a:solidFill>
                  <a:srgbClr val="FFFFFF"/>
                </a:solidFill>
                <a:latin typeface="Malgun Gothic"/>
              </a:rPr>
              <a:t>Antigravity 2.0</a:t>
            </a:r>
          </a:p>
        </p:txBody>
      </p:sp>
      <p:sp>
        <p:nvSpPr>
          <p:cNvPr id="8" name="Rectangle 7"/>
          <p:cNvSpPr/>
          <p:nvPr/>
        </p:nvSpPr>
        <p:spPr>
          <a:xfrm>
            <a:off x="3840480" y="1005840"/>
            <a:ext cx="1600200" cy="56692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0" y="1097280"/>
            <a:ext cx="1508760" cy="429768"/>
          </a:xfrm>
          <a:prstGeom prst="rect">
            <a:avLst/>
          </a:prstGeom>
          <a:noFill/>
        </p:spPr>
        <p:txBody>
          <a:bodyPr wrap="square">
            <a:spAutoFit/>
          </a:bodyPr>
          <a:lstStyle/>
          <a:p>
            <a:pPr algn="ctr"/>
            <a:r>
              <a:rPr sz="1300" b="1">
                <a:solidFill>
                  <a:srgbClr val="FFFFFF"/>
                </a:solidFill>
                <a:latin typeface="Malgun Gothic"/>
              </a:rPr>
              <a:t>Claude Code</a:t>
            </a:r>
          </a:p>
        </p:txBody>
      </p:sp>
      <p:sp>
        <p:nvSpPr>
          <p:cNvPr id="10" name="Rectangle 9"/>
          <p:cNvSpPr/>
          <p:nvPr/>
        </p:nvSpPr>
        <p:spPr>
          <a:xfrm>
            <a:off x="5486400" y="1005840"/>
            <a:ext cx="1325880" cy="56692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1097280"/>
            <a:ext cx="1234440" cy="429768"/>
          </a:xfrm>
          <a:prstGeom prst="rect">
            <a:avLst/>
          </a:prstGeom>
          <a:noFill/>
        </p:spPr>
        <p:txBody>
          <a:bodyPr wrap="square">
            <a:spAutoFit/>
          </a:bodyPr>
          <a:lstStyle/>
          <a:p>
            <a:pPr algn="ctr"/>
            <a:r>
              <a:rPr sz="1300" b="1">
                <a:solidFill>
                  <a:srgbClr val="FFFFFF"/>
                </a:solidFill>
                <a:latin typeface="Malgun Gothic"/>
              </a:rPr>
              <a:t>Cursor</a:t>
            </a:r>
          </a:p>
        </p:txBody>
      </p:sp>
      <p:sp>
        <p:nvSpPr>
          <p:cNvPr id="12" name="Rectangle 11"/>
          <p:cNvSpPr/>
          <p:nvPr/>
        </p:nvSpPr>
        <p:spPr>
          <a:xfrm>
            <a:off x="6858000" y="1005840"/>
            <a:ext cx="1965960" cy="56692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1097280"/>
            <a:ext cx="1874520" cy="429768"/>
          </a:xfrm>
          <a:prstGeom prst="rect">
            <a:avLst/>
          </a:prstGeom>
          <a:noFill/>
        </p:spPr>
        <p:txBody>
          <a:bodyPr wrap="square">
            <a:spAutoFit/>
          </a:bodyPr>
          <a:lstStyle/>
          <a:p>
            <a:pPr algn="ctr"/>
            <a:r>
              <a:rPr sz="1300" b="1">
                <a:solidFill>
                  <a:srgbClr val="FFFFFF"/>
                </a:solidFill>
                <a:latin typeface="Malgun Gothic"/>
              </a:rPr>
              <a:t>GitHub Copilot WS</a:t>
            </a:r>
          </a:p>
        </p:txBody>
      </p:sp>
      <p:sp>
        <p:nvSpPr>
          <p:cNvPr id="14" name="Rectangle 13"/>
          <p:cNvSpPr/>
          <p:nvPr/>
        </p:nvSpPr>
        <p:spPr>
          <a:xfrm>
            <a:off x="8869680" y="1005840"/>
            <a:ext cx="1325880" cy="56692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097280"/>
            <a:ext cx="1234440" cy="429768"/>
          </a:xfrm>
          <a:prstGeom prst="rect">
            <a:avLst/>
          </a:prstGeom>
          <a:noFill/>
        </p:spPr>
        <p:txBody>
          <a:bodyPr wrap="square">
            <a:spAutoFit/>
          </a:bodyPr>
          <a:lstStyle/>
          <a:p>
            <a:pPr algn="ctr"/>
            <a:r>
              <a:rPr sz="1300" b="1">
                <a:solidFill>
                  <a:srgbClr val="FFFFFF"/>
                </a:solidFill>
                <a:latin typeface="Malgun Gothic"/>
              </a:rPr>
              <a:t>Devin</a:t>
            </a:r>
          </a:p>
        </p:txBody>
      </p:sp>
      <p:sp>
        <p:nvSpPr>
          <p:cNvPr id="16" name="Rectangle 15"/>
          <p:cNvSpPr/>
          <p:nvPr/>
        </p:nvSpPr>
        <p:spPr>
          <a:xfrm>
            <a:off x="182880" y="1572768"/>
            <a:ext cx="160020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1645920"/>
            <a:ext cx="1508760" cy="384048"/>
          </a:xfrm>
          <a:prstGeom prst="rect">
            <a:avLst/>
          </a:prstGeom>
          <a:noFill/>
        </p:spPr>
        <p:txBody>
          <a:bodyPr wrap="square">
            <a:spAutoFit/>
          </a:bodyPr>
          <a:lstStyle/>
          <a:p>
            <a:pPr algn="ctr"/>
            <a:r>
              <a:rPr sz="1200" b="0">
                <a:solidFill>
                  <a:srgbClr val="404040"/>
                </a:solidFill>
                <a:latin typeface="Malgun Gothic"/>
              </a:rPr>
              <a:t>인터페이스</a:t>
            </a:r>
          </a:p>
        </p:txBody>
      </p:sp>
      <p:sp>
        <p:nvSpPr>
          <p:cNvPr id="18" name="Rectangle 17"/>
          <p:cNvSpPr/>
          <p:nvPr/>
        </p:nvSpPr>
        <p:spPr>
          <a:xfrm>
            <a:off x="1828800" y="1572768"/>
            <a:ext cx="196596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20" y="1645920"/>
            <a:ext cx="1874520" cy="384048"/>
          </a:xfrm>
          <a:prstGeom prst="rect">
            <a:avLst/>
          </a:prstGeom>
          <a:noFill/>
        </p:spPr>
        <p:txBody>
          <a:bodyPr wrap="square">
            <a:spAutoFit/>
          </a:bodyPr>
          <a:lstStyle/>
          <a:p>
            <a:pPr algn="ctr"/>
            <a:r>
              <a:rPr sz="1200" b="0">
                <a:solidFill>
                  <a:srgbClr val="27AE60"/>
                </a:solidFill>
                <a:latin typeface="Malgun Gothic"/>
              </a:rPr>
              <a:t>데스크탑/CLI/SDK</a:t>
            </a:r>
          </a:p>
        </p:txBody>
      </p:sp>
      <p:sp>
        <p:nvSpPr>
          <p:cNvPr id="20" name="Rectangle 19"/>
          <p:cNvSpPr/>
          <p:nvPr/>
        </p:nvSpPr>
        <p:spPr>
          <a:xfrm>
            <a:off x="3840480" y="1572768"/>
            <a:ext cx="160020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86200" y="1645920"/>
            <a:ext cx="1508760" cy="384048"/>
          </a:xfrm>
          <a:prstGeom prst="rect">
            <a:avLst/>
          </a:prstGeom>
          <a:noFill/>
        </p:spPr>
        <p:txBody>
          <a:bodyPr wrap="square">
            <a:spAutoFit/>
          </a:bodyPr>
          <a:lstStyle/>
          <a:p>
            <a:pPr algn="ctr"/>
            <a:r>
              <a:rPr sz="1200" b="0">
                <a:solidFill>
                  <a:srgbClr val="404040"/>
                </a:solidFill>
                <a:latin typeface="Malgun Gothic"/>
              </a:rPr>
              <a:t>터미널 CLI</a:t>
            </a:r>
          </a:p>
        </p:txBody>
      </p:sp>
      <p:sp>
        <p:nvSpPr>
          <p:cNvPr id="22" name="Rectangle 21"/>
          <p:cNvSpPr/>
          <p:nvPr/>
        </p:nvSpPr>
        <p:spPr>
          <a:xfrm>
            <a:off x="5486400" y="1572768"/>
            <a:ext cx="132588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1645920"/>
            <a:ext cx="1234440" cy="384048"/>
          </a:xfrm>
          <a:prstGeom prst="rect">
            <a:avLst/>
          </a:prstGeom>
          <a:noFill/>
        </p:spPr>
        <p:txBody>
          <a:bodyPr wrap="square">
            <a:spAutoFit/>
          </a:bodyPr>
          <a:lstStyle/>
          <a:p>
            <a:pPr algn="ctr"/>
            <a:r>
              <a:rPr sz="1200" b="0">
                <a:solidFill>
                  <a:srgbClr val="404040"/>
                </a:solidFill>
                <a:latin typeface="Malgun Gothic"/>
              </a:rPr>
              <a:t>데스크탑(포크)</a:t>
            </a:r>
          </a:p>
        </p:txBody>
      </p:sp>
      <p:sp>
        <p:nvSpPr>
          <p:cNvPr id="24" name="Rectangle 23"/>
          <p:cNvSpPr/>
          <p:nvPr/>
        </p:nvSpPr>
        <p:spPr>
          <a:xfrm>
            <a:off x="6858000" y="1572768"/>
            <a:ext cx="196596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1645920"/>
            <a:ext cx="1874520" cy="384048"/>
          </a:xfrm>
          <a:prstGeom prst="rect">
            <a:avLst/>
          </a:prstGeom>
          <a:noFill/>
        </p:spPr>
        <p:txBody>
          <a:bodyPr wrap="square">
            <a:spAutoFit/>
          </a:bodyPr>
          <a:lstStyle/>
          <a:p>
            <a:pPr algn="ctr"/>
            <a:r>
              <a:rPr sz="1200" b="0">
                <a:solidFill>
                  <a:srgbClr val="404040"/>
                </a:solidFill>
                <a:latin typeface="Malgun Gothic"/>
              </a:rPr>
              <a:t>웹+GitHub</a:t>
            </a:r>
          </a:p>
        </p:txBody>
      </p:sp>
      <p:sp>
        <p:nvSpPr>
          <p:cNvPr id="26" name="Rectangle 25"/>
          <p:cNvSpPr/>
          <p:nvPr/>
        </p:nvSpPr>
        <p:spPr>
          <a:xfrm>
            <a:off x="8869680" y="1572768"/>
            <a:ext cx="132588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15400" y="1645920"/>
            <a:ext cx="1234440" cy="384048"/>
          </a:xfrm>
          <a:prstGeom prst="rect">
            <a:avLst/>
          </a:prstGeom>
          <a:noFill/>
        </p:spPr>
        <p:txBody>
          <a:bodyPr wrap="square">
            <a:spAutoFit/>
          </a:bodyPr>
          <a:lstStyle/>
          <a:p>
            <a:pPr algn="ctr"/>
            <a:r>
              <a:rPr sz="1200" b="0">
                <a:solidFill>
                  <a:srgbClr val="404040"/>
                </a:solidFill>
                <a:latin typeface="Malgun Gothic"/>
              </a:rPr>
              <a:t>웹</a:t>
            </a:r>
          </a:p>
        </p:txBody>
      </p:sp>
      <p:sp>
        <p:nvSpPr>
          <p:cNvPr id="28" name="Rectangle 27"/>
          <p:cNvSpPr/>
          <p:nvPr/>
        </p:nvSpPr>
        <p:spPr>
          <a:xfrm>
            <a:off x="182880" y="2139696"/>
            <a:ext cx="16002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 y="2212848"/>
            <a:ext cx="1508760" cy="384048"/>
          </a:xfrm>
          <a:prstGeom prst="rect">
            <a:avLst/>
          </a:prstGeom>
          <a:noFill/>
        </p:spPr>
        <p:txBody>
          <a:bodyPr wrap="square">
            <a:spAutoFit/>
          </a:bodyPr>
          <a:lstStyle/>
          <a:p>
            <a:pPr algn="ctr"/>
            <a:r>
              <a:rPr sz="1200" b="0">
                <a:solidFill>
                  <a:srgbClr val="404040"/>
                </a:solidFill>
                <a:latin typeface="Malgun Gothic"/>
              </a:rPr>
              <a:t>멀티 에이전트</a:t>
            </a:r>
          </a:p>
        </p:txBody>
      </p:sp>
      <p:sp>
        <p:nvSpPr>
          <p:cNvPr id="30" name="Rectangle 29"/>
          <p:cNvSpPr/>
          <p:nvPr/>
        </p:nvSpPr>
        <p:spPr>
          <a:xfrm>
            <a:off x="1828800" y="2139696"/>
            <a:ext cx="19659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74520" y="2212848"/>
            <a:ext cx="1874520" cy="384048"/>
          </a:xfrm>
          <a:prstGeom prst="rect">
            <a:avLst/>
          </a:prstGeom>
          <a:noFill/>
        </p:spPr>
        <p:txBody>
          <a:bodyPr wrap="square">
            <a:spAutoFit/>
          </a:bodyPr>
          <a:lstStyle/>
          <a:p>
            <a:pPr algn="ctr"/>
            <a:r>
              <a:rPr sz="1200" b="0">
                <a:solidFill>
                  <a:srgbClr val="27AE60"/>
                </a:solidFill>
                <a:latin typeface="Malgun Gothic"/>
              </a:rPr>
              <a:t>5개 동시</a:t>
            </a:r>
          </a:p>
        </p:txBody>
      </p:sp>
      <p:sp>
        <p:nvSpPr>
          <p:cNvPr id="32" name="Rectangle 31"/>
          <p:cNvSpPr/>
          <p:nvPr/>
        </p:nvSpPr>
        <p:spPr>
          <a:xfrm>
            <a:off x="3840480" y="2139696"/>
            <a:ext cx="16002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86200" y="2212848"/>
            <a:ext cx="1508760" cy="384048"/>
          </a:xfrm>
          <a:prstGeom prst="rect">
            <a:avLst/>
          </a:prstGeom>
          <a:noFill/>
        </p:spPr>
        <p:txBody>
          <a:bodyPr wrap="square">
            <a:spAutoFit/>
          </a:bodyPr>
          <a:lstStyle/>
          <a:p>
            <a:pPr algn="ctr"/>
            <a:r>
              <a:rPr sz="1200" b="0">
                <a:solidFill>
                  <a:srgbClr val="404040"/>
                </a:solidFill>
                <a:latin typeface="Malgun Gothic"/>
              </a:rPr>
              <a:t>Agent Teams(β)</a:t>
            </a:r>
          </a:p>
        </p:txBody>
      </p:sp>
      <p:sp>
        <p:nvSpPr>
          <p:cNvPr id="34" name="Rectangle 33"/>
          <p:cNvSpPr/>
          <p:nvPr/>
        </p:nvSpPr>
        <p:spPr>
          <a:xfrm>
            <a:off x="5486400" y="2139696"/>
            <a:ext cx="13258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32120" y="2212848"/>
            <a:ext cx="1234440" cy="384048"/>
          </a:xfrm>
          <a:prstGeom prst="rect">
            <a:avLst/>
          </a:prstGeom>
          <a:noFill/>
        </p:spPr>
        <p:txBody>
          <a:bodyPr wrap="square">
            <a:spAutoFit/>
          </a:bodyPr>
          <a:lstStyle/>
          <a:p>
            <a:pPr algn="ctr"/>
            <a:r>
              <a:rPr sz="1200" b="0">
                <a:solidFill>
                  <a:srgbClr val="404040"/>
                </a:solidFill>
                <a:latin typeface="Malgun Gothic"/>
              </a:rPr>
              <a:t>없음(순차)</a:t>
            </a:r>
          </a:p>
        </p:txBody>
      </p:sp>
      <p:sp>
        <p:nvSpPr>
          <p:cNvPr id="36" name="Rectangle 35"/>
          <p:cNvSpPr/>
          <p:nvPr/>
        </p:nvSpPr>
        <p:spPr>
          <a:xfrm>
            <a:off x="6858000" y="2139696"/>
            <a:ext cx="19659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03720" y="2212848"/>
            <a:ext cx="1874520" cy="384048"/>
          </a:xfrm>
          <a:prstGeom prst="rect">
            <a:avLst/>
          </a:prstGeom>
          <a:noFill/>
        </p:spPr>
        <p:txBody>
          <a:bodyPr wrap="square">
            <a:spAutoFit/>
          </a:bodyPr>
          <a:lstStyle/>
          <a:p>
            <a:pPr algn="ctr"/>
            <a:r>
              <a:rPr sz="1200" b="0">
                <a:solidFill>
                  <a:srgbClr val="404040"/>
                </a:solidFill>
                <a:latin typeface="Malgun Gothic"/>
              </a:rPr>
              <a:t>없음</a:t>
            </a:r>
          </a:p>
        </p:txBody>
      </p:sp>
      <p:sp>
        <p:nvSpPr>
          <p:cNvPr id="38" name="Rectangle 37"/>
          <p:cNvSpPr/>
          <p:nvPr/>
        </p:nvSpPr>
        <p:spPr>
          <a:xfrm>
            <a:off x="8869680" y="2139696"/>
            <a:ext cx="13258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15400" y="2212848"/>
            <a:ext cx="1234440" cy="384048"/>
          </a:xfrm>
          <a:prstGeom prst="rect">
            <a:avLst/>
          </a:prstGeom>
          <a:noFill/>
        </p:spPr>
        <p:txBody>
          <a:bodyPr wrap="square">
            <a:spAutoFit/>
          </a:bodyPr>
          <a:lstStyle/>
          <a:p>
            <a:pPr algn="ctr"/>
            <a:r>
              <a:rPr sz="1200" b="0">
                <a:solidFill>
                  <a:srgbClr val="404040"/>
                </a:solidFill>
                <a:latin typeface="Malgun Gothic"/>
              </a:rPr>
              <a:t>싱글</a:t>
            </a:r>
          </a:p>
        </p:txBody>
      </p:sp>
      <p:sp>
        <p:nvSpPr>
          <p:cNvPr id="40" name="Rectangle 39"/>
          <p:cNvSpPr/>
          <p:nvPr/>
        </p:nvSpPr>
        <p:spPr>
          <a:xfrm>
            <a:off x="182880" y="2706624"/>
            <a:ext cx="160020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8600" y="2779776"/>
            <a:ext cx="1508760" cy="384048"/>
          </a:xfrm>
          <a:prstGeom prst="rect">
            <a:avLst/>
          </a:prstGeom>
          <a:noFill/>
        </p:spPr>
        <p:txBody>
          <a:bodyPr wrap="square">
            <a:spAutoFit/>
          </a:bodyPr>
          <a:lstStyle/>
          <a:p>
            <a:pPr algn="ctr"/>
            <a:r>
              <a:rPr sz="1200" b="0">
                <a:solidFill>
                  <a:srgbClr val="404040"/>
                </a:solidFill>
                <a:latin typeface="Malgun Gothic"/>
              </a:rPr>
              <a:t>브라우저 통합</a:t>
            </a:r>
          </a:p>
        </p:txBody>
      </p:sp>
      <p:sp>
        <p:nvSpPr>
          <p:cNvPr id="42" name="Rectangle 41"/>
          <p:cNvSpPr/>
          <p:nvPr/>
        </p:nvSpPr>
        <p:spPr>
          <a:xfrm>
            <a:off x="1828800" y="2706624"/>
            <a:ext cx="196596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74520" y="2779776"/>
            <a:ext cx="1874520" cy="384048"/>
          </a:xfrm>
          <a:prstGeom prst="rect">
            <a:avLst/>
          </a:prstGeom>
          <a:noFill/>
        </p:spPr>
        <p:txBody>
          <a:bodyPr wrap="square">
            <a:spAutoFit/>
          </a:bodyPr>
          <a:lstStyle/>
          <a:p>
            <a:pPr algn="ctr"/>
            <a:r>
              <a:rPr sz="1200" b="0">
                <a:solidFill>
                  <a:srgbClr val="27AE60"/>
                </a:solidFill>
                <a:latin typeface="Malgun Gothic"/>
              </a:rPr>
              <a:t>내장 Chromium</a:t>
            </a:r>
          </a:p>
        </p:txBody>
      </p:sp>
      <p:sp>
        <p:nvSpPr>
          <p:cNvPr id="44" name="Rectangle 43"/>
          <p:cNvSpPr/>
          <p:nvPr/>
        </p:nvSpPr>
        <p:spPr>
          <a:xfrm>
            <a:off x="3840480" y="2706624"/>
            <a:ext cx="160020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86200" y="2779776"/>
            <a:ext cx="1508760" cy="384048"/>
          </a:xfrm>
          <a:prstGeom prst="rect">
            <a:avLst/>
          </a:prstGeom>
          <a:noFill/>
        </p:spPr>
        <p:txBody>
          <a:bodyPr wrap="square">
            <a:spAutoFit/>
          </a:bodyPr>
          <a:lstStyle/>
          <a:p>
            <a:pPr algn="ctr"/>
            <a:r>
              <a:rPr sz="1200" b="0">
                <a:solidFill>
                  <a:srgbClr val="404040"/>
                </a:solidFill>
                <a:latin typeface="Malgun Gothic"/>
              </a:rPr>
              <a:t>MCP 경유</a:t>
            </a:r>
          </a:p>
        </p:txBody>
      </p:sp>
      <p:sp>
        <p:nvSpPr>
          <p:cNvPr id="46" name="Rectangle 45"/>
          <p:cNvSpPr/>
          <p:nvPr/>
        </p:nvSpPr>
        <p:spPr>
          <a:xfrm>
            <a:off x="5486400" y="2706624"/>
            <a:ext cx="132588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32120" y="2779776"/>
            <a:ext cx="1234440" cy="384048"/>
          </a:xfrm>
          <a:prstGeom prst="rect">
            <a:avLst/>
          </a:prstGeom>
          <a:noFill/>
        </p:spPr>
        <p:txBody>
          <a:bodyPr wrap="square">
            <a:spAutoFit/>
          </a:bodyPr>
          <a:lstStyle/>
          <a:p>
            <a:pPr algn="ctr"/>
            <a:r>
              <a:rPr sz="1200" b="0">
                <a:solidFill>
                  <a:srgbClr val="404040"/>
                </a:solidFill>
                <a:latin typeface="Malgun Gothic"/>
              </a:rPr>
              <a:t>없음</a:t>
            </a:r>
          </a:p>
        </p:txBody>
      </p:sp>
      <p:sp>
        <p:nvSpPr>
          <p:cNvPr id="48" name="Rectangle 47"/>
          <p:cNvSpPr/>
          <p:nvPr/>
        </p:nvSpPr>
        <p:spPr>
          <a:xfrm>
            <a:off x="6858000" y="2706624"/>
            <a:ext cx="196596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03720" y="2779776"/>
            <a:ext cx="1874520" cy="384048"/>
          </a:xfrm>
          <a:prstGeom prst="rect">
            <a:avLst/>
          </a:prstGeom>
          <a:noFill/>
        </p:spPr>
        <p:txBody>
          <a:bodyPr wrap="square">
            <a:spAutoFit/>
          </a:bodyPr>
          <a:lstStyle/>
          <a:p>
            <a:pPr algn="ctr"/>
            <a:r>
              <a:rPr sz="1200" b="0">
                <a:solidFill>
                  <a:srgbClr val="404040"/>
                </a:solidFill>
                <a:latin typeface="Malgun Gothic"/>
              </a:rPr>
              <a:t>없음</a:t>
            </a:r>
          </a:p>
        </p:txBody>
      </p:sp>
      <p:sp>
        <p:nvSpPr>
          <p:cNvPr id="50" name="Rectangle 49"/>
          <p:cNvSpPr/>
          <p:nvPr/>
        </p:nvSpPr>
        <p:spPr>
          <a:xfrm>
            <a:off x="8869680" y="2706624"/>
            <a:ext cx="132588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915400" y="2779776"/>
            <a:ext cx="1234440" cy="384048"/>
          </a:xfrm>
          <a:prstGeom prst="rect">
            <a:avLst/>
          </a:prstGeom>
          <a:noFill/>
        </p:spPr>
        <p:txBody>
          <a:bodyPr wrap="square">
            <a:spAutoFit/>
          </a:bodyPr>
          <a:lstStyle/>
          <a:p>
            <a:pPr algn="ctr"/>
            <a:r>
              <a:rPr sz="1200" b="0">
                <a:solidFill>
                  <a:srgbClr val="404040"/>
                </a:solidFill>
                <a:latin typeface="Malgun Gothic"/>
              </a:rPr>
              <a:t>내장</a:t>
            </a:r>
          </a:p>
        </p:txBody>
      </p:sp>
      <p:sp>
        <p:nvSpPr>
          <p:cNvPr id="52" name="Rectangle 51"/>
          <p:cNvSpPr/>
          <p:nvPr/>
        </p:nvSpPr>
        <p:spPr>
          <a:xfrm>
            <a:off x="182880" y="3273552"/>
            <a:ext cx="16002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8600" y="3346704"/>
            <a:ext cx="1508760" cy="384048"/>
          </a:xfrm>
          <a:prstGeom prst="rect">
            <a:avLst/>
          </a:prstGeom>
          <a:noFill/>
        </p:spPr>
        <p:txBody>
          <a:bodyPr wrap="square">
            <a:spAutoFit/>
          </a:bodyPr>
          <a:lstStyle/>
          <a:p>
            <a:pPr algn="ctr"/>
            <a:r>
              <a:rPr sz="1200" b="0">
                <a:solidFill>
                  <a:srgbClr val="404040"/>
                </a:solidFill>
                <a:latin typeface="Malgun Gothic"/>
              </a:rPr>
              <a:t>컨텍스트</a:t>
            </a:r>
          </a:p>
        </p:txBody>
      </p:sp>
      <p:sp>
        <p:nvSpPr>
          <p:cNvPr id="54" name="Rectangle 53"/>
          <p:cNvSpPr/>
          <p:nvPr/>
        </p:nvSpPr>
        <p:spPr>
          <a:xfrm>
            <a:off x="1828800" y="3273552"/>
            <a:ext cx="19659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874520" y="3346704"/>
            <a:ext cx="1874520" cy="384048"/>
          </a:xfrm>
          <a:prstGeom prst="rect">
            <a:avLst/>
          </a:prstGeom>
          <a:noFill/>
        </p:spPr>
        <p:txBody>
          <a:bodyPr wrap="square">
            <a:spAutoFit/>
          </a:bodyPr>
          <a:lstStyle/>
          <a:p>
            <a:pPr algn="ctr"/>
            <a:r>
              <a:rPr sz="1200" b="0">
                <a:solidFill>
                  <a:srgbClr val="27AE60"/>
                </a:solidFill>
                <a:latin typeface="Malgun Gothic"/>
              </a:rPr>
              <a:t>1M 토큰</a:t>
            </a:r>
          </a:p>
        </p:txBody>
      </p:sp>
      <p:sp>
        <p:nvSpPr>
          <p:cNvPr id="56" name="Rectangle 55"/>
          <p:cNvSpPr/>
          <p:nvPr/>
        </p:nvSpPr>
        <p:spPr>
          <a:xfrm>
            <a:off x="3840480" y="3273552"/>
            <a:ext cx="16002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886200" y="3346704"/>
            <a:ext cx="1508760" cy="384048"/>
          </a:xfrm>
          <a:prstGeom prst="rect">
            <a:avLst/>
          </a:prstGeom>
          <a:noFill/>
        </p:spPr>
        <p:txBody>
          <a:bodyPr wrap="square">
            <a:spAutoFit/>
          </a:bodyPr>
          <a:lstStyle/>
          <a:p>
            <a:pPr algn="ctr"/>
            <a:r>
              <a:rPr sz="1200" b="0">
                <a:solidFill>
                  <a:srgbClr val="404040"/>
                </a:solidFill>
                <a:latin typeface="Malgun Gothic"/>
              </a:rPr>
              <a:t>1M 토큰(β)</a:t>
            </a:r>
          </a:p>
        </p:txBody>
      </p:sp>
      <p:sp>
        <p:nvSpPr>
          <p:cNvPr id="58" name="Rectangle 57"/>
          <p:cNvSpPr/>
          <p:nvPr/>
        </p:nvSpPr>
        <p:spPr>
          <a:xfrm>
            <a:off x="5486400" y="3273552"/>
            <a:ext cx="13258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532120" y="3346704"/>
            <a:ext cx="1234440" cy="384048"/>
          </a:xfrm>
          <a:prstGeom prst="rect">
            <a:avLst/>
          </a:prstGeom>
          <a:noFill/>
        </p:spPr>
        <p:txBody>
          <a:bodyPr wrap="square">
            <a:spAutoFit/>
          </a:bodyPr>
          <a:lstStyle/>
          <a:p>
            <a:pPr algn="ctr"/>
            <a:r>
              <a:rPr sz="1200" b="0">
                <a:solidFill>
                  <a:srgbClr val="404040"/>
                </a:solidFill>
                <a:latin typeface="Malgun Gothic"/>
              </a:rPr>
              <a:t>모델 의존</a:t>
            </a:r>
          </a:p>
        </p:txBody>
      </p:sp>
      <p:sp>
        <p:nvSpPr>
          <p:cNvPr id="60" name="Rectangle 59"/>
          <p:cNvSpPr/>
          <p:nvPr/>
        </p:nvSpPr>
        <p:spPr>
          <a:xfrm>
            <a:off x="6858000" y="3273552"/>
            <a:ext cx="19659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903720" y="3346704"/>
            <a:ext cx="1874520" cy="384048"/>
          </a:xfrm>
          <a:prstGeom prst="rect">
            <a:avLst/>
          </a:prstGeom>
          <a:noFill/>
        </p:spPr>
        <p:txBody>
          <a:bodyPr wrap="square">
            <a:spAutoFit/>
          </a:bodyPr>
          <a:lstStyle/>
          <a:p>
            <a:pPr algn="ctr"/>
            <a:r>
              <a:rPr sz="1200" b="0">
                <a:solidFill>
                  <a:srgbClr val="404040"/>
                </a:solidFill>
                <a:latin typeface="Malgun Gothic"/>
              </a:rPr>
              <a:t>모델 의존</a:t>
            </a:r>
          </a:p>
        </p:txBody>
      </p:sp>
      <p:sp>
        <p:nvSpPr>
          <p:cNvPr id="62" name="Rectangle 61"/>
          <p:cNvSpPr/>
          <p:nvPr/>
        </p:nvSpPr>
        <p:spPr>
          <a:xfrm>
            <a:off x="8869680" y="3273552"/>
            <a:ext cx="13258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915400" y="3346704"/>
            <a:ext cx="1234440" cy="384048"/>
          </a:xfrm>
          <a:prstGeom prst="rect">
            <a:avLst/>
          </a:prstGeom>
          <a:noFill/>
        </p:spPr>
        <p:txBody>
          <a:bodyPr wrap="square">
            <a:spAutoFit/>
          </a:bodyPr>
          <a:lstStyle/>
          <a:p>
            <a:pPr algn="ctr"/>
            <a:r>
              <a:rPr sz="1200" b="0">
                <a:solidFill>
                  <a:srgbClr val="404040"/>
                </a:solidFill>
                <a:latin typeface="Malgun Gothic"/>
              </a:rPr>
              <a:t>모델 의존</a:t>
            </a:r>
          </a:p>
        </p:txBody>
      </p:sp>
      <p:sp>
        <p:nvSpPr>
          <p:cNvPr id="64" name="Rectangle 63"/>
          <p:cNvSpPr/>
          <p:nvPr/>
        </p:nvSpPr>
        <p:spPr>
          <a:xfrm>
            <a:off x="182880" y="3840480"/>
            <a:ext cx="160020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28600" y="3913632"/>
            <a:ext cx="1508760" cy="384048"/>
          </a:xfrm>
          <a:prstGeom prst="rect">
            <a:avLst/>
          </a:prstGeom>
          <a:noFill/>
        </p:spPr>
        <p:txBody>
          <a:bodyPr wrap="square">
            <a:spAutoFit/>
          </a:bodyPr>
          <a:lstStyle/>
          <a:p>
            <a:pPr algn="ctr"/>
            <a:r>
              <a:rPr sz="1200" b="0">
                <a:solidFill>
                  <a:srgbClr val="404040"/>
                </a:solidFill>
                <a:latin typeface="Malgun Gothic"/>
              </a:rPr>
              <a:t>개인 가격</a:t>
            </a:r>
          </a:p>
        </p:txBody>
      </p:sp>
      <p:sp>
        <p:nvSpPr>
          <p:cNvPr id="66" name="Rectangle 65"/>
          <p:cNvSpPr/>
          <p:nvPr/>
        </p:nvSpPr>
        <p:spPr>
          <a:xfrm>
            <a:off x="1828800" y="3840480"/>
            <a:ext cx="196596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74520" y="3913632"/>
            <a:ext cx="1874520" cy="384048"/>
          </a:xfrm>
          <a:prstGeom prst="rect">
            <a:avLst/>
          </a:prstGeom>
          <a:noFill/>
        </p:spPr>
        <p:txBody>
          <a:bodyPr wrap="square">
            <a:spAutoFit/>
          </a:bodyPr>
          <a:lstStyle/>
          <a:p>
            <a:pPr algn="ctr"/>
            <a:r>
              <a:rPr sz="1200" b="0">
                <a:solidFill>
                  <a:srgbClr val="27AE60"/>
                </a:solidFill>
                <a:latin typeface="Malgun Gothic"/>
              </a:rPr>
              <a:t>무료~$100/월</a:t>
            </a:r>
          </a:p>
        </p:txBody>
      </p:sp>
      <p:sp>
        <p:nvSpPr>
          <p:cNvPr id="68" name="Rectangle 67"/>
          <p:cNvSpPr/>
          <p:nvPr/>
        </p:nvSpPr>
        <p:spPr>
          <a:xfrm>
            <a:off x="3840480" y="3840480"/>
            <a:ext cx="160020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86200" y="3913632"/>
            <a:ext cx="1508760" cy="384048"/>
          </a:xfrm>
          <a:prstGeom prst="rect">
            <a:avLst/>
          </a:prstGeom>
          <a:noFill/>
        </p:spPr>
        <p:txBody>
          <a:bodyPr wrap="square">
            <a:spAutoFit/>
          </a:bodyPr>
          <a:lstStyle/>
          <a:p>
            <a:pPr algn="ctr"/>
            <a:r>
              <a:rPr sz="1200" b="0">
                <a:solidFill>
                  <a:srgbClr val="404040"/>
                </a:solidFill>
                <a:latin typeface="Malgun Gothic"/>
              </a:rPr>
              <a:t>$17~$200/월</a:t>
            </a:r>
          </a:p>
        </p:txBody>
      </p:sp>
      <p:sp>
        <p:nvSpPr>
          <p:cNvPr id="70" name="Rectangle 69"/>
          <p:cNvSpPr/>
          <p:nvPr/>
        </p:nvSpPr>
        <p:spPr>
          <a:xfrm>
            <a:off x="5486400" y="3840480"/>
            <a:ext cx="132588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32120" y="3913632"/>
            <a:ext cx="1234440" cy="384048"/>
          </a:xfrm>
          <a:prstGeom prst="rect">
            <a:avLst/>
          </a:prstGeom>
          <a:noFill/>
        </p:spPr>
        <p:txBody>
          <a:bodyPr wrap="square">
            <a:spAutoFit/>
          </a:bodyPr>
          <a:lstStyle/>
          <a:p>
            <a:pPr algn="ctr"/>
            <a:r>
              <a:rPr sz="1200" b="0">
                <a:solidFill>
                  <a:srgbClr val="404040"/>
                </a:solidFill>
                <a:latin typeface="Malgun Gothic"/>
              </a:rPr>
              <a:t>$20/월</a:t>
            </a:r>
          </a:p>
        </p:txBody>
      </p:sp>
      <p:sp>
        <p:nvSpPr>
          <p:cNvPr id="72" name="Rectangle 71"/>
          <p:cNvSpPr/>
          <p:nvPr/>
        </p:nvSpPr>
        <p:spPr>
          <a:xfrm>
            <a:off x="6858000" y="3840480"/>
            <a:ext cx="196596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03720" y="3913632"/>
            <a:ext cx="1874520" cy="384048"/>
          </a:xfrm>
          <a:prstGeom prst="rect">
            <a:avLst/>
          </a:prstGeom>
          <a:noFill/>
        </p:spPr>
        <p:txBody>
          <a:bodyPr wrap="square">
            <a:spAutoFit/>
          </a:bodyPr>
          <a:lstStyle/>
          <a:p>
            <a:pPr algn="ctr"/>
            <a:r>
              <a:rPr sz="1200" b="0">
                <a:solidFill>
                  <a:srgbClr val="404040"/>
                </a:solidFill>
                <a:latin typeface="Malgun Gothic"/>
              </a:rPr>
              <a:t>$10/월</a:t>
            </a:r>
          </a:p>
        </p:txBody>
      </p:sp>
      <p:sp>
        <p:nvSpPr>
          <p:cNvPr id="74" name="Rectangle 73"/>
          <p:cNvSpPr/>
          <p:nvPr/>
        </p:nvSpPr>
        <p:spPr>
          <a:xfrm>
            <a:off x="8869680" y="3840480"/>
            <a:ext cx="1325880" cy="539496"/>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915400" y="3913632"/>
            <a:ext cx="1234440" cy="384048"/>
          </a:xfrm>
          <a:prstGeom prst="rect">
            <a:avLst/>
          </a:prstGeom>
          <a:noFill/>
        </p:spPr>
        <p:txBody>
          <a:bodyPr wrap="square">
            <a:spAutoFit/>
          </a:bodyPr>
          <a:lstStyle/>
          <a:p>
            <a:pPr algn="ctr"/>
            <a:r>
              <a:rPr sz="1200" b="0">
                <a:solidFill>
                  <a:srgbClr val="404040"/>
                </a:solidFill>
                <a:latin typeface="Malgun Gothic"/>
              </a:rPr>
              <a:t>$500/월</a:t>
            </a:r>
          </a:p>
        </p:txBody>
      </p:sp>
      <p:sp>
        <p:nvSpPr>
          <p:cNvPr id="76" name="Rectangle 75"/>
          <p:cNvSpPr/>
          <p:nvPr/>
        </p:nvSpPr>
        <p:spPr>
          <a:xfrm>
            <a:off x="182880" y="4407408"/>
            <a:ext cx="16002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28600" y="4480560"/>
            <a:ext cx="1508760" cy="384048"/>
          </a:xfrm>
          <a:prstGeom prst="rect">
            <a:avLst/>
          </a:prstGeom>
          <a:noFill/>
        </p:spPr>
        <p:txBody>
          <a:bodyPr wrap="square">
            <a:spAutoFit/>
          </a:bodyPr>
          <a:lstStyle/>
          <a:p>
            <a:pPr algn="ctr"/>
            <a:r>
              <a:rPr sz="1200" b="0">
                <a:solidFill>
                  <a:srgbClr val="404040"/>
                </a:solidFill>
                <a:latin typeface="Malgun Gothic"/>
              </a:rPr>
              <a:t>성숙도</a:t>
            </a:r>
          </a:p>
        </p:txBody>
      </p:sp>
      <p:sp>
        <p:nvSpPr>
          <p:cNvPr id="78" name="Rectangle 77"/>
          <p:cNvSpPr/>
          <p:nvPr/>
        </p:nvSpPr>
        <p:spPr>
          <a:xfrm>
            <a:off x="1828800" y="4407408"/>
            <a:ext cx="19659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874520" y="4480560"/>
            <a:ext cx="1874520" cy="384048"/>
          </a:xfrm>
          <a:prstGeom prst="rect">
            <a:avLst/>
          </a:prstGeom>
          <a:noFill/>
        </p:spPr>
        <p:txBody>
          <a:bodyPr wrap="square">
            <a:spAutoFit/>
          </a:bodyPr>
          <a:lstStyle/>
          <a:p>
            <a:pPr algn="ctr"/>
            <a:r>
              <a:rPr sz="1200" b="0">
                <a:solidFill>
                  <a:srgbClr val="404040"/>
                </a:solidFill>
                <a:latin typeface="Malgun Gothic"/>
              </a:rPr>
              <a:t>프리뷰</a:t>
            </a:r>
          </a:p>
        </p:txBody>
      </p:sp>
      <p:sp>
        <p:nvSpPr>
          <p:cNvPr id="80" name="Rectangle 79"/>
          <p:cNvSpPr/>
          <p:nvPr/>
        </p:nvSpPr>
        <p:spPr>
          <a:xfrm>
            <a:off x="3840480" y="4407408"/>
            <a:ext cx="16002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886200" y="4480560"/>
            <a:ext cx="1508760" cy="384048"/>
          </a:xfrm>
          <a:prstGeom prst="rect">
            <a:avLst/>
          </a:prstGeom>
          <a:noFill/>
        </p:spPr>
        <p:txBody>
          <a:bodyPr wrap="square">
            <a:spAutoFit/>
          </a:bodyPr>
          <a:lstStyle/>
          <a:p>
            <a:pPr algn="ctr"/>
            <a:r>
              <a:rPr sz="1200" b="0">
                <a:solidFill>
                  <a:srgbClr val="404040"/>
                </a:solidFill>
                <a:latin typeface="Malgun Gothic"/>
              </a:rPr>
              <a:t>GA (안정)</a:t>
            </a:r>
          </a:p>
        </p:txBody>
      </p:sp>
      <p:sp>
        <p:nvSpPr>
          <p:cNvPr id="82" name="Rectangle 81"/>
          <p:cNvSpPr/>
          <p:nvPr/>
        </p:nvSpPr>
        <p:spPr>
          <a:xfrm>
            <a:off x="5486400" y="4407408"/>
            <a:ext cx="13258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532120" y="4480560"/>
            <a:ext cx="1234440" cy="384048"/>
          </a:xfrm>
          <a:prstGeom prst="rect">
            <a:avLst/>
          </a:prstGeom>
          <a:noFill/>
        </p:spPr>
        <p:txBody>
          <a:bodyPr wrap="square">
            <a:spAutoFit/>
          </a:bodyPr>
          <a:lstStyle/>
          <a:p>
            <a:pPr algn="ctr"/>
            <a:r>
              <a:rPr sz="1200" b="0">
                <a:solidFill>
                  <a:srgbClr val="404040"/>
                </a:solidFill>
                <a:latin typeface="Malgun Gothic"/>
              </a:rPr>
              <a:t>GA (안정)</a:t>
            </a:r>
          </a:p>
        </p:txBody>
      </p:sp>
      <p:sp>
        <p:nvSpPr>
          <p:cNvPr id="84" name="Rectangle 83"/>
          <p:cNvSpPr/>
          <p:nvPr/>
        </p:nvSpPr>
        <p:spPr>
          <a:xfrm>
            <a:off x="6858000" y="4407408"/>
            <a:ext cx="19659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03720" y="4480560"/>
            <a:ext cx="1874520" cy="384048"/>
          </a:xfrm>
          <a:prstGeom prst="rect">
            <a:avLst/>
          </a:prstGeom>
          <a:noFill/>
        </p:spPr>
        <p:txBody>
          <a:bodyPr wrap="square">
            <a:spAutoFit/>
          </a:bodyPr>
          <a:lstStyle/>
          <a:p>
            <a:pPr algn="ctr"/>
            <a:r>
              <a:rPr sz="1200" b="0">
                <a:solidFill>
                  <a:srgbClr val="404040"/>
                </a:solidFill>
                <a:latin typeface="Malgun Gothic"/>
              </a:rPr>
              <a:t>GA (안정)</a:t>
            </a:r>
          </a:p>
        </p:txBody>
      </p:sp>
      <p:sp>
        <p:nvSpPr>
          <p:cNvPr id="86" name="Rectangle 85"/>
          <p:cNvSpPr/>
          <p:nvPr/>
        </p:nvSpPr>
        <p:spPr>
          <a:xfrm>
            <a:off x="8869680" y="4407408"/>
            <a:ext cx="13258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915400" y="4480560"/>
            <a:ext cx="1234440" cy="384048"/>
          </a:xfrm>
          <a:prstGeom prst="rect">
            <a:avLst/>
          </a:prstGeom>
          <a:noFill/>
        </p:spPr>
        <p:txBody>
          <a:bodyPr wrap="square">
            <a:spAutoFit/>
          </a:bodyPr>
          <a:lstStyle/>
          <a:p>
            <a:pPr algn="ctr"/>
            <a:r>
              <a:rPr sz="1200" b="0">
                <a:solidFill>
                  <a:srgbClr val="404040"/>
                </a:solidFill>
                <a:latin typeface="Malgun Gothic"/>
              </a:rPr>
              <a:t>GA (안정)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아키텍처 &amp; 기술 스택</a:t>
            </a:r>
          </a:p>
        </p:txBody>
      </p:sp>
      <p:sp>
        <p:nvSpPr>
          <p:cNvPr id="4" name="Rectangle 3"/>
          <p:cNvSpPr/>
          <p:nvPr/>
        </p:nvSpPr>
        <p:spPr>
          <a:xfrm>
            <a:off x="4114800" y="1005840"/>
            <a:ext cx="3931920" cy="6400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1051560"/>
            <a:ext cx="3931920" cy="548640"/>
          </a:xfrm>
          <a:prstGeom prst="rect">
            <a:avLst/>
          </a:prstGeom>
          <a:noFill/>
        </p:spPr>
        <p:txBody>
          <a:bodyPr wrap="square">
            <a:spAutoFit/>
          </a:bodyPr>
          <a:lstStyle/>
          <a:p>
            <a:pPr algn="ctr"/>
            <a:r>
              <a:rPr sz="1800" b="1">
                <a:solidFill>
                  <a:srgbClr val="FFFFFF"/>
                </a:solidFill>
                <a:latin typeface="Malgun Gothic"/>
              </a:rPr>
              <a:t>Agent Harness</a:t>
            </a:r>
          </a:p>
        </p:txBody>
      </p:sp>
      <p:sp>
        <p:nvSpPr>
          <p:cNvPr id="6" name="Rectangle 5"/>
          <p:cNvSpPr/>
          <p:nvPr/>
        </p:nvSpPr>
        <p:spPr>
          <a:xfrm>
            <a:off x="274320" y="1920240"/>
            <a:ext cx="2651760" cy="10058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65960"/>
            <a:ext cx="2468880" cy="822960"/>
          </a:xfrm>
          <a:prstGeom prst="rect">
            <a:avLst/>
          </a:prstGeom>
          <a:noFill/>
        </p:spPr>
        <p:txBody>
          <a:bodyPr wrap="square">
            <a:spAutoFit/>
          </a:bodyPr>
          <a:lstStyle/>
          <a:p>
            <a:pPr algn="ctr"/>
            <a:r>
              <a:rPr sz="1400" b="1">
                <a:solidFill>
                  <a:srgbClr val="FFFFFF"/>
                </a:solidFill>
                <a:latin typeface="Malgun Gothic"/>
              </a:rPr>
              <a:t>Antigravity 2.0
데스크탑 앱</a:t>
            </a:r>
          </a:p>
        </p:txBody>
      </p:sp>
      <p:sp>
        <p:nvSpPr>
          <p:cNvPr id="8" name="Rectangle 7"/>
          <p:cNvSpPr/>
          <p:nvPr/>
        </p:nvSpPr>
        <p:spPr>
          <a:xfrm>
            <a:off x="3200400" y="1920240"/>
            <a:ext cx="2651760"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965960"/>
            <a:ext cx="2468880" cy="822960"/>
          </a:xfrm>
          <a:prstGeom prst="rect">
            <a:avLst/>
          </a:prstGeom>
          <a:noFill/>
        </p:spPr>
        <p:txBody>
          <a:bodyPr wrap="square">
            <a:spAutoFit/>
          </a:bodyPr>
          <a:lstStyle/>
          <a:p>
            <a:pPr algn="ctr"/>
            <a:r>
              <a:rPr sz="1400" b="1">
                <a:solidFill>
                  <a:srgbClr val="FFFFFF"/>
                </a:solidFill>
                <a:latin typeface="Malgun Gothic"/>
              </a:rPr>
              <a:t>Antigravity CLI
(Go 재작성)</a:t>
            </a:r>
          </a:p>
        </p:txBody>
      </p:sp>
      <p:sp>
        <p:nvSpPr>
          <p:cNvPr id="10" name="Rectangle 9"/>
          <p:cNvSpPr/>
          <p:nvPr/>
        </p:nvSpPr>
        <p:spPr>
          <a:xfrm>
            <a:off x="6126480" y="1920240"/>
            <a:ext cx="2651760" cy="100584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965960"/>
            <a:ext cx="2468880" cy="822960"/>
          </a:xfrm>
          <a:prstGeom prst="rect">
            <a:avLst/>
          </a:prstGeom>
          <a:noFill/>
        </p:spPr>
        <p:txBody>
          <a:bodyPr wrap="square">
            <a:spAutoFit/>
          </a:bodyPr>
          <a:lstStyle/>
          <a:p>
            <a:pPr algn="ctr"/>
            <a:r>
              <a:rPr sz="1400" b="1">
                <a:solidFill>
                  <a:srgbClr val="FFFFFF"/>
                </a:solidFill>
                <a:latin typeface="Malgun Gothic"/>
              </a:rPr>
              <a:t>Antigravity SDK
커스텀 에이전트</a:t>
            </a:r>
          </a:p>
        </p:txBody>
      </p:sp>
      <p:sp>
        <p:nvSpPr>
          <p:cNvPr id="12" name="Rectangle 11"/>
          <p:cNvSpPr/>
          <p:nvPr/>
        </p:nvSpPr>
        <p:spPr>
          <a:xfrm>
            <a:off x="9052560" y="1920240"/>
            <a:ext cx="2651760" cy="10058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965960"/>
            <a:ext cx="2468880" cy="822960"/>
          </a:xfrm>
          <a:prstGeom prst="rect">
            <a:avLst/>
          </a:prstGeom>
          <a:noFill/>
        </p:spPr>
        <p:txBody>
          <a:bodyPr wrap="square">
            <a:spAutoFit/>
          </a:bodyPr>
          <a:lstStyle/>
          <a:p>
            <a:pPr algn="ctr"/>
            <a:r>
              <a:rPr sz="1400" b="1">
                <a:solidFill>
                  <a:srgbClr val="FFFFFF"/>
                </a:solidFill>
                <a:latin typeface="Malgun Gothic"/>
              </a:rPr>
              <a:t>Gemini Enterprise
Agent Platform</a:t>
            </a:r>
          </a:p>
        </p:txBody>
      </p:sp>
      <p:sp>
        <p:nvSpPr>
          <p:cNvPr id="14" name="Rectangle 13"/>
          <p:cNvSpPr/>
          <p:nvPr/>
        </p:nvSpPr>
        <p:spPr>
          <a:xfrm>
            <a:off x="274320" y="3200400"/>
            <a:ext cx="11430000" cy="7315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246120"/>
            <a:ext cx="11064240" cy="594360"/>
          </a:xfrm>
          <a:prstGeom prst="rect">
            <a:avLst/>
          </a:prstGeom>
          <a:noFill/>
        </p:spPr>
        <p:txBody>
          <a:bodyPr wrap="square">
            <a:spAutoFit/>
          </a:bodyPr>
          <a:lstStyle/>
          <a:p>
            <a:pPr algn="ctr"/>
            <a:r>
              <a:rPr sz="1400" b="0">
                <a:solidFill>
                  <a:srgbClr val="1F4E79"/>
                </a:solidFill>
                <a:latin typeface="Malgun Gothic"/>
              </a:rPr>
              <a:t>도구: 에디터 / 터미널 / 브라우저(Chromium) / Google Workspace API / Firebase / Android</a:t>
            </a:r>
          </a:p>
        </p:txBody>
      </p:sp>
      <p:sp>
        <p:nvSpPr>
          <p:cNvPr id="16" name="Rectangle 15"/>
          <p:cNvSpPr/>
          <p:nvPr/>
        </p:nvSpPr>
        <p:spPr>
          <a:xfrm>
            <a:off x="274320" y="4114800"/>
            <a:ext cx="11430000" cy="731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60520"/>
            <a:ext cx="11064240" cy="594360"/>
          </a:xfrm>
          <a:prstGeom prst="rect">
            <a:avLst/>
          </a:prstGeom>
          <a:noFill/>
        </p:spPr>
        <p:txBody>
          <a:bodyPr wrap="square">
            <a:spAutoFit/>
          </a:bodyPr>
          <a:lstStyle/>
          <a:p>
            <a:pPr algn="ctr"/>
            <a:r>
              <a:rPr sz="1400" b="0">
                <a:solidFill>
                  <a:srgbClr val="404040"/>
                </a:solidFill>
                <a:latin typeface="Malgun Gothic"/>
              </a:rPr>
              <a:t>모델: Gemini 3.5 Flash (기본)  |  Gemini 3.1 Pro  |  Claude Sonnet 4.5  |  GPT-OSS-120B</a:t>
            </a:r>
          </a:p>
        </p:txBody>
      </p:sp>
      <p:sp>
        <p:nvSpPr>
          <p:cNvPr id="18" name="TextBox 17"/>
          <p:cNvSpPr txBox="1"/>
          <p:nvPr/>
        </p:nvSpPr>
        <p:spPr>
          <a:xfrm>
            <a:off x="274320" y="5029200"/>
            <a:ext cx="11430000" cy="457200"/>
          </a:xfrm>
          <a:prstGeom prst="rect">
            <a:avLst/>
          </a:prstGeom>
          <a:noFill/>
        </p:spPr>
        <p:txBody>
          <a:bodyPr wrap="square">
            <a:spAutoFit/>
          </a:bodyPr>
          <a:lstStyle/>
          <a:p>
            <a:pPr algn="l"/>
            <a:r>
              <a:rPr sz="1600" b="1">
                <a:solidFill>
                  <a:srgbClr val="1F4E79"/>
                </a:solidFill>
                <a:latin typeface="Malgun Gothic"/>
              </a:rPr>
              <a:t>핵심 3대 아키텍처 원칙</a:t>
            </a:r>
          </a:p>
        </p:txBody>
      </p:sp>
      <p:sp>
        <p:nvSpPr>
          <p:cNvPr id="19" name="Rectangle 18"/>
          <p:cNvSpPr/>
          <p:nvPr/>
        </p:nvSpPr>
        <p:spPr>
          <a:xfrm>
            <a:off x="274320" y="5486400"/>
            <a:ext cx="3840480" cy="10972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5532120"/>
            <a:ext cx="3657600" cy="365760"/>
          </a:xfrm>
          <a:prstGeom prst="rect">
            <a:avLst/>
          </a:prstGeom>
          <a:noFill/>
        </p:spPr>
        <p:txBody>
          <a:bodyPr wrap="square">
            <a:spAutoFit/>
          </a:bodyPr>
          <a:lstStyle/>
          <a:p>
            <a:pPr algn="l"/>
            <a:r>
              <a:rPr sz="1400" b="1">
                <a:solidFill>
                  <a:srgbClr val="1F4E79"/>
                </a:solidFill>
                <a:latin typeface="Malgun Gothic"/>
              </a:rPr>
              <a:t>1. Agent Harness</a:t>
            </a:r>
          </a:p>
        </p:txBody>
      </p:sp>
      <p:sp>
        <p:nvSpPr>
          <p:cNvPr id="21" name="TextBox 20"/>
          <p:cNvSpPr txBox="1"/>
          <p:nvPr/>
        </p:nvSpPr>
        <p:spPr>
          <a:xfrm>
            <a:off x="365760" y="5897880"/>
            <a:ext cx="3657600" cy="594360"/>
          </a:xfrm>
          <a:prstGeom prst="rect">
            <a:avLst/>
          </a:prstGeom>
          <a:noFill/>
        </p:spPr>
        <p:txBody>
          <a:bodyPr wrap="square">
            <a:spAutoFit/>
          </a:bodyPr>
          <a:lstStyle/>
          <a:p>
            <a:pPr algn="l"/>
            <a:r>
              <a:rPr sz="1200" b="0">
                <a:solidFill>
                  <a:srgbClr val="404040"/>
                </a:solidFill>
                <a:latin typeface="Malgun Gothic"/>
              </a:rPr>
              <a:t>격리된 Linux 환경에서
추론·도구·코드 실행</a:t>
            </a:r>
          </a:p>
        </p:txBody>
      </p:sp>
      <p:sp>
        <p:nvSpPr>
          <p:cNvPr id="22" name="Rectangle 21"/>
          <p:cNvSpPr/>
          <p:nvPr/>
        </p:nvSpPr>
        <p:spPr>
          <a:xfrm>
            <a:off x="4297680" y="5486400"/>
            <a:ext cx="3840480" cy="10972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5532120"/>
            <a:ext cx="3657600" cy="365760"/>
          </a:xfrm>
          <a:prstGeom prst="rect">
            <a:avLst/>
          </a:prstGeom>
          <a:noFill/>
        </p:spPr>
        <p:txBody>
          <a:bodyPr wrap="square">
            <a:spAutoFit/>
          </a:bodyPr>
          <a:lstStyle/>
          <a:p>
            <a:pPr algn="l"/>
            <a:r>
              <a:rPr sz="1400" b="1">
                <a:solidFill>
                  <a:srgbClr val="1F4E79"/>
                </a:solidFill>
                <a:latin typeface="Malgun Gothic"/>
              </a:rPr>
              <a:t>2. Persistent State</a:t>
            </a:r>
          </a:p>
        </p:txBody>
      </p:sp>
      <p:sp>
        <p:nvSpPr>
          <p:cNvPr id="24" name="TextBox 23"/>
          <p:cNvSpPr txBox="1"/>
          <p:nvPr/>
        </p:nvSpPr>
        <p:spPr>
          <a:xfrm>
            <a:off x="4389120" y="5897880"/>
            <a:ext cx="3657600" cy="594360"/>
          </a:xfrm>
          <a:prstGeom prst="rect">
            <a:avLst/>
          </a:prstGeom>
          <a:noFill/>
        </p:spPr>
        <p:txBody>
          <a:bodyPr wrap="square">
            <a:spAutoFit/>
          </a:bodyPr>
          <a:lstStyle/>
          <a:p>
            <a:pPr algn="l"/>
            <a:r>
              <a:rPr sz="1200" b="0">
                <a:solidFill>
                  <a:srgbClr val="404040"/>
                </a:solidFill>
                <a:latin typeface="Malgun Gothic"/>
              </a:rPr>
              <a:t>멀티턴 세션에서
파일·컨텍스트 유지</a:t>
            </a:r>
          </a:p>
        </p:txBody>
      </p:sp>
      <p:sp>
        <p:nvSpPr>
          <p:cNvPr id="25" name="Rectangle 24"/>
          <p:cNvSpPr/>
          <p:nvPr/>
        </p:nvSpPr>
        <p:spPr>
          <a:xfrm>
            <a:off x="8321040" y="5486400"/>
            <a:ext cx="3840480" cy="10972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5532120"/>
            <a:ext cx="3657600" cy="365760"/>
          </a:xfrm>
          <a:prstGeom prst="rect">
            <a:avLst/>
          </a:prstGeom>
          <a:noFill/>
        </p:spPr>
        <p:txBody>
          <a:bodyPr wrap="square">
            <a:spAutoFit/>
          </a:bodyPr>
          <a:lstStyle/>
          <a:p>
            <a:pPr algn="l"/>
            <a:r>
              <a:rPr sz="1400" b="1">
                <a:solidFill>
                  <a:srgbClr val="1F4E79"/>
                </a:solidFill>
                <a:latin typeface="Malgun Gothic"/>
              </a:rPr>
              <a:t>3. Custom Agents</a:t>
            </a:r>
          </a:p>
        </p:txBody>
      </p:sp>
      <p:sp>
        <p:nvSpPr>
          <p:cNvPr id="27" name="TextBox 26"/>
          <p:cNvSpPr txBox="1"/>
          <p:nvPr/>
        </p:nvSpPr>
        <p:spPr>
          <a:xfrm>
            <a:off x="8412480" y="5897880"/>
            <a:ext cx="3657600" cy="594360"/>
          </a:xfrm>
          <a:prstGeom prst="rect">
            <a:avLst/>
          </a:prstGeom>
          <a:noFill/>
        </p:spPr>
        <p:txBody>
          <a:bodyPr wrap="square">
            <a:spAutoFit/>
          </a:bodyPr>
          <a:lstStyle/>
          <a:p>
            <a:pPr algn="l"/>
            <a:r>
              <a:rPr sz="1200" b="0">
                <a:solidFill>
                  <a:srgbClr val="404040"/>
                </a:solidFill>
                <a:latin typeface="Malgun Gothic"/>
              </a:rPr>
              <a:t>마크다운으로 정의
AI Studio에 템플릿 보관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UX — 두 개의 얼굴</a:t>
            </a:r>
          </a:p>
        </p:txBody>
      </p:sp>
      <p:sp>
        <p:nvSpPr>
          <p:cNvPr id="4" name="Rectangle 3"/>
          <p:cNvSpPr/>
          <p:nvPr/>
        </p:nvSpPr>
        <p:spPr>
          <a:xfrm>
            <a:off x="274320" y="1005840"/>
            <a:ext cx="5303520" cy="32004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4937760" cy="457200"/>
          </a:xfrm>
          <a:prstGeom prst="rect">
            <a:avLst/>
          </a:prstGeom>
          <a:noFill/>
        </p:spPr>
        <p:txBody>
          <a:bodyPr wrap="square">
            <a:spAutoFit/>
          </a:bodyPr>
          <a:lstStyle/>
          <a:p>
            <a:pPr algn="l"/>
            <a:r>
              <a:rPr sz="1800" b="1">
                <a:solidFill>
                  <a:srgbClr val="1F4E79"/>
                </a:solidFill>
                <a:latin typeface="Malgun Gothic"/>
              </a:rPr>
              <a:t>Editor View</a:t>
            </a:r>
          </a:p>
        </p:txBody>
      </p:sp>
      <p:sp>
        <p:nvSpPr>
          <p:cNvPr id="6" name="TextBox 5"/>
          <p:cNvSpPr txBox="1"/>
          <p:nvPr/>
        </p:nvSpPr>
        <p:spPr>
          <a:xfrm>
            <a:off x="548640" y="1600200"/>
            <a:ext cx="4754880" cy="502920"/>
          </a:xfrm>
          <a:prstGeom prst="rect">
            <a:avLst/>
          </a:prstGeom>
          <a:noFill/>
        </p:spPr>
        <p:txBody>
          <a:bodyPr wrap="square">
            <a:spAutoFit/>
          </a:bodyPr>
          <a:lstStyle/>
          <a:p>
            <a:pPr algn="l"/>
            <a:r>
              <a:rPr sz="1500" b="0">
                <a:solidFill>
                  <a:srgbClr val="404040"/>
                </a:solidFill>
                <a:latin typeface="Malgun Gothic"/>
              </a:rPr>
              <a:t>• AI 탭 완성 &amp; 인라인 명령</a:t>
            </a:r>
          </a:p>
        </p:txBody>
      </p:sp>
      <p:sp>
        <p:nvSpPr>
          <p:cNvPr id="7" name="TextBox 6"/>
          <p:cNvSpPr txBox="1"/>
          <p:nvPr/>
        </p:nvSpPr>
        <p:spPr>
          <a:xfrm>
            <a:off x="548640" y="2194560"/>
            <a:ext cx="4754880" cy="502920"/>
          </a:xfrm>
          <a:prstGeom prst="rect">
            <a:avLst/>
          </a:prstGeom>
          <a:noFill/>
        </p:spPr>
        <p:txBody>
          <a:bodyPr wrap="square">
            <a:spAutoFit/>
          </a:bodyPr>
          <a:lstStyle/>
          <a:p>
            <a:pPr algn="l"/>
            <a:r>
              <a:rPr sz="1500" b="0">
                <a:solidFill>
                  <a:srgbClr val="404040"/>
                </a:solidFill>
                <a:latin typeface="Malgun Gothic"/>
              </a:rPr>
              <a:t>• 코드 내비게이션</a:t>
            </a:r>
          </a:p>
        </p:txBody>
      </p:sp>
      <p:sp>
        <p:nvSpPr>
          <p:cNvPr id="8" name="TextBox 7"/>
          <p:cNvSpPr txBox="1"/>
          <p:nvPr/>
        </p:nvSpPr>
        <p:spPr>
          <a:xfrm>
            <a:off x="548640" y="2788920"/>
            <a:ext cx="4754880" cy="502920"/>
          </a:xfrm>
          <a:prstGeom prst="rect">
            <a:avLst/>
          </a:prstGeom>
          <a:noFill/>
        </p:spPr>
        <p:txBody>
          <a:bodyPr wrap="square">
            <a:spAutoFit/>
          </a:bodyPr>
          <a:lstStyle/>
          <a:p>
            <a:pPr algn="l"/>
            <a:r>
              <a:rPr sz="1500" b="0">
                <a:solidFill>
                  <a:srgbClr val="404040"/>
                </a:solidFill>
                <a:latin typeface="Malgun Gothic"/>
              </a:rPr>
              <a:t>• 동기적 워크플로</a:t>
            </a:r>
          </a:p>
        </p:txBody>
      </p:sp>
      <p:sp>
        <p:nvSpPr>
          <p:cNvPr id="9" name="TextBox 8"/>
          <p:cNvSpPr txBox="1"/>
          <p:nvPr/>
        </p:nvSpPr>
        <p:spPr>
          <a:xfrm>
            <a:off x="548640" y="3383280"/>
            <a:ext cx="4754880" cy="502920"/>
          </a:xfrm>
          <a:prstGeom prst="rect">
            <a:avLst/>
          </a:prstGeom>
          <a:noFill/>
        </p:spPr>
        <p:txBody>
          <a:bodyPr wrap="square">
            <a:spAutoFit/>
          </a:bodyPr>
          <a:lstStyle/>
          <a:p>
            <a:pPr algn="l"/>
            <a:r>
              <a:rPr sz="1500" b="0">
                <a:solidFill>
                  <a:srgbClr val="404040"/>
                </a:solidFill>
                <a:latin typeface="Malgun Gothic"/>
              </a:rPr>
              <a:t>• VS Code 확장 호환(Open VSX)</a:t>
            </a:r>
          </a:p>
        </p:txBody>
      </p:sp>
      <p:sp>
        <p:nvSpPr>
          <p:cNvPr id="10" name="Rectangle 9"/>
          <p:cNvSpPr/>
          <p:nvPr/>
        </p:nvSpPr>
        <p:spPr>
          <a:xfrm>
            <a:off x="6126480" y="1005840"/>
            <a:ext cx="5486400" cy="3200400"/>
          </a:xfrm>
          <a:prstGeom prst="rect">
            <a:avLst/>
          </a:prstGeom>
          <a:solidFill>
            <a:srgbClr val="E8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051560"/>
            <a:ext cx="5120640" cy="457200"/>
          </a:xfrm>
          <a:prstGeom prst="rect">
            <a:avLst/>
          </a:prstGeom>
          <a:noFill/>
        </p:spPr>
        <p:txBody>
          <a:bodyPr wrap="square">
            <a:spAutoFit/>
          </a:bodyPr>
          <a:lstStyle/>
          <a:p>
            <a:pPr algn="l"/>
            <a:r>
              <a:rPr sz="1800" b="1">
                <a:solidFill>
                  <a:srgbClr val="27AE60"/>
                </a:solidFill>
                <a:latin typeface="Malgun Gothic"/>
              </a:rPr>
              <a:t>Manager View</a:t>
            </a:r>
          </a:p>
        </p:txBody>
      </p:sp>
      <p:sp>
        <p:nvSpPr>
          <p:cNvPr id="12" name="TextBox 11"/>
          <p:cNvSpPr txBox="1"/>
          <p:nvPr/>
        </p:nvSpPr>
        <p:spPr>
          <a:xfrm>
            <a:off x="6400800" y="1600200"/>
            <a:ext cx="5120640" cy="502920"/>
          </a:xfrm>
          <a:prstGeom prst="rect">
            <a:avLst/>
          </a:prstGeom>
          <a:noFill/>
        </p:spPr>
        <p:txBody>
          <a:bodyPr wrap="square">
            <a:spAutoFit/>
          </a:bodyPr>
          <a:lstStyle/>
          <a:p>
            <a:pPr algn="l"/>
            <a:r>
              <a:rPr sz="1500" b="0">
                <a:solidFill>
                  <a:srgbClr val="404040"/>
                </a:solidFill>
                <a:latin typeface="Malgun Gothic"/>
              </a:rPr>
              <a:t>• 최대 5개 에이전트 동시 실행</a:t>
            </a:r>
          </a:p>
        </p:txBody>
      </p:sp>
      <p:sp>
        <p:nvSpPr>
          <p:cNvPr id="13" name="TextBox 12"/>
          <p:cNvSpPr txBox="1"/>
          <p:nvPr/>
        </p:nvSpPr>
        <p:spPr>
          <a:xfrm>
            <a:off x="6400800" y="2194560"/>
            <a:ext cx="5120640" cy="502920"/>
          </a:xfrm>
          <a:prstGeom prst="rect">
            <a:avLst/>
          </a:prstGeom>
          <a:noFill/>
        </p:spPr>
        <p:txBody>
          <a:bodyPr wrap="square">
            <a:spAutoFit/>
          </a:bodyPr>
          <a:lstStyle/>
          <a:p>
            <a:pPr algn="l"/>
            <a:r>
              <a:rPr sz="1500" b="0">
                <a:solidFill>
                  <a:srgbClr val="404040"/>
                </a:solidFill>
                <a:latin typeface="Malgun Gothic"/>
              </a:rPr>
              <a:t>• 스케줄 태스크 (백그라운드)</a:t>
            </a:r>
          </a:p>
        </p:txBody>
      </p:sp>
      <p:sp>
        <p:nvSpPr>
          <p:cNvPr id="14" name="TextBox 13"/>
          <p:cNvSpPr txBox="1"/>
          <p:nvPr/>
        </p:nvSpPr>
        <p:spPr>
          <a:xfrm>
            <a:off x="6400800" y="2788920"/>
            <a:ext cx="5120640" cy="502920"/>
          </a:xfrm>
          <a:prstGeom prst="rect">
            <a:avLst/>
          </a:prstGeom>
          <a:noFill/>
        </p:spPr>
        <p:txBody>
          <a:bodyPr wrap="square">
            <a:spAutoFit/>
          </a:bodyPr>
          <a:lstStyle/>
          <a:p>
            <a:pPr algn="l"/>
            <a:r>
              <a:rPr sz="1500" b="0">
                <a:solidFill>
                  <a:srgbClr val="404040"/>
                </a:solidFill>
                <a:latin typeface="Malgun Gothic"/>
              </a:rPr>
              <a:t>• 동적 서브에이전트</a:t>
            </a:r>
          </a:p>
        </p:txBody>
      </p:sp>
      <p:sp>
        <p:nvSpPr>
          <p:cNvPr id="15" name="TextBox 14"/>
          <p:cNvSpPr txBox="1"/>
          <p:nvPr/>
        </p:nvSpPr>
        <p:spPr>
          <a:xfrm>
            <a:off x="6400800" y="3383280"/>
            <a:ext cx="5120640" cy="502920"/>
          </a:xfrm>
          <a:prstGeom prst="rect">
            <a:avLst/>
          </a:prstGeom>
          <a:noFill/>
        </p:spPr>
        <p:txBody>
          <a:bodyPr wrap="square">
            <a:spAutoFit/>
          </a:bodyPr>
          <a:lstStyle/>
          <a:p>
            <a:pPr algn="l"/>
            <a:r>
              <a:rPr sz="1500" b="0">
                <a:solidFill>
                  <a:srgbClr val="404040"/>
                </a:solidFill>
                <a:latin typeface="Malgun Gothic"/>
              </a:rPr>
              <a:t>• 비동기 병렬 워크플로</a:t>
            </a:r>
          </a:p>
        </p:txBody>
      </p:sp>
      <p:sp>
        <p:nvSpPr>
          <p:cNvPr id="16" name="Rectangle 15"/>
          <p:cNvSpPr/>
          <p:nvPr/>
        </p:nvSpPr>
        <p:spPr>
          <a:xfrm>
            <a:off x="274320" y="4389120"/>
            <a:ext cx="11430000" cy="2194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480560"/>
            <a:ext cx="10972800" cy="457200"/>
          </a:xfrm>
          <a:prstGeom prst="rect">
            <a:avLst/>
          </a:prstGeom>
          <a:noFill/>
        </p:spPr>
        <p:txBody>
          <a:bodyPr wrap="square">
            <a:spAutoFit/>
          </a:bodyPr>
          <a:lstStyle/>
          <a:p>
            <a:pPr algn="l"/>
            <a:r>
              <a:rPr sz="1600" b="1">
                <a:solidFill>
                  <a:srgbClr val="1F4E79"/>
                </a:solidFill>
                <a:latin typeface="Malgun Gothic"/>
              </a:rPr>
              <a:t>Artifacts 시스템 — 에이전트 작업의 투명성 보장</a:t>
            </a:r>
          </a:p>
        </p:txBody>
      </p:sp>
      <p:sp>
        <p:nvSpPr>
          <p:cNvPr id="18" name="TextBox 17"/>
          <p:cNvSpPr txBox="1"/>
          <p:nvPr/>
        </p:nvSpPr>
        <p:spPr>
          <a:xfrm>
            <a:off x="457200" y="5029200"/>
            <a:ext cx="10972800" cy="457200"/>
          </a:xfrm>
          <a:prstGeom prst="rect">
            <a:avLst/>
          </a:prstGeom>
          <a:noFill/>
        </p:spPr>
        <p:txBody>
          <a:bodyPr wrap="square">
            <a:spAutoFit/>
          </a:bodyPr>
          <a:lstStyle/>
          <a:p>
            <a:pPr algn="ctr"/>
            <a:r>
              <a:rPr sz="1500" b="0">
                <a:solidFill>
                  <a:srgbClr val="404040"/>
                </a:solidFill>
                <a:latin typeface="Malgun Gothic"/>
              </a:rPr>
              <a:t>태스크 목록   →   구현 계획   →   코드 변경   →   스크린샷   →   브라우저 녹화</a:t>
            </a:r>
          </a:p>
        </p:txBody>
      </p:sp>
      <p:sp>
        <p:nvSpPr>
          <p:cNvPr id="19" name="TextBox 18"/>
          <p:cNvSpPr txBox="1"/>
          <p:nvPr/>
        </p:nvSpPr>
        <p:spPr>
          <a:xfrm>
            <a:off x="457200" y="5486400"/>
            <a:ext cx="10972800" cy="457200"/>
          </a:xfrm>
          <a:prstGeom prst="rect">
            <a:avLst/>
          </a:prstGeom>
          <a:noFill/>
        </p:spPr>
        <p:txBody>
          <a:bodyPr wrap="square">
            <a:spAutoFit/>
          </a:bodyPr>
          <a:lstStyle/>
          <a:p>
            <a:pPr algn="ctr"/>
            <a:r>
              <a:rPr sz="1300" b="0">
                <a:solidFill>
                  <a:srgbClr val="2E75B6"/>
                </a:solidFill>
                <a:latin typeface="Malgun Gothic"/>
              </a:rPr>
              <a:t>Google Docs 스타일 코멘트로 에이전트를 멈추지 않고 피드백 제공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000" b="1">
                <a:solidFill>
                  <a:srgbClr val="FFFFFF"/>
                </a:solidFill>
                <a:latin typeface="Malgun Gothic"/>
              </a:rPr>
              <a:t>에이전트 성능 벤치마크 (2025-11 기준)</a:t>
            </a:r>
          </a:p>
        </p:txBody>
      </p:sp>
      <p:sp>
        <p:nvSpPr>
          <p:cNvPr id="4" name="TextBox 3"/>
          <p:cNvSpPr txBox="1"/>
          <p:nvPr/>
        </p:nvSpPr>
        <p:spPr>
          <a:xfrm>
            <a:off x="274320" y="1005840"/>
            <a:ext cx="5669280" cy="457200"/>
          </a:xfrm>
          <a:prstGeom prst="rect">
            <a:avLst/>
          </a:prstGeom>
          <a:noFill/>
        </p:spPr>
        <p:txBody>
          <a:bodyPr wrap="square">
            <a:spAutoFit/>
          </a:bodyPr>
          <a:lstStyle/>
          <a:p>
            <a:pPr algn="l"/>
            <a:r>
              <a:rPr sz="1600" b="1">
                <a:solidFill>
                  <a:srgbClr val="1F4E79"/>
                </a:solidFill>
                <a:latin typeface="Malgun Gothic"/>
              </a:rPr>
              <a:t>SWE-bench Verified</a:t>
            </a:r>
          </a:p>
        </p:txBody>
      </p:sp>
      <p:sp>
        <p:nvSpPr>
          <p:cNvPr id="5" name="TextBox 4"/>
          <p:cNvSpPr txBox="1"/>
          <p:nvPr/>
        </p:nvSpPr>
        <p:spPr>
          <a:xfrm>
            <a:off x="274320" y="1554480"/>
            <a:ext cx="2286000" cy="365760"/>
          </a:xfrm>
          <a:prstGeom prst="rect">
            <a:avLst/>
          </a:prstGeom>
          <a:noFill/>
        </p:spPr>
        <p:txBody>
          <a:bodyPr wrap="square">
            <a:spAutoFit/>
          </a:bodyPr>
          <a:lstStyle/>
          <a:p>
            <a:pPr algn="l"/>
            <a:r>
              <a:rPr sz="1300" b="0">
                <a:solidFill>
                  <a:srgbClr val="404040"/>
                </a:solidFill>
                <a:latin typeface="Malgun Gothic"/>
              </a:rPr>
              <a:t>Gemini 3 Pro</a:t>
            </a:r>
          </a:p>
        </p:txBody>
      </p:sp>
      <p:sp>
        <p:nvSpPr>
          <p:cNvPr id="6" name="Rectangle 5"/>
          <p:cNvSpPr/>
          <p:nvPr/>
        </p:nvSpPr>
        <p:spPr>
          <a:xfrm>
            <a:off x="274320" y="1920240"/>
            <a:ext cx="4180636"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6396" y="1920240"/>
            <a:ext cx="731520" cy="457200"/>
          </a:xfrm>
          <a:prstGeom prst="rect">
            <a:avLst/>
          </a:prstGeom>
          <a:noFill/>
        </p:spPr>
        <p:txBody>
          <a:bodyPr wrap="square">
            <a:spAutoFit/>
          </a:bodyPr>
          <a:lstStyle/>
          <a:p>
            <a:pPr algn="l"/>
            <a:r>
              <a:rPr sz="1400" b="1">
                <a:solidFill>
                  <a:srgbClr val="27AE60"/>
                </a:solidFill>
                <a:latin typeface="Malgun Gothic"/>
              </a:rPr>
              <a:t>76.2%</a:t>
            </a:r>
          </a:p>
        </p:txBody>
      </p:sp>
      <p:sp>
        <p:nvSpPr>
          <p:cNvPr id="8" name="TextBox 7"/>
          <p:cNvSpPr txBox="1"/>
          <p:nvPr/>
        </p:nvSpPr>
        <p:spPr>
          <a:xfrm>
            <a:off x="274320" y="2743200"/>
            <a:ext cx="2286000" cy="365760"/>
          </a:xfrm>
          <a:prstGeom prst="rect">
            <a:avLst/>
          </a:prstGeom>
          <a:noFill/>
        </p:spPr>
        <p:txBody>
          <a:bodyPr wrap="square">
            <a:spAutoFit/>
          </a:bodyPr>
          <a:lstStyle/>
          <a:p>
            <a:pPr algn="l"/>
            <a:r>
              <a:rPr sz="1300" b="0">
                <a:solidFill>
                  <a:srgbClr val="404040"/>
                </a:solidFill>
                <a:latin typeface="Malgun Gothic"/>
              </a:rPr>
              <a:t>Claude Sonnet 4.5</a:t>
            </a:r>
          </a:p>
        </p:txBody>
      </p:sp>
      <p:sp>
        <p:nvSpPr>
          <p:cNvPr id="9" name="Rectangle 8"/>
          <p:cNvSpPr/>
          <p:nvPr/>
        </p:nvSpPr>
        <p:spPr>
          <a:xfrm>
            <a:off x="274320" y="3108960"/>
            <a:ext cx="3939235"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04995" y="3108960"/>
            <a:ext cx="731520" cy="457200"/>
          </a:xfrm>
          <a:prstGeom prst="rect">
            <a:avLst/>
          </a:prstGeom>
          <a:noFill/>
        </p:spPr>
        <p:txBody>
          <a:bodyPr wrap="square">
            <a:spAutoFit/>
          </a:bodyPr>
          <a:lstStyle/>
          <a:p>
            <a:pPr algn="l"/>
            <a:r>
              <a:rPr sz="1400" b="1">
                <a:solidFill>
                  <a:srgbClr val="2E75B6"/>
                </a:solidFill>
                <a:latin typeface="Malgun Gothic"/>
              </a:rPr>
              <a:t>71.8%</a:t>
            </a:r>
          </a:p>
        </p:txBody>
      </p:sp>
      <p:sp>
        <p:nvSpPr>
          <p:cNvPr id="11" name="TextBox 10"/>
          <p:cNvSpPr txBox="1"/>
          <p:nvPr/>
        </p:nvSpPr>
        <p:spPr>
          <a:xfrm>
            <a:off x="274320" y="3931920"/>
            <a:ext cx="2286000" cy="365760"/>
          </a:xfrm>
          <a:prstGeom prst="rect">
            <a:avLst/>
          </a:prstGeom>
          <a:noFill/>
        </p:spPr>
        <p:txBody>
          <a:bodyPr wrap="square">
            <a:spAutoFit/>
          </a:bodyPr>
          <a:lstStyle/>
          <a:p>
            <a:pPr algn="l"/>
            <a:r>
              <a:rPr sz="1300" b="0">
                <a:solidFill>
                  <a:srgbClr val="404040"/>
                </a:solidFill>
                <a:latin typeface="Malgun Gothic"/>
              </a:rPr>
              <a:t>GPT-OSS</a:t>
            </a:r>
          </a:p>
        </p:txBody>
      </p:sp>
      <p:sp>
        <p:nvSpPr>
          <p:cNvPr id="12" name="Rectangle 11"/>
          <p:cNvSpPr/>
          <p:nvPr/>
        </p:nvSpPr>
        <p:spPr>
          <a:xfrm>
            <a:off x="274320" y="4297680"/>
            <a:ext cx="3747211"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2971" y="4297680"/>
            <a:ext cx="731520" cy="457200"/>
          </a:xfrm>
          <a:prstGeom prst="rect">
            <a:avLst/>
          </a:prstGeom>
          <a:noFill/>
        </p:spPr>
        <p:txBody>
          <a:bodyPr wrap="square">
            <a:spAutoFit/>
          </a:bodyPr>
          <a:lstStyle/>
          <a:p>
            <a:pPr algn="l"/>
            <a:r>
              <a:rPr sz="1400" b="1">
                <a:solidFill>
                  <a:srgbClr val="E67E22"/>
                </a:solidFill>
                <a:latin typeface="Malgun Gothic"/>
              </a:rPr>
              <a:t>68.3%</a:t>
            </a:r>
          </a:p>
        </p:txBody>
      </p:sp>
      <p:sp>
        <p:nvSpPr>
          <p:cNvPr id="14" name="TextBox 13"/>
          <p:cNvSpPr txBox="1"/>
          <p:nvPr/>
        </p:nvSpPr>
        <p:spPr>
          <a:xfrm>
            <a:off x="6400800" y="1005840"/>
            <a:ext cx="5669280" cy="457200"/>
          </a:xfrm>
          <a:prstGeom prst="rect">
            <a:avLst/>
          </a:prstGeom>
          <a:noFill/>
        </p:spPr>
        <p:txBody>
          <a:bodyPr wrap="square">
            <a:spAutoFit/>
          </a:bodyPr>
          <a:lstStyle/>
          <a:p>
            <a:pPr algn="l"/>
            <a:r>
              <a:rPr sz="1600" b="1">
                <a:solidFill>
                  <a:srgbClr val="1F4E79"/>
                </a:solidFill>
                <a:latin typeface="Malgun Gothic"/>
              </a:rPr>
              <a:t>Terminal-Bench 2.0</a:t>
            </a:r>
          </a:p>
        </p:txBody>
      </p:sp>
      <p:sp>
        <p:nvSpPr>
          <p:cNvPr id="15" name="TextBox 14"/>
          <p:cNvSpPr txBox="1"/>
          <p:nvPr/>
        </p:nvSpPr>
        <p:spPr>
          <a:xfrm>
            <a:off x="6400800" y="1554480"/>
            <a:ext cx="2286000" cy="365760"/>
          </a:xfrm>
          <a:prstGeom prst="rect">
            <a:avLst/>
          </a:prstGeom>
          <a:noFill/>
        </p:spPr>
        <p:txBody>
          <a:bodyPr wrap="square">
            <a:spAutoFit/>
          </a:bodyPr>
          <a:lstStyle/>
          <a:p>
            <a:pPr algn="l"/>
            <a:r>
              <a:rPr sz="1300" b="0">
                <a:solidFill>
                  <a:srgbClr val="404040"/>
                </a:solidFill>
                <a:latin typeface="Malgun Gothic"/>
              </a:rPr>
              <a:t>Gemini 3 Pro</a:t>
            </a:r>
          </a:p>
        </p:txBody>
      </p:sp>
      <p:sp>
        <p:nvSpPr>
          <p:cNvPr id="16" name="Rectangle 15"/>
          <p:cNvSpPr/>
          <p:nvPr/>
        </p:nvSpPr>
        <p:spPr>
          <a:xfrm>
            <a:off x="6400800" y="1920240"/>
            <a:ext cx="2973628"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5868" y="1920240"/>
            <a:ext cx="731520" cy="457200"/>
          </a:xfrm>
          <a:prstGeom prst="rect">
            <a:avLst/>
          </a:prstGeom>
          <a:noFill/>
        </p:spPr>
        <p:txBody>
          <a:bodyPr wrap="square">
            <a:spAutoFit/>
          </a:bodyPr>
          <a:lstStyle/>
          <a:p>
            <a:pPr algn="l"/>
            <a:r>
              <a:rPr sz="1400" b="1">
                <a:solidFill>
                  <a:srgbClr val="27AE60"/>
                </a:solidFill>
                <a:latin typeface="Malgun Gothic"/>
              </a:rPr>
              <a:t>54.2%</a:t>
            </a:r>
          </a:p>
        </p:txBody>
      </p:sp>
      <p:sp>
        <p:nvSpPr>
          <p:cNvPr id="18" name="TextBox 17"/>
          <p:cNvSpPr txBox="1"/>
          <p:nvPr/>
        </p:nvSpPr>
        <p:spPr>
          <a:xfrm>
            <a:off x="6400800" y="2743200"/>
            <a:ext cx="2286000" cy="365760"/>
          </a:xfrm>
          <a:prstGeom prst="rect">
            <a:avLst/>
          </a:prstGeom>
          <a:noFill/>
        </p:spPr>
        <p:txBody>
          <a:bodyPr wrap="square">
            <a:spAutoFit/>
          </a:bodyPr>
          <a:lstStyle/>
          <a:p>
            <a:pPr algn="l"/>
            <a:r>
              <a:rPr sz="1300" b="0">
                <a:solidFill>
                  <a:srgbClr val="404040"/>
                </a:solidFill>
                <a:latin typeface="Malgun Gothic"/>
              </a:rPr>
              <a:t>Claude Sonnet 4.5</a:t>
            </a:r>
          </a:p>
        </p:txBody>
      </p:sp>
      <p:sp>
        <p:nvSpPr>
          <p:cNvPr id="19" name="Rectangle 18"/>
          <p:cNvSpPr/>
          <p:nvPr/>
        </p:nvSpPr>
        <p:spPr>
          <a:xfrm>
            <a:off x="6400800" y="3108960"/>
            <a:ext cx="272674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18980" y="3108960"/>
            <a:ext cx="731520" cy="457200"/>
          </a:xfrm>
          <a:prstGeom prst="rect">
            <a:avLst/>
          </a:prstGeom>
          <a:noFill/>
        </p:spPr>
        <p:txBody>
          <a:bodyPr wrap="square">
            <a:spAutoFit/>
          </a:bodyPr>
          <a:lstStyle/>
          <a:p>
            <a:pPr algn="l"/>
            <a:r>
              <a:rPr sz="1400" b="1">
                <a:solidFill>
                  <a:srgbClr val="2E75B6"/>
                </a:solidFill>
                <a:latin typeface="Malgun Gothic"/>
              </a:rPr>
              <a:t>49.7%</a:t>
            </a:r>
          </a:p>
        </p:txBody>
      </p:sp>
      <p:sp>
        <p:nvSpPr>
          <p:cNvPr id="21" name="TextBox 20"/>
          <p:cNvSpPr txBox="1"/>
          <p:nvPr/>
        </p:nvSpPr>
        <p:spPr>
          <a:xfrm>
            <a:off x="6400800" y="3931920"/>
            <a:ext cx="2286000" cy="365760"/>
          </a:xfrm>
          <a:prstGeom prst="rect">
            <a:avLst/>
          </a:prstGeom>
          <a:noFill/>
        </p:spPr>
        <p:txBody>
          <a:bodyPr wrap="square">
            <a:spAutoFit/>
          </a:bodyPr>
          <a:lstStyle/>
          <a:p>
            <a:pPr algn="l"/>
            <a:r>
              <a:rPr sz="1300" b="0">
                <a:solidFill>
                  <a:srgbClr val="404040"/>
                </a:solidFill>
                <a:latin typeface="Malgun Gothic"/>
              </a:rPr>
              <a:t>GPT-OSS</a:t>
            </a:r>
          </a:p>
        </p:txBody>
      </p:sp>
      <p:sp>
        <p:nvSpPr>
          <p:cNvPr id="22" name="Rectangle 21"/>
          <p:cNvSpPr/>
          <p:nvPr/>
        </p:nvSpPr>
        <p:spPr>
          <a:xfrm>
            <a:off x="6400800" y="4297680"/>
            <a:ext cx="2474366"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6606" y="4297680"/>
            <a:ext cx="731520" cy="457200"/>
          </a:xfrm>
          <a:prstGeom prst="rect">
            <a:avLst/>
          </a:prstGeom>
          <a:noFill/>
        </p:spPr>
        <p:txBody>
          <a:bodyPr wrap="square">
            <a:spAutoFit/>
          </a:bodyPr>
          <a:lstStyle/>
          <a:p>
            <a:pPr algn="l"/>
            <a:r>
              <a:rPr sz="1400" b="1">
                <a:solidFill>
                  <a:srgbClr val="E67E22"/>
                </a:solidFill>
                <a:latin typeface="Malgun Gothic"/>
              </a:rPr>
              <a:t>45.1%</a:t>
            </a:r>
          </a:p>
        </p:txBody>
      </p:sp>
      <p:sp>
        <p:nvSpPr>
          <p:cNvPr id="24" name="Rectangle 23"/>
          <p:cNvSpPr/>
          <p:nvPr/>
        </p:nvSpPr>
        <p:spPr>
          <a:xfrm>
            <a:off x="274320" y="5394960"/>
            <a:ext cx="11430000" cy="1188720"/>
          </a:xfrm>
          <a:prstGeom prst="rect">
            <a:avLst/>
          </a:prstGeom>
          <a:solidFill>
            <a:srgbClr val="FFEBEB"/>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486400"/>
            <a:ext cx="10972800" cy="1005840"/>
          </a:xfrm>
          <a:prstGeom prst="rect">
            <a:avLst/>
          </a:prstGeom>
          <a:noFill/>
        </p:spPr>
        <p:txBody>
          <a:bodyPr wrap="square">
            <a:spAutoFit/>
          </a:bodyPr>
          <a:lstStyle/>
          <a:p>
            <a:pPr algn="l"/>
            <a:r>
              <a:rPr sz="1400" b="0">
                <a:solidFill>
                  <a:srgbClr val="C0392B"/>
                </a:solidFill>
                <a:latin typeface="Malgun Gothic"/>
              </a:rPr>
              <a:t>주의: 자사(Google) 발표 수치 / 독립 기관 재현 검증 미완료
Antigravity 2.0 기본 모델인 Gemini 3.5 Flash의 SWE-bench 점수는 현재 미발표 상태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가격 체계</a:t>
            </a:r>
          </a:p>
        </p:txBody>
      </p:sp>
      <p:sp>
        <p:nvSpPr>
          <p:cNvPr id="4" name="Rectangle 3"/>
          <p:cNvSpPr/>
          <p:nvPr/>
        </p:nvSpPr>
        <p:spPr>
          <a:xfrm>
            <a:off x="274320" y="1005840"/>
            <a:ext cx="3566160" cy="4572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51560"/>
            <a:ext cx="3474720" cy="320040"/>
          </a:xfrm>
          <a:prstGeom prst="rect">
            <a:avLst/>
          </a:prstGeom>
          <a:noFill/>
        </p:spPr>
        <p:txBody>
          <a:bodyPr wrap="square">
            <a:spAutoFit/>
          </a:bodyPr>
          <a:lstStyle/>
          <a:p>
            <a:pPr algn="ctr"/>
            <a:r>
              <a:rPr sz="1400" b="1">
                <a:solidFill>
                  <a:srgbClr val="FFFFFF"/>
                </a:solidFill>
                <a:latin typeface="Malgun Gothic"/>
              </a:rPr>
              <a:t>플랜</a:t>
            </a:r>
          </a:p>
        </p:txBody>
      </p:sp>
      <p:sp>
        <p:nvSpPr>
          <p:cNvPr id="6" name="Rectangle 5"/>
          <p:cNvSpPr/>
          <p:nvPr/>
        </p:nvSpPr>
        <p:spPr>
          <a:xfrm>
            <a:off x="4023360" y="1005840"/>
            <a:ext cx="2194560" cy="4572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1051560"/>
            <a:ext cx="2103120" cy="320040"/>
          </a:xfrm>
          <a:prstGeom prst="rect">
            <a:avLst/>
          </a:prstGeom>
          <a:noFill/>
        </p:spPr>
        <p:txBody>
          <a:bodyPr wrap="square">
            <a:spAutoFit/>
          </a:bodyPr>
          <a:lstStyle/>
          <a:p>
            <a:pPr algn="ctr"/>
            <a:r>
              <a:rPr sz="1400" b="1">
                <a:solidFill>
                  <a:srgbClr val="FFFFFF"/>
                </a:solidFill>
                <a:latin typeface="Malgun Gothic"/>
              </a:rPr>
              <a:t>가격</a:t>
            </a:r>
          </a:p>
        </p:txBody>
      </p:sp>
      <p:sp>
        <p:nvSpPr>
          <p:cNvPr id="8" name="Rectangle 7"/>
          <p:cNvSpPr/>
          <p:nvPr/>
        </p:nvSpPr>
        <p:spPr>
          <a:xfrm>
            <a:off x="6400800" y="1005840"/>
            <a:ext cx="4023360" cy="4572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051560"/>
            <a:ext cx="3931920" cy="320040"/>
          </a:xfrm>
          <a:prstGeom prst="rect">
            <a:avLst/>
          </a:prstGeom>
          <a:noFill/>
        </p:spPr>
        <p:txBody>
          <a:bodyPr wrap="square">
            <a:spAutoFit/>
          </a:bodyPr>
          <a:lstStyle/>
          <a:p>
            <a:pPr algn="ctr"/>
            <a:r>
              <a:rPr sz="1400" b="1">
                <a:solidFill>
                  <a:srgbClr val="FFFFFF"/>
                </a:solidFill>
                <a:latin typeface="Malgun Gothic"/>
              </a:rPr>
              <a:t>Antigravity 한도</a:t>
            </a:r>
          </a:p>
        </p:txBody>
      </p:sp>
      <p:sp>
        <p:nvSpPr>
          <p:cNvPr id="10" name="Rectangle 9"/>
          <p:cNvSpPr/>
          <p:nvPr/>
        </p:nvSpPr>
        <p:spPr>
          <a:xfrm>
            <a:off x="274320" y="1508760"/>
            <a:ext cx="3566160" cy="502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581912"/>
            <a:ext cx="3474720" cy="365760"/>
          </a:xfrm>
          <a:prstGeom prst="rect">
            <a:avLst/>
          </a:prstGeom>
          <a:noFill/>
        </p:spPr>
        <p:txBody>
          <a:bodyPr wrap="square">
            <a:spAutoFit/>
          </a:bodyPr>
          <a:lstStyle/>
          <a:p>
            <a:pPr algn="ctr"/>
            <a:r>
              <a:rPr sz="1300" b="0">
                <a:solidFill>
                  <a:srgbClr val="404040"/>
                </a:solidFill>
                <a:latin typeface="Malgun Gothic"/>
              </a:rPr>
              <a:t>무료 (프리뷰)</a:t>
            </a:r>
          </a:p>
        </p:txBody>
      </p:sp>
      <p:sp>
        <p:nvSpPr>
          <p:cNvPr id="12" name="Rectangle 11"/>
          <p:cNvSpPr/>
          <p:nvPr/>
        </p:nvSpPr>
        <p:spPr>
          <a:xfrm>
            <a:off x="4023360" y="1508760"/>
            <a:ext cx="2194560" cy="502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1581912"/>
            <a:ext cx="2103120" cy="365760"/>
          </a:xfrm>
          <a:prstGeom prst="rect">
            <a:avLst/>
          </a:prstGeom>
          <a:noFill/>
        </p:spPr>
        <p:txBody>
          <a:bodyPr wrap="square">
            <a:spAutoFit/>
          </a:bodyPr>
          <a:lstStyle/>
          <a:p>
            <a:pPr algn="ctr"/>
            <a:r>
              <a:rPr sz="1300" b="0">
                <a:solidFill>
                  <a:srgbClr val="404040"/>
                </a:solidFill>
                <a:latin typeface="Malgun Gothic"/>
              </a:rPr>
              <a:t>$0</a:t>
            </a:r>
          </a:p>
        </p:txBody>
      </p:sp>
      <p:sp>
        <p:nvSpPr>
          <p:cNvPr id="14" name="Rectangle 13"/>
          <p:cNvSpPr/>
          <p:nvPr/>
        </p:nvSpPr>
        <p:spPr>
          <a:xfrm>
            <a:off x="6400800" y="1508760"/>
            <a:ext cx="4023360" cy="502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581912"/>
            <a:ext cx="3931920" cy="365760"/>
          </a:xfrm>
          <a:prstGeom prst="rect">
            <a:avLst/>
          </a:prstGeom>
          <a:noFill/>
        </p:spPr>
        <p:txBody>
          <a:bodyPr wrap="square">
            <a:spAutoFit/>
          </a:bodyPr>
          <a:lstStyle/>
          <a:p>
            <a:pPr algn="ctr"/>
            <a:r>
              <a:rPr sz="1300" b="0">
                <a:solidFill>
                  <a:srgbClr val="404040"/>
                </a:solidFill>
                <a:latin typeface="Malgun Gothic"/>
              </a:rPr>
              <a:t>기본 한도 (5h 갱신)</a:t>
            </a:r>
          </a:p>
        </p:txBody>
      </p:sp>
      <p:sp>
        <p:nvSpPr>
          <p:cNvPr id="16" name="Rectangle 15"/>
          <p:cNvSpPr/>
          <p:nvPr/>
        </p:nvSpPr>
        <p:spPr>
          <a:xfrm>
            <a:off x="274320" y="2075688"/>
            <a:ext cx="3566160" cy="5029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148840"/>
            <a:ext cx="3474720" cy="365760"/>
          </a:xfrm>
          <a:prstGeom prst="rect">
            <a:avLst/>
          </a:prstGeom>
          <a:noFill/>
        </p:spPr>
        <p:txBody>
          <a:bodyPr wrap="square">
            <a:spAutoFit/>
          </a:bodyPr>
          <a:lstStyle/>
          <a:p>
            <a:pPr algn="ctr"/>
            <a:r>
              <a:rPr sz="1300" b="0">
                <a:solidFill>
                  <a:srgbClr val="404040"/>
                </a:solidFill>
                <a:latin typeface="Malgun Gothic"/>
              </a:rPr>
              <a:t>Google AI Pro</a:t>
            </a:r>
          </a:p>
        </p:txBody>
      </p:sp>
      <p:sp>
        <p:nvSpPr>
          <p:cNvPr id="18" name="Rectangle 17"/>
          <p:cNvSpPr/>
          <p:nvPr/>
        </p:nvSpPr>
        <p:spPr>
          <a:xfrm>
            <a:off x="4023360" y="2075688"/>
            <a:ext cx="2194560" cy="5029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2148840"/>
            <a:ext cx="2103120" cy="365760"/>
          </a:xfrm>
          <a:prstGeom prst="rect">
            <a:avLst/>
          </a:prstGeom>
          <a:noFill/>
        </p:spPr>
        <p:txBody>
          <a:bodyPr wrap="square">
            <a:spAutoFit/>
          </a:bodyPr>
          <a:lstStyle/>
          <a:p>
            <a:pPr algn="ctr"/>
            <a:r>
              <a:rPr sz="1300" b="0">
                <a:solidFill>
                  <a:srgbClr val="404040"/>
                </a:solidFill>
                <a:latin typeface="Malgun Gothic"/>
              </a:rPr>
              <a:t>미공개</a:t>
            </a:r>
          </a:p>
        </p:txBody>
      </p:sp>
      <p:sp>
        <p:nvSpPr>
          <p:cNvPr id="20" name="Rectangle 19"/>
          <p:cNvSpPr/>
          <p:nvPr/>
        </p:nvSpPr>
        <p:spPr>
          <a:xfrm>
            <a:off x="6400800" y="2075688"/>
            <a:ext cx="4023360" cy="5029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148840"/>
            <a:ext cx="3931920" cy="365760"/>
          </a:xfrm>
          <a:prstGeom prst="rect">
            <a:avLst/>
          </a:prstGeom>
          <a:noFill/>
        </p:spPr>
        <p:txBody>
          <a:bodyPr wrap="square">
            <a:spAutoFit/>
          </a:bodyPr>
          <a:lstStyle/>
          <a:p>
            <a:pPr algn="ctr"/>
            <a:r>
              <a:rPr sz="1300" b="0">
                <a:solidFill>
                  <a:srgbClr val="404040"/>
                </a:solidFill>
                <a:latin typeface="Malgun Gothic"/>
              </a:rPr>
              <a:t>기본 한도 포함</a:t>
            </a:r>
          </a:p>
        </p:txBody>
      </p:sp>
      <p:sp>
        <p:nvSpPr>
          <p:cNvPr id="22" name="Rectangle 21"/>
          <p:cNvSpPr/>
          <p:nvPr/>
        </p:nvSpPr>
        <p:spPr>
          <a:xfrm>
            <a:off x="274320" y="2642615"/>
            <a:ext cx="3566160" cy="502920"/>
          </a:xfrm>
          <a:prstGeom prst="rect">
            <a:avLst/>
          </a:prstGeom>
          <a:solidFill>
            <a:srgbClr val="D5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2715767"/>
            <a:ext cx="3474720" cy="365760"/>
          </a:xfrm>
          <a:prstGeom prst="rect">
            <a:avLst/>
          </a:prstGeom>
          <a:noFill/>
        </p:spPr>
        <p:txBody>
          <a:bodyPr wrap="square">
            <a:spAutoFit/>
          </a:bodyPr>
          <a:lstStyle/>
          <a:p>
            <a:pPr algn="ctr"/>
            <a:r>
              <a:rPr sz="1300" b="0">
                <a:solidFill>
                  <a:srgbClr val="404040"/>
                </a:solidFill>
                <a:latin typeface="Malgun Gothic"/>
              </a:rPr>
              <a:t>Google AI Ultra</a:t>
            </a:r>
          </a:p>
        </p:txBody>
      </p:sp>
      <p:sp>
        <p:nvSpPr>
          <p:cNvPr id="24" name="Rectangle 23"/>
          <p:cNvSpPr/>
          <p:nvPr/>
        </p:nvSpPr>
        <p:spPr>
          <a:xfrm>
            <a:off x="4023360" y="2642615"/>
            <a:ext cx="2194560" cy="502920"/>
          </a:xfrm>
          <a:prstGeom prst="rect">
            <a:avLst/>
          </a:prstGeom>
          <a:solidFill>
            <a:srgbClr val="D5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0" y="2715767"/>
            <a:ext cx="2103120" cy="365760"/>
          </a:xfrm>
          <a:prstGeom prst="rect">
            <a:avLst/>
          </a:prstGeom>
          <a:noFill/>
        </p:spPr>
        <p:txBody>
          <a:bodyPr wrap="square">
            <a:spAutoFit/>
          </a:bodyPr>
          <a:lstStyle/>
          <a:p>
            <a:pPr algn="ctr"/>
            <a:r>
              <a:rPr sz="1300" b="0">
                <a:solidFill>
                  <a:srgbClr val="27AE60"/>
                </a:solidFill>
                <a:latin typeface="Malgun Gothic"/>
              </a:rPr>
              <a:t>$100/월</a:t>
            </a:r>
          </a:p>
        </p:txBody>
      </p:sp>
      <p:sp>
        <p:nvSpPr>
          <p:cNvPr id="26" name="Rectangle 25"/>
          <p:cNvSpPr/>
          <p:nvPr/>
        </p:nvSpPr>
        <p:spPr>
          <a:xfrm>
            <a:off x="6400800" y="2642615"/>
            <a:ext cx="4023360" cy="502920"/>
          </a:xfrm>
          <a:prstGeom prst="rect">
            <a:avLst/>
          </a:prstGeom>
          <a:solidFill>
            <a:srgbClr val="D5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2715767"/>
            <a:ext cx="3931920" cy="365760"/>
          </a:xfrm>
          <a:prstGeom prst="rect">
            <a:avLst/>
          </a:prstGeom>
          <a:noFill/>
        </p:spPr>
        <p:txBody>
          <a:bodyPr wrap="square">
            <a:spAutoFit/>
          </a:bodyPr>
          <a:lstStyle/>
          <a:p>
            <a:pPr algn="ctr"/>
            <a:r>
              <a:rPr sz="1300" b="0">
                <a:solidFill>
                  <a:srgbClr val="27AE60"/>
                </a:solidFill>
                <a:latin typeface="Malgun Gothic"/>
              </a:rPr>
              <a:t>Pro의 5배</a:t>
            </a:r>
          </a:p>
        </p:txBody>
      </p:sp>
      <p:sp>
        <p:nvSpPr>
          <p:cNvPr id="28" name="Rectangle 27"/>
          <p:cNvSpPr/>
          <p:nvPr/>
        </p:nvSpPr>
        <p:spPr>
          <a:xfrm>
            <a:off x="274320" y="3209544"/>
            <a:ext cx="3566160" cy="502920"/>
          </a:xfrm>
          <a:prstGeom prst="rect">
            <a:avLst/>
          </a:prstGeom>
          <a:solidFill>
            <a:srgbClr val="D5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282696"/>
            <a:ext cx="3474720" cy="365760"/>
          </a:xfrm>
          <a:prstGeom prst="rect">
            <a:avLst/>
          </a:prstGeom>
          <a:noFill/>
        </p:spPr>
        <p:txBody>
          <a:bodyPr wrap="square">
            <a:spAutoFit/>
          </a:bodyPr>
          <a:lstStyle/>
          <a:p>
            <a:pPr algn="ctr"/>
            <a:r>
              <a:rPr sz="1300" b="0">
                <a:solidFill>
                  <a:srgbClr val="404040"/>
                </a:solidFill>
                <a:latin typeface="Malgun Gothic"/>
              </a:rPr>
              <a:t>Google AI Ultra Premium</a:t>
            </a:r>
          </a:p>
        </p:txBody>
      </p:sp>
      <p:sp>
        <p:nvSpPr>
          <p:cNvPr id="30" name="Rectangle 29"/>
          <p:cNvSpPr/>
          <p:nvPr/>
        </p:nvSpPr>
        <p:spPr>
          <a:xfrm>
            <a:off x="4023360" y="3209544"/>
            <a:ext cx="2194560" cy="502920"/>
          </a:xfrm>
          <a:prstGeom prst="rect">
            <a:avLst/>
          </a:prstGeom>
          <a:solidFill>
            <a:srgbClr val="D5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0" y="3282696"/>
            <a:ext cx="2103120" cy="365760"/>
          </a:xfrm>
          <a:prstGeom prst="rect">
            <a:avLst/>
          </a:prstGeom>
          <a:noFill/>
        </p:spPr>
        <p:txBody>
          <a:bodyPr wrap="square">
            <a:spAutoFit/>
          </a:bodyPr>
          <a:lstStyle/>
          <a:p>
            <a:pPr algn="ctr"/>
            <a:r>
              <a:rPr sz="1300" b="0">
                <a:solidFill>
                  <a:srgbClr val="27AE60"/>
                </a:solidFill>
                <a:latin typeface="Malgun Gothic"/>
              </a:rPr>
              <a:t>$200/월</a:t>
            </a:r>
          </a:p>
        </p:txBody>
      </p:sp>
      <p:sp>
        <p:nvSpPr>
          <p:cNvPr id="32" name="Rectangle 31"/>
          <p:cNvSpPr/>
          <p:nvPr/>
        </p:nvSpPr>
        <p:spPr>
          <a:xfrm>
            <a:off x="6400800" y="3209544"/>
            <a:ext cx="4023360" cy="502920"/>
          </a:xfrm>
          <a:prstGeom prst="rect">
            <a:avLst/>
          </a:prstGeom>
          <a:solidFill>
            <a:srgbClr val="D5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3282696"/>
            <a:ext cx="3931920" cy="365760"/>
          </a:xfrm>
          <a:prstGeom prst="rect">
            <a:avLst/>
          </a:prstGeom>
          <a:noFill/>
        </p:spPr>
        <p:txBody>
          <a:bodyPr wrap="square">
            <a:spAutoFit/>
          </a:bodyPr>
          <a:lstStyle/>
          <a:p>
            <a:pPr algn="ctr"/>
            <a:r>
              <a:rPr sz="1300" b="0">
                <a:solidFill>
                  <a:srgbClr val="27AE60"/>
                </a:solidFill>
                <a:latin typeface="Malgun Gothic"/>
              </a:rPr>
              <a:t>Pro의 20배</a:t>
            </a:r>
          </a:p>
        </p:txBody>
      </p:sp>
      <p:sp>
        <p:nvSpPr>
          <p:cNvPr id="34" name="TextBox 33"/>
          <p:cNvSpPr txBox="1"/>
          <p:nvPr/>
        </p:nvSpPr>
        <p:spPr>
          <a:xfrm>
            <a:off x="274320" y="3886200"/>
            <a:ext cx="11430000" cy="365760"/>
          </a:xfrm>
          <a:prstGeom prst="rect">
            <a:avLst/>
          </a:prstGeom>
          <a:noFill/>
        </p:spPr>
        <p:txBody>
          <a:bodyPr wrap="square">
            <a:spAutoFit/>
          </a:bodyPr>
          <a:lstStyle/>
          <a:p>
            <a:pPr algn="l"/>
            <a:r>
              <a:rPr sz="1600" b="1">
                <a:solidFill>
                  <a:srgbClr val="1F4E79"/>
                </a:solidFill>
                <a:latin typeface="Malgun Gothic"/>
              </a:rPr>
              <a:t>경쟁사 가격 비교</a:t>
            </a:r>
          </a:p>
        </p:txBody>
      </p:sp>
      <p:sp>
        <p:nvSpPr>
          <p:cNvPr id="35" name="TextBox 34"/>
          <p:cNvSpPr txBox="1"/>
          <p:nvPr/>
        </p:nvSpPr>
        <p:spPr>
          <a:xfrm>
            <a:off x="274320" y="4343400"/>
            <a:ext cx="2743200" cy="411480"/>
          </a:xfrm>
          <a:prstGeom prst="rect">
            <a:avLst/>
          </a:prstGeom>
          <a:noFill/>
        </p:spPr>
        <p:txBody>
          <a:bodyPr wrap="square">
            <a:spAutoFit/>
          </a:bodyPr>
          <a:lstStyle/>
          <a:p>
            <a:pPr algn="l"/>
            <a:r>
              <a:rPr sz="1200" b="0">
                <a:solidFill>
                  <a:srgbClr val="404040"/>
                </a:solidFill>
                <a:latin typeface="Malgun Gothic"/>
              </a:rPr>
              <a:t>Claude Code Pro</a:t>
            </a:r>
          </a:p>
        </p:txBody>
      </p:sp>
      <p:sp>
        <p:nvSpPr>
          <p:cNvPr id="36" name="Rectangle 35"/>
          <p:cNvSpPr/>
          <p:nvPr/>
        </p:nvSpPr>
        <p:spPr>
          <a:xfrm>
            <a:off x="3200400" y="4389120"/>
            <a:ext cx="248716"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40556" y="4343400"/>
            <a:ext cx="1371600" cy="411480"/>
          </a:xfrm>
          <a:prstGeom prst="rect">
            <a:avLst/>
          </a:prstGeom>
          <a:noFill/>
        </p:spPr>
        <p:txBody>
          <a:bodyPr wrap="square">
            <a:spAutoFit/>
          </a:bodyPr>
          <a:lstStyle/>
          <a:p>
            <a:pPr algn="l"/>
            <a:r>
              <a:rPr sz="1200" b="1">
                <a:solidFill>
                  <a:srgbClr val="2E75B6"/>
                </a:solidFill>
                <a:latin typeface="Malgun Gothic"/>
              </a:rPr>
              <a:t>$17/월</a:t>
            </a:r>
          </a:p>
        </p:txBody>
      </p:sp>
      <p:sp>
        <p:nvSpPr>
          <p:cNvPr id="38" name="TextBox 37"/>
          <p:cNvSpPr txBox="1"/>
          <p:nvPr/>
        </p:nvSpPr>
        <p:spPr>
          <a:xfrm>
            <a:off x="274320" y="4873752"/>
            <a:ext cx="2743200" cy="411480"/>
          </a:xfrm>
          <a:prstGeom prst="rect">
            <a:avLst/>
          </a:prstGeom>
          <a:noFill/>
        </p:spPr>
        <p:txBody>
          <a:bodyPr wrap="square">
            <a:spAutoFit/>
          </a:bodyPr>
          <a:lstStyle/>
          <a:p>
            <a:pPr algn="l"/>
            <a:r>
              <a:rPr sz="1200" b="0">
                <a:solidFill>
                  <a:srgbClr val="404040"/>
                </a:solidFill>
                <a:latin typeface="Malgun Gothic"/>
              </a:rPr>
              <a:t>Cursor Pro</a:t>
            </a:r>
          </a:p>
        </p:txBody>
      </p:sp>
      <p:sp>
        <p:nvSpPr>
          <p:cNvPr id="39" name="Rectangle 38"/>
          <p:cNvSpPr/>
          <p:nvPr/>
        </p:nvSpPr>
        <p:spPr>
          <a:xfrm>
            <a:off x="3200400" y="4919472"/>
            <a:ext cx="292608"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84448" y="4873752"/>
            <a:ext cx="1371600" cy="411480"/>
          </a:xfrm>
          <a:prstGeom prst="rect">
            <a:avLst/>
          </a:prstGeom>
          <a:noFill/>
        </p:spPr>
        <p:txBody>
          <a:bodyPr wrap="square">
            <a:spAutoFit/>
          </a:bodyPr>
          <a:lstStyle/>
          <a:p>
            <a:pPr algn="l"/>
            <a:r>
              <a:rPr sz="1200" b="1">
                <a:solidFill>
                  <a:srgbClr val="2E75B6"/>
                </a:solidFill>
                <a:latin typeface="Malgun Gothic"/>
              </a:rPr>
              <a:t>$20/월</a:t>
            </a:r>
          </a:p>
        </p:txBody>
      </p:sp>
      <p:sp>
        <p:nvSpPr>
          <p:cNvPr id="41" name="TextBox 40"/>
          <p:cNvSpPr txBox="1"/>
          <p:nvPr/>
        </p:nvSpPr>
        <p:spPr>
          <a:xfrm>
            <a:off x="274320" y="5404104"/>
            <a:ext cx="2743200" cy="411480"/>
          </a:xfrm>
          <a:prstGeom prst="rect">
            <a:avLst/>
          </a:prstGeom>
          <a:noFill/>
        </p:spPr>
        <p:txBody>
          <a:bodyPr wrap="square">
            <a:spAutoFit/>
          </a:bodyPr>
          <a:lstStyle/>
          <a:p>
            <a:pPr algn="l"/>
            <a:r>
              <a:rPr sz="1200" b="0">
                <a:solidFill>
                  <a:srgbClr val="404040"/>
                </a:solidFill>
                <a:latin typeface="Malgun Gothic"/>
              </a:rPr>
              <a:t>Antigravity AI Ultra</a:t>
            </a:r>
          </a:p>
        </p:txBody>
      </p:sp>
      <p:sp>
        <p:nvSpPr>
          <p:cNvPr id="42" name="Rectangle 41"/>
          <p:cNvSpPr/>
          <p:nvPr/>
        </p:nvSpPr>
        <p:spPr>
          <a:xfrm>
            <a:off x="3200400" y="5449824"/>
            <a:ext cx="146304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0" y="5404104"/>
            <a:ext cx="1371600" cy="411480"/>
          </a:xfrm>
          <a:prstGeom prst="rect">
            <a:avLst/>
          </a:prstGeom>
          <a:noFill/>
        </p:spPr>
        <p:txBody>
          <a:bodyPr wrap="square">
            <a:spAutoFit/>
          </a:bodyPr>
          <a:lstStyle/>
          <a:p>
            <a:pPr algn="l"/>
            <a:r>
              <a:rPr sz="1200" b="1">
                <a:solidFill>
                  <a:srgbClr val="27AE60"/>
                </a:solidFill>
                <a:latin typeface="Malgun Gothic"/>
              </a:rPr>
              <a:t>$100/월</a:t>
            </a:r>
          </a:p>
        </p:txBody>
      </p:sp>
      <p:sp>
        <p:nvSpPr>
          <p:cNvPr id="44" name="TextBox 43"/>
          <p:cNvSpPr txBox="1"/>
          <p:nvPr/>
        </p:nvSpPr>
        <p:spPr>
          <a:xfrm>
            <a:off x="274320" y="5934456"/>
            <a:ext cx="2743200" cy="411480"/>
          </a:xfrm>
          <a:prstGeom prst="rect">
            <a:avLst/>
          </a:prstGeom>
          <a:noFill/>
        </p:spPr>
        <p:txBody>
          <a:bodyPr wrap="square">
            <a:spAutoFit/>
          </a:bodyPr>
          <a:lstStyle/>
          <a:p>
            <a:pPr algn="l"/>
            <a:r>
              <a:rPr sz="1200" b="0">
                <a:solidFill>
                  <a:srgbClr val="404040"/>
                </a:solidFill>
                <a:latin typeface="Malgun Gothic"/>
              </a:rPr>
              <a:t>Devin</a:t>
            </a:r>
          </a:p>
        </p:txBody>
      </p:sp>
      <p:sp>
        <p:nvSpPr>
          <p:cNvPr id="45" name="Rectangle 44"/>
          <p:cNvSpPr/>
          <p:nvPr/>
        </p:nvSpPr>
        <p:spPr>
          <a:xfrm>
            <a:off x="3200400" y="5980176"/>
            <a:ext cx="731520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607040" y="5934456"/>
            <a:ext cx="1371600" cy="411480"/>
          </a:xfrm>
          <a:prstGeom prst="rect">
            <a:avLst/>
          </a:prstGeom>
          <a:noFill/>
        </p:spPr>
        <p:txBody>
          <a:bodyPr wrap="square">
            <a:spAutoFit/>
          </a:bodyPr>
          <a:lstStyle/>
          <a:p>
            <a:pPr algn="l"/>
            <a:r>
              <a:rPr sz="1200" b="1">
                <a:solidFill>
                  <a:srgbClr val="C0392B"/>
                </a:solidFill>
                <a:latin typeface="Malgun Gothic"/>
              </a:rPr>
              <a:t>$500/월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개발자 커뮤니티 반응</a:t>
            </a:r>
          </a:p>
        </p:txBody>
      </p:sp>
      <p:sp>
        <p:nvSpPr>
          <p:cNvPr id="4" name="Rectangle 3"/>
          <p:cNvSpPr/>
          <p:nvPr/>
        </p:nvSpPr>
        <p:spPr>
          <a:xfrm>
            <a:off x="274320" y="1005840"/>
            <a:ext cx="5394960" cy="3200400"/>
          </a:xfrm>
          <a:prstGeom prst="rect">
            <a:avLst/>
          </a:prstGeom>
          <a:solidFill>
            <a:srgbClr val="E8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5029200" cy="457200"/>
          </a:xfrm>
          <a:prstGeom prst="rect">
            <a:avLst/>
          </a:prstGeom>
          <a:noFill/>
        </p:spPr>
        <p:txBody>
          <a:bodyPr wrap="square">
            <a:spAutoFit/>
          </a:bodyPr>
          <a:lstStyle/>
          <a:p>
            <a:pPr algn="l"/>
            <a:r>
              <a:rPr sz="1800" b="1">
                <a:solidFill>
                  <a:srgbClr val="27AE60"/>
                </a:solidFill>
                <a:latin typeface="Malgun Gothic"/>
              </a:rPr>
              <a:t>긍정적 평가</a:t>
            </a:r>
          </a:p>
        </p:txBody>
      </p:sp>
      <p:sp>
        <p:nvSpPr>
          <p:cNvPr id="6" name="TextBox 5"/>
          <p:cNvSpPr txBox="1"/>
          <p:nvPr/>
        </p:nvSpPr>
        <p:spPr>
          <a:xfrm>
            <a:off x="457200" y="1554480"/>
            <a:ext cx="5029200" cy="457200"/>
          </a:xfrm>
          <a:prstGeom prst="rect">
            <a:avLst/>
          </a:prstGeom>
          <a:noFill/>
        </p:spPr>
        <p:txBody>
          <a:bodyPr wrap="square">
            <a:spAutoFit/>
          </a:bodyPr>
          <a:lstStyle/>
          <a:p>
            <a:pPr algn="l"/>
            <a:r>
              <a:rPr sz="1300" b="0">
                <a:solidFill>
                  <a:srgbClr val="404040"/>
                </a:solidFill>
                <a:latin typeface="Malgun Gothic"/>
              </a:rPr>
              <a:t>+ VS Code 포크 중 최초 병렬 에이전트 1급 지원</a:t>
            </a:r>
          </a:p>
        </p:txBody>
      </p:sp>
      <p:sp>
        <p:nvSpPr>
          <p:cNvPr id="7" name="TextBox 6"/>
          <p:cNvSpPr txBox="1"/>
          <p:nvPr/>
        </p:nvSpPr>
        <p:spPr>
          <a:xfrm>
            <a:off x="457200" y="2075688"/>
            <a:ext cx="5029200" cy="457200"/>
          </a:xfrm>
          <a:prstGeom prst="rect">
            <a:avLst/>
          </a:prstGeom>
          <a:noFill/>
        </p:spPr>
        <p:txBody>
          <a:bodyPr wrap="square">
            <a:spAutoFit/>
          </a:bodyPr>
          <a:lstStyle/>
          <a:p>
            <a:pPr algn="l"/>
            <a:r>
              <a:rPr sz="1300" b="0">
                <a:solidFill>
                  <a:srgbClr val="404040"/>
                </a:solidFill>
                <a:latin typeface="Malgun Gothic"/>
              </a:rPr>
              <a:t>+ 10분 안에 앱 프로토타입 완성 (한국 사용자 후기)</a:t>
            </a:r>
          </a:p>
        </p:txBody>
      </p:sp>
      <p:sp>
        <p:nvSpPr>
          <p:cNvPr id="8" name="TextBox 7"/>
          <p:cNvSpPr txBox="1"/>
          <p:nvPr/>
        </p:nvSpPr>
        <p:spPr>
          <a:xfrm>
            <a:off x="457200" y="2596896"/>
            <a:ext cx="5029200" cy="457200"/>
          </a:xfrm>
          <a:prstGeom prst="rect">
            <a:avLst/>
          </a:prstGeom>
          <a:noFill/>
        </p:spPr>
        <p:txBody>
          <a:bodyPr wrap="square">
            <a:spAutoFit/>
          </a:bodyPr>
          <a:lstStyle/>
          <a:p>
            <a:pPr algn="l"/>
            <a:r>
              <a:rPr sz="1300" b="0">
                <a:solidFill>
                  <a:srgbClr val="404040"/>
                </a:solidFill>
                <a:latin typeface="Malgun Gothic"/>
              </a:rPr>
              <a:t>+ 한국어 프롬프트 완벽 지원</a:t>
            </a:r>
          </a:p>
        </p:txBody>
      </p:sp>
      <p:sp>
        <p:nvSpPr>
          <p:cNvPr id="9" name="TextBox 8"/>
          <p:cNvSpPr txBox="1"/>
          <p:nvPr/>
        </p:nvSpPr>
        <p:spPr>
          <a:xfrm>
            <a:off x="457200" y="3118104"/>
            <a:ext cx="5029200" cy="457200"/>
          </a:xfrm>
          <a:prstGeom prst="rect">
            <a:avLst/>
          </a:prstGeom>
          <a:noFill/>
        </p:spPr>
        <p:txBody>
          <a:bodyPr wrap="square">
            <a:spAutoFit/>
          </a:bodyPr>
          <a:lstStyle/>
          <a:p>
            <a:pPr algn="l"/>
            <a:r>
              <a:rPr sz="1300" b="0">
                <a:solidFill>
                  <a:srgbClr val="404040"/>
                </a:solidFill>
                <a:latin typeface="Malgun Gothic"/>
              </a:rPr>
              <a:t>+ Google 생태계(Firebase, Android) 통합 우수</a:t>
            </a:r>
          </a:p>
        </p:txBody>
      </p:sp>
      <p:sp>
        <p:nvSpPr>
          <p:cNvPr id="10" name="TextBox 9"/>
          <p:cNvSpPr txBox="1"/>
          <p:nvPr/>
        </p:nvSpPr>
        <p:spPr>
          <a:xfrm>
            <a:off x="457200" y="3639311"/>
            <a:ext cx="5029200" cy="457200"/>
          </a:xfrm>
          <a:prstGeom prst="rect">
            <a:avLst/>
          </a:prstGeom>
          <a:noFill/>
        </p:spPr>
        <p:txBody>
          <a:bodyPr wrap="square">
            <a:spAutoFit/>
          </a:bodyPr>
          <a:lstStyle/>
          <a:p>
            <a:pPr algn="l"/>
            <a:r>
              <a:rPr sz="1300" b="0">
                <a:solidFill>
                  <a:srgbClr val="404040"/>
                </a:solidFill>
                <a:latin typeface="Malgun Gothic"/>
              </a:rPr>
              <a:t>+ 무료 프리뷰 — 진입 장벽 없음</a:t>
            </a:r>
          </a:p>
        </p:txBody>
      </p:sp>
      <p:sp>
        <p:nvSpPr>
          <p:cNvPr id="11" name="Rectangle 10"/>
          <p:cNvSpPr/>
          <p:nvPr/>
        </p:nvSpPr>
        <p:spPr>
          <a:xfrm>
            <a:off x="6309360" y="1005840"/>
            <a:ext cx="5486400" cy="32004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051560"/>
            <a:ext cx="5120640" cy="457200"/>
          </a:xfrm>
          <a:prstGeom prst="rect">
            <a:avLst/>
          </a:prstGeom>
          <a:noFill/>
        </p:spPr>
        <p:txBody>
          <a:bodyPr wrap="square">
            <a:spAutoFit/>
          </a:bodyPr>
          <a:lstStyle/>
          <a:p>
            <a:pPr algn="l"/>
            <a:r>
              <a:rPr sz="1800" b="1">
                <a:solidFill>
                  <a:srgbClr val="C0392B"/>
                </a:solidFill>
                <a:latin typeface="Malgun Gothic"/>
              </a:rPr>
              <a:t>부정적 반응</a:t>
            </a:r>
          </a:p>
        </p:txBody>
      </p:sp>
      <p:sp>
        <p:nvSpPr>
          <p:cNvPr id="13" name="TextBox 12"/>
          <p:cNvSpPr txBox="1"/>
          <p:nvPr/>
        </p:nvSpPr>
        <p:spPr>
          <a:xfrm>
            <a:off x="6492240" y="1554480"/>
            <a:ext cx="5120640" cy="457200"/>
          </a:xfrm>
          <a:prstGeom prst="rect">
            <a:avLst/>
          </a:prstGeom>
          <a:noFill/>
        </p:spPr>
        <p:txBody>
          <a:bodyPr wrap="square">
            <a:spAutoFit/>
          </a:bodyPr>
          <a:lstStyle/>
          <a:p>
            <a:pPr algn="l"/>
            <a:r>
              <a:rPr sz="1300" b="0">
                <a:solidFill>
                  <a:srgbClr val="404040"/>
                </a:solidFill>
                <a:latin typeface="Malgun Gothic"/>
              </a:rPr>
              <a:t>- 강제 업데이트로 에디터/터미널 사라짐</a:t>
            </a:r>
          </a:p>
        </p:txBody>
      </p:sp>
      <p:sp>
        <p:nvSpPr>
          <p:cNvPr id="14" name="TextBox 13"/>
          <p:cNvSpPr txBox="1"/>
          <p:nvPr/>
        </p:nvSpPr>
        <p:spPr>
          <a:xfrm>
            <a:off x="6492240" y="2075688"/>
            <a:ext cx="5120640" cy="457200"/>
          </a:xfrm>
          <a:prstGeom prst="rect">
            <a:avLst/>
          </a:prstGeom>
          <a:noFill/>
        </p:spPr>
        <p:txBody>
          <a:bodyPr wrap="square">
            <a:spAutoFit/>
          </a:bodyPr>
          <a:lstStyle/>
          <a:p>
            <a:pPr algn="l"/>
            <a:r>
              <a:rPr sz="1300" b="0">
                <a:solidFill>
                  <a:srgbClr val="404040"/>
                </a:solidFill>
                <a:latin typeface="Malgun Gothic"/>
              </a:rPr>
              <a:t>- 오픈소스 Gemini CLI → 클로즈드 전환 논란</a:t>
            </a:r>
          </a:p>
        </p:txBody>
      </p:sp>
      <p:sp>
        <p:nvSpPr>
          <p:cNvPr id="15" name="TextBox 14"/>
          <p:cNvSpPr txBox="1"/>
          <p:nvPr/>
        </p:nvSpPr>
        <p:spPr>
          <a:xfrm>
            <a:off x="6492240" y="2596896"/>
            <a:ext cx="5120640" cy="457200"/>
          </a:xfrm>
          <a:prstGeom prst="rect">
            <a:avLst/>
          </a:prstGeom>
          <a:noFill/>
        </p:spPr>
        <p:txBody>
          <a:bodyPr wrap="square">
            <a:spAutoFit/>
          </a:bodyPr>
          <a:lstStyle/>
          <a:p>
            <a:pPr algn="l"/>
            <a:r>
              <a:rPr sz="1300" b="0">
                <a:solidFill>
                  <a:srgbClr val="404040"/>
                </a:solidFill>
                <a:latin typeface="Malgun Gothic"/>
              </a:rPr>
              <a:t>- 토큰 제한으로 장시간 작업 중단 빈번</a:t>
            </a:r>
          </a:p>
        </p:txBody>
      </p:sp>
      <p:sp>
        <p:nvSpPr>
          <p:cNvPr id="16" name="TextBox 15"/>
          <p:cNvSpPr txBox="1"/>
          <p:nvPr/>
        </p:nvSpPr>
        <p:spPr>
          <a:xfrm>
            <a:off x="6492240" y="3118104"/>
            <a:ext cx="5120640" cy="457200"/>
          </a:xfrm>
          <a:prstGeom prst="rect">
            <a:avLst/>
          </a:prstGeom>
          <a:noFill/>
        </p:spPr>
        <p:txBody>
          <a:bodyPr wrap="square">
            <a:spAutoFit/>
          </a:bodyPr>
          <a:lstStyle/>
          <a:p>
            <a:pPr algn="l"/>
            <a:r>
              <a:rPr sz="1300" b="0">
                <a:solidFill>
                  <a:srgbClr val="404040"/>
                </a:solidFill>
                <a:latin typeface="Malgun Gothic"/>
              </a:rPr>
              <a:t>- v1.23.2 다운그레이드 사태</a:t>
            </a:r>
          </a:p>
        </p:txBody>
      </p:sp>
      <p:sp>
        <p:nvSpPr>
          <p:cNvPr id="17" name="TextBox 16"/>
          <p:cNvSpPr txBox="1"/>
          <p:nvPr/>
        </p:nvSpPr>
        <p:spPr>
          <a:xfrm>
            <a:off x="6492240" y="3639311"/>
            <a:ext cx="5120640" cy="457200"/>
          </a:xfrm>
          <a:prstGeom prst="rect">
            <a:avLst/>
          </a:prstGeom>
          <a:noFill/>
        </p:spPr>
        <p:txBody>
          <a:bodyPr wrap="square">
            <a:spAutoFit/>
          </a:bodyPr>
          <a:lstStyle/>
          <a:p>
            <a:pPr algn="l"/>
            <a:r>
              <a:rPr sz="1300" b="0">
                <a:solidFill>
                  <a:srgbClr val="404040"/>
                </a:solidFill>
                <a:latin typeface="Malgun Gothic"/>
              </a:rPr>
              <a:t>- "비기술적 결정처럼 보이는 배포 방식"</a:t>
            </a:r>
          </a:p>
        </p:txBody>
      </p:sp>
      <p:sp>
        <p:nvSpPr>
          <p:cNvPr id="18" name="Rectangle 17"/>
          <p:cNvSpPr/>
          <p:nvPr/>
        </p:nvSpPr>
        <p:spPr>
          <a:xfrm>
            <a:off x="274320" y="4343400"/>
            <a:ext cx="11430000" cy="100584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34840"/>
            <a:ext cx="10972800" cy="822960"/>
          </a:xfrm>
          <a:prstGeom prst="rect">
            <a:avLst/>
          </a:prstGeom>
          <a:noFill/>
        </p:spPr>
        <p:txBody>
          <a:bodyPr wrap="square">
            <a:spAutoFit/>
          </a:bodyPr>
          <a:lstStyle/>
          <a:p>
            <a:pPr algn="ctr"/>
            <a:r>
              <a:rPr sz="1400" b="0">
                <a:solidFill>
                  <a:srgbClr val="1F4E79"/>
                </a:solidFill>
                <a:latin typeface="Malgun Gothic"/>
              </a:rPr>
              <a:t>"Gemini CLI kept under Apache 2.0 — but only for enterprise customers paying for it."
— The Register, 2026-05-20</a:t>
            </a:r>
          </a:p>
        </p:txBody>
      </p:sp>
      <p:sp>
        <p:nvSpPr>
          <p:cNvPr id="20" name="Rectangle 19"/>
          <p:cNvSpPr/>
          <p:nvPr/>
        </p:nvSpPr>
        <p:spPr>
          <a:xfrm>
            <a:off x="274320" y="5486400"/>
            <a:ext cx="11430000" cy="10972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577840"/>
            <a:ext cx="10972800" cy="914400"/>
          </a:xfrm>
          <a:prstGeom prst="rect">
            <a:avLst/>
          </a:prstGeom>
          <a:noFill/>
        </p:spPr>
        <p:txBody>
          <a:bodyPr wrap="square">
            <a:spAutoFit/>
          </a:bodyPr>
          <a:lstStyle/>
          <a:p>
            <a:pPr algn="ctr"/>
            <a:r>
              <a:rPr sz="1300" b="0">
                <a:solidFill>
                  <a:srgbClr val="404040"/>
                </a:solidFill>
                <a:latin typeface="Malgun Gothic"/>
              </a:rPr>
              <a:t>한국 개발자 커뮤니티: 한국어 지원 완벽 / 비개발자도 10분 내 프로토타입 / 단, 토큰 제한·안정성 아직 Cursor 미달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한계 &amp; 보안 리스크</a:t>
            </a:r>
          </a:p>
        </p:txBody>
      </p:sp>
      <p:sp>
        <p:nvSpPr>
          <p:cNvPr id="4" name="Rectangle 3"/>
          <p:cNvSpPr/>
          <p:nvPr/>
        </p:nvSpPr>
        <p:spPr>
          <a:xfrm>
            <a:off x="274320" y="1005840"/>
            <a:ext cx="5669280" cy="1828800"/>
          </a:xfrm>
          <a:prstGeom prst="rect">
            <a:avLst/>
          </a:prstGeom>
          <a:solidFill>
            <a:srgbClr val="FFEBEB"/>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51560"/>
            <a:ext cx="5486400" cy="457200"/>
          </a:xfrm>
          <a:prstGeom prst="rect">
            <a:avLst/>
          </a:prstGeom>
          <a:noFill/>
        </p:spPr>
        <p:txBody>
          <a:bodyPr wrap="square">
            <a:spAutoFit/>
          </a:bodyPr>
          <a:lstStyle/>
          <a:p>
            <a:pPr algn="l"/>
            <a:r>
              <a:rPr sz="1300" b="1">
                <a:solidFill>
                  <a:srgbClr val="C0392B"/>
                </a:solidFill>
                <a:latin typeface="Malgun Gothic"/>
              </a:rPr>
              <a:t>Pillar Security (2026-01 발견 / 2026-02 패치)</a:t>
            </a:r>
          </a:p>
        </p:txBody>
      </p:sp>
      <p:sp>
        <p:nvSpPr>
          <p:cNvPr id="6" name="TextBox 5"/>
          <p:cNvSpPr txBox="1"/>
          <p:nvPr/>
        </p:nvSpPr>
        <p:spPr>
          <a:xfrm>
            <a:off x="365760" y="1508760"/>
            <a:ext cx="5486400" cy="1188720"/>
          </a:xfrm>
          <a:prstGeom prst="rect">
            <a:avLst/>
          </a:prstGeom>
          <a:noFill/>
        </p:spPr>
        <p:txBody>
          <a:bodyPr wrap="square">
            <a:spAutoFit/>
          </a:bodyPr>
          <a:lstStyle/>
          <a:p>
            <a:pPr algn="l"/>
            <a:r>
              <a:rPr sz="1300" b="0">
                <a:solidFill>
                  <a:srgbClr val="404040"/>
                </a:solidFill>
                <a:latin typeface="Malgun Gothic"/>
              </a:rPr>
              <a:t>find_by_name 네이티브 도구가 Strict Mode 이전 실행
→ 샌드박스 탈출 + 원격 코드 실행(RCE)</a:t>
            </a:r>
          </a:p>
        </p:txBody>
      </p:sp>
      <p:sp>
        <p:nvSpPr>
          <p:cNvPr id="7" name="Rectangle 6"/>
          <p:cNvSpPr/>
          <p:nvPr/>
        </p:nvSpPr>
        <p:spPr>
          <a:xfrm>
            <a:off x="6217920" y="1005840"/>
            <a:ext cx="5669280" cy="1828800"/>
          </a:xfrm>
          <a:prstGeom prst="rect">
            <a:avLst/>
          </a:prstGeom>
          <a:solidFill>
            <a:srgbClr val="FFEBEB"/>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051560"/>
            <a:ext cx="5486400" cy="457200"/>
          </a:xfrm>
          <a:prstGeom prst="rect">
            <a:avLst/>
          </a:prstGeom>
          <a:noFill/>
        </p:spPr>
        <p:txBody>
          <a:bodyPr wrap="square">
            <a:spAutoFit/>
          </a:bodyPr>
          <a:lstStyle/>
          <a:p>
            <a:pPr algn="l"/>
            <a:r>
              <a:rPr sz="1300" b="1">
                <a:solidFill>
                  <a:srgbClr val="C0392B"/>
                </a:solidFill>
                <a:latin typeface="Malgun Gothic"/>
              </a:rPr>
              <a:t>Mindgard (2026 발견 / 패치 완료)</a:t>
            </a:r>
          </a:p>
        </p:txBody>
      </p:sp>
      <p:sp>
        <p:nvSpPr>
          <p:cNvPr id="9" name="TextBox 8"/>
          <p:cNvSpPr txBox="1"/>
          <p:nvPr/>
        </p:nvSpPr>
        <p:spPr>
          <a:xfrm>
            <a:off x="6309360" y="1508760"/>
            <a:ext cx="5486400" cy="1188720"/>
          </a:xfrm>
          <a:prstGeom prst="rect">
            <a:avLst/>
          </a:prstGeom>
          <a:noFill/>
        </p:spPr>
        <p:txBody>
          <a:bodyPr wrap="square">
            <a:spAutoFit/>
          </a:bodyPr>
          <a:lstStyle/>
          <a:p>
            <a:pPr algn="l"/>
            <a:r>
              <a:rPr sz="1300" b="0">
                <a:solidFill>
                  <a:srgbClr val="404040"/>
                </a:solidFill>
                <a:latin typeface="Malgun Gothic"/>
              </a:rPr>
              <a:t>악성 신뢰 작업공간(trusted workspace) → 영구 백도어
→ 임의 코드 실행</a:t>
            </a:r>
          </a:p>
        </p:txBody>
      </p:sp>
      <p:sp>
        <p:nvSpPr>
          <p:cNvPr id="10" name="TextBox 9"/>
          <p:cNvSpPr txBox="1"/>
          <p:nvPr/>
        </p:nvSpPr>
        <p:spPr>
          <a:xfrm>
            <a:off x="274320" y="3017520"/>
            <a:ext cx="11430000" cy="365760"/>
          </a:xfrm>
          <a:prstGeom prst="rect">
            <a:avLst/>
          </a:prstGeom>
          <a:noFill/>
        </p:spPr>
        <p:txBody>
          <a:bodyPr wrap="square">
            <a:spAutoFit/>
          </a:bodyPr>
          <a:lstStyle/>
          <a:p>
            <a:pPr algn="l"/>
            <a:r>
              <a:rPr sz="1600" b="1">
                <a:solidFill>
                  <a:srgbClr val="1F4E79"/>
                </a:solidFill>
                <a:latin typeface="Malgun Gothic"/>
              </a:rPr>
              <a:t>운영 한계 요약</a:t>
            </a:r>
          </a:p>
        </p:txBody>
      </p:sp>
      <p:sp>
        <p:nvSpPr>
          <p:cNvPr id="11" name="Rectangle 10"/>
          <p:cNvSpPr/>
          <p:nvPr/>
        </p:nvSpPr>
        <p:spPr>
          <a:xfrm>
            <a:off x="274320" y="3474720"/>
            <a:ext cx="5669280" cy="8686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520440"/>
            <a:ext cx="2194560" cy="365760"/>
          </a:xfrm>
          <a:prstGeom prst="rect">
            <a:avLst/>
          </a:prstGeom>
          <a:noFill/>
        </p:spPr>
        <p:txBody>
          <a:bodyPr wrap="square">
            <a:spAutoFit/>
          </a:bodyPr>
          <a:lstStyle/>
          <a:p>
            <a:pPr algn="l"/>
            <a:r>
              <a:rPr sz="1300" b="1">
                <a:solidFill>
                  <a:srgbClr val="1F4E79"/>
                </a:solidFill>
                <a:latin typeface="Malgun Gothic"/>
              </a:rPr>
              <a:t>데이터 학습 정책</a:t>
            </a:r>
          </a:p>
        </p:txBody>
      </p:sp>
      <p:sp>
        <p:nvSpPr>
          <p:cNvPr id="13" name="TextBox 12"/>
          <p:cNvSpPr txBox="1"/>
          <p:nvPr/>
        </p:nvSpPr>
        <p:spPr>
          <a:xfrm>
            <a:off x="2560320" y="3520440"/>
            <a:ext cx="3291840" cy="777240"/>
          </a:xfrm>
          <a:prstGeom prst="rect">
            <a:avLst/>
          </a:prstGeom>
          <a:noFill/>
        </p:spPr>
        <p:txBody>
          <a:bodyPr wrap="square">
            <a:spAutoFit/>
          </a:bodyPr>
          <a:lstStyle/>
          <a:p>
            <a:pPr algn="l"/>
            <a:r>
              <a:rPr sz="1200" b="0">
                <a:solidFill>
                  <a:srgbClr val="404040"/>
                </a:solidFill>
                <a:latin typeface="Malgun Gothic"/>
              </a:rPr>
              <a:t>미공개 — 민감 코드 주의 필요</a:t>
            </a:r>
          </a:p>
        </p:txBody>
      </p:sp>
      <p:sp>
        <p:nvSpPr>
          <p:cNvPr id="14" name="Rectangle 13"/>
          <p:cNvSpPr/>
          <p:nvPr/>
        </p:nvSpPr>
        <p:spPr>
          <a:xfrm>
            <a:off x="6217920" y="3474720"/>
            <a:ext cx="566928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3520440"/>
            <a:ext cx="2194560" cy="365760"/>
          </a:xfrm>
          <a:prstGeom prst="rect">
            <a:avLst/>
          </a:prstGeom>
          <a:noFill/>
        </p:spPr>
        <p:txBody>
          <a:bodyPr wrap="square">
            <a:spAutoFit/>
          </a:bodyPr>
          <a:lstStyle/>
          <a:p>
            <a:pPr algn="l"/>
            <a:r>
              <a:rPr sz="1300" b="1">
                <a:solidFill>
                  <a:srgbClr val="1F4E79"/>
                </a:solidFill>
                <a:latin typeface="Malgun Gothic"/>
              </a:rPr>
              <a:t>GDPR / 온프레미스</a:t>
            </a:r>
          </a:p>
        </p:txBody>
      </p:sp>
      <p:sp>
        <p:nvSpPr>
          <p:cNvPr id="16" name="TextBox 15"/>
          <p:cNvSpPr txBox="1"/>
          <p:nvPr/>
        </p:nvSpPr>
        <p:spPr>
          <a:xfrm>
            <a:off x="8503920" y="3520440"/>
            <a:ext cx="3291840" cy="777240"/>
          </a:xfrm>
          <a:prstGeom prst="rect">
            <a:avLst/>
          </a:prstGeom>
          <a:noFill/>
        </p:spPr>
        <p:txBody>
          <a:bodyPr wrap="square">
            <a:spAutoFit/>
          </a:bodyPr>
          <a:lstStyle/>
          <a:p>
            <a:pPr algn="l"/>
            <a:r>
              <a:rPr sz="1200" b="0">
                <a:solidFill>
                  <a:srgbClr val="404040"/>
                </a:solidFill>
                <a:latin typeface="Malgun Gothic"/>
              </a:rPr>
              <a:t>불가 — 완전 클라우드 전용</a:t>
            </a:r>
          </a:p>
        </p:txBody>
      </p:sp>
      <p:sp>
        <p:nvSpPr>
          <p:cNvPr id="17" name="Rectangle 16"/>
          <p:cNvSpPr/>
          <p:nvPr/>
        </p:nvSpPr>
        <p:spPr>
          <a:xfrm>
            <a:off x="274320" y="4480560"/>
            <a:ext cx="5669280" cy="8686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4526280"/>
            <a:ext cx="2194560" cy="365760"/>
          </a:xfrm>
          <a:prstGeom prst="rect">
            <a:avLst/>
          </a:prstGeom>
          <a:noFill/>
        </p:spPr>
        <p:txBody>
          <a:bodyPr wrap="square">
            <a:spAutoFit/>
          </a:bodyPr>
          <a:lstStyle/>
          <a:p>
            <a:pPr algn="l"/>
            <a:r>
              <a:rPr sz="1300" b="1">
                <a:solidFill>
                  <a:srgbClr val="1F4E79"/>
                </a:solidFill>
                <a:latin typeface="Malgun Gothic"/>
              </a:rPr>
              <a:t>SOC 2 / HIPAA</a:t>
            </a:r>
          </a:p>
        </p:txBody>
      </p:sp>
      <p:sp>
        <p:nvSpPr>
          <p:cNvPr id="19" name="TextBox 18"/>
          <p:cNvSpPr txBox="1"/>
          <p:nvPr/>
        </p:nvSpPr>
        <p:spPr>
          <a:xfrm>
            <a:off x="2560320" y="4526280"/>
            <a:ext cx="3291840" cy="777240"/>
          </a:xfrm>
          <a:prstGeom prst="rect">
            <a:avLst/>
          </a:prstGeom>
          <a:noFill/>
        </p:spPr>
        <p:txBody>
          <a:bodyPr wrap="square">
            <a:spAutoFit/>
          </a:bodyPr>
          <a:lstStyle/>
          <a:p>
            <a:pPr algn="l"/>
            <a:r>
              <a:rPr sz="1200" b="0">
                <a:solidFill>
                  <a:srgbClr val="404040"/>
                </a:solidFill>
                <a:latin typeface="Malgun Gothic"/>
              </a:rPr>
              <a:t>미지원 (Claude Code는 지원)</a:t>
            </a:r>
          </a:p>
        </p:txBody>
      </p:sp>
      <p:sp>
        <p:nvSpPr>
          <p:cNvPr id="20" name="Rectangle 19"/>
          <p:cNvSpPr/>
          <p:nvPr/>
        </p:nvSpPr>
        <p:spPr>
          <a:xfrm>
            <a:off x="6217920" y="4480560"/>
            <a:ext cx="566928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526280"/>
            <a:ext cx="2194560" cy="365760"/>
          </a:xfrm>
          <a:prstGeom prst="rect">
            <a:avLst/>
          </a:prstGeom>
          <a:noFill/>
        </p:spPr>
        <p:txBody>
          <a:bodyPr wrap="square">
            <a:spAutoFit/>
          </a:bodyPr>
          <a:lstStyle/>
          <a:p>
            <a:pPr algn="l"/>
            <a:r>
              <a:rPr sz="1300" b="1">
                <a:solidFill>
                  <a:srgbClr val="1F4E79"/>
                </a:solidFill>
                <a:latin typeface="Malgun Gothic"/>
              </a:rPr>
              <a:t>CI/CD 통합</a:t>
            </a:r>
          </a:p>
        </p:txBody>
      </p:sp>
      <p:sp>
        <p:nvSpPr>
          <p:cNvPr id="22" name="TextBox 21"/>
          <p:cNvSpPr txBox="1"/>
          <p:nvPr/>
        </p:nvSpPr>
        <p:spPr>
          <a:xfrm>
            <a:off x="8503920" y="4526280"/>
            <a:ext cx="3291840" cy="777240"/>
          </a:xfrm>
          <a:prstGeom prst="rect">
            <a:avLst/>
          </a:prstGeom>
          <a:noFill/>
        </p:spPr>
        <p:txBody>
          <a:bodyPr wrap="square">
            <a:spAutoFit/>
          </a:bodyPr>
          <a:lstStyle/>
          <a:p>
            <a:pPr algn="l"/>
            <a:r>
              <a:rPr sz="1200" b="0">
                <a:solidFill>
                  <a:srgbClr val="404040"/>
                </a:solidFill>
                <a:latin typeface="Malgun Gothic"/>
              </a:rPr>
              <a:t>공식 문서화 없음</a:t>
            </a:r>
          </a:p>
        </p:txBody>
      </p:sp>
      <p:sp>
        <p:nvSpPr>
          <p:cNvPr id="23" name="Rectangle 22"/>
          <p:cNvSpPr/>
          <p:nvPr/>
        </p:nvSpPr>
        <p:spPr>
          <a:xfrm>
            <a:off x="274320" y="5486400"/>
            <a:ext cx="5669280" cy="86868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5532120"/>
            <a:ext cx="2194560" cy="365760"/>
          </a:xfrm>
          <a:prstGeom prst="rect">
            <a:avLst/>
          </a:prstGeom>
          <a:noFill/>
        </p:spPr>
        <p:txBody>
          <a:bodyPr wrap="square">
            <a:spAutoFit/>
          </a:bodyPr>
          <a:lstStyle/>
          <a:p>
            <a:pPr algn="l"/>
            <a:r>
              <a:rPr sz="1300" b="1">
                <a:solidFill>
                  <a:srgbClr val="1F4E79"/>
                </a:solidFill>
                <a:latin typeface="Malgun Gothic"/>
              </a:rPr>
              <a:t>토큰 제한</a:t>
            </a:r>
          </a:p>
        </p:txBody>
      </p:sp>
      <p:sp>
        <p:nvSpPr>
          <p:cNvPr id="25" name="TextBox 24"/>
          <p:cNvSpPr txBox="1"/>
          <p:nvPr/>
        </p:nvSpPr>
        <p:spPr>
          <a:xfrm>
            <a:off x="2560320" y="5532120"/>
            <a:ext cx="3291840" cy="777240"/>
          </a:xfrm>
          <a:prstGeom prst="rect">
            <a:avLst/>
          </a:prstGeom>
          <a:noFill/>
        </p:spPr>
        <p:txBody>
          <a:bodyPr wrap="square">
            <a:spAutoFit/>
          </a:bodyPr>
          <a:lstStyle/>
          <a:p>
            <a:pPr algn="l"/>
            <a:r>
              <a:rPr sz="1200" b="0">
                <a:solidFill>
                  <a:srgbClr val="404040"/>
                </a:solidFill>
                <a:latin typeface="Malgun Gothic"/>
              </a:rPr>
              <a:t>5시간마다 갱신 — 장시간 작업 중단</a:t>
            </a:r>
          </a:p>
        </p:txBody>
      </p:sp>
      <p:sp>
        <p:nvSpPr>
          <p:cNvPr id="26" name="Rectangle 25"/>
          <p:cNvSpPr/>
          <p:nvPr/>
        </p:nvSpPr>
        <p:spPr>
          <a:xfrm>
            <a:off x="6217920" y="5486400"/>
            <a:ext cx="566928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5532120"/>
            <a:ext cx="2194560" cy="365760"/>
          </a:xfrm>
          <a:prstGeom prst="rect">
            <a:avLst/>
          </a:prstGeom>
          <a:noFill/>
        </p:spPr>
        <p:txBody>
          <a:bodyPr wrap="square">
            <a:spAutoFit/>
          </a:bodyPr>
          <a:lstStyle/>
          <a:p>
            <a:pPr algn="l"/>
            <a:r>
              <a:rPr sz="1300" b="1">
                <a:solidFill>
                  <a:srgbClr val="1F4E79"/>
                </a:solidFill>
                <a:latin typeface="Malgun Gothic"/>
              </a:rPr>
              <a:t>브라우저 통합</a:t>
            </a:r>
          </a:p>
        </p:txBody>
      </p:sp>
      <p:sp>
        <p:nvSpPr>
          <p:cNvPr id="28" name="TextBox 27"/>
          <p:cNvSpPr txBox="1"/>
          <p:nvPr/>
        </p:nvSpPr>
        <p:spPr>
          <a:xfrm>
            <a:off x="8503920" y="5532120"/>
            <a:ext cx="3291840" cy="777240"/>
          </a:xfrm>
          <a:prstGeom prst="rect">
            <a:avLst/>
          </a:prstGeom>
          <a:noFill/>
        </p:spPr>
        <p:txBody>
          <a:bodyPr wrap="square">
            <a:spAutoFit/>
          </a:bodyPr>
          <a:lstStyle/>
          <a:p>
            <a:pPr algn="l"/>
            <a:r>
              <a:rPr sz="1200" b="0">
                <a:solidFill>
                  <a:srgbClr val="404040"/>
                </a:solidFill>
                <a:latin typeface="Malgun Gothic"/>
              </a:rPr>
              <a:t>Chrome 전용 (Firefox/Safari 불가)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5분 빠른 시작 가이드</a:t>
            </a:r>
          </a:p>
        </p:txBody>
      </p:sp>
      <p:sp>
        <p:nvSpPr>
          <p:cNvPr id="4" name="Rectangle 3"/>
          <p:cNvSpPr/>
          <p:nvPr/>
        </p:nvSpPr>
        <p:spPr>
          <a:xfrm>
            <a:off x="274320" y="1005840"/>
            <a:ext cx="2194560" cy="4572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51560"/>
            <a:ext cx="2194560" cy="365760"/>
          </a:xfrm>
          <a:prstGeom prst="rect">
            <a:avLst/>
          </a:prstGeom>
          <a:noFill/>
        </p:spPr>
        <p:txBody>
          <a:bodyPr wrap="square">
            <a:spAutoFit/>
          </a:bodyPr>
          <a:lstStyle/>
          <a:p>
            <a:pPr algn="ctr"/>
            <a:r>
              <a:rPr sz="1400" b="1">
                <a:solidFill>
                  <a:srgbClr val="FFFFFF"/>
                </a:solidFill>
                <a:latin typeface="Malgun Gothic"/>
              </a:rPr>
              <a:t>STEP 1</a:t>
            </a:r>
          </a:p>
        </p:txBody>
      </p:sp>
      <p:sp>
        <p:nvSpPr>
          <p:cNvPr id="6" name="Rectangle 5"/>
          <p:cNvSpPr/>
          <p:nvPr/>
        </p:nvSpPr>
        <p:spPr>
          <a:xfrm>
            <a:off x="274320" y="1508760"/>
            <a:ext cx="2194560" cy="34747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54480"/>
            <a:ext cx="2011680" cy="457200"/>
          </a:xfrm>
          <a:prstGeom prst="rect">
            <a:avLst/>
          </a:prstGeom>
          <a:noFill/>
        </p:spPr>
        <p:txBody>
          <a:bodyPr wrap="square">
            <a:spAutoFit/>
          </a:bodyPr>
          <a:lstStyle/>
          <a:p>
            <a:pPr algn="l"/>
            <a:r>
              <a:rPr sz="1500" b="1">
                <a:solidFill>
                  <a:srgbClr val="1F4E79"/>
                </a:solidFill>
                <a:latin typeface="Malgun Gothic"/>
              </a:rPr>
              <a:t>다운로드</a:t>
            </a:r>
          </a:p>
        </p:txBody>
      </p:sp>
      <p:sp>
        <p:nvSpPr>
          <p:cNvPr id="8" name="TextBox 7"/>
          <p:cNvSpPr txBox="1"/>
          <p:nvPr/>
        </p:nvSpPr>
        <p:spPr>
          <a:xfrm>
            <a:off x="365760" y="2057400"/>
            <a:ext cx="2011680" cy="2743200"/>
          </a:xfrm>
          <a:prstGeom prst="rect">
            <a:avLst/>
          </a:prstGeom>
          <a:noFill/>
        </p:spPr>
        <p:txBody>
          <a:bodyPr wrap="square">
            <a:spAutoFit/>
          </a:bodyPr>
          <a:lstStyle/>
          <a:p>
            <a:pPr algn="l"/>
            <a:r>
              <a:rPr sz="1200" b="0">
                <a:solidFill>
                  <a:srgbClr val="404040"/>
                </a:solidFill>
                <a:latin typeface="Malgun Gothic"/>
              </a:rPr>
              <a:t>antigravity.google → OS별 설치파일
(안정 버전: v1.23.2 이하 명시 권장)</a:t>
            </a:r>
          </a:p>
        </p:txBody>
      </p:sp>
      <p:sp>
        <p:nvSpPr>
          <p:cNvPr id="9" name="Rectangle 8"/>
          <p:cNvSpPr/>
          <p:nvPr/>
        </p:nvSpPr>
        <p:spPr>
          <a:xfrm>
            <a:off x="2651760" y="1005840"/>
            <a:ext cx="219456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1051560"/>
            <a:ext cx="2194560" cy="365760"/>
          </a:xfrm>
          <a:prstGeom prst="rect">
            <a:avLst/>
          </a:prstGeom>
          <a:noFill/>
        </p:spPr>
        <p:txBody>
          <a:bodyPr wrap="square">
            <a:spAutoFit/>
          </a:bodyPr>
          <a:lstStyle/>
          <a:p>
            <a:pPr algn="ctr"/>
            <a:r>
              <a:rPr sz="1400" b="1">
                <a:solidFill>
                  <a:srgbClr val="FFFFFF"/>
                </a:solidFill>
                <a:latin typeface="Malgun Gothic"/>
              </a:rPr>
              <a:t>STEP 2</a:t>
            </a:r>
          </a:p>
        </p:txBody>
      </p:sp>
      <p:sp>
        <p:nvSpPr>
          <p:cNvPr id="11" name="Rectangle 10"/>
          <p:cNvSpPr/>
          <p:nvPr/>
        </p:nvSpPr>
        <p:spPr>
          <a:xfrm>
            <a:off x="2651760" y="1508760"/>
            <a:ext cx="2194560" cy="3474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554480"/>
            <a:ext cx="2011680" cy="457200"/>
          </a:xfrm>
          <a:prstGeom prst="rect">
            <a:avLst/>
          </a:prstGeom>
          <a:noFill/>
        </p:spPr>
        <p:txBody>
          <a:bodyPr wrap="square">
            <a:spAutoFit/>
          </a:bodyPr>
          <a:lstStyle/>
          <a:p>
            <a:pPr algn="l"/>
            <a:r>
              <a:rPr sz="1500" b="1">
                <a:solidFill>
                  <a:srgbClr val="1F4E79"/>
                </a:solidFill>
                <a:latin typeface="Malgun Gothic"/>
              </a:rPr>
              <a:t>설치 &amp; 설정</a:t>
            </a:r>
          </a:p>
        </p:txBody>
      </p:sp>
      <p:sp>
        <p:nvSpPr>
          <p:cNvPr id="13" name="TextBox 12"/>
          <p:cNvSpPr txBox="1"/>
          <p:nvPr/>
        </p:nvSpPr>
        <p:spPr>
          <a:xfrm>
            <a:off x="2743200" y="2057400"/>
            <a:ext cx="2011680" cy="2743200"/>
          </a:xfrm>
          <a:prstGeom prst="rect">
            <a:avLst/>
          </a:prstGeom>
          <a:noFill/>
        </p:spPr>
        <p:txBody>
          <a:bodyPr wrap="square">
            <a:spAutoFit/>
          </a:bodyPr>
          <a:lstStyle/>
          <a:p>
            <a:pPr algn="l"/>
            <a:r>
              <a:rPr sz="1200" b="0">
                <a:solidFill>
                  <a:srgbClr val="404040"/>
                </a:solidFill>
                <a:latin typeface="Malgun Gothic"/>
              </a:rPr>
              <a:t>모드 선택: Agent-Assisted (권장)
기존 VS Code 설정 임포트 가능</a:t>
            </a:r>
          </a:p>
        </p:txBody>
      </p:sp>
      <p:sp>
        <p:nvSpPr>
          <p:cNvPr id="14" name="Rectangle 13"/>
          <p:cNvSpPr/>
          <p:nvPr/>
        </p:nvSpPr>
        <p:spPr>
          <a:xfrm>
            <a:off x="5029200" y="1005840"/>
            <a:ext cx="2194560" cy="4572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051560"/>
            <a:ext cx="2194560" cy="365760"/>
          </a:xfrm>
          <a:prstGeom prst="rect">
            <a:avLst/>
          </a:prstGeom>
          <a:noFill/>
        </p:spPr>
        <p:txBody>
          <a:bodyPr wrap="square">
            <a:spAutoFit/>
          </a:bodyPr>
          <a:lstStyle/>
          <a:p>
            <a:pPr algn="ctr"/>
            <a:r>
              <a:rPr sz="1400" b="1">
                <a:solidFill>
                  <a:srgbClr val="FFFFFF"/>
                </a:solidFill>
                <a:latin typeface="Malgun Gothic"/>
              </a:rPr>
              <a:t>STEP 3</a:t>
            </a:r>
          </a:p>
        </p:txBody>
      </p:sp>
      <p:sp>
        <p:nvSpPr>
          <p:cNvPr id="16" name="Rectangle 15"/>
          <p:cNvSpPr/>
          <p:nvPr/>
        </p:nvSpPr>
        <p:spPr>
          <a:xfrm>
            <a:off x="5029200" y="1508760"/>
            <a:ext cx="2194560" cy="34747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54480"/>
            <a:ext cx="2011680" cy="457200"/>
          </a:xfrm>
          <a:prstGeom prst="rect">
            <a:avLst/>
          </a:prstGeom>
          <a:noFill/>
        </p:spPr>
        <p:txBody>
          <a:bodyPr wrap="square">
            <a:spAutoFit/>
          </a:bodyPr>
          <a:lstStyle/>
          <a:p>
            <a:pPr algn="l"/>
            <a:r>
              <a:rPr sz="1500" b="1">
                <a:solidFill>
                  <a:srgbClr val="1F4E79"/>
                </a:solidFill>
                <a:latin typeface="Malgun Gothic"/>
              </a:rPr>
              <a:t>로그인</a:t>
            </a:r>
          </a:p>
        </p:txBody>
      </p:sp>
      <p:sp>
        <p:nvSpPr>
          <p:cNvPr id="18" name="TextBox 17"/>
          <p:cNvSpPr txBox="1"/>
          <p:nvPr/>
        </p:nvSpPr>
        <p:spPr>
          <a:xfrm>
            <a:off x="5120640" y="2057400"/>
            <a:ext cx="2011680" cy="2743200"/>
          </a:xfrm>
          <a:prstGeom prst="rect">
            <a:avLst/>
          </a:prstGeom>
          <a:noFill/>
        </p:spPr>
        <p:txBody>
          <a:bodyPr wrap="square">
            <a:spAutoFit/>
          </a:bodyPr>
          <a:lstStyle/>
          <a:p>
            <a:pPr algn="l"/>
            <a:r>
              <a:rPr sz="1200" b="0">
                <a:solidFill>
                  <a:srgbClr val="404040"/>
                </a:solidFill>
                <a:latin typeface="Malgun Gothic"/>
              </a:rPr>
              <a:t>Gmail 계정 인증 → Terms 동의
무료 쿼터 자동 활성화</a:t>
            </a:r>
          </a:p>
        </p:txBody>
      </p:sp>
      <p:sp>
        <p:nvSpPr>
          <p:cNvPr id="19" name="Rectangle 18"/>
          <p:cNvSpPr/>
          <p:nvPr/>
        </p:nvSpPr>
        <p:spPr>
          <a:xfrm>
            <a:off x="7406640" y="1005840"/>
            <a:ext cx="219456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1051560"/>
            <a:ext cx="2194560" cy="365760"/>
          </a:xfrm>
          <a:prstGeom prst="rect">
            <a:avLst/>
          </a:prstGeom>
          <a:noFill/>
        </p:spPr>
        <p:txBody>
          <a:bodyPr wrap="square">
            <a:spAutoFit/>
          </a:bodyPr>
          <a:lstStyle/>
          <a:p>
            <a:pPr algn="ctr"/>
            <a:r>
              <a:rPr sz="1400" b="1">
                <a:solidFill>
                  <a:srgbClr val="FFFFFF"/>
                </a:solidFill>
                <a:latin typeface="Malgun Gothic"/>
              </a:rPr>
              <a:t>STEP 4</a:t>
            </a:r>
          </a:p>
        </p:txBody>
      </p:sp>
      <p:sp>
        <p:nvSpPr>
          <p:cNvPr id="21" name="Rectangle 20"/>
          <p:cNvSpPr/>
          <p:nvPr/>
        </p:nvSpPr>
        <p:spPr>
          <a:xfrm>
            <a:off x="7406640" y="1508760"/>
            <a:ext cx="2194560" cy="3474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1554480"/>
            <a:ext cx="2011680" cy="457200"/>
          </a:xfrm>
          <a:prstGeom prst="rect">
            <a:avLst/>
          </a:prstGeom>
          <a:noFill/>
        </p:spPr>
        <p:txBody>
          <a:bodyPr wrap="square">
            <a:spAutoFit/>
          </a:bodyPr>
          <a:lstStyle/>
          <a:p>
            <a:pPr algn="l"/>
            <a:r>
              <a:rPr sz="1500" b="1">
                <a:solidFill>
                  <a:srgbClr val="1F4E79"/>
                </a:solidFill>
                <a:latin typeface="Malgun Gothic"/>
              </a:rPr>
              <a:t>첫 태스크</a:t>
            </a:r>
          </a:p>
        </p:txBody>
      </p:sp>
      <p:sp>
        <p:nvSpPr>
          <p:cNvPr id="23" name="TextBox 22"/>
          <p:cNvSpPr txBox="1"/>
          <p:nvPr/>
        </p:nvSpPr>
        <p:spPr>
          <a:xfrm>
            <a:off x="7498080" y="2057400"/>
            <a:ext cx="2011680" cy="2743200"/>
          </a:xfrm>
          <a:prstGeom prst="rect">
            <a:avLst/>
          </a:prstGeom>
          <a:noFill/>
        </p:spPr>
        <p:txBody>
          <a:bodyPr wrap="square">
            <a:spAutoFit/>
          </a:bodyPr>
          <a:lstStyle/>
          <a:p>
            <a:pPr algn="l"/>
            <a:r>
              <a:rPr sz="1200" b="0">
                <a:solidFill>
                  <a:srgbClr val="404040"/>
                </a:solidFill>
                <a:latin typeface="Malgun Gothic"/>
              </a:rPr>
              <a:t>Manager View → 프롬프트 입력
예: "React + TS로 할 일 목록 앱 만들어줘"</a:t>
            </a:r>
          </a:p>
        </p:txBody>
      </p:sp>
      <p:sp>
        <p:nvSpPr>
          <p:cNvPr id="24" name="Rectangle 23"/>
          <p:cNvSpPr/>
          <p:nvPr/>
        </p:nvSpPr>
        <p:spPr>
          <a:xfrm>
            <a:off x="9784080" y="1005840"/>
            <a:ext cx="219456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051560"/>
            <a:ext cx="2194560" cy="365760"/>
          </a:xfrm>
          <a:prstGeom prst="rect">
            <a:avLst/>
          </a:prstGeom>
          <a:noFill/>
        </p:spPr>
        <p:txBody>
          <a:bodyPr wrap="square">
            <a:spAutoFit/>
          </a:bodyPr>
          <a:lstStyle/>
          <a:p>
            <a:pPr algn="ctr"/>
            <a:r>
              <a:rPr sz="1400" b="1">
                <a:solidFill>
                  <a:srgbClr val="FFFFFF"/>
                </a:solidFill>
                <a:latin typeface="Malgun Gothic"/>
              </a:rPr>
              <a:t>STEP 5</a:t>
            </a:r>
          </a:p>
        </p:txBody>
      </p:sp>
      <p:sp>
        <p:nvSpPr>
          <p:cNvPr id="26" name="Rectangle 25"/>
          <p:cNvSpPr/>
          <p:nvPr/>
        </p:nvSpPr>
        <p:spPr>
          <a:xfrm>
            <a:off x="9784080" y="1508760"/>
            <a:ext cx="2194560" cy="34747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0" y="1554480"/>
            <a:ext cx="2011680" cy="457200"/>
          </a:xfrm>
          <a:prstGeom prst="rect">
            <a:avLst/>
          </a:prstGeom>
          <a:noFill/>
        </p:spPr>
        <p:txBody>
          <a:bodyPr wrap="square">
            <a:spAutoFit/>
          </a:bodyPr>
          <a:lstStyle/>
          <a:p>
            <a:pPr algn="l"/>
            <a:r>
              <a:rPr sz="1500" b="1">
                <a:solidFill>
                  <a:srgbClr val="1F4E79"/>
                </a:solidFill>
                <a:latin typeface="Malgun Gothic"/>
              </a:rPr>
              <a:t>Artifacts 확인</a:t>
            </a:r>
          </a:p>
        </p:txBody>
      </p:sp>
      <p:sp>
        <p:nvSpPr>
          <p:cNvPr id="28" name="TextBox 27"/>
          <p:cNvSpPr txBox="1"/>
          <p:nvPr/>
        </p:nvSpPr>
        <p:spPr>
          <a:xfrm>
            <a:off x="9875520" y="2057400"/>
            <a:ext cx="2011680" cy="2743200"/>
          </a:xfrm>
          <a:prstGeom prst="rect">
            <a:avLst/>
          </a:prstGeom>
          <a:noFill/>
        </p:spPr>
        <p:txBody>
          <a:bodyPr wrap="square">
            <a:spAutoFit/>
          </a:bodyPr>
          <a:lstStyle/>
          <a:p>
            <a:pPr algn="l"/>
            <a:r>
              <a:rPr sz="1200" b="0">
                <a:solidFill>
                  <a:srgbClr val="404040"/>
                </a:solidFill>
                <a:latin typeface="Malgun Gothic"/>
              </a:rPr>
              <a:t>태스크 목록 → 계획 → 코드 → 스크린샷
Google Docs 스타일 코멘트로 피드백</a:t>
            </a:r>
          </a:p>
        </p:txBody>
      </p:sp>
      <p:sp>
        <p:nvSpPr>
          <p:cNvPr id="29" name="Rectangle 28"/>
          <p:cNvSpPr/>
          <p:nvPr/>
        </p:nvSpPr>
        <p:spPr>
          <a:xfrm>
            <a:off x="274320" y="5120640"/>
            <a:ext cx="11430000" cy="1463040"/>
          </a:xfrm>
          <a:prstGeom prst="rect">
            <a:avLst/>
          </a:prstGeom>
          <a:solidFill>
            <a:srgbClr val="FFF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212080"/>
            <a:ext cx="10972800" cy="1280160"/>
          </a:xfrm>
          <a:prstGeom prst="rect">
            <a:avLst/>
          </a:prstGeom>
          <a:noFill/>
        </p:spPr>
        <p:txBody>
          <a:bodyPr wrap="square">
            <a:spAutoFit/>
          </a:bodyPr>
          <a:lstStyle/>
          <a:p>
            <a:pPr algn="l"/>
            <a:r>
              <a:rPr sz="1300" b="0">
                <a:solidFill>
                  <a:srgbClr val="404040"/>
                </a:solidFill>
                <a:latin typeface="Malgun Gothic"/>
              </a:rPr>
              <a:t>권장 사항:
• 자동 업데이트 비활성화 (v1.23.2 이하로 안정 버전 고정 가능)
• 첫 작업은 Agent-Assisted 모드로 시작해 에이전트 행동 파악
• 브라우저 통합 기능은 Chrome 확장 별도 설치 필요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972800" cy="640080"/>
          </a:xfrm>
          <a:prstGeom prst="rect">
            <a:avLst/>
          </a:prstGeom>
          <a:noFill/>
        </p:spPr>
        <p:txBody>
          <a:bodyPr wrap="square">
            <a:spAutoFit/>
          </a:bodyPr>
          <a:lstStyle/>
          <a:p>
            <a:pPr algn="l"/>
            <a:r>
              <a:rPr sz="3200" b="1">
                <a:solidFill>
                  <a:srgbClr val="FFFFFF"/>
                </a:solidFill>
                <a:latin typeface="Malgun Gothic"/>
              </a:rPr>
              <a:t>결론 — 지금 써야 할까?</a:t>
            </a:r>
          </a:p>
        </p:txBody>
      </p:sp>
      <p:sp>
        <p:nvSpPr>
          <p:cNvPr id="4" name="Rectangle 3"/>
          <p:cNvSpPr/>
          <p:nvPr/>
        </p:nvSpPr>
        <p:spPr>
          <a:xfrm>
            <a:off x="274320" y="1051560"/>
            <a:ext cx="5669280" cy="7315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3474720" cy="502920"/>
          </a:xfrm>
          <a:prstGeom prst="rect">
            <a:avLst/>
          </a:prstGeom>
          <a:noFill/>
        </p:spPr>
        <p:txBody>
          <a:bodyPr wrap="square">
            <a:spAutoFit/>
          </a:bodyPr>
          <a:lstStyle/>
          <a:p>
            <a:pPr algn="l"/>
            <a:r>
              <a:rPr sz="1400" b="0">
                <a:solidFill>
                  <a:srgbClr val="404040"/>
                </a:solidFill>
                <a:latin typeface="Malgun Gothic"/>
              </a:rPr>
              <a:t>프로토타이핑 · 실험</a:t>
            </a:r>
          </a:p>
        </p:txBody>
      </p:sp>
      <p:sp>
        <p:nvSpPr>
          <p:cNvPr id="6" name="TextBox 5"/>
          <p:cNvSpPr txBox="1"/>
          <p:nvPr/>
        </p:nvSpPr>
        <p:spPr>
          <a:xfrm>
            <a:off x="3931920" y="1188720"/>
            <a:ext cx="1828800" cy="502920"/>
          </a:xfrm>
          <a:prstGeom prst="rect">
            <a:avLst/>
          </a:prstGeom>
          <a:noFill/>
        </p:spPr>
        <p:txBody>
          <a:bodyPr wrap="square">
            <a:spAutoFit/>
          </a:bodyPr>
          <a:lstStyle/>
          <a:p>
            <a:pPr algn="l"/>
            <a:r>
              <a:rPr sz="1400" b="1">
                <a:solidFill>
                  <a:srgbClr val="27AE60"/>
                </a:solidFill>
                <a:latin typeface="Malgun Gothic"/>
              </a:rPr>
              <a:t>→  Antigravity (무료 프리뷰)</a:t>
            </a:r>
          </a:p>
        </p:txBody>
      </p:sp>
      <p:sp>
        <p:nvSpPr>
          <p:cNvPr id="7" name="Rectangle 6"/>
          <p:cNvSpPr/>
          <p:nvPr/>
        </p:nvSpPr>
        <p:spPr>
          <a:xfrm>
            <a:off x="274320" y="1920239"/>
            <a:ext cx="5669280" cy="731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057399"/>
            <a:ext cx="3474720" cy="502920"/>
          </a:xfrm>
          <a:prstGeom prst="rect">
            <a:avLst/>
          </a:prstGeom>
          <a:noFill/>
        </p:spPr>
        <p:txBody>
          <a:bodyPr wrap="square">
            <a:spAutoFit/>
          </a:bodyPr>
          <a:lstStyle/>
          <a:p>
            <a:pPr algn="l"/>
            <a:r>
              <a:rPr sz="1400" b="0">
                <a:solidFill>
                  <a:srgbClr val="404040"/>
                </a:solidFill>
                <a:latin typeface="Malgun Gothic"/>
              </a:rPr>
              <a:t>일상 안정 업무</a:t>
            </a:r>
          </a:p>
        </p:txBody>
      </p:sp>
      <p:sp>
        <p:nvSpPr>
          <p:cNvPr id="9" name="TextBox 8"/>
          <p:cNvSpPr txBox="1"/>
          <p:nvPr/>
        </p:nvSpPr>
        <p:spPr>
          <a:xfrm>
            <a:off x="3931920" y="2057399"/>
            <a:ext cx="1828800" cy="502920"/>
          </a:xfrm>
          <a:prstGeom prst="rect">
            <a:avLst/>
          </a:prstGeom>
          <a:noFill/>
        </p:spPr>
        <p:txBody>
          <a:bodyPr wrap="square">
            <a:spAutoFit/>
          </a:bodyPr>
          <a:lstStyle/>
          <a:p>
            <a:pPr algn="l"/>
            <a:r>
              <a:rPr sz="1400" b="1">
                <a:solidFill>
                  <a:srgbClr val="2E75B6"/>
                </a:solidFill>
                <a:latin typeface="Malgun Gothic"/>
              </a:rPr>
              <a:t>→  Cursor / Claude Code</a:t>
            </a:r>
          </a:p>
        </p:txBody>
      </p:sp>
      <p:sp>
        <p:nvSpPr>
          <p:cNvPr id="10" name="Rectangle 9"/>
          <p:cNvSpPr/>
          <p:nvPr/>
        </p:nvSpPr>
        <p:spPr>
          <a:xfrm>
            <a:off x="274320" y="2788920"/>
            <a:ext cx="5669280" cy="7315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26080"/>
            <a:ext cx="3474720" cy="502920"/>
          </a:xfrm>
          <a:prstGeom prst="rect">
            <a:avLst/>
          </a:prstGeom>
          <a:noFill/>
        </p:spPr>
        <p:txBody>
          <a:bodyPr wrap="square">
            <a:spAutoFit/>
          </a:bodyPr>
          <a:lstStyle/>
          <a:p>
            <a:pPr algn="l"/>
            <a:r>
              <a:rPr sz="1400" b="0">
                <a:solidFill>
                  <a:srgbClr val="404040"/>
                </a:solidFill>
                <a:latin typeface="Malgun Gothic"/>
              </a:rPr>
              <a:t>Google 생태계 (Firebase / Android)</a:t>
            </a:r>
          </a:p>
        </p:txBody>
      </p:sp>
      <p:sp>
        <p:nvSpPr>
          <p:cNvPr id="12" name="TextBox 11"/>
          <p:cNvSpPr txBox="1"/>
          <p:nvPr/>
        </p:nvSpPr>
        <p:spPr>
          <a:xfrm>
            <a:off x="3931920" y="2926080"/>
            <a:ext cx="1828800" cy="502920"/>
          </a:xfrm>
          <a:prstGeom prst="rect">
            <a:avLst/>
          </a:prstGeom>
          <a:noFill/>
        </p:spPr>
        <p:txBody>
          <a:bodyPr wrap="square">
            <a:spAutoFit/>
          </a:bodyPr>
          <a:lstStyle/>
          <a:p>
            <a:pPr algn="l"/>
            <a:r>
              <a:rPr sz="1400" b="1">
                <a:solidFill>
                  <a:srgbClr val="27AE60"/>
                </a:solidFill>
                <a:latin typeface="Malgun Gothic"/>
              </a:rPr>
              <a:t>→  Antigravity</a:t>
            </a:r>
          </a:p>
        </p:txBody>
      </p:sp>
      <p:sp>
        <p:nvSpPr>
          <p:cNvPr id="13" name="Rectangle 12"/>
          <p:cNvSpPr/>
          <p:nvPr/>
        </p:nvSpPr>
        <p:spPr>
          <a:xfrm>
            <a:off x="274320" y="3657599"/>
            <a:ext cx="5669280" cy="731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794759"/>
            <a:ext cx="3474720" cy="502920"/>
          </a:xfrm>
          <a:prstGeom prst="rect">
            <a:avLst/>
          </a:prstGeom>
          <a:noFill/>
        </p:spPr>
        <p:txBody>
          <a:bodyPr wrap="square">
            <a:spAutoFit/>
          </a:bodyPr>
          <a:lstStyle/>
          <a:p>
            <a:pPr algn="l"/>
            <a:r>
              <a:rPr sz="1400" b="0">
                <a:solidFill>
                  <a:srgbClr val="404040"/>
                </a:solidFill>
                <a:latin typeface="Malgun Gothic"/>
              </a:rPr>
              <a:t>보안 · 컴플라이언스</a:t>
            </a:r>
          </a:p>
        </p:txBody>
      </p:sp>
      <p:sp>
        <p:nvSpPr>
          <p:cNvPr id="15" name="TextBox 14"/>
          <p:cNvSpPr txBox="1"/>
          <p:nvPr/>
        </p:nvSpPr>
        <p:spPr>
          <a:xfrm>
            <a:off x="3931920" y="3794759"/>
            <a:ext cx="1828800" cy="502920"/>
          </a:xfrm>
          <a:prstGeom prst="rect">
            <a:avLst/>
          </a:prstGeom>
          <a:noFill/>
        </p:spPr>
        <p:txBody>
          <a:bodyPr wrap="square">
            <a:spAutoFit/>
          </a:bodyPr>
          <a:lstStyle/>
          <a:p>
            <a:pPr algn="l"/>
            <a:r>
              <a:rPr sz="1400" b="1">
                <a:solidFill>
                  <a:srgbClr val="2E75B6"/>
                </a:solidFill>
                <a:latin typeface="Malgun Gothic"/>
              </a:rPr>
              <a:t>→  Claude Code (SOC 2 Type II)</a:t>
            </a:r>
          </a:p>
        </p:txBody>
      </p:sp>
      <p:sp>
        <p:nvSpPr>
          <p:cNvPr id="16" name="Rectangle 15"/>
          <p:cNvSpPr/>
          <p:nvPr/>
        </p:nvSpPr>
        <p:spPr>
          <a:xfrm>
            <a:off x="274320" y="4526279"/>
            <a:ext cx="5669280" cy="73152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39"/>
            <a:ext cx="3474720" cy="502920"/>
          </a:xfrm>
          <a:prstGeom prst="rect">
            <a:avLst/>
          </a:prstGeom>
          <a:noFill/>
        </p:spPr>
        <p:txBody>
          <a:bodyPr wrap="square">
            <a:spAutoFit/>
          </a:bodyPr>
          <a:lstStyle/>
          <a:p>
            <a:pPr algn="l"/>
            <a:r>
              <a:rPr sz="1400" b="0">
                <a:solidFill>
                  <a:srgbClr val="404040"/>
                </a:solidFill>
                <a:latin typeface="Malgun Gothic"/>
              </a:rPr>
              <a:t>완전 자율 에이전트</a:t>
            </a:r>
          </a:p>
        </p:txBody>
      </p:sp>
      <p:sp>
        <p:nvSpPr>
          <p:cNvPr id="18" name="TextBox 17"/>
          <p:cNvSpPr txBox="1"/>
          <p:nvPr/>
        </p:nvSpPr>
        <p:spPr>
          <a:xfrm>
            <a:off x="3931920" y="4663439"/>
            <a:ext cx="1828800" cy="502920"/>
          </a:xfrm>
          <a:prstGeom prst="rect">
            <a:avLst/>
          </a:prstGeom>
          <a:noFill/>
        </p:spPr>
        <p:txBody>
          <a:bodyPr wrap="square">
            <a:spAutoFit/>
          </a:bodyPr>
          <a:lstStyle/>
          <a:p>
            <a:pPr algn="l"/>
            <a:r>
              <a:rPr sz="1400" b="1">
                <a:solidFill>
                  <a:srgbClr val="E67E22"/>
                </a:solidFill>
                <a:latin typeface="Malgun Gothic"/>
              </a:rPr>
              <a:t>→  Devin</a:t>
            </a:r>
          </a:p>
        </p:txBody>
      </p:sp>
      <p:sp>
        <p:nvSpPr>
          <p:cNvPr id="19" name="Rectangle 18"/>
          <p:cNvSpPr/>
          <p:nvPr/>
        </p:nvSpPr>
        <p:spPr>
          <a:xfrm>
            <a:off x="6400800" y="1051560"/>
            <a:ext cx="5303520" cy="4297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143000"/>
            <a:ext cx="4937760" cy="457200"/>
          </a:xfrm>
          <a:prstGeom prst="rect">
            <a:avLst/>
          </a:prstGeom>
          <a:noFill/>
        </p:spPr>
        <p:txBody>
          <a:bodyPr wrap="square">
            <a:spAutoFit/>
          </a:bodyPr>
          <a:lstStyle/>
          <a:p>
            <a:pPr algn="l"/>
            <a:r>
              <a:rPr sz="1800" b="1">
                <a:solidFill>
                  <a:srgbClr val="FFFFFF"/>
                </a:solidFill>
                <a:latin typeface="Malgun Gothic"/>
              </a:rPr>
              <a:t>최종 평가</a:t>
            </a:r>
          </a:p>
        </p:txBody>
      </p:sp>
      <p:sp>
        <p:nvSpPr>
          <p:cNvPr id="21" name="TextBox 20"/>
          <p:cNvSpPr txBox="1"/>
          <p:nvPr/>
        </p:nvSpPr>
        <p:spPr>
          <a:xfrm>
            <a:off x="6583680" y="1691640"/>
            <a:ext cx="4937760" cy="3566160"/>
          </a:xfrm>
          <a:prstGeom prst="rect">
            <a:avLst/>
          </a:prstGeom>
          <a:noFill/>
        </p:spPr>
        <p:txBody>
          <a:bodyPr wrap="square">
            <a:spAutoFit/>
          </a:bodyPr>
          <a:lstStyle/>
          <a:p>
            <a:pPr algn="l"/>
            <a:r>
              <a:rPr sz="1400" b="0">
                <a:solidFill>
                  <a:srgbClr val="D6E4F0"/>
                </a:solidFill>
                <a:latin typeface="Malgun Gothic"/>
              </a:rPr>
              <a:t>방향성: 옳다
병렬 에이전트, 브라우저 통합,
스케줄 태스크는 경쟁 도구 미지원
타이밍: 아직 이르다
2건의 보안 취약점
강제 업데이트 사태
오픈소스 후퇴 논란
엔터프라이즈 컴플라이언스 미완
결론:
지금은 실험 도구
무료 프리뷰 = 최적 탐색 시점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