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시작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코딩 (Polyglot)</c:v>
                  </c:pt>
                  <c:pt idx="1">
                    <c:v>논문 리뷰</c:v>
                  </c:pt>
                  <c:pt idx="2">
                    <c:v>로보틱스</c:v>
                  </c:pt>
                  <c:pt idx="3">
                    <c:v>올림피아드 수학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0.084</c:v>
                </c:pt>
                <c:pt idx="1">
                  <c:v>0</c:v>
                </c:pt>
                <c:pt idx="2">
                  <c:v>0.06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DGM-H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코딩 (Polyglot)</c:v>
                  </c:pt>
                  <c:pt idx="1">
                    <c:v>논문 리뷰</c:v>
                  </c:pt>
                  <c:pt idx="2">
                    <c:v>로보틱스</c:v>
                  </c:pt>
                  <c:pt idx="3">
                    <c:v>올림피아드 수학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0.267</c:v>
                </c:pt>
                <c:pt idx="1">
                  <c:v>0.71</c:v>
                </c:pt>
                <c:pt idx="2">
                  <c:v>0.372</c:v>
                </c:pt>
                <c:pt idx="3">
                  <c:v>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5F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solidFill>
      <a:srgbClr val="F0F5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슬라이드입니다. Meta FAIR와 Meta Superintelligence Labs가 ICLR 2026에 발표한 HyperAgents 연구를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Meta FAIR와 Meta Superintelligence Labs가 공동 발표한 HyperAgents 연구를 중심으로, 기술적 아키텍처부터 Meta의 AI 전략까지 종합적으로 살펴보겠습니다.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HyperAgents의 개념과 기존 에이전트와의 차이점을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멀티에이전트 시스템에서는 태스크 에이전트와 메타 에이전트가 분리되어 있으며, 메타 에이전트(개선 방법을 결정하는 구성요소)는 인간이 설계한 그대로 고정됩니다. 이는 개선의 천장을 만들어냅니다.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HyperAgents의 핵심 혁신은 태스크 에이전트와 메타 에이전트를 단일 수정 가능한 코드베이스로 통합한 것입니다. 이로 인해 AI가 어떻게 개선할지의 방법 자체를 스스로 최적화할 수 있게 됩니다. 논문(arXiv:2603.19461)은 ICLR 2026에 채택되었습니다.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HyperAgents의 3-레이어 아키텍처와 코드 구조를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1은 에이전트가 자신의 코드를 시맨틱 그래프로 이해하는 레이어입니다. Layer 2는 병목지점 분석 → 해결책 탐색 → 후보 패치 생성 → 샌드박스 시뮬레이션 → 안전 기준 검증의 파이프라인입니다. Layer 3은 버전 관리와 함께 변경사항을 원자적으로 적용하며 롤백 및 성능 모니터링을 포함합니다.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facebookresearch/HyperAgents GitHub 리포지토리의 핵심 구조입니다. Python 3.12 기반이며, OpenAI, Anthropic, Google 세 가지 LLM 제공자 API 키가 모두 필요합니다. 메인 실행 명령어: python generate_loop.py --domains coding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2003년 이론적 개념부터 2026년 HyperAgents까지의 진화를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2003년 Schmidhuber의 이론적 개념이 2025년 Meta의 DGM으로 처음 구현되었고, 2026년 DGM-H(HyperAgents)로 진화했습니다. DGM은 코딩 도메인에서 SWE-bench 20%→50%, Polyglot 14.2%→30.7%를 달성했지만 메타 메커니즘이 고정된 한계가 있었습니다.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핵심적인 차이는 메타 메커니즘의 수정 가능성입니다. DGM은 개선 방법 자체가 고정되어 있어 코딩 외 도메인에서 성능이 급락했지만, DGM-H는 메타 에이전트 자체도 수정 가능해 범도메인 적용이 가능해졌습니다.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4: DGM-H의 실험 결과를 정량적으로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주목할 결과는 올림피아드 수학 채점입니다. 논문 리뷰와 로보틱스 도메인에서만 훈련한 DGM-H가 전혀 본 적 없는 수학 채점 태스크에서 0.630을 달성했습니다. 기존 DGM 메타 에이전트는 0.0이었습니다.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인간이 명시적으로 지시하지 않았는데 시스템이 자율적으로 개발한 기능들입니다. 이 메타 레벨 개선사항들은 다른 도메인에도 전이되고 여러 실행에 걸쳐 축적됩니다.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5: 기존 AI 에이전트 프레임워크들과 HyperAgents를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HyperAgents는 기존 프레임워크와 근본적으로 다른 접근법입니다. LangGraph나 AutoGen 같은 멀티에이전트 시스템은 역할이 고정된 에이전트들을 조율하지만, HyperAgents는 역할 자체가 진화합니다. 단, 현재는 연구 단계이며 프로덕션 대비 3~5년이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흥미로운 점은 서로 다른 메커니즘으로 비슷한 목표에 도달했다는 것입니다. HyperAgents는 LLM 가중치는 그대로 두고 주변 코드 스캐폴딩을 진화시키는 반면, MiniMax M2.7은 훈련 과정에 참여해 모델 자체를 개선합니다. 이 두 접근법이 동시에 등장한 것은 자기 개선 AI가 패러다임 전환의 시점에 왔음을 시사합니다.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6: Meta의 2026년 AI 전략과 HyperAgents의 전략적 위치를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Meta는 2026년 AI 전략을 대대적으로 재편했습니다. Alexandr Wang(전 Scale AI CEO)과 Nat Friedman(전 GitHub CEO)을 영입해 슈퍼인텔리전스 개발에 집중하고 있습니다. HyperAgents는 FAIR 팀의 기초 연구 성과입니다.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Meta의 2026년 AI 전략은 Mango(생성 비디오)와 Avocado/Muse Spark(추론 LLM) 플래그십 모델을 중심으로 합니다. HyperAgents는 FAIR의 기초 연구로, 미래 모델들이 스스로 개선되는 기반 기술의 개념 증명 역할을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7: HyperAgents의 오픈소스 공개 내용과 현실적 제약사항을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facebookresearch/HyperAgents GitHub 리포지토리에서 직접 다운로드 가능합니다. 비상업용 CC BY-NC-SA 4.0 라이선스로 공개되었으며, 상업적 이용은 Meta와 별도 계약이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HyperAgents는 연구 도구로서의 가치는 높지만, 프로덕션 환경에서 사용하기까지는 상당한 시간이 필요합니다. 특히 계산 비용과 안전성 문제가 주요 장벽입니다.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8: HyperAgents의 현재 한계와 미래 방향을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Hacker News 커뮤니티의 연구자들은 HyperAgents가 '폭주하는 자기 개선'이 아닌 '점진적 진전'임을 강조합니다. 현재는 인간이 설계한 프레임워크 안에서의 개선이며, 완전한 재귀적 자기 개선까지는 아직 갈 길이 남아있습니다.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HyperAgents가 성숙하면 코드베이스 자율 최적화, 자기 치유 시스템, 사전 버그 수정 등 다양한 응용이 가능해집니다. 단, 이는 안전성 검증이 완료된 후의 미래 시나리오입니다.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HyperAgents는 '더 잘 풀 뿐 아니라, 더 잘 풀기 위해 더 잘 배우는' 시스템의 첫 구현입니다. 아직 연구 단계이지만, AI의 미래 방향을 명확히 제시하는 중요한 이정표입니다.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발표를 마칩니다. HyperAgents에 대해 더 자세히 알고 싶으시면 arXiv 논문(2603.19461)이나 GitHub 오픈소스 리포지토리를 참고하시기 바랍니다.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65760"/>
            <a:ext cx="3200400" cy="32004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822960"/>
            <a:ext cx="2194560" cy="2194560"/>
          </a:xfrm>
          <a:prstGeom prst="ellipse">
            <a:avLst/>
          </a:prstGeom>
          <a:solidFill>
            <a:srgbClr val="5BA3D9">
              <a:alpha val="40000"/>
            </a:srgbClr>
          </a:solidFill>
          <a:ln w="12700">
            <a:solidFill>
              <a:srgbClr val="5BA3D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1920240" cy="347472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ICLR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HyperAgents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스스로 "더 잘 배우는 법"을 배운다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840480" cy="27432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FAIR &amp; Superintelligence Labs  |  2026.04.13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8961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HyperAgents란 무엇인가?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아키텍처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8163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Darwin Gödel Machine의 진화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764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결과 &amp; 성능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9160" y="86868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8961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프레임워크 비교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185623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전략에서의 위치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8163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&amp; 실용성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09160" y="3749040"/>
            <a:ext cx="50292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37764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&amp; 미래 방향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HyperAgents란?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참조적 자기 개선 에이전트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기존 에이전트의 한계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 에이전트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문제 해결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에이전트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개선 방법 결정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메타 에이전트 자체는 </a:t>
            </a:r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고정됨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개선 방법을 개선할 수 없음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0" y="1051560"/>
            <a:ext cx="3474720" cy="1005840"/>
          </a:xfrm>
          <a:prstGeom prst="rect">
            <a:avLst/>
          </a:prstGeom>
          <a:solidFill>
            <a:srgbClr val="2E75B6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Agent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46720" y="10058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2057400"/>
            <a:ext cx="0" cy="640080"/>
          </a:xfrm>
          <a:prstGeom prst="line">
            <a:avLst/>
          </a:prstGeom>
          <a:noFill/>
          <a:ln w="31750">
            <a:solidFill>
              <a:srgbClr val="1F4E7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649224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926080"/>
            <a:ext cx="3474720" cy="1005840"/>
          </a:xfrm>
          <a:prstGeom prst="rect">
            <a:avLst/>
          </a:prstGeom>
          <a:solidFill>
            <a:srgbClr val="5BA3D9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926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Agent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4069080"/>
            <a:ext cx="3474720" cy="50292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069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에이전트는 수정 불가 → 개선의 천장 존재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HyperAgents의 혁신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 + 메타 =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수정 가능한 코드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절차 자체를 개선 가능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메타인지적 자기 수정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(Metacognitive Self-Modification)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간 개선 전략 전이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3931920" cy="777240"/>
          </a:xfrm>
          <a:prstGeom prst="rect">
            <a:avLst/>
          </a:prstGeom>
          <a:solidFill>
            <a:srgbClr val="1F4E79">
              <a:alpha val="12000"/>
            </a:srgbClr>
          </a:solidFill>
          <a:ln w="12700">
            <a:solidFill>
              <a:srgbClr val="1F4E79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50208"/>
            <a:ext cx="374904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meta-level modification procedure itself can be improved"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3657600" cy="2560320"/>
          </a:xfrm>
          <a:prstGeom prst="rect">
            <a:avLst/>
          </a:prstGeom>
          <a:solidFill>
            <a:srgbClr val="1F4E79"/>
          </a:solidFill>
          <a:ln w="3175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단일 수정 가능 코드베이스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66360" y="1508760"/>
            <a:ext cx="3200400" cy="777240"/>
          </a:xfrm>
          <a:prstGeom prst="rect">
            <a:avLst/>
          </a:prstGeom>
          <a:solidFill>
            <a:srgbClr val="2E75B6"/>
          </a:solidFill>
          <a:ln w="19050">
            <a:solidFill>
              <a:srgbClr val="5BA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508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Agent  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66360" y="2834640"/>
            <a:ext cx="3200400" cy="594360"/>
          </a:xfrm>
          <a:prstGeom prst="rect">
            <a:avLst/>
          </a:prstGeom>
          <a:solidFill>
            <a:srgbClr val="5BA3D9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834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Agent  ✎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937760" y="3657600"/>
            <a:ext cx="3657600" cy="457200"/>
          </a:xfrm>
          <a:prstGeom prst="ellipse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가능 → 무한 개선 가능성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아키텍처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개의 레이어로 구성된 자기 참조 시스템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3개 핵심 레이어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389120" cy="109728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914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자기 표현 레이어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시맨틱 그래프로 자기 인식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93852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438912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59152"/>
            <a:ext cx="548640" cy="548640"/>
          </a:xfrm>
          <a:prstGeom prst="ellipse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59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1762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개선 엔진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2615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 분석 → 패치 생성 → 샌드박스 검증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20040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438912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621024"/>
            <a:ext cx="548640" cy="548640"/>
          </a:xfrm>
          <a:prstGeom prst="ellipse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21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438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배포 메커니즘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38770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원자적 적용 + 롤백 + 모니터링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914400"/>
            <a:ext cx="0" cy="3246120"/>
          </a:xfrm>
          <a:prstGeom prst="line">
            <a:avLst/>
          </a:prstGeom>
          <a:noFill/>
          <a:ln w="25400">
            <a:solidFill>
              <a:srgbClr val="F4A02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07492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4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피드백 루프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822960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52160" y="8778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Self-Representation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12801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구현, 설정 파라미터, 도구 정의를 시맨틱 그래프로 표현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2084832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52160" y="21396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Improvement Engine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52160" y="25420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패치 생성 → 샌드박스 시뮬레이션 → 안전 기준 검증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3346704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52160" y="34015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Mechanism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2160" y="380390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관리, 카나리 배포, 롤백, 성능 모니터링 포함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코드 구조 (GitHub: facebookresearch/HyperAgents)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64008" cy="117043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78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task_agent.py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목표 실행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67128"/>
            <a:ext cx="64008" cy="1170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768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meta_agent.py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715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참조적 최적화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65576"/>
            <a:ext cx="64008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753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generate_loop.py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0142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실행 진입점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68680"/>
            <a:ext cx="64008" cy="1170432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978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인터페이스 (OpenAI · Anthropic · Google)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167128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67128"/>
            <a:ext cx="64008" cy="1170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768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domains/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2715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구현 (coding, paper_review, robotics…)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465576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65576"/>
            <a:ext cx="64008" cy="1170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57530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baselines/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40142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기준선 구현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Darwin Gödel Machine의 진화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이론에서 구현으로, 그리고 범도메인으로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자기 개선 AI의 진화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7772400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005840"/>
            <a:ext cx="0" cy="1600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566B82"/>
          </a:solidFill>
          <a:ln w="12700">
            <a:solidFill>
              <a:srgbClr val="566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77724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777240"/>
            <a:ext cx="196596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841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Gödel Machine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Schmidhuber의 이론적 개념 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개선 AI의 수학적 정의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05072" y="1005840"/>
            <a:ext cx="0" cy="1600200"/>
          </a:xfrm>
          <a:prstGeom prst="line">
            <a:avLst/>
          </a:prstGeom>
          <a:noFill/>
          <a:ln w="19050">
            <a:solidFill>
              <a:srgbClr val="2E75B6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3749040" y="2423160"/>
            <a:ext cx="548640" cy="5486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77724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777240"/>
            <a:ext cx="196596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841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39312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Darwin Gödel Machine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39312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도메인 첫 구현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20% → 50%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39712" y="1005840"/>
            <a:ext cx="0" cy="1600200"/>
          </a:xfrm>
          <a:prstGeom prst="line">
            <a:avLst/>
          </a:prstGeom>
          <a:noFill/>
          <a:ln w="19050">
            <a:solidFill>
              <a:srgbClr val="F4A02A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6583680" y="2423160"/>
            <a:ext cx="548640" cy="548640"/>
          </a:xfrm>
          <a:prstGeom prst="ellipse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777240"/>
            <a:ext cx="1965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0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777240"/>
            <a:ext cx="1965960" cy="54864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841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73952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DGM-H (HyperAgents)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73952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메커니즘 수정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범도메인 ICLR 2026 채택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063240"/>
            <a:ext cx="1965960" cy="1554480"/>
          </a:xfrm>
          <a:prstGeom prst="rect">
            <a:avLst/>
          </a:prstGeom>
          <a:solidFill>
            <a:srgbClr val="64748B">
              <a:alpha val="12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0632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이론만 존재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불가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566160" y="3063240"/>
            <a:ext cx="1965960" cy="1554480"/>
          </a:xfrm>
          <a:prstGeom prst="rect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0632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한정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고정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3063240"/>
            <a:ext cx="1965960" cy="1554480"/>
          </a:xfrm>
          <a:prstGeom prst="rect">
            <a:avLst/>
          </a:prstGeom>
          <a:solidFill>
            <a:srgbClr val="1E8449">
              <a:alpha val="12000"/>
            </a:srgbClr>
          </a:solidFill>
          <a:ln w="1270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06324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범도메인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 진화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DGM vs DGM-HyperAgents 비교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822960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DGM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DGM-HyperAgents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메타 메커니즘 수정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불가능 (고정)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(수정 가능)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지원 도메인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코딩 중심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범도메인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개선 전이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도메인 간 전이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 메모리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자율 개발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코딩 성능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50%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Polyglot 8.4% → 26.7%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실험 결과 &amp; 성능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도메인에서의 정량적 성과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도메인별 성능 향상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777240"/>
          <a:ext cx="54864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822960"/>
            <a:ext cx="274320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868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+218%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035040" y="148132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(Polyglot)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2240280"/>
            <a:ext cx="274320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+520%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035040" y="289864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로보틱스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설계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3657600"/>
            <a:ext cx="2743200" cy="123444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0→0.63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035040" y="431596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올림피아드 수학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크로스도메인 전이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AI가 스스로 개발한 기능들 (인간 지시 없음)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77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3977640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05840"/>
            <a:ext cx="685800" cy="685800"/>
          </a:xfrm>
          <a:prstGeom prst="rect">
            <a:avLst/>
          </a:prstGeom>
          <a:solidFill>
            <a:srgbClr val="1F4E79">
              <a:alpha val="15000"/>
            </a:srgbClr>
          </a:solidFill>
          <a:ln w="12700">
            <a:solidFill>
              <a:srgbClr val="1F4E7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02412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영구 메모리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iteration의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인사이트를 합성 · 축적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1024128"/>
            <a:ext cx="1325880" cy="347472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02412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개발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822960"/>
            <a:ext cx="3977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22960"/>
            <a:ext cx="397764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005840"/>
            <a:ext cx="685800" cy="685800"/>
          </a:xfrm>
          <a:prstGeom prst="rect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760720" y="102412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성능 추적기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17830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효과적인 전략을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기록하고 분석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69480" y="1024128"/>
            <a:ext cx="1325880" cy="347472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02412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개발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3977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26080"/>
            <a:ext cx="3977640" cy="64008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108960"/>
            <a:ext cx="685800" cy="685800"/>
          </a:xfrm>
          <a:prstGeom prst="rect">
            <a:avLst/>
          </a:prstGeom>
          <a:solidFill>
            <a:srgbClr val="5BA3D9">
              <a:alpha val="15000"/>
            </a:srgbClr>
          </a:solidFill>
          <a:ln w="12700">
            <a:solidFill>
              <a:srgbClr val="5BA3D9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17320" y="31272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환경 변수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지식베이스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환경을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문서화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926080" y="3127248"/>
            <a:ext cx="1325880" cy="347472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1272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개발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3977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926080"/>
            <a:ext cx="39776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3108960"/>
            <a:ext cx="685800" cy="685800"/>
          </a:xfrm>
          <a:prstGeom prst="rect">
            <a:avLst/>
          </a:prstGeom>
          <a:solidFill>
            <a:srgbClr val="64748B">
              <a:alpha val="15000"/>
            </a:srgbClr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760720" y="31272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2단계 처리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파이프라인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983480" y="38862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효율적 작업 구조를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자율적으로 설계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69480" y="3127248"/>
            <a:ext cx="1325880" cy="347472"/>
          </a:xfrm>
          <a:prstGeom prst="rect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12724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개발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기존 프레임워크와의 비교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HyperAgents는 어떻게 다른가?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주요 AI 프레임워크 비교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49808"/>
          <a:ext cx="822960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2286000"/>
                <a:gridCol w="173736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접근법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자기 수정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 보장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HyperAgents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 (코드 레벨)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형식 검증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 단계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규칙 기반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프로덕션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인간 피드백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프로덕션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(Stanford)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7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 수준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프로덕션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AutoGPT류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7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7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실험적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/ AutoGen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7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 고정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프로덕션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두 가지 자기 진화 방식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4747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347472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HyperAgents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레벨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진화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스캐폴딩 수정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가중치 불변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1920240"/>
            <a:ext cx="1645920" cy="1188720"/>
          </a:xfrm>
          <a:prstGeom prst="ellipse">
            <a:avLst/>
          </a:prstGeom>
          <a:solidFill>
            <a:srgbClr val="F4A02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9202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3383280"/>
            <a:ext cx="2194560" cy="1143000"/>
          </a:xfrm>
          <a:prstGeom prst="rect">
            <a:avLst/>
          </a:prstGeom>
          <a:solidFill>
            <a:srgbClr val="F4A02A">
              <a:alpha val="12000"/>
            </a:srgbClr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383280"/>
            <a:ext cx="2194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도달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패러다임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신호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777240"/>
            <a:ext cx="347472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777240"/>
            <a:ext cx="347472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868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M2.7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394960" y="24688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레벨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진화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훈련 참여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자체를 개선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AI 전략에서의 위치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슈퍼인텔리전스를 향한 여정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Meta의 AI 재편: Meta Superintelligence Labs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777240"/>
            <a:ext cx="365760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777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Superintelligence Labs (MSL)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1417320"/>
            <a:ext cx="0" cy="502920"/>
          </a:xfrm>
          <a:prstGeom prst="line">
            <a:avLst/>
          </a:prstGeom>
          <a:noFill/>
          <a:ln w="15240">
            <a:solidFill>
              <a:srgbClr val="1F4E79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3429000" y="1417320"/>
            <a:ext cx="0" cy="502920"/>
          </a:xfrm>
          <a:prstGeom prst="line">
            <a:avLst/>
          </a:prstGeom>
          <a:noFill/>
          <a:ln w="15240">
            <a:solidFill>
              <a:srgbClr val="1F4E79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5532120" y="1417320"/>
            <a:ext cx="0" cy="502920"/>
          </a:xfrm>
          <a:prstGeom prst="line">
            <a:avLst/>
          </a:prstGeom>
          <a:noFill/>
          <a:ln w="15240">
            <a:solidFill>
              <a:srgbClr val="1F4E79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7635240" y="1417320"/>
            <a:ext cx="0" cy="502920"/>
          </a:xfrm>
          <a:prstGeom prst="line">
            <a:avLst/>
          </a:prstGeom>
          <a:noFill/>
          <a:ln w="15240">
            <a:solidFill>
              <a:srgbClr val="1F4E79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1325880" y="1417320"/>
            <a:ext cx="649224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ysDash"/>
          </a:ln>
        </p:spPr>
      </p:sp>
      <p:sp>
        <p:nvSpPr>
          <p:cNvPr id="12" name="Shape 10"/>
          <p:cNvSpPr/>
          <p:nvPr/>
        </p:nvSpPr>
        <p:spPr>
          <a:xfrm>
            <a:off x="320040" y="192024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TBD Lab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5146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시리즈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(Alexandr Wang)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1920240"/>
            <a:ext cx="2103120" cy="1371600"/>
          </a:xfrm>
          <a:prstGeom prst="rect">
            <a:avLst/>
          </a:prstGeom>
          <a:solidFill>
            <a:srgbClr val="F4A02A"/>
          </a:solidFill>
          <a:ln w="3175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316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25146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 연구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HyperAgents 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92024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262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 Research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25146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소비자 제품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 Friedman)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1920240"/>
            <a:ext cx="21031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MSL Infra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인프라 구축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(Aparna Ramani)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F4E79">
              <a:alpha val="8000"/>
            </a:srgbClr>
          </a:solidFill>
          <a:ln w="12700">
            <a:solidFill>
              <a:srgbClr val="1F4E79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AI CapEx:  </a:t>
            </a:r>
            <a:pPr algn="ctr" indent="0" marL="0">
              <a:buNone/>
            </a:pPr>
            <a:r>
              <a:rPr lang="en-US" sz="2200" b="1" dirty="0">
                <a:solidFill>
                  <a:srgbClr val="F4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$1,150억 ~ $1,350억</a:t>
            </a:r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(전년 대비 약 2배)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HyperAgents는 FAIR의 기초 연구 성과 — 미래 자율 개선 AI의 개념 증명(PoC)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2026 AI 로드맵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402336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9875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세계 모델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비디오 도메인 목표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02336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4023360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875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15000" y="98755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Muse Spark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(Avocado)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중심 LLM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60% 목표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0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71800"/>
            <a:ext cx="4023360" cy="73152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♾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2588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HyperAgents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(FAIR)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자기 개선 연구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채택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02336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A3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71800"/>
            <a:ext cx="4023360" cy="7315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36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🔓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71500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A3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오픈소스 +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5BA3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클로즈드 하이브리드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오픈소스 지속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클로즈드 모델 병행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오픈소스 &amp; 실용성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써볼 수 있는 연구 도구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오픈소스로 공개 — CC BY-NC-SA 4.0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389120" cy="182880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 facebookresearch / HyperAgents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840480" cy="182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 self-improving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 computable tasks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280160" cy="29260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12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BY-NC-SA 4.0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설치 방법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3891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54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python3.12 -m venv venv_nat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43891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84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43891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1421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파일에 API 키 설정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43984"/>
            <a:ext cx="438912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439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generate_loop.py --domains coding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777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3개 LLM API 필요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1280160"/>
            <a:ext cx="3749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A3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280160"/>
            <a:ext cx="54864" cy="8686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A3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2304288"/>
            <a:ext cx="3749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75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304288"/>
            <a:ext cx="54864" cy="868680"/>
          </a:xfrm>
          <a:prstGeom prst="rect">
            <a:avLst/>
          </a:prstGeom>
          <a:solidFill>
            <a:srgbClr val="C87533"/>
          </a:solidFill>
          <a:ln w="12700">
            <a:solidFill>
              <a:srgbClr val="C875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3500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5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ANTHROPIC_API_KEY=...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328416"/>
            <a:ext cx="3749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28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328416"/>
            <a:ext cx="54864" cy="8686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3741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85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GEMINI_API_KEY=...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현실적 제약사항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1965960"/>
          </a:xfrm>
          <a:prstGeom prst="rect">
            <a:avLst/>
          </a:prstGeom>
          <a:solidFill>
            <a:srgbClr val="FFF8F0"/>
          </a:solidFill>
          <a:ln w="2540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023360" cy="64008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941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실행 비용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iterations당 ~8,800만 토큰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프런티어 모델 기준 수백만 원 규모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023360" cy="1965960"/>
          </a:xfrm>
          <a:prstGeom prst="rect">
            <a:avLst/>
          </a:prstGeom>
          <a:solidFill>
            <a:srgbClr val="FFF8F0"/>
          </a:solidFill>
          <a:ln w="2540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777240"/>
            <a:ext cx="4023360" cy="64008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418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9418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안전 경고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"파괴적 동작 가능" 공식 명시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생성 코드 직접 실행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23360" cy="1965960"/>
          </a:xfrm>
          <a:prstGeom prst="rect">
            <a:avLst/>
          </a:prstGeom>
          <a:solidFill>
            <a:srgbClr val="FFF8F0"/>
          </a:solidFill>
          <a:ln w="2540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4023360" cy="64008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90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30906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IDE/CLI 없음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순수 연구 도구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플러그인/래퍼 미제공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023360" cy="1965960"/>
          </a:xfrm>
          <a:prstGeom prst="rect">
            <a:avLst/>
          </a:prstGeom>
          <a:solidFill>
            <a:srgbClr val="FFF8F0"/>
          </a:solidFill>
          <a:ln w="2540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4023360" cy="64008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906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30906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프로덕션까지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3~5년 엔지니어링 필요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연구 프레임워크 수준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한계 &amp; 미래 방향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현실적 평가와 앞으로의 가능성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한계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6908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069080" cy="54864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평가 주관성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객관적 지표 없는 태스크 미지원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주관적 평가 도메인 적용 불가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06908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777240"/>
            <a:ext cx="4069080" cy="54864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868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재귀 임계점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엔진 자체의 완전한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재귀 개선은 미실현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69748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51760"/>
            <a:ext cx="2697480" cy="54864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계산 비용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실험당 수백만 원 규모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 확장 시 비용 폭증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69748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2651760"/>
            <a:ext cx="2697480" cy="54864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안전성 과제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2461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앵커로 부분 해결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완전한 안전 보장은 미완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651760"/>
            <a:ext cx="269748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651760"/>
            <a:ext cx="2697480" cy="54864"/>
          </a:xfrm>
          <a:prstGeom prst="rect">
            <a:avLst/>
          </a:prstGeom>
          <a:solidFill>
            <a:srgbClr val="E07B1A"/>
          </a:solidFill>
          <a:ln w="12700">
            <a:solidFill>
              <a:srgbClr val="E07B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743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"점진적 진전"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"폭주 자기 개선" 아님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설계 프레임워크 내 동작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앞으로의 방향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29000" y="1645920"/>
            <a:ext cx="2286000" cy="1371600"/>
          </a:xfrm>
          <a:prstGeom prst="ellipse">
            <a:avLst/>
          </a:prstGeom>
          <a:solidFill>
            <a:srgbClr val="1F4E79"/>
          </a:solidFill>
          <a:ln w="31750">
            <a:solidFill>
              <a:srgbClr val="F4A0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2011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594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코드베이스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1028700"/>
            <a:ext cx="3291840" cy="13030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6858000" y="594360"/>
            <a:ext cx="2011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594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치유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시스템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028700"/>
            <a:ext cx="3291840" cy="13030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274320" y="3200400"/>
            <a:ext cx="2011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D9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2004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선제적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버그 수정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2331720"/>
            <a:ext cx="3291840" cy="13030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6858000" y="3200400"/>
            <a:ext cx="2011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D9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320040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진화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331720"/>
            <a:ext cx="3291840" cy="130302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3383280" y="4023360"/>
            <a:ext cx="20116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02A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40233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4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간 전이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2331720"/>
            <a:ext cx="182880" cy="21259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ysDash"/>
          </a:ln>
        </p:spPr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안전성 검증 완료 후 단계적 실현 예상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64008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0467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무엇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3120" y="80467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참조적 자기 개선 에이전트 — 개선 방법 자체를 개선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27632"/>
            <a:ext cx="64008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62763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어디서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162763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FAIR + Meta Superintelligence Labs (ICLR 2026)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50592"/>
            <a:ext cx="64008" cy="7132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5059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성과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245059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도메인 성능 향상, 크로스도메인 전이 최초 달성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73552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5BA3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73552"/>
            <a:ext cx="64008" cy="713232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27355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3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🔓 상태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03120" y="327355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공개 완료 (연구 단계, CC BY-NC-SA 4.0)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82296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4A0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96512"/>
            <a:ext cx="64008" cy="713232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9651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의미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03120" y="4096512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개선 AI 패러다임의 중요한 이정표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1F4E79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"AI가 더 잘 풀 뿐 아니라, 더 잘 풀기 위해 더 잘 배우는" 시스템의 첫 구현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A02A"/>
          </a:solidFill>
          <a:ln w="12700">
            <a:solidFill>
              <a:srgbClr val="F4A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있으시면 말씀해주세요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474720"/>
            <a:ext cx="4572000" cy="27432"/>
          </a:xfrm>
          <a:prstGeom prst="rect">
            <a:avLst/>
          </a:prstGeom>
          <a:solidFill>
            <a:srgbClr val="F4A02A">
              <a:alpha val="60000"/>
            </a:srgbClr>
          </a:solidFill>
          <a:ln w="12700">
            <a:solidFill>
              <a:srgbClr val="F4A02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arxiv.org/abs/2603.19461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995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github.com/facebookresearch/Hyperagents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3342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ai.meta.com/research/publications/hyperagents/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HyperAgents</dc:title>
  <dc:subject>PptxGenJS Presentation</dc:subject>
  <dc:creator>Auto Research Pipeline</dc:creator>
  <cp:lastModifiedBy>Auto Research Pipeline</cp:lastModifiedBy>
  <cp:revision>1</cp:revision>
  <dcterms:created xsi:type="dcterms:W3CDTF">2026-04-13T11:33:22Z</dcterms:created>
  <dcterms:modified xsi:type="dcterms:W3CDTF">2026-04-13T11:33:22Z</dcterms:modified>
</cp:coreProperties>
</file>