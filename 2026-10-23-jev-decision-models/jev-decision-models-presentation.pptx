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2026년 9월 15일 TypeSafe AI가 공개한 Jev와, 이후 5주 동안 쏟아진 선택·판단 전용 모델들을 다룹니다. 초점은 세 가지입니다. 입출력 형식, 내부 실행 방식, 그리고 실제로 돌리는 방법입니다. 모든 수치는 2026년 10월 23일 기준이며, 벤더가 직접 확인한 사실과 집계 사이트의 전언을 구분해서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개의 묶음으로 진행합니다. 앞의 세 묶음이 이 모델들이 무엇을 받고 무엇을 계산하는지에 대한 이야기이고, 뒤의 세 묶음이 어떤 모델이 있고 어떻게 쓰며 무엇을 아직 모르는지에 대한 이야기입니다.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말씀드립니다. 첫째, 입출력 계약은 사실상 수렴했습니다. 둘째, 한 번의 forward pass라는 표현은 약식이며 내부 구현은 최소 세 가지 계열과 변종으로 나뉩니다. Jev 자체의 내부는 공개되지 않았습니다. 셋째, 선택지 순서 의존성과 과신이 실무의 두 가지 약점입니다.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LLM이 구조화된 답을 내려면 prefill 이후 토큰을 하나씩 샘플링합니다. 지연은 출력 길이에 비례하고, 스키마 오류가 날 수 있습니다. System One 모델은 prefill 한 번 뒤 선택지 위치의 점수를 읽어 softmax를 취합니다. 그래서 출력이 사실상 무료이고, 모든 후보에 확률이 붙습니다. 다만 환각할 수 없다는 말은 스키마상 존재하지 않는 값을 낼 수 없다는 뜻이지 고른 답이 사실이라는 보장이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타임라인입니다. 날짜는 벤더 공지가 확인된 것과 집계 사이트 표기에 의존한 것이 섞여 있습니다. 5주 동안 호스팅 모델과 오픈 가중치 모델이 동시에 쏟아졌습니다. 배경은 두 가지입니다. 하나는 Jev가 JSON 계약을 공개해 호환 구현이 쉬워졌다는 점, 다른 하나는 오픈 백본 위에 LoRA와 작은 헤드만 얹어도 만들 수 있다는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묶음은 입출력 사양입니다.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벤더가 공유하는 골격은 같습니다. state 하나에 이름 붙은 질문 여럿을 붙이고, 질문마다 독립적으로 답을 받습니다. primitive는 세 가지입니다. noul은 참거짓, choice는 후보 중 하나, score는 순서 있는 척도입니다. OpenAI는 noul을 predicate라고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Jev의 요청과 응답 예시입니다. 문서의 스키마에 맞춰 직접 구성한 값이며 실제 호출 결과가 아닙니다. 실제 응답에는 usage 필드가 붙습니다. 질문 수의 상한은 문서에 명시되어 있지 않고, choice는 255개, score는 10단계가 상한입니다.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계약을 비교했습니다. Jev, Liquid d1, Clef, GLiDE, Perplexity 등은 같은 state와 questions 본문을 받습니다. OpenAI는 input과 배열형 questions, predicate라는 이름을 씁니다. GLiNER2.5-Decide는 서버 API가 아니라 로컬 라이브러리이며 기본 출력이 라벨 문자열입니다. Clairic은 선택지를 고르는 대신 타입 있는 값을 추출합니다.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score는 레벨 번호와 확률의 곱의 합, 즉 기댓값입니다. 서로 다른 분포가 같은 값을 낼 수 있으므로 probabilities와 confidence를 함께 읽어야 합니다. TypeSafe 문서의 confidence 수식을 OpenAI 문서 예시에 대입하면 두 값이 모두 문서의 숫자와 일치합니다. OpenAI가 수식을 공개한 것은 아니므로 같은 정의라고 단정할 수는 없지만, 임계값을 벤더 간에 옮겨도 의미가 크게 어긋나지 않는다는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묶음은 실행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흐름입니다. 핵심은 prefill 한 번 뒤 선택지 위치에서 점수를 읽는 것입니다. 출력이 무료인 이유, 지연이 입력 길이에 좌우되는 이유가 여기서 나옵니다. 다만 단일 패스의 단위는 벤더마다 다릅니다. Liquid 호스팅과 GLiDE는 질문마다 별도 패스이고, Clef는 모든 질문의 선택지를 함께 점수화합니다. 그리고 Jev는 출력 토큰이 무료라고 하면서도 usage에 질문당 약 20 정도의 출력 토큰을 보고합니다. 이 불일치는 벤더가 설명한 적이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방식은 네 계열로 나뉩니다. A는 디코더 언어모델의 어휘 판독입니다. B는 백본의 hidden state 위 작은 헤드가 선택지를 직접 점수화하는 방식으로 가장 많은 모델이 여기에 속합니다. C는 대조 학습 기반 점수화입니다. D는 불확실할 때만 짧게 생각하는 변종입니다. 따라서 출력 토큰이 0이라는 서술은 업계 공통 사실이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모델별 구조를 정리했습니다. 근거 열에서 카드는 벤더 모델 카드 또는 공식 블로그, 집계는 systemonemodels.org 디렉터리의 서술입니다. 마지막 줄의 Jev는 베이스, 크기, 헤드 구조 모두 비공개입니다. 공식 서술은 새 아키텍처, 병렬 샘플러, RLCD 학습이라는 세 가지뿐입니다.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Jev의 공식 진술은 세 문장입니다. 새 아키텍처와 병렬 샘플러, 모든 출력이 하나의 쿼리에서 생성된다는 것, 그리고 RLCD 학습입니다. 베이스 모델, 크기, 헤드 구조, 학습 데이터는 비공개입니다. 첫 선택지 편향을 인정한 문서와 score 레벨을 독립적으로 판단한다는 서술은 정황일 뿐이며 어휘 판독인지 헤드형인지를 단정할 수 없습니다. Cloudflare Clef의 학습 설명에도 RLCD라는 이름이 나오므로, 특정 회사의 기법이라기보다 교정을 보상으로 삼는 강화학습의 통칭일 가능성이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방법입니다. 호스팅 API는 앞서 본 JSON을 그대로 보내면 됩니다. 자체 호스팅은 요건이 제각각입니다. d1-3B는 transformers 5.14 이상에서 몇 줄로 로드하고, system_one_batch가 여러 요청을 패딩 없이 패킹합니다. GPU에서는 새 입력 shape의 첫 호출에 오버헤드가 있으므로 워밍업을 권합니다. 다수 모델이 Jev 호환 서버를 제공하므로 로컬과 호스팅의 교체는 base_url 변경으로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묶음은 선택지 순서 의존성입니다.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선택지 개수 K가 늘수록 listwise 판독의 flip이 커집니다. Qwen3-8B는 K가 2에서 20으로 갈 때 4.7퍼센트에서 17퍼센트가 됩니다. Jev 1.13은 다섯 데이터셋 평균 5.3퍼센트, GPT-6 Luna는 13.2퍼센트입니다. 원인은 모델이 상위 몇 개 후보 사이에서 망설일 때 뒤집힘이 집중된다는 점입니다. Jev 문서도 1.13이 첫 번째 선택지 쪽으로 기운다고 인정합니다.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Runoff는 두 단계입니다. 고려 단계에서는 선택지를 하나씩 따로 yes 또는 no로 평가해 순서와 무관한 분포를 얻고, 질량이 0.99 이상이 되는 최소 상위 집합을 고릅니다. 선택 단계에서는 그 집합을 분포 순으로 정렬한 뒤 모든 순환 이동에 대해 listwise 판독을 하고 로그 확률을 평균합니다. 요청이 후보 집합과 분포에만 의존하므로 입력 순서가 바뀌어도 같은 결과가 나옵니다. 비용은 K 더하기 m 제곱입니다.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결과입니다. 여덟 개 시스템 원 모델에 씌웠을 때 순서 의존성이 사실상 사라졌고 정확도는 같거나 올랐습니다. 닫힌 API의 잔존 flip은 같은 요청에도 확률이 달라지는 비결정성 때문이라고 논문이 설명합니다. K가 20, 후보가 3이면 슬롯이 400에서 29로 줄어듭니다. 선택지가 4에서 6개로 적으면 이점이 작습니다. Jev API에서도 noul을 선택지마다 한 요청에 묶어 consider 단계를, choice 요청 m개로 choose 단계를 구현할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묶음은 모델 지형과 성능입니다.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모델만 추렸습니다. 가격과 공개일은 대부분 집계 사이트 표기이므로 도입 전에 벤더 가격표로 재확인해야 합니다. 세 가지가 눈에 띕니다. 공개 구조의 대부분이 Qwen이나 Gemma 위의 후처리라는 백본 수렴, 340M에서 27B까지의 크기 스펙트럼, 그리고 한 달에 버전이 세 번 바뀌는 속도입니다. 별칭을 쓰면 튜닝한 임계값이 어긋나므로 버전 ID를 고정해야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 지수입니다. Jev 1.13은 결정 모델 중 선두권인 58점이고, 가장 높은 언어 모델 Haiku 5.5의 61점에 3점 뒤지지만 비용은 약 4.4분의 1, 지연은 약 11분의 1입니다. 세부로 보면 분류와 도구 호출 판단에서는 결정 모델이 앞서거나 비슷하고 지식과 추론에서는 뒤집니다. 그리고 AA는 거의 모든 확률 구간에서 모든 결정 모델의 정확도가 제시 확률보다 낮다고 보고합니다. 확률이 붙는다는 것과 그 확률을 믿어도 된다는 것은 다른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숫자가 어긋나는 이유를 정리합니다. 첫째, 같은 모델이 지표에 따라 순위가 크게 달라집니다. 둘째, BenchLM이 표기한 d1-ultra의 65.2는 다른 프로토콜의 지수라 AA의 Jev 58과 비교할 수 없습니다. 셋째, 같은 Jev의 중앙 지연이 AA에서는 130밀리초, Cloudflare 측정에서는 524밀리초입니다. 측정 지점이 다르기 때문입니다. 교정 오차는 오픈 가중치 소형 모델이 낮은 경우도 있지만 서드파티 비공개 테스트 결과이므로 자기 도메인에서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묶음은 실전 패턴입니다.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정석적인 패턴입니다. 저가 LLM이 추출하고, 결정 모델이 필드별로 문제 있음의 확률을 평가하고, 임계값 0.7을 하나라도 넘으면 추론 모델로 올립니다. TypeSafe 쿡북의 내부 100건 평가에서 이 캐스케이드의 비용 대비 품질 프런티어는 모든 단일 모델의 위쪽에 놓였습니다. 다만 정확한 달러와 품질 좌표는 문서에 없습니다. 임계값은 위험에 비례하게 정하고, 자기 데이터로 신뢰도 곡선을 그려 확정해야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패턴입니다. 팬아웃은 질문이 독립 평가이므로 한 요청에 몰아넣으면 쿡북 기준 12.2배 저렴하고 10배 빠릅니다. 재정렬은 후보마다 noul 하나를 물어 상위 30건을 재정렬해 top-1 적중률을 5퍼센트에서 18퍼센트로 올렸습니다. UI 라우터 사례에서는 Jev가 후보 중 고르고 점수만 매기며 검증과 실행은 앱이 합니다. 임상 기록용 CS1-4B는 작은 결정 모델이 대량의 기록을 읽고 범용 LM은 질문과 종합을 맡는 분업을 보여 줍니다. OpenIntelligentUI가 이 구조를 매 턴 렌더러 선택에 쓰는 것은 자매 글에서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TypeSafe가 스스로 공개한 약점 목록이 곧 실무 체크리스트입니다. 개수 세기, 수치 비교, 날짜 계산처럼 코드가 정확히 계산할 수 있는 일은 코드로 처리해야 합니다. 관련 없는 긴 state는 분산 요인이 되고, 적대적 텍스트에 취약하며, 첫 선택지로 기우는 경향도 있습니다. 결정 모델은 의미 판단의 전문가이지 계산기가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아직 모르는 것들입니다. Jev의 내부는 공개되지 않았습니다. OpenAI Decisions의 내부 방식과 속도 주장의 근거도 서술되어 있지 않습니다. Microsoft-Decision-1은 블로그 제목만 확인했습니다. 가장 큰 구조적 미지수는 출력 토큰 0이라는 서술과 usage의 output_tokens 필드가 서로 맞지 않는 점을 벤더가 설명한 적이 없다는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정리합니다. 계약은 수렴했고, 실행 방식은 벤더마다 다르며, 약점은 순서 의존성과 과신입니다. 실전에서는 싼 모델이 생성하고 결정 모델이 검증하며 의심스러울 때만 비싼 모델을 부르는 구조가 정석입니다. 마지막으로, 확인된 사실과 집계된 전언을 구분해서 읽으시기를 권합니다. 질문을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1097280"/>
          </a:xfrm>
          <a:prstGeom prst="rect">
            <a:avLst/>
          </a:prstGeom>
          <a:noFill/>
        </p:spPr>
        <p:txBody>
          <a:bodyPr wrap="square" anchor="t" lIns="45720" rIns="45720" tIns="27432" bIns="27432">
            <a:spAutoFit/>
          </a:bodyPr>
          <a:lstStyle/>
          <a:p>
            <a:pPr algn="l">
              <a:lnSpc>
                <a:spcPct val="110000"/>
              </a:lnSpc>
            </a:pPr>
            <a:r>
              <a:rPr sz="4800" b="1">
                <a:solidFill>
                  <a:srgbClr val="FFFFFF"/>
                </a:solidFill>
                <a:latin typeface="Malgun Gothic"/>
              </a:rPr>
              <a:t>Jev와 System One 모델</a:t>
            </a:r>
          </a:p>
        </p:txBody>
      </p:sp>
      <p:sp>
        <p:nvSpPr>
          <p:cNvPr id="4" name="TextBox 3"/>
          <p:cNvSpPr txBox="1"/>
          <p:nvPr/>
        </p:nvSpPr>
        <p:spPr>
          <a:xfrm>
            <a:off x="822960" y="2423160"/>
            <a:ext cx="10515600" cy="822960"/>
          </a:xfrm>
          <a:prstGeom prst="rect">
            <a:avLst/>
          </a:prstGeom>
          <a:noFill/>
        </p:spPr>
        <p:txBody>
          <a:bodyPr wrap="square" anchor="t" lIns="45720" rIns="45720" tIns="27432" bIns="27432">
            <a:spAutoFit/>
          </a:bodyPr>
          <a:lstStyle/>
          <a:p>
            <a:pPr algn="l">
              <a:lnSpc>
                <a:spcPct val="110000"/>
              </a:lnSpc>
            </a:pPr>
            <a:r>
              <a:rPr sz="2600" b="0">
                <a:solidFill>
                  <a:srgbClr val="BFD3EA"/>
                </a:solidFill>
                <a:latin typeface="Malgun Gothic"/>
              </a:rPr>
              <a:t>선택·판단 전용 모델의 입출력 사양과 실행 방식</a:t>
            </a:r>
          </a:p>
        </p:txBody>
      </p:sp>
      <p:sp>
        <p:nvSpPr>
          <p:cNvPr id="5" name="Rounded Rectangle 4"/>
          <p:cNvSpPr/>
          <p:nvPr/>
        </p:nvSpPr>
        <p:spPr>
          <a:xfrm>
            <a:off x="822960" y="3840480"/>
            <a:ext cx="2194560" cy="731520"/>
          </a:xfrm>
          <a:prstGeom prst="roundRect">
            <a:avLst>
              <a:gd name="adj" fmla="val 8000"/>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Malgun Gothic"/>
              </a:rPr>
              <a:t>state</a:t>
            </a:r>
          </a:p>
          <a:p>
            <a:pPr algn="ctr"/>
            <a:r>
              <a:rPr sz="1600" b="1">
                <a:solidFill>
                  <a:srgbClr val="FFFFFF"/>
                </a:solidFill>
                <a:latin typeface="Malgun Gothic"/>
              </a:rPr>
              <a:t>상태 + 질문</a:t>
            </a:r>
          </a:p>
        </p:txBody>
      </p:sp>
      <p:cxnSp>
        <p:nvCxnSpPr>
          <p:cNvPr id="6" name="Connector 5"/>
          <p:cNvCxnSpPr/>
          <p:nvPr/>
        </p:nvCxnSpPr>
        <p:spPr>
          <a:xfrm>
            <a:off x="3063240" y="4206240"/>
            <a:ext cx="1005840" cy="0"/>
          </a:xfrm>
          <a:prstGeom prst="line">
            <a:avLst/>
          </a:prstGeom>
          <a:ln w="38100">
            <a:solidFill>
              <a:srgbClr val="E8A33D"/>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0" y="3840480"/>
            <a:ext cx="2194560" cy="73152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12263F"/>
                </a:solidFill>
                <a:latin typeface="Malgun Gothic"/>
              </a:rPr>
              <a:t>모델</a:t>
            </a:r>
          </a:p>
          <a:p>
            <a:pPr algn="ctr"/>
            <a:r>
              <a:rPr sz="1600" b="1">
                <a:solidFill>
                  <a:srgbClr val="12263F"/>
                </a:solidFill>
                <a:latin typeface="Malgun Gothic"/>
              </a:rPr>
              <a:t>prefill 1회</a:t>
            </a:r>
          </a:p>
        </p:txBody>
      </p:sp>
      <p:cxnSp>
        <p:nvCxnSpPr>
          <p:cNvPr id="8" name="Connector 7"/>
          <p:cNvCxnSpPr/>
          <p:nvPr/>
        </p:nvCxnSpPr>
        <p:spPr>
          <a:xfrm>
            <a:off x="6355080" y="4206240"/>
            <a:ext cx="1005840" cy="0"/>
          </a:xfrm>
          <a:prstGeom prst="line">
            <a:avLst/>
          </a:prstGeom>
          <a:ln w="38100">
            <a:solidFill>
              <a:srgbClr val="E8A33D"/>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406640" y="3840480"/>
            <a:ext cx="2926080" cy="7315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Malgun Gothic"/>
              </a:rPr>
              <a:t>확률분포</a:t>
            </a:r>
          </a:p>
          <a:p>
            <a:pPr algn="ctr"/>
            <a:r>
              <a:rPr sz="1600" b="1">
                <a:solidFill>
                  <a:srgbClr val="FFFFFF"/>
                </a:solidFill>
                <a:latin typeface="Malgun Gothic"/>
              </a:rPr>
              <a:t>choice · score · noul</a:t>
            </a:r>
          </a:p>
        </p:txBody>
      </p:sp>
      <p:sp>
        <p:nvSpPr>
          <p:cNvPr id="10" name="TextBox 9"/>
          <p:cNvSpPr txBox="1"/>
          <p:nvPr/>
        </p:nvSpPr>
        <p:spPr>
          <a:xfrm>
            <a:off x="822960" y="5760720"/>
            <a:ext cx="10058400" cy="365760"/>
          </a:xfrm>
          <a:prstGeom prst="rect">
            <a:avLst/>
          </a:prstGeom>
          <a:noFill/>
        </p:spPr>
        <p:txBody>
          <a:bodyPr wrap="square" anchor="t" lIns="45720" rIns="45720" tIns="27432" bIns="27432">
            <a:spAutoFit/>
          </a:bodyPr>
          <a:lstStyle/>
          <a:p>
            <a:pPr algn="l">
              <a:lnSpc>
                <a:spcPct val="110000"/>
              </a:lnSpc>
            </a:pPr>
            <a:r>
              <a:rPr sz="1400" b="0">
                <a:solidFill>
                  <a:srgbClr val="9FB6D0"/>
                </a:solidFill>
                <a:latin typeface="Malgun Gothic"/>
              </a:rPr>
              <a:t>2026-10-23 기준  |  1차 자료와 집계 자료를 구분해 표기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오늘의 흐름</a:t>
            </a:r>
          </a:p>
        </p:txBody>
      </p:sp>
      <p:sp>
        <p:nvSpPr>
          <p:cNvPr id="4" name="TextBox 3"/>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5" name="TextBox 4"/>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a:t>
            </a:r>
          </a:p>
        </p:txBody>
      </p:sp>
      <p:sp>
        <p:nvSpPr>
          <p:cNvPr id="6" name="Rounded Rectangle 5"/>
          <p:cNvSpPr/>
          <p:nvPr/>
        </p:nvSpPr>
        <p:spPr>
          <a:xfrm>
            <a:off x="640080" y="1554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91639"/>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01</a:t>
            </a:r>
          </a:p>
        </p:txBody>
      </p:sp>
      <p:sp>
        <p:nvSpPr>
          <p:cNvPr id="8" name="TextBox 7"/>
          <p:cNvSpPr txBox="1"/>
          <p:nvPr/>
        </p:nvSpPr>
        <p:spPr>
          <a:xfrm>
            <a:off x="822959" y="2423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입출력 사양</a:t>
            </a:r>
          </a:p>
        </p:txBody>
      </p:sp>
      <p:sp>
        <p:nvSpPr>
          <p:cNvPr id="9" name="TextBox 8"/>
          <p:cNvSpPr txBox="1"/>
          <p:nvPr/>
        </p:nvSpPr>
        <p:spPr>
          <a:xfrm>
            <a:off x="822959" y="2880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실제 JSON 계약</a:t>
            </a:r>
          </a:p>
        </p:txBody>
      </p:sp>
      <p:sp>
        <p:nvSpPr>
          <p:cNvPr id="10" name="Rounded Rectangle 9"/>
          <p:cNvSpPr/>
          <p:nvPr/>
        </p:nvSpPr>
        <p:spPr>
          <a:xfrm>
            <a:off x="4434840" y="1554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39"/>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02</a:t>
            </a:r>
          </a:p>
        </p:txBody>
      </p:sp>
      <p:sp>
        <p:nvSpPr>
          <p:cNvPr id="12" name="TextBox 11"/>
          <p:cNvSpPr txBox="1"/>
          <p:nvPr/>
        </p:nvSpPr>
        <p:spPr>
          <a:xfrm>
            <a:off x="4617720" y="2423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실행 방식</a:t>
            </a:r>
          </a:p>
        </p:txBody>
      </p:sp>
      <p:sp>
        <p:nvSpPr>
          <p:cNvPr id="13" name="TextBox 12"/>
          <p:cNvSpPr txBox="1"/>
          <p:nvPr/>
        </p:nvSpPr>
        <p:spPr>
          <a:xfrm>
            <a:off x="4617720" y="2880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한 번의 forward pass</a:t>
            </a:r>
          </a:p>
        </p:txBody>
      </p:sp>
      <p:sp>
        <p:nvSpPr>
          <p:cNvPr id="14" name="Rounded Rectangle 13"/>
          <p:cNvSpPr/>
          <p:nvPr/>
        </p:nvSpPr>
        <p:spPr>
          <a:xfrm>
            <a:off x="8229600" y="1554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691639"/>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03</a:t>
            </a:r>
          </a:p>
        </p:txBody>
      </p:sp>
      <p:sp>
        <p:nvSpPr>
          <p:cNvPr id="16" name="TextBox 15"/>
          <p:cNvSpPr txBox="1"/>
          <p:nvPr/>
        </p:nvSpPr>
        <p:spPr>
          <a:xfrm>
            <a:off x="8412480" y="2423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순서 의존성</a:t>
            </a:r>
          </a:p>
        </p:txBody>
      </p:sp>
      <p:sp>
        <p:nvSpPr>
          <p:cNvPr id="17" name="TextBox 16"/>
          <p:cNvSpPr txBox="1"/>
          <p:nvPr/>
        </p:nvSpPr>
        <p:spPr>
          <a:xfrm>
            <a:off x="8412480" y="2880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Runoff</a:t>
            </a:r>
          </a:p>
        </p:txBody>
      </p:sp>
      <p:sp>
        <p:nvSpPr>
          <p:cNvPr id="18" name="Rounded Rectangle 17"/>
          <p:cNvSpPr/>
          <p:nvPr/>
        </p:nvSpPr>
        <p:spPr>
          <a:xfrm>
            <a:off x="640080" y="3840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977640"/>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04</a:t>
            </a:r>
          </a:p>
        </p:txBody>
      </p:sp>
      <p:sp>
        <p:nvSpPr>
          <p:cNvPr id="20" name="TextBox 19"/>
          <p:cNvSpPr txBox="1"/>
          <p:nvPr/>
        </p:nvSpPr>
        <p:spPr>
          <a:xfrm>
            <a:off x="822959" y="4709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지형과 성능</a:t>
            </a:r>
          </a:p>
        </p:txBody>
      </p:sp>
      <p:sp>
        <p:nvSpPr>
          <p:cNvPr id="21" name="TextBox 20"/>
          <p:cNvSpPr txBox="1"/>
          <p:nvPr/>
        </p:nvSpPr>
        <p:spPr>
          <a:xfrm>
            <a:off x="822959" y="5166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모델 · 벤치마크</a:t>
            </a:r>
          </a:p>
        </p:txBody>
      </p:sp>
      <p:sp>
        <p:nvSpPr>
          <p:cNvPr id="22" name="Rounded Rectangle 21"/>
          <p:cNvSpPr/>
          <p:nvPr/>
        </p:nvSpPr>
        <p:spPr>
          <a:xfrm>
            <a:off x="4434840" y="3840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3977640"/>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05</a:t>
            </a:r>
          </a:p>
        </p:txBody>
      </p:sp>
      <p:sp>
        <p:nvSpPr>
          <p:cNvPr id="24" name="TextBox 23"/>
          <p:cNvSpPr txBox="1"/>
          <p:nvPr/>
        </p:nvSpPr>
        <p:spPr>
          <a:xfrm>
            <a:off x="4617720" y="4709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실전 패턴</a:t>
            </a:r>
          </a:p>
        </p:txBody>
      </p:sp>
      <p:sp>
        <p:nvSpPr>
          <p:cNvPr id="25" name="TextBox 24"/>
          <p:cNvSpPr txBox="1"/>
          <p:nvPr/>
        </p:nvSpPr>
        <p:spPr>
          <a:xfrm>
            <a:off x="4617720" y="5166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게이팅 · 캐스케이드</a:t>
            </a:r>
          </a:p>
        </p:txBody>
      </p:sp>
      <p:sp>
        <p:nvSpPr>
          <p:cNvPr id="26" name="Rounded Rectangle 25"/>
          <p:cNvSpPr/>
          <p:nvPr/>
        </p:nvSpPr>
        <p:spPr>
          <a:xfrm>
            <a:off x="8229600" y="3840480"/>
            <a:ext cx="3520440" cy="1920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3977640"/>
            <a:ext cx="1097280" cy="731520"/>
          </a:xfrm>
          <a:prstGeom prst="rect">
            <a:avLst/>
          </a:prstGeom>
          <a:noFill/>
        </p:spPr>
        <p:txBody>
          <a:bodyPr wrap="square" anchor="t" lIns="45720" rIns="45720" tIns="27432" bIns="27432">
            <a:spAutoFit/>
          </a:bodyPr>
          <a:lstStyle/>
          <a:p>
            <a:pPr algn="l">
              <a:lnSpc>
                <a:spcPct val="110000"/>
              </a:lnSpc>
            </a:pPr>
            <a:r>
              <a:rPr sz="3600" b="1">
                <a:solidFill>
                  <a:srgbClr val="E8A33D"/>
                </a:solidFill>
                <a:latin typeface="Malgun Gothic"/>
              </a:rPr>
              <a:t>06</a:t>
            </a:r>
          </a:p>
        </p:txBody>
      </p:sp>
      <p:sp>
        <p:nvSpPr>
          <p:cNvPr id="28" name="TextBox 27"/>
          <p:cNvSpPr txBox="1"/>
          <p:nvPr/>
        </p:nvSpPr>
        <p:spPr>
          <a:xfrm>
            <a:off x="8412480" y="4709160"/>
            <a:ext cx="310896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모르는 것</a:t>
            </a:r>
          </a:p>
        </p:txBody>
      </p:sp>
      <p:sp>
        <p:nvSpPr>
          <p:cNvPr id="29" name="TextBox 28"/>
          <p:cNvSpPr txBox="1"/>
          <p:nvPr/>
        </p:nvSpPr>
        <p:spPr>
          <a:xfrm>
            <a:off x="8412480" y="5166360"/>
            <a:ext cx="3108960" cy="45720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비공개 영역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결론 먼저 — 3줄</a:t>
            </a:r>
          </a:p>
        </p:txBody>
      </p:sp>
      <p:sp>
        <p:nvSpPr>
          <p:cNvPr id="4" name="TextBox 3"/>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5" name="TextBox 4"/>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3</a:t>
            </a:r>
          </a:p>
        </p:txBody>
      </p:sp>
      <p:sp>
        <p:nvSpPr>
          <p:cNvPr id="6" name="Rounded Rectangle 5"/>
          <p:cNvSpPr/>
          <p:nvPr/>
        </p:nvSpPr>
        <p:spPr>
          <a:xfrm>
            <a:off x="640080" y="1371600"/>
            <a:ext cx="10881360" cy="141732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914400" cy="1097280"/>
          </a:xfrm>
          <a:prstGeom prst="rect">
            <a:avLst/>
          </a:prstGeom>
          <a:noFill/>
        </p:spPr>
        <p:txBody>
          <a:bodyPr wrap="square" anchor="ctr" lIns="45720" rIns="45720" tIns="27432" bIns="27432">
            <a:spAutoFit/>
          </a:bodyPr>
          <a:lstStyle/>
          <a:p>
            <a:pPr algn="l">
              <a:lnSpc>
                <a:spcPct val="110000"/>
              </a:lnSpc>
            </a:pPr>
            <a:r>
              <a:rPr sz="5400" b="1">
                <a:solidFill>
                  <a:srgbClr val="E8A33D"/>
                </a:solidFill>
                <a:latin typeface="Malgun Gothic"/>
              </a:rPr>
              <a:t>1</a:t>
            </a:r>
          </a:p>
        </p:txBody>
      </p:sp>
      <p:sp>
        <p:nvSpPr>
          <p:cNvPr id="8" name="TextBox 7"/>
          <p:cNvSpPr txBox="1"/>
          <p:nvPr/>
        </p:nvSpPr>
        <p:spPr>
          <a:xfrm>
            <a:off x="1920240" y="1508760"/>
            <a:ext cx="932688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계약은 수렴했다</a:t>
            </a:r>
          </a:p>
        </p:txBody>
      </p:sp>
      <p:sp>
        <p:nvSpPr>
          <p:cNvPr id="9" name="TextBox 8"/>
          <p:cNvSpPr txBox="1"/>
          <p:nvPr/>
        </p:nvSpPr>
        <p:spPr>
          <a:xfrm>
            <a:off x="1920240" y="2029967"/>
            <a:ext cx="9326880" cy="73152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state + questions(choice·score·noul) → probabilities·confidence. Jev JSON을 다수 벤더가 호환 구현, OpenAI만 변형</a:t>
            </a:r>
          </a:p>
        </p:txBody>
      </p:sp>
      <p:sp>
        <p:nvSpPr>
          <p:cNvPr id="10" name="Rounded Rectangle 9"/>
          <p:cNvSpPr/>
          <p:nvPr/>
        </p:nvSpPr>
        <p:spPr>
          <a:xfrm>
            <a:off x="640080" y="3017520"/>
            <a:ext cx="10881360" cy="141732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54679"/>
            <a:ext cx="914400" cy="1097280"/>
          </a:xfrm>
          <a:prstGeom prst="rect">
            <a:avLst/>
          </a:prstGeom>
          <a:noFill/>
        </p:spPr>
        <p:txBody>
          <a:bodyPr wrap="square" anchor="ctr" lIns="45720" rIns="45720" tIns="27432" bIns="27432">
            <a:spAutoFit/>
          </a:bodyPr>
          <a:lstStyle/>
          <a:p>
            <a:pPr algn="l">
              <a:lnSpc>
                <a:spcPct val="110000"/>
              </a:lnSpc>
            </a:pPr>
            <a:r>
              <a:rPr sz="5400" b="1">
                <a:solidFill>
                  <a:srgbClr val="E8A33D"/>
                </a:solidFill>
                <a:latin typeface="Malgun Gothic"/>
              </a:rPr>
              <a:t>2</a:t>
            </a:r>
          </a:p>
        </p:txBody>
      </p:sp>
      <p:sp>
        <p:nvSpPr>
          <p:cNvPr id="12" name="TextBox 11"/>
          <p:cNvSpPr txBox="1"/>
          <p:nvPr/>
        </p:nvSpPr>
        <p:spPr>
          <a:xfrm>
            <a:off x="1920240" y="3154679"/>
            <a:ext cx="932688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단일 패스는 약식이다</a:t>
            </a:r>
          </a:p>
        </p:txBody>
      </p:sp>
      <p:sp>
        <p:nvSpPr>
          <p:cNvPr id="13" name="TextBox 12"/>
          <p:cNvSpPr txBox="1"/>
          <p:nvPr/>
        </p:nvSpPr>
        <p:spPr>
          <a:xfrm>
            <a:off x="1920240" y="3675887"/>
            <a:ext cx="9326880" cy="73152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디코딩 없이 prefill 1회 + 선택지 판독. 구현은 어휘 판독 · 결정 헤드 · 대조 점수화 · 제한적 사고. Jev 내부는 비공개</a:t>
            </a:r>
          </a:p>
        </p:txBody>
      </p:sp>
      <p:sp>
        <p:nvSpPr>
          <p:cNvPr id="14" name="Rounded Rectangle 13"/>
          <p:cNvSpPr/>
          <p:nvPr/>
        </p:nvSpPr>
        <p:spPr>
          <a:xfrm>
            <a:off x="640080" y="4663440"/>
            <a:ext cx="10881360" cy="141732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800600"/>
            <a:ext cx="914400" cy="1097280"/>
          </a:xfrm>
          <a:prstGeom prst="rect">
            <a:avLst/>
          </a:prstGeom>
          <a:noFill/>
        </p:spPr>
        <p:txBody>
          <a:bodyPr wrap="square" anchor="ctr" lIns="45720" rIns="45720" tIns="27432" bIns="27432">
            <a:spAutoFit/>
          </a:bodyPr>
          <a:lstStyle/>
          <a:p>
            <a:pPr algn="l">
              <a:lnSpc>
                <a:spcPct val="110000"/>
              </a:lnSpc>
            </a:pPr>
            <a:r>
              <a:rPr sz="5400" b="1">
                <a:solidFill>
                  <a:srgbClr val="E8A33D"/>
                </a:solidFill>
                <a:latin typeface="Malgun Gothic"/>
              </a:rPr>
              <a:t>3</a:t>
            </a:r>
          </a:p>
        </p:txBody>
      </p:sp>
      <p:sp>
        <p:nvSpPr>
          <p:cNvPr id="16" name="TextBox 15"/>
          <p:cNvSpPr txBox="1"/>
          <p:nvPr/>
        </p:nvSpPr>
        <p:spPr>
          <a:xfrm>
            <a:off x="1920240" y="4800600"/>
            <a:ext cx="9326880" cy="457200"/>
          </a:xfrm>
          <a:prstGeom prst="rect">
            <a:avLst/>
          </a:prstGeom>
          <a:noFill/>
        </p:spPr>
        <p:txBody>
          <a:bodyPr wrap="square" anchor="t" lIns="45720" rIns="45720" tIns="27432" bIns="27432">
            <a:spAutoFit/>
          </a:bodyPr>
          <a:lstStyle/>
          <a:p>
            <a:pPr algn="l">
              <a:lnSpc>
                <a:spcPct val="110000"/>
              </a:lnSpc>
            </a:pPr>
            <a:r>
              <a:rPr sz="2200" b="1">
                <a:solidFill>
                  <a:srgbClr val="12263F"/>
                </a:solidFill>
                <a:latin typeface="Malgun Gothic"/>
              </a:rPr>
              <a:t>순서와 과신이 약점이다</a:t>
            </a:r>
          </a:p>
        </p:txBody>
      </p:sp>
      <p:sp>
        <p:nvSpPr>
          <p:cNvPr id="17" name="TextBox 16"/>
          <p:cNvSpPr txBox="1"/>
          <p:nvPr/>
        </p:nvSpPr>
        <p:spPr>
          <a:xfrm>
            <a:off x="1920240" y="5321807"/>
            <a:ext cx="9326880" cy="73152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선택지 순서만 바꿔도 뒤집힘 → Runoff. 지식·추론에서 과신 → 임계값은 자기 데이터로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System One 모델이란</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텍스트를 쓰지 않고, 정해진 답 위의 확률분포를 낸다</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4</a:t>
            </a:r>
          </a:p>
        </p:txBody>
      </p:sp>
      <p:sp>
        <p:nvSpPr>
          <p:cNvPr id="7" name="TextBox 6"/>
          <p:cNvSpPr txBox="1"/>
          <p:nvPr/>
        </p:nvSpPr>
        <p:spPr>
          <a:xfrm>
            <a:off x="640080" y="1463040"/>
            <a:ext cx="5486400" cy="365760"/>
          </a:xfrm>
          <a:prstGeom prst="rect">
            <a:avLst/>
          </a:prstGeom>
          <a:noFill/>
        </p:spPr>
        <p:txBody>
          <a:bodyPr wrap="square" anchor="t" lIns="45720" rIns="45720" tIns="27432" bIns="27432">
            <a:spAutoFit/>
          </a:bodyPr>
          <a:lstStyle/>
          <a:p>
            <a:pPr algn="l">
              <a:lnSpc>
                <a:spcPct val="110000"/>
              </a:lnSpc>
            </a:pPr>
            <a:r>
              <a:rPr sz="1600" b="1">
                <a:solidFill>
                  <a:srgbClr val="C0634A"/>
                </a:solidFill>
                <a:latin typeface="Malgun Gothic"/>
              </a:rPr>
              <a:t>LLM 구조화 출력 (자기회귀)</a:t>
            </a:r>
          </a:p>
        </p:txBody>
      </p:sp>
      <p:sp>
        <p:nvSpPr>
          <p:cNvPr id="8" name="Rounded Rectangle 7"/>
          <p:cNvSpPr/>
          <p:nvPr/>
        </p:nvSpPr>
        <p:spPr>
          <a:xfrm>
            <a:off x="640080" y="1920240"/>
            <a:ext cx="1417320" cy="685800"/>
          </a:xfrm>
          <a:prstGeom prst="roundRect">
            <a:avLst>
              <a:gd name="adj" fmla="val 8000"/>
            </a:avLst>
          </a:prstGeom>
          <a:solidFill>
            <a:srgbClr val="F3D5C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C0634A"/>
                </a:solidFill>
                <a:latin typeface="Malgun Gothic"/>
              </a:rPr>
              <a:t>prefill</a:t>
            </a:r>
          </a:p>
        </p:txBody>
      </p:sp>
      <p:cxnSp>
        <p:nvCxnSpPr>
          <p:cNvPr id="9" name="Connector 8"/>
          <p:cNvCxnSpPr/>
          <p:nvPr/>
        </p:nvCxnSpPr>
        <p:spPr>
          <a:xfrm>
            <a:off x="2075688" y="2267712"/>
            <a:ext cx="237744" cy="0"/>
          </a:xfrm>
          <a:prstGeom prst="line">
            <a:avLst/>
          </a:prstGeom>
          <a:ln w="25400">
            <a:solidFill>
              <a:srgbClr val="C0634A"/>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31720" y="1920240"/>
            <a:ext cx="1417320" cy="685800"/>
          </a:xfrm>
          <a:prstGeom prst="roundRect">
            <a:avLst>
              <a:gd name="adj" fmla="val 8000"/>
            </a:avLst>
          </a:prstGeom>
          <a:solidFill>
            <a:srgbClr val="F3D5C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C0634A"/>
                </a:solidFill>
                <a:latin typeface="Malgun Gothic"/>
              </a:rPr>
              <a:t>토큰 1</a:t>
            </a:r>
          </a:p>
        </p:txBody>
      </p:sp>
      <p:cxnSp>
        <p:nvCxnSpPr>
          <p:cNvPr id="11" name="Connector 10"/>
          <p:cNvCxnSpPr/>
          <p:nvPr/>
        </p:nvCxnSpPr>
        <p:spPr>
          <a:xfrm>
            <a:off x="3767328" y="2267712"/>
            <a:ext cx="237744" cy="0"/>
          </a:xfrm>
          <a:prstGeom prst="line">
            <a:avLst/>
          </a:prstGeom>
          <a:ln w="25400">
            <a:solidFill>
              <a:srgbClr val="C0634A"/>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23360" y="1920240"/>
            <a:ext cx="1417320" cy="685800"/>
          </a:xfrm>
          <a:prstGeom prst="roundRect">
            <a:avLst>
              <a:gd name="adj" fmla="val 8000"/>
            </a:avLst>
          </a:prstGeom>
          <a:solidFill>
            <a:srgbClr val="F3D5C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C0634A"/>
                </a:solidFill>
                <a:latin typeface="Malgun Gothic"/>
              </a:rPr>
              <a:t>토큰 … N</a:t>
            </a:r>
          </a:p>
        </p:txBody>
      </p:sp>
      <p:cxnSp>
        <p:nvCxnSpPr>
          <p:cNvPr id="13" name="Connector 12"/>
          <p:cNvCxnSpPr/>
          <p:nvPr/>
        </p:nvCxnSpPr>
        <p:spPr>
          <a:xfrm>
            <a:off x="5458968" y="2267712"/>
            <a:ext cx="237744" cy="0"/>
          </a:xfrm>
          <a:prstGeom prst="line">
            <a:avLst/>
          </a:prstGeom>
          <a:ln w="25400">
            <a:solidFill>
              <a:srgbClr val="C0634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715000" y="1920240"/>
            <a:ext cx="1417320" cy="685800"/>
          </a:xfrm>
          <a:prstGeom prst="roundRect">
            <a:avLst>
              <a:gd name="adj" fmla="val 8000"/>
            </a:avLst>
          </a:prstGeom>
          <a:solidFill>
            <a:srgbClr val="F3D5C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C0634A"/>
                </a:solidFill>
                <a:latin typeface="Malgun Gothic"/>
              </a:rPr>
              <a:t>JSON 검증</a:t>
            </a:r>
          </a:p>
        </p:txBody>
      </p:sp>
      <p:sp>
        <p:nvSpPr>
          <p:cNvPr id="15" name="TextBox 14"/>
          <p:cNvSpPr txBox="1"/>
          <p:nvPr/>
        </p:nvSpPr>
        <p:spPr>
          <a:xfrm>
            <a:off x="7589520" y="1828800"/>
            <a:ext cx="4206240" cy="914400"/>
          </a:xfrm>
          <a:prstGeom prst="rect">
            <a:avLst/>
          </a:prstGeom>
          <a:noFill/>
        </p:spPr>
        <p:txBody>
          <a:bodyPr wrap="square" anchor="t" lIns="45720" rIns="45720" tIns="27432" bIns="27432">
            <a:spAutoFit/>
          </a:bodyPr>
          <a:lstStyle/>
          <a:p>
            <a:pPr algn="l">
              <a:lnSpc>
                <a:spcPct val="110000"/>
              </a:lnSpc>
            </a:pPr>
            <a:r>
              <a:rPr sz="1300" b="0">
                <a:solidFill>
                  <a:srgbClr val="5B6770"/>
                </a:solidFill>
                <a:latin typeface="Malgun Gothic"/>
              </a:rPr>
              <a:t>지연 ∝ 출력 길이</a:t>
            </a:r>
          </a:p>
          <a:p>
            <a:pPr algn="l">
              <a:lnSpc>
                <a:spcPct val="110000"/>
              </a:lnSpc>
            </a:pPr>
            <a:r>
              <a:rPr sz="1300" b="0">
                <a:solidFill>
                  <a:srgbClr val="5B6770"/>
                </a:solidFill>
                <a:latin typeface="Malgun Gothic"/>
              </a:rPr>
              <a:t>확률은 logprobs를 따로 요청</a:t>
            </a:r>
          </a:p>
          <a:p>
            <a:pPr algn="l">
              <a:lnSpc>
                <a:spcPct val="110000"/>
              </a:lnSpc>
            </a:pPr>
            <a:r>
              <a:rPr sz="1300" b="0">
                <a:solidFill>
                  <a:srgbClr val="5B6770"/>
                </a:solidFill>
                <a:latin typeface="Malgun Gothic"/>
              </a:rPr>
              <a:t>스키마 오류 가능</a:t>
            </a:r>
          </a:p>
        </p:txBody>
      </p:sp>
      <p:sp>
        <p:nvSpPr>
          <p:cNvPr id="16" name="TextBox 15"/>
          <p:cNvSpPr txBox="1"/>
          <p:nvPr/>
        </p:nvSpPr>
        <p:spPr>
          <a:xfrm>
            <a:off x="640080" y="3200400"/>
            <a:ext cx="5486400" cy="36576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System One (단일 패스)</a:t>
            </a:r>
          </a:p>
        </p:txBody>
      </p:sp>
      <p:sp>
        <p:nvSpPr>
          <p:cNvPr id="17" name="Rounded Rectangle 16"/>
          <p:cNvSpPr/>
          <p:nvPr/>
        </p:nvSpPr>
        <p:spPr>
          <a:xfrm>
            <a:off x="640080" y="3657600"/>
            <a:ext cx="2011680" cy="86868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F4E79"/>
                </a:solidFill>
                <a:latin typeface="Malgun Gothic"/>
              </a:rPr>
              <a:t>prefill 1회</a:t>
            </a:r>
          </a:p>
          <a:p>
            <a:pPr algn="ctr"/>
            <a:r>
              <a:rPr sz="1400" b="1">
                <a:solidFill>
                  <a:srgbClr val="1F4E79"/>
                </a:solidFill>
                <a:latin typeface="Malgun Gothic"/>
              </a:rPr>
              <a:t>state+질문+선택지</a:t>
            </a:r>
          </a:p>
        </p:txBody>
      </p:sp>
      <p:cxnSp>
        <p:nvCxnSpPr>
          <p:cNvPr id="18" name="Connector 17"/>
          <p:cNvCxnSpPr/>
          <p:nvPr/>
        </p:nvCxnSpPr>
        <p:spPr>
          <a:xfrm>
            <a:off x="2670048" y="4096512"/>
            <a:ext cx="237744" cy="0"/>
          </a:xfrm>
          <a:prstGeom prst="line">
            <a:avLst/>
          </a:prstGeom>
          <a:ln w="2540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26080" y="3657600"/>
            <a:ext cx="2011680" cy="86868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F4E79"/>
                </a:solidFill>
                <a:latin typeface="Malgun Gothic"/>
              </a:rPr>
              <a:t>선택지 위치</a:t>
            </a:r>
          </a:p>
          <a:p>
            <a:pPr algn="ctr"/>
            <a:r>
              <a:rPr sz="1400" b="1">
                <a:solidFill>
                  <a:srgbClr val="1F4E79"/>
                </a:solidFill>
                <a:latin typeface="Malgun Gothic"/>
              </a:rPr>
              <a:t>점수 판독</a:t>
            </a:r>
          </a:p>
        </p:txBody>
      </p:sp>
      <p:cxnSp>
        <p:nvCxnSpPr>
          <p:cNvPr id="20" name="Connector 19"/>
          <p:cNvCxnSpPr/>
          <p:nvPr/>
        </p:nvCxnSpPr>
        <p:spPr>
          <a:xfrm>
            <a:off x="4956048" y="4096512"/>
            <a:ext cx="237744" cy="0"/>
          </a:xfrm>
          <a:prstGeom prst="line">
            <a:avLst/>
          </a:prstGeom>
          <a:ln w="2540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212080" y="3657600"/>
            <a:ext cx="2011680" cy="86868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F4E79"/>
                </a:solidFill>
                <a:latin typeface="Malgun Gothic"/>
              </a:rPr>
              <a:t>softmax</a:t>
            </a:r>
          </a:p>
          <a:p>
            <a:pPr algn="ctr"/>
            <a:r>
              <a:rPr sz="1400" b="1">
                <a:solidFill>
                  <a:srgbClr val="1F4E79"/>
                </a:solidFill>
                <a:latin typeface="Malgun Gothic"/>
              </a:rPr>
              <a:t>확률분포</a:t>
            </a:r>
          </a:p>
        </p:txBody>
      </p:sp>
      <p:cxnSp>
        <p:nvCxnSpPr>
          <p:cNvPr id="22" name="Connector 21"/>
          <p:cNvCxnSpPr/>
          <p:nvPr/>
        </p:nvCxnSpPr>
        <p:spPr>
          <a:xfrm>
            <a:off x="7242048" y="4096512"/>
            <a:ext cx="237744" cy="0"/>
          </a:xfrm>
          <a:prstGeom prst="line">
            <a:avLst/>
          </a:prstGeom>
          <a:ln w="25400">
            <a:solidFill>
              <a:srgbClr val="1F4E79"/>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98079" y="3657600"/>
            <a:ext cx="2011680" cy="86868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F4E79"/>
                </a:solidFill>
                <a:latin typeface="Malgun Gothic"/>
              </a:rPr>
              <a:t>타입 보장된 답</a:t>
            </a:r>
          </a:p>
        </p:txBody>
      </p:sp>
      <p:sp>
        <p:nvSpPr>
          <p:cNvPr id="24" name="Rounded Rectangle 23"/>
          <p:cNvSpPr/>
          <p:nvPr/>
        </p:nvSpPr>
        <p:spPr>
          <a:xfrm>
            <a:off x="640080" y="4892040"/>
            <a:ext cx="3566160" cy="128016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965192"/>
            <a:ext cx="3346704" cy="45720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출력이 공짜</a:t>
            </a:r>
          </a:p>
        </p:txBody>
      </p:sp>
      <p:sp>
        <p:nvSpPr>
          <p:cNvPr id="26" name="TextBox 25"/>
          <p:cNvSpPr txBox="1"/>
          <p:nvPr/>
        </p:nvSpPr>
        <p:spPr>
          <a:xfrm>
            <a:off x="749808" y="5422392"/>
            <a:ext cx="3346704" cy="685799"/>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비용은 전부 입력(prefill)</a:t>
            </a:r>
          </a:p>
        </p:txBody>
      </p:sp>
      <p:sp>
        <p:nvSpPr>
          <p:cNvPr id="27" name="Rounded Rectangle 26"/>
          <p:cNvSpPr/>
          <p:nvPr/>
        </p:nvSpPr>
        <p:spPr>
          <a:xfrm>
            <a:off x="4389120" y="4892040"/>
            <a:ext cx="3566160" cy="128016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4965192"/>
            <a:ext cx="3346704" cy="45720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스키마 오류 없음</a:t>
            </a:r>
          </a:p>
        </p:txBody>
      </p:sp>
      <p:sp>
        <p:nvSpPr>
          <p:cNvPr id="29" name="TextBox 28"/>
          <p:cNvSpPr txBox="1"/>
          <p:nvPr/>
        </p:nvSpPr>
        <p:spPr>
          <a:xfrm>
            <a:off x="4498848" y="5422392"/>
            <a:ext cx="3346704" cy="685799"/>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선택지 집합이 사전 고정</a:t>
            </a:r>
          </a:p>
        </p:txBody>
      </p:sp>
      <p:sp>
        <p:nvSpPr>
          <p:cNvPr id="30" name="Rounded Rectangle 29"/>
          <p:cNvSpPr/>
          <p:nvPr/>
        </p:nvSpPr>
        <p:spPr>
          <a:xfrm>
            <a:off x="8138159" y="4892040"/>
            <a:ext cx="3566160" cy="128016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7887" y="4965192"/>
            <a:ext cx="3346704" cy="45720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모든 후보에 확률</a:t>
            </a:r>
          </a:p>
        </p:txBody>
      </p:sp>
      <p:sp>
        <p:nvSpPr>
          <p:cNvPr id="32" name="TextBox 31"/>
          <p:cNvSpPr txBox="1"/>
          <p:nvPr/>
        </p:nvSpPr>
        <p:spPr>
          <a:xfrm>
            <a:off x="8247887" y="5422392"/>
            <a:ext cx="3346704" cy="685799"/>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임계값·기권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5주 만에 30여 개</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2026-09-15 ~ 10-22 · 날짜 일부는 집계 사이트 표기</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5</a:t>
            </a:r>
          </a:p>
        </p:txBody>
      </p:sp>
      <p:sp>
        <p:nvSpPr>
          <p:cNvPr id="7" name="Rectangle 6"/>
          <p:cNvSpPr/>
          <p:nvPr/>
        </p:nvSpPr>
        <p:spPr>
          <a:xfrm>
            <a:off x="640080" y="3520440"/>
            <a:ext cx="10881360" cy="73152"/>
          </a:xfrm>
          <a:prstGeom prst="rect">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3456432"/>
            <a:ext cx="201168" cy="20116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7744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E8A33D"/>
                </a:solidFill>
                <a:latin typeface="Malgun Gothic"/>
              </a:rPr>
              <a:t>09-15</a:t>
            </a:r>
          </a:p>
        </p:txBody>
      </p:sp>
      <p:sp>
        <p:nvSpPr>
          <p:cNvPr id="10" name="TextBox 9"/>
          <p:cNvSpPr txBox="1"/>
          <p:nvPr/>
        </p:nvSpPr>
        <p:spPr>
          <a:xfrm>
            <a:off x="594360" y="2697480"/>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Jev 1.13</a:t>
            </a:r>
          </a:p>
        </p:txBody>
      </p:sp>
      <p:sp>
        <p:nvSpPr>
          <p:cNvPr id="11" name="Oval 10"/>
          <p:cNvSpPr/>
          <p:nvPr/>
        </p:nvSpPr>
        <p:spPr>
          <a:xfrm>
            <a:off x="2148840" y="3456432"/>
            <a:ext cx="201168" cy="201168"/>
          </a:xfrm>
          <a:prstGeom prst="ellipse">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393192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4A7FB5"/>
                </a:solidFill>
                <a:latin typeface="Malgun Gothic"/>
              </a:rPr>
              <a:t>09-24</a:t>
            </a:r>
          </a:p>
        </p:txBody>
      </p:sp>
      <p:sp>
        <p:nvSpPr>
          <p:cNvPr id="13" name="TextBox 12"/>
          <p:cNvSpPr txBox="1"/>
          <p:nvPr/>
        </p:nvSpPr>
        <p:spPr>
          <a:xfrm>
            <a:off x="1691640" y="4251959"/>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GLiNER2.5</a:t>
            </a:r>
          </a:p>
          <a:p>
            <a:pPr algn="ctr">
              <a:lnSpc>
                <a:spcPct val="110000"/>
              </a:lnSpc>
            </a:pPr>
            <a:r>
              <a:rPr sz="1200" b="0">
                <a:solidFill>
                  <a:srgbClr val="1B1F24"/>
                </a:solidFill>
                <a:latin typeface="Malgun Gothic"/>
              </a:rPr>
              <a:t>Decide</a:t>
            </a:r>
          </a:p>
        </p:txBody>
      </p:sp>
      <p:sp>
        <p:nvSpPr>
          <p:cNvPr id="14" name="Oval 13"/>
          <p:cNvSpPr/>
          <p:nvPr/>
        </p:nvSpPr>
        <p:spPr>
          <a:xfrm>
            <a:off x="3246120" y="3456432"/>
            <a:ext cx="201168" cy="201168"/>
          </a:xfrm>
          <a:prstGeom prst="ellipse">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37744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4A7FB5"/>
                </a:solidFill>
                <a:latin typeface="Malgun Gothic"/>
              </a:rPr>
              <a:t>09-30</a:t>
            </a:r>
          </a:p>
        </p:txBody>
      </p:sp>
      <p:sp>
        <p:nvSpPr>
          <p:cNvPr id="16" name="TextBox 15"/>
          <p:cNvSpPr txBox="1"/>
          <p:nvPr/>
        </p:nvSpPr>
        <p:spPr>
          <a:xfrm>
            <a:off x="2788920" y="2697480"/>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GLiDE</a:t>
            </a:r>
          </a:p>
          <a:p>
            <a:pPr algn="ctr">
              <a:lnSpc>
                <a:spcPct val="110000"/>
              </a:lnSpc>
            </a:pPr>
            <a:r>
              <a:rPr sz="1200" b="0">
                <a:solidFill>
                  <a:srgbClr val="1B1F24"/>
                </a:solidFill>
                <a:latin typeface="Malgun Gothic"/>
              </a:rPr>
              <a:t>d1:free</a:t>
            </a:r>
          </a:p>
        </p:txBody>
      </p:sp>
      <p:sp>
        <p:nvSpPr>
          <p:cNvPr id="17" name="Oval 16"/>
          <p:cNvSpPr/>
          <p:nvPr/>
        </p:nvSpPr>
        <p:spPr>
          <a:xfrm>
            <a:off x="4343399" y="3456432"/>
            <a:ext cx="201168" cy="201168"/>
          </a:xfrm>
          <a:prstGeom prst="ellipse">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393192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4A7FB5"/>
                </a:solidFill>
                <a:latin typeface="Malgun Gothic"/>
              </a:rPr>
              <a:t>10-01</a:t>
            </a:r>
          </a:p>
        </p:txBody>
      </p:sp>
      <p:sp>
        <p:nvSpPr>
          <p:cNvPr id="19" name="TextBox 18"/>
          <p:cNvSpPr txBox="1"/>
          <p:nvPr/>
        </p:nvSpPr>
        <p:spPr>
          <a:xfrm>
            <a:off x="3886199" y="4251959"/>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Clef</a:t>
            </a:r>
          </a:p>
          <a:p>
            <a:pPr algn="ctr">
              <a:lnSpc>
                <a:spcPct val="110000"/>
              </a:lnSpc>
            </a:pPr>
            <a:r>
              <a:rPr sz="1200" b="0">
                <a:solidFill>
                  <a:srgbClr val="1B1F24"/>
                </a:solidFill>
                <a:latin typeface="Malgun Gothic"/>
              </a:rPr>
              <a:t>pplx-decider</a:t>
            </a:r>
          </a:p>
        </p:txBody>
      </p:sp>
      <p:sp>
        <p:nvSpPr>
          <p:cNvPr id="20" name="Oval 19"/>
          <p:cNvSpPr/>
          <p:nvPr/>
        </p:nvSpPr>
        <p:spPr>
          <a:xfrm>
            <a:off x="5440679" y="3456432"/>
            <a:ext cx="201168" cy="201168"/>
          </a:xfrm>
          <a:prstGeom prst="ellipse">
            <a:avLst/>
          </a:prstGeom>
          <a:solidFill>
            <a:srgbClr val="C06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0" y="237744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C0634A"/>
                </a:solidFill>
                <a:latin typeface="Malgun Gothic"/>
              </a:rPr>
              <a:t>10-06</a:t>
            </a:r>
          </a:p>
        </p:txBody>
      </p:sp>
      <p:sp>
        <p:nvSpPr>
          <p:cNvPr id="22" name="TextBox 21"/>
          <p:cNvSpPr txBox="1"/>
          <p:nvPr/>
        </p:nvSpPr>
        <p:spPr>
          <a:xfrm>
            <a:off x="4983479" y="2697480"/>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OpenAI</a:t>
            </a:r>
          </a:p>
          <a:p>
            <a:pPr algn="ctr">
              <a:lnSpc>
                <a:spcPct val="110000"/>
              </a:lnSpc>
            </a:pPr>
            <a:r>
              <a:rPr sz="1200" b="0">
                <a:solidFill>
                  <a:srgbClr val="1B1F24"/>
                </a:solidFill>
                <a:latin typeface="Malgun Gothic"/>
              </a:rPr>
              <a:t>Decisions</a:t>
            </a:r>
          </a:p>
        </p:txBody>
      </p:sp>
      <p:sp>
        <p:nvSpPr>
          <p:cNvPr id="23" name="Oval 22"/>
          <p:cNvSpPr/>
          <p:nvPr/>
        </p:nvSpPr>
        <p:spPr>
          <a:xfrm>
            <a:off x="6537959" y="3456432"/>
            <a:ext cx="201168" cy="201168"/>
          </a:xfrm>
          <a:prstGeom prst="ellipse">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393192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4A7FB5"/>
                </a:solidFill>
                <a:latin typeface="Malgun Gothic"/>
              </a:rPr>
              <a:t>10-07</a:t>
            </a:r>
          </a:p>
        </p:txBody>
      </p:sp>
      <p:sp>
        <p:nvSpPr>
          <p:cNvPr id="25" name="TextBox 24"/>
          <p:cNvSpPr txBox="1"/>
          <p:nvPr/>
        </p:nvSpPr>
        <p:spPr>
          <a:xfrm>
            <a:off x="6080759" y="4251959"/>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d1-3B</a:t>
            </a:r>
          </a:p>
          <a:p>
            <a:pPr algn="ctr">
              <a:lnSpc>
                <a:spcPct val="110000"/>
              </a:lnSpc>
            </a:pPr>
            <a:r>
              <a:rPr sz="1200" b="0">
                <a:solidFill>
                  <a:srgbClr val="1B1F24"/>
                </a:solidFill>
                <a:latin typeface="Malgun Gothic"/>
              </a:rPr>
              <a:t>d1-omni</a:t>
            </a:r>
          </a:p>
        </p:txBody>
      </p:sp>
      <p:sp>
        <p:nvSpPr>
          <p:cNvPr id="26" name="Oval 25"/>
          <p:cNvSpPr/>
          <p:nvPr/>
        </p:nvSpPr>
        <p:spPr>
          <a:xfrm>
            <a:off x="7635240" y="3456432"/>
            <a:ext cx="201168" cy="20116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9" y="237744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2A9D8F"/>
                </a:solidFill>
                <a:latin typeface="Malgun Gothic"/>
              </a:rPr>
              <a:t>10-13</a:t>
            </a:r>
          </a:p>
        </p:txBody>
      </p:sp>
      <p:sp>
        <p:nvSpPr>
          <p:cNvPr id="28" name="TextBox 27"/>
          <p:cNvSpPr txBox="1"/>
          <p:nvPr/>
        </p:nvSpPr>
        <p:spPr>
          <a:xfrm>
            <a:off x="7178039" y="2697480"/>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AA Index</a:t>
            </a:r>
          </a:p>
          <a:p>
            <a:pPr algn="ctr">
              <a:lnSpc>
                <a:spcPct val="110000"/>
              </a:lnSpc>
            </a:pPr>
            <a:r>
              <a:rPr sz="1200" b="0">
                <a:solidFill>
                  <a:srgbClr val="1B1F24"/>
                </a:solidFill>
                <a:latin typeface="Malgun Gothic"/>
              </a:rPr>
              <a:t>Runoff 논문</a:t>
            </a:r>
          </a:p>
        </p:txBody>
      </p:sp>
      <p:sp>
        <p:nvSpPr>
          <p:cNvPr id="29" name="Oval 28"/>
          <p:cNvSpPr/>
          <p:nvPr/>
        </p:nvSpPr>
        <p:spPr>
          <a:xfrm>
            <a:off x="8732520" y="3456432"/>
            <a:ext cx="201168" cy="20116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93192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E8A33D"/>
                </a:solidFill>
                <a:latin typeface="Malgun Gothic"/>
              </a:rPr>
              <a:t>10-14</a:t>
            </a:r>
          </a:p>
        </p:txBody>
      </p:sp>
      <p:sp>
        <p:nvSpPr>
          <p:cNvPr id="31" name="TextBox 30"/>
          <p:cNvSpPr txBox="1"/>
          <p:nvPr/>
        </p:nvSpPr>
        <p:spPr>
          <a:xfrm>
            <a:off x="8275320" y="4251959"/>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Jev 1.14</a:t>
            </a:r>
          </a:p>
        </p:txBody>
      </p:sp>
      <p:sp>
        <p:nvSpPr>
          <p:cNvPr id="32" name="Oval 31"/>
          <p:cNvSpPr/>
          <p:nvPr/>
        </p:nvSpPr>
        <p:spPr>
          <a:xfrm>
            <a:off x="9829800" y="3456432"/>
            <a:ext cx="201168" cy="20116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0" y="237744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2A9D8F"/>
                </a:solidFill>
                <a:latin typeface="Malgun Gothic"/>
              </a:rPr>
              <a:t>10-19</a:t>
            </a:r>
          </a:p>
        </p:txBody>
      </p:sp>
      <p:sp>
        <p:nvSpPr>
          <p:cNvPr id="34" name="TextBox 33"/>
          <p:cNvSpPr txBox="1"/>
          <p:nvPr/>
        </p:nvSpPr>
        <p:spPr>
          <a:xfrm>
            <a:off x="9372600" y="2697480"/>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Clairic</a:t>
            </a:r>
          </a:p>
          <a:p>
            <a:pPr algn="ctr">
              <a:lnSpc>
                <a:spcPct val="110000"/>
              </a:lnSpc>
            </a:pPr>
            <a:r>
              <a:rPr sz="1200" b="0">
                <a:solidFill>
                  <a:srgbClr val="1B1F24"/>
                </a:solidFill>
                <a:latin typeface="Malgun Gothic"/>
              </a:rPr>
              <a:t>CS1 논문</a:t>
            </a:r>
          </a:p>
        </p:txBody>
      </p:sp>
      <p:sp>
        <p:nvSpPr>
          <p:cNvPr id="35" name="Oval 34"/>
          <p:cNvSpPr/>
          <p:nvPr/>
        </p:nvSpPr>
        <p:spPr>
          <a:xfrm>
            <a:off x="10927080" y="3456432"/>
            <a:ext cx="201168" cy="201168"/>
          </a:xfrm>
          <a:prstGeom prst="ellipse">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0" y="3931920"/>
            <a:ext cx="1005840" cy="320040"/>
          </a:xfrm>
          <a:prstGeom prst="rect">
            <a:avLst/>
          </a:prstGeom>
          <a:noFill/>
        </p:spPr>
        <p:txBody>
          <a:bodyPr wrap="square" anchor="t" lIns="45720" rIns="45720" tIns="27432" bIns="27432">
            <a:spAutoFit/>
          </a:bodyPr>
          <a:lstStyle/>
          <a:p>
            <a:pPr algn="ctr">
              <a:lnSpc>
                <a:spcPct val="110000"/>
              </a:lnSpc>
            </a:pPr>
            <a:r>
              <a:rPr sz="1300" b="1">
                <a:solidFill>
                  <a:srgbClr val="4A7FB5"/>
                </a:solidFill>
                <a:latin typeface="Malgun Gothic"/>
              </a:rPr>
              <a:t>10-22</a:t>
            </a:r>
          </a:p>
        </p:txBody>
      </p:sp>
      <p:sp>
        <p:nvSpPr>
          <p:cNvPr id="37" name="TextBox 36"/>
          <p:cNvSpPr txBox="1"/>
          <p:nvPr/>
        </p:nvSpPr>
        <p:spPr>
          <a:xfrm>
            <a:off x="10469880" y="4251959"/>
            <a:ext cx="1097280" cy="731520"/>
          </a:xfrm>
          <a:prstGeom prst="rect">
            <a:avLst/>
          </a:prstGeom>
          <a:noFill/>
        </p:spPr>
        <p:txBody>
          <a:bodyPr wrap="square" anchor="t" lIns="45720" rIns="45720" tIns="27432" bIns="27432">
            <a:spAutoFit/>
          </a:bodyPr>
          <a:lstStyle/>
          <a:p>
            <a:pPr algn="ctr">
              <a:lnSpc>
                <a:spcPct val="110000"/>
              </a:lnSpc>
            </a:pPr>
            <a:r>
              <a:rPr sz="1200" b="0">
                <a:solidFill>
                  <a:srgbClr val="1B1F24"/>
                </a:solidFill>
                <a:latin typeface="Malgun Gothic"/>
              </a:rPr>
              <a:t>GLiDE 1.2</a:t>
            </a:r>
          </a:p>
        </p:txBody>
      </p:sp>
      <p:sp>
        <p:nvSpPr>
          <p:cNvPr id="38" name="TextBox 37"/>
          <p:cNvSpPr txBox="1"/>
          <p:nvPr/>
        </p:nvSpPr>
        <p:spPr>
          <a:xfrm>
            <a:off x="640080" y="5303520"/>
            <a:ext cx="10881360" cy="822960"/>
          </a:xfrm>
          <a:prstGeom prst="rect">
            <a:avLst/>
          </a:prstGeom>
          <a:noFill/>
        </p:spPr>
        <p:txBody>
          <a:bodyPr wrap="square" anchor="t" lIns="45720" rIns="45720" tIns="27432" bIns="27432">
            <a:spAutoFit/>
          </a:bodyPr>
          <a:lstStyle/>
          <a:p>
            <a:pPr algn="l">
              <a:lnSpc>
                <a:spcPct val="110000"/>
              </a:lnSpc>
            </a:pPr>
            <a:r>
              <a:rPr sz="1500" b="0">
                <a:solidFill>
                  <a:srgbClr val="12263F"/>
                </a:solidFill>
                <a:latin typeface="Malgun Gothic"/>
              </a:rPr>
              <a:t>공통 배경: Jev가 JSON 계약을 공개 → 호환 구현의 진입 장벽 하락</a:t>
            </a:r>
          </a:p>
          <a:p>
            <a:pPr algn="l">
              <a:lnSpc>
                <a:spcPct val="110000"/>
              </a:lnSpc>
            </a:pPr>
            <a:r>
              <a:rPr sz="1500" b="0">
                <a:solidFill>
                  <a:srgbClr val="12263F"/>
                </a:solidFill>
                <a:latin typeface="Malgun Gothic"/>
              </a:rPr>
              <a:t>Qwen3.5/3.8 · Gemma 4 위에 LoRA + 작은 헤드만으로도 구현 가능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2743200" cy="1463040"/>
          </a:xfrm>
          <a:prstGeom prst="rect">
            <a:avLst/>
          </a:prstGeom>
          <a:noFill/>
        </p:spPr>
        <p:txBody>
          <a:bodyPr wrap="square" anchor="t" lIns="45720" rIns="45720" tIns="27432" bIns="27432">
            <a:spAutoFit/>
          </a:bodyPr>
          <a:lstStyle/>
          <a:p>
            <a:pPr algn="l">
              <a:lnSpc>
                <a:spcPct val="110000"/>
              </a:lnSpc>
            </a:pPr>
            <a:r>
              <a:rPr sz="9600" b="1">
                <a:solidFill>
                  <a:srgbClr val="E8A33D"/>
                </a:solidFill>
                <a:latin typeface="Malgun Gothic"/>
              </a:rPr>
              <a:t>01</a:t>
            </a:r>
          </a:p>
        </p:txBody>
      </p:sp>
      <p:sp>
        <p:nvSpPr>
          <p:cNvPr id="4" name="TextBox 3"/>
          <p:cNvSpPr txBox="1"/>
          <p:nvPr/>
        </p:nvSpPr>
        <p:spPr>
          <a:xfrm>
            <a:off x="914400" y="3566160"/>
            <a:ext cx="10058400" cy="91440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입출력 사양</a:t>
            </a:r>
          </a:p>
        </p:txBody>
      </p:sp>
      <p:sp>
        <p:nvSpPr>
          <p:cNvPr id="5" name="TextBox 4"/>
          <p:cNvSpPr txBox="1"/>
          <p:nvPr/>
        </p:nvSpPr>
        <p:spPr>
          <a:xfrm>
            <a:off x="914400" y="4480560"/>
            <a:ext cx="10058400" cy="548640"/>
          </a:xfrm>
          <a:prstGeom prst="rect">
            <a:avLst/>
          </a:prstGeom>
          <a:noFill/>
        </p:spPr>
        <p:txBody>
          <a:bodyPr wrap="square" anchor="t" lIns="45720" rIns="45720" tIns="27432" bIns="27432">
            <a:spAutoFit/>
          </a:bodyPr>
          <a:lstStyle/>
          <a:p>
            <a:pPr algn="l">
              <a:lnSpc>
                <a:spcPct val="110000"/>
              </a:lnSpc>
            </a:pPr>
            <a:r>
              <a:rPr sz="2000" b="0">
                <a:solidFill>
                  <a:srgbClr val="BFD3EA"/>
                </a:solidFill>
                <a:latin typeface="Malgun Gothic"/>
              </a:rPr>
              <a:t>실제 JSON으로 보는 벤더별 계약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공통 계약 — state + 이름 붙은 질문</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질문은 서로 독립 평가 · 한 요청에 여러 개</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7</a:t>
            </a:r>
          </a:p>
        </p:txBody>
      </p:sp>
      <p:sp>
        <p:nvSpPr>
          <p:cNvPr id="7" name="Rounded Rectangle 6"/>
          <p:cNvSpPr/>
          <p:nvPr/>
        </p:nvSpPr>
        <p:spPr>
          <a:xfrm>
            <a:off x="640080" y="1554480"/>
            <a:ext cx="2377440" cy="731520"/>
          </a:xfrm>
          <a:prstGeom prst="roundRect">
            <a:avLst>
              <a:gd name="adj" fmla="val 8000"/>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500" b="1">
                <a:solidFill>
                  <a:srgbClr val="FFFFFF"/>
                </a:solidFill>
                <a:latin typeface="Malgun Gothic"/>
              </a:rPr>
              <a:t>state</a:t>
            </a:r>
          </a:p>
          <a:p>
            <a:pPr algn="ctr"/>
            <a:r>
              <a:rPr sz="1500" b="1">
                <a:solidFill>
                  <a:srgbClr val="FFFFFF"/>
                </a:solidFill>
                <a:latin typeface="Malgun Gothic"/>
              </a:rPr>
              <a:t>문자열 · JSON · 배열</a:t>
            </a:r>
          </a:p>
        </p:txBody>
      </p:sp>
      <p:cxnSp>
        <p:nvCxnSpPr>
          <p:cNvPr id="8" name="Connector 7"/>
          <p:cNvCxnSpPr/>
          <p:nvPr/>
        </p:nvCxnSpPr>
        <p:spPr>
          <a:xfrm>
            <a:off x="3063240" y="1920240"/>
            <a:ext cx="685799" cy="0"/>
          </a:xfrm>
          <a:prstGeom prst="line">
            <a:avLst/>
          </a:prstGeom>
          <a:ln w="3175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94760" y="1554480"/>
            <a:ext cx="2743200" cy="731520"/>
          </a:xfrm>
          <a:prstGeom prst="roundRect">
            <a:avLst>
              <a:gd name="adj" fmla="val 8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Malgun Gothic"/>
              </a:rPr>
              <a:t>questions</a:t>
            </a:r>
          </a:p>
          <a:p>
            <a:pPr algn="ctr"/>
            <a:r>
              <a:rPr sz="1400" b="1">
                <a:solidFill>
                  <a:srgbClr val="FFFFFF"/>
                </a:solidFill>
                <a:latin typeface="Malgun Gothic"/>
              </a:rPr>
              <a:t>이름 → {type, instructions, criteria}</a:t>
            </a:r>
          </a:p>
        </p:txBody>
      </p:sp>
      <p:cxnSp>
        <p:nvCxnSpPr>
          <p:cNvPr id="10" name="Connector 9"/>
          <p:cNvCxnSpPr/>
          <p:nvPr/>
        </p:nvCxnSpPr>
        <p:spPr>
          <a:xfrm>
            <a:off x="6583680" y="1920240"/>
            <a:ext cx="685800" cy="0"/>
          </a:xfrm>
          <a:prstGeom prst="line">
            <a:avLst/>
          </a:prstGeom>
          <a:ln w="3175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0" y="1554480"/>
            <a:ext cx="4206240" cy="7315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500" b="1">
                <a:solidFill>
                  <a:srgbClr val="FFFFFF"/>
                </a:solidFill>
                <a:latin typeface="Malgun Gothic"/>
              </a:rPr>
              <a:t>answers</a:t>
            </a:r>
          </a:p>
          <a:p>
            <a:pPr algn="ctr"/>
            <a:r>
              <a:rPr sz="1500" b="1">
                <a:solidFill>
                  <a:srgbClr val="FFFFFF"/>
                </a:solidFill>
                <a:latin typeface="Malgun Gothic"/>
              </a:rPr>
              <a:t>이름별 probabilities · confidence</a:t>
            </a:r>
          </a:p>
        </p:txBody>
      </p:sp>
      <p:sp>
        <p:nvSpPr>
          <p:cNvPr id="12" name="Rounded Rectangle 11"/>
          <p:cNvSpPr/>
          <p:nvPr/>
        </p:nvSpPr>
        <p:spPr>
          <a:xfrm>
            <a:off x="640080" y="2743200"/>
            <a:ext cx="3566160" cy="32918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834640"/>
            <a:ext cx="3200400" cy="457200"/>
          </a:xfrm>
          <a:prstGeom prst="rect">
            <a:avLst/>
          </a:prstGeom>
          <a:noFill/>
        </p:spPr>
        <p:txBody>
          <a:bodyPr wrap="square" anchor="t" lIns="45720" rIns="45720" tIns="27432" bIns="27432">
            <a:spAutoFit/>
          </a:bodyPr>
          <a:lstStyle/>
          <a:p>
            <a:pPr algn="l">
              <a:lnSpc>
                <a:spcPct val="110000"/>
              </a:lnSpc>
            </a:pPr>
            <a:r>
              <a:rPr sz="2400" b="1">
                <a:solidFill>
                  <a:srgbClr val="1F4E79"/>
                </a:solidFill>
                <a:latin typeface="Malgun Gothic"/>
              </a:rPr>
              <a:t>noul</a:t>
            </a:r>
          </a:p>
        </p:txBody>
      </p:sp>
      <p:sp>
        <p:nvSpPr>
          <p:cNvPr id="14" name="TextBox 13"/>
          <p:cNvSpPr txBox="1"/>
          <p:nvPr/>
        </p:nvSpPr>
        <p:spPr>
          <a:xfrm>
            <a:off x="822959" y="3337560"/>
            <a:ext cx="3200400" cy="365760"/>
          </a:xfrm>
          <a:prstGeom prst="rect">
            <a:avLst/>
          </a:prstGeom>
          <a:noFill/>
        </p:spPr>
        <p:txBody>
          <a:bodyPr wrap="square" anchor="t" lIns="45720" rIns="45720" tIns="27432" bIns="27432">
            <a:spAutoFit/>
          </a:bodyPr>
          <a:lstStyle/>
          <a:p>
            <a:pPr algn="l">
              <a:lnSpc>
                <a:spcPct val="110000"/>
              </a:lnSpc>
            </a:pPr>
            <a:r>
              <a:rPr sz="1500" b="1">
                <a:solidFill>
                  <a:srgbClr val="E8A33D"/>
                </a:solidFill>
                <a:latin typeface="Malgun Gothic"/>
              </a:rPr>
              <a:t>참 / 거짓</a:t>
            </a:r>
          </a:p>
        </p:txBody>
      </p:sp>
      <p:sp>
        <p:nvSpPr>
          <p:cNvPr id="15" name="TextBox 14"/>
          <p:cNvSpPr txBox="1"/>
          <p:nvPr/>
        </p:nvSpPr>
        <p:spPr>
          <a:xfrm>
            <a:off x="822959" y="384048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넣는 것</a:t>
            </a:r>
          </a:p>
        </p:txBody>
      </p:sp>
      <p:sp>
        <p:nvSpPr>
          <p:cNvPr id="16" name="TextBox 15"/>
          <p:cNvSpPr txBox="1"/>
          <p:nvPr/>
        </p:nvSpPr>
        <p:spPr>
          <a:xfrm>
            <a:off x="822959" y="411480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criteria: true·false 설명(선택)</a:t>
            </a:r>
          </a:p>
        </p:txBody>
      </p:sp>
      <p:sp>
        <p:nvSpPr>
          <p:cNvPr id="17" name="TextBox 16"/>
          <p:cNvSpPr txBox="1"/>
          <p:nvPr/>
        </p:nvSpPr>
        <p:spPr>
          <a:xfrm>
            <a:off x="822959" y="493776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돌려받는 것</a:t>
            </a:r>
          </a:p>
        </p:txBody>
      </p:sp>
      <p:sp>
        <p:nvSpPr>
          <p:cNvPr id="18" name="TextBox 17"/>
          <p:cNvSpPr txBox="1"/>
          <p:nvPr/>
        </p:nvSpPr>
        <p:spPr>
          <a:xfrm>
            <a:off x="822959" y="521208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P(true) 하나</a:t>
            </a:r>
          </a:p>
          <a:p>
            <a:pPr algn="l">
              <a:lnSpc>
                <a:spcPct val="110000"/>
              </a:lnSpc>
            </a:pPr>
            <a:r>
              <a:rPr sz="1300" b="0">
                <a:solidFill>
                  <a:srgbClr val="1B1F24"/>
                </a:solidFill>
                <a:latin typeface="Malgun Gothic"/>
              </a:rPr>
              <a:t>별도 confidence 없음</a:t>
            </a:r>
          </a:p>
        </p:txBody>
      </p:sp>
      <p:sp>
        <p:nvSpPr>
          <p:cNvPr id="19" name="Rounded Rectangle 18"/>
          <p:cNvSpPr/>
          <p:nvPr/>
        </p:nvSpPr>
        <p:spPr>
          <a:xfrm>
            <a:off x="4389120" y="2743200"/>
            <a:ext cx="3566160" cy="32918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2834640"/>
            <a:ext cx="3200400" cy="457200"/>
          </a:xfrm>
          <a:prstGeom prst="rect">
            <a:avLst/>
          </a:prstGeom>
          <a:noFill/>
        </p:spPr>
        <p:txBody>
          <a:bodyPr wrap="square" anchor="t" lIns="45720" rIns="45720" tIns="27432" bIns="27432">
            <a:spAutoFit/>
          </a:bodyPr>
          <a:lstStyle/>
          <a:p>
            <a:pPr algn="l">
              <a:lnSpc>
                <a:spcPct val="110000"/>
              </a:lnSpc>
            </a:pPr>
            <a:r>
              <a:rPr sz="2400" b="1">
                <a:solidFill>
                  <a:srgbClr val="1F4E79"/>
                </a:solidFill>
                <a:latin typeface="Malgun Gothic"/>
              </a:rPr>
              <a:t>choice</a:t>
            </a:r>
          </a:p>
        </p:txBody>
      </p:sp>
      <p:sp>
        <p:nvSpPr>
          <p:cNvPr id="21" name="TextBox 20"/>
          <p:cNvSpPr txBox="1"/>
          <p:nvPr/>
        </p:nvSpPr>
        <p:spPr>
          <a:xfrm>
            <a:off x="4572000" y="3337560"/>
            <a:ext cx="3200400" cy="365760"/>
          </a:xfrm>
          <a:prstGeom prst="rect">
            <a:avLst/>
          </a:prstGeom>
          <a:noFill/>
        </p:spPr>
        <p:txBody>
          <a:bodyPr wrap="square" anchor="t" lIns="45720" rIns="45720" tIns="27432" bIns="27432">
            <a:spAutoFit/>
          </a:bodyPr>
          <a:lstStyle/>
          <a:p>
            <a:pPr algn="l">
              <a:lnSpc>
                <a:spcPct val="110000"/>
              </a:lnSpc>
            </a:pPr>
            <a:r>
              <a:rPr sz="1500" b="1">
                <a:solidFill>
                  <a:srgbClr val="E8A33D"/>
                </a:solidFill>
                <a:latin typeface="Malgun Gothic"/>
              </a:rPr>
              <a:t>후보 중 하나</a:t>
            </a:r>
          </a:p>
        </p:txBody>
      </p:sp>
      <p:sp>
        <p:nvSpPr>
          <p:cNvPr id="22" name="TextBox 21"/>
          <p:cNvSpPr txBox="1"/>
          <p:nvPr/>
        </p:nvSpPr>
        <p:spPr>
          <a:xfrm>
            <a:off x="4572000" y="384048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넣는 것</a:t>
            </a:r>
          </a:p>
        </p:txBody>
      </p:sp>
      <p:sp>
        <p:nvSpPr>
          <p:cNvPr id="23" name="TextBox 22"/>
          <p:cNvSpPr txBox="1"/>
          <p:nvPr/>
        </p:nvSpPr>
        <p:spPr>
          <a:xfrm>
            <a:off x="4572000" y="411480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criteria: 라벨 → 설명 맵</a:t>
            </a:r>
          </a:p>
          <a:p>
            <a:pPr algn="l">
              <a:lnSpc>
                <a:spcPct val="110000"/>
              </a:lnSpc>
            </a:pPr>
            <a:r>
              <a:rPr sz="1300" b="0">
                <a:solidFill>
                  <a:srgbClr val="1B1F24"/>
                </a:solidFill>
                <a:latin typeface="Malgun Gothic"/>
              </a:rPr>
              <a:t>최대 255개</a:t>
            </a:r>
          </a:p>
        </p:txBody>
      </p:sp>
      <p:sp>
        <p:nvSpPr>
          <p:cNvPr id="24" name="TextBox 23"/>
          <p:cNvSpPr txBox="1"/>
          <p:nvPr/>
        </p:nvSpPr>
        <p:spPr>
          <a:xfrm>
            <a:off x="4572000" y="493776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돌려받는 것</a:t>
            </a:r>
          </a:p>
        </p:txBody>
      </p:sp>
      <p:sp>
        <p:nvSpPr>
          <p:cNvPr id="25" name="TextBox 24"/>
          <p:cNvSpPr txBox="1"/>
          <p:nvPr/>
        </p:nvSpPr>
        <p:spPr>
          <a:xfrm>
            <a:off x="4572000" y="521208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choice · probabilities</a:t>
            </a:r>
          </a:p>
          <a:p>
            <a:pPr algn="l">
              <a:lnSpc>
                <a:spcPct val="110000"/>
              </a:lnSpc>
            </a:pPr>
            <a:r>
              <a:rPr sz="1300" b="0">
                <a:solidFill>
                  <a:srgbClr val="1B1F24"/>
                </a:solidFill>
                <a:latin typeface="Malgun Gothic"/>
              </a:rPr>
              <a:t>confidence</a:t>
            </a:r>
          </a:p>
        </p:txBody>
      </p:sp>
      <p:sp>
        <p:nvSpPr>
          <p:cNvPr id="26" name="Rounded Rectangle 25"/>
          <p:cNvSpPr/>
          <p:nvPr/>
        </p:nvSpPr>
        <p:spPr>
          <a:xfrm>
            <a:off x="8138159" y="2743200"/>
            <a:ext cx="3566160" cy="32918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39" y="2834640"/>
            <a:ext cx="3200400" cy="457200"/>
          </a:xfrm>
          <a:prstGeom prst="rect">
            <a:avLst/>
          </a:prstGeom>
          <a:noFill/>
        </p:spPr>
        <p:txBody>
          <a:bodyPr wrap="square" anchor="t" lIns="45720" rIns="45720" tIns="27432" bIns="27432">
            <a:spAutoFit/>
          </a:bodyPr>
          <a:lstStyle/>
          <a:p>
            <a:pPr algn="l">
              <a:lnSpc>
                <a:spcPct val="110000"/>
              </a:lnSpc>
            </a:pPr>
            <a:r>
              <a:rPr sz="2400" b="1">
                <a:solidFill>
                  <a:srgbClr val="1F4E79"/>
                </a:solidFill>
                <a:latin typeface="Malgun Gothic"/>
              </a:rPr>
              <a:t>score</a:t>
            </a:r>
          </a:p>
        </p:txBody>
      </p:sp>
      <p:sp>
        <p:nvSpPr>
          <p:cNvPr id="28" name="TextBox 27"/>
          <p:cNvSpPr txBox="1"/>
          <p:nvPr/>
        </p:nvSpPr>
        <p:spPr>
          <a:xfrm>
            <a:off x="8321039" y="3337560"/>
            <a:ext cx="3200400" cy="365760"/>
          </a:xfrm>
          <a:prstGeom prst="rect">
            <a:avLst/>
          </a:prstGeom>
          <a:noFill/>
        </p:spPr>
        <p:txBody>
          <a:bodyPr wrap="square" anchor="t" lIns="45720" rIns="45720" tIns="27432" bIns="27432">
            <a:spAutoFit/>
          </a:bodyPr>
          <a:lstStyle/>
          <a:p>
            <a:pPr algn="l">
              <a:lnSpc>
                <a:spcPct val="110000"/>
              </a:lnSpc>
            </a:pPr>
            <a:r>
              <a:rPr sz="1500" b="1">
                <a:solidFill>
                  <a:srgbClr val="E8A33D"/>
                </a:solidFill>
                <a:latin typeface="Malgun Gothic"/>
              </a:rPr>
              <a:t>순서 있는 척도</a:t>
            </a:r>
          </a:p>
        </p:txBody>
      </p:sp>
      <p:sp>
        <p:nvSpPr>
          <p:cNvPr id="29" name="TextBox 28"/>
          <p:cNvSpPr txBox="1"/>
          <p:nvPr/>
        </p:nvSpPr>
        <p:spPr>
          <a:xfrm>
            <a:off x="8321039" y="384048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넣는 것</a:t>
            </a:r>
          </a:p>
        </p:txBody>
      </p:sp>
      <p:sp>
        <p:nvSpPr>
          <p:cNvPr id="30" name="TextBox 29"/>
          <p:cNvSpPr txBox="1"/>
          <p:nvPr/>
        </p:nvSpPr>
        <p:spPr>
          <a:xfrm>
            <a:off x="8321039" y="411480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criteria: 레벨 설명 배열</a:t>
            </a:r>
          </a:p>
          <a:p>
            <a:pPr algn="l">
              <a:lnSpc>
                <a:spcPct val="110000"/>
              </a:lnSpc>
            </a:pPr>
            <a:r>
              <a:rPr sz="1300" b="0">
                <a:solidFill>
                  <a:srgbClr val="1B1F24"/>
                </a:solidFill>
                <a:latin typeface="Malgun Gothic"/>
              </a:rPr>
              <a:t>최대 10단계</a:t>
            </a:r>
          </a:p>
        </p:txBody>
      </p:sp>
      <p:sp>
        <p:nvSpPr>
          <p:cNvPr id="31" name="TextBox 30"/>
          <p:cNvSpPr txBox="1"/>
          <p:nvPr/>
        </p:nvSpPr>
        <p:spPr>
          <a:xfrm>
            <a:off x="8321039" y="4937760"/>
            <a:ext cx="32004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돌려받는 것</a:t>
            </a:r>
          </a:p>
        </p:txBody>
      </p:sp>
      <p:sp>
        <p:nvSpPr>
          <p:cNvPr id="32" name="TextBox 31"/>
          <p:cNvSpPr txBox="1"/>
          <p:nvPr/>
        </p:nvSpPr>
        <p:spPr>
          <a:xfrm>
            <a:off x="8321039" y="5212080"/>
            <a:ext cx="3200400" cy="73152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score(기댓값) · legend</a:t>
            </a:r>
          </a:p>
          <a:p>
            <a:pPr algn="l">
              <a:lnSpc>
                <a:spcPct val="110000"/>
              </a:lnSpc>
            </a:pPr>
            <a:r>
              <a:rPr sz="1300" b="0">
                <a:solidFill>
                  <a:srgbClr val="1B1F24"/>
                </a:solidFill>
                <a:latin typeface="Malgun Gothic"/>
              </a:rPr>
              <a:t>probabilities · confidence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Jev — 요청과 응답</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POST https://api.typesafe.ai/v1/systemone · Bearer 키</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8</a:t>
            </a:r>
          </a:p>
        </p:txBody>
      </p:sp>
      <p:sp>
        <p:nvSpPr>
          <p:cNvPr id="7" name="Rounded Rectangle 6"/>
          <p:cNvSpPr/>
          <p:nvPr/>
        </p:nvSpPr>
        <p:spPr>
          <a:xfrm>
            <a:off x="640080" y="1463040"/>
            <a:ext cx="5486400" cy="475488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517904"/>
            <a:ext cx="5303520" cy="4663440"/>
          </a:xfrm>
          <a:prstGeom prst="rect">
            <a:avLst/>
          </a:prstGeom>
          <a:noFill/>
        </p:spPr>
        <p:txBody>
          <a:bodyPr wrap="square" anchor="t" lIns="45720" rIns="45720" tIns="27432" bIns="27432">
            <a:spAutoFit/>
          </a:bodyPr>
          <a:lstStyle/>
          <a:p>
            <a:pPr algn="l">
              <a:lnSpc>
                <a:spcPct val="105000"/>
              </a:lnSpc>
            </a:pPr>
            <a:r>
              <a:rPr sz="1100" b="0">
                <a:solidFill>
                  <a:srgbClr val="E6EDF5"/>
                </a:solidFill>
                <a:latin typeface="Consolas"/>
              </a:rPr>
              <a:t>{ "model": "jev-1.13.0",</a:t>
            </a:r>
          </a:p>
          <a:p>
            <a:pPr algn="l">
              <a:lnSpc>
                <a:spcPct val="105000"/>
              </a:lnSpc>
            </a:pPr>
            <a:r>
              <a:rPr sz="1100" b="0">
                <a:solidFill>
                  <a:srgbClr val="E6EDF5"/>
                </a:solidFill>
                <a:latin typeface="Consolas"/>
              </a:rPr>
              <a:t>  "state": { "ticket": "결제가 두 번 됐어요..." },</a:t>
            </a:r>
          </a:p>
          <a:p>
            <a:pPr algn="l">
              <a:lnSpc>
                <a:spcPct val="105000"/>
              </a:lnSpc>
            </a:pPr>
            <a:r>
              <a:rPr sz="1100" b="0">
                <a:solidFill>
                  <a:srgbClr val="E6EDF5"/>
                </a:solidFill>
                <a:latin typeface="Consolas"/>
              </a:rPr>
              <a:t>  "questions": {</a:t>
            </a:r>
          </a:p>
          <a:p>
            <a:pPr algn="l">
              <a:lnSpc>
                <a:spcPct val="105000"/>
              </a:lnSpc>
            </a:pPr>
            <a:r>
              <a:rPr sz="1100" b="0">
                <a:solidFill>
                  <a:srgbClr val="E6EDF5"/>
                </a:solidFill>
                <a:latin typeface="Consolas"/>
              </a:rPr>
              <a:t>    "team": { "type": "choice",</a:t>
            </a:r>
          </a:p>
          <a:p>
            <a:pPr algn="l">
              <a:lnSpc>
                <a:spcPct val="105000"/>
              </a:lnSpc>
            </a:pPr>
            <a:r>
              <a:rPr sz="1100" b="0">
                <a:solidFill>
                  <a:srgbClr val="E6EDF5"/>
                </a:solidFill>
                <a:latin typeface="Consolas"/>
              </a:rPr>
              <a:t>      "instructions": "처리할 팀은?",</a:t>
            </a:r>
          </a:p>
          <a:p>
            <a:pPr algn="l">
              <a:lnSpc>
                <a:spcPct val="105000"/>
              </a:lnSpc>
            </a:pPr>
            <a:r>
              <a:rPr sz="1100" b="0">
                <a:solidFill>
                  <a:srgbClr val="E6EDF5"/>
                </a:solidFill>
                <a:latin typeface="Consolas"/>
              </a:rPr>
              <a:t>      "criteria": {</a:t>
            </a:r>
          </a:p>
          <a:p>
            <a:pPr algn="l">
              <a:lnSpc>
                <a:spcPct val="105000"/>
              </a:lnSpc>
            </a:pPr>
            <a:r>
              <a:rPr sz="1100" b="0">
                <a:solidFill>
                  <a:srgbClr val="E6EDF5"/>
                </a:solidFill>
                <a:latin typeface="Consolas"/>
              </a:rPr>
              <a:t>        "billing": "결제, 환불",</a:t>
            </a:r>
          </a:p>
          <a:p>
            <a:pPr algn="l">
              <a:lnSpc>
                <a:spcPct val="105000"/>
              </a:lnSpc>
            </a:pPr>
            <a:r>
              <a:rPr sz="1100" b="0">
                <a:solidFill>
                  <a:srgbClr val="E6EDF5"/>
                </a:solidFill>
                <a:latin typeface="Consolas"/>
              </a:rPr>
              <a:t>        "technical": "앱 오류",</a:t>
            </a:r>
          </a:p>
          <a:p>
            <a:pPr algn="l">
              <a:lnSpc>
                <a:spcPct val="105000"/>
              </a:lnSpc>
            </a:pPr>
            <a:r>
              <a:rPr sz="1100" b="0">
                <a:solidFill>
                  <a:srgbClr val="E6EDF5"/>
                </a:solidFill>
                <a:latin typeface="Consolas"/>
              </a:rPr>
              <a:t>        "fraud": "무단 사용" } },</a:t>
            </a:r>
          </a:p>
          <a:p>
            <a:pPr algn="l">
              <a:lnSpc>
                <a:spcPct val="105000"/>
              </a:lnSpc>
            </a:pPr>
            <a:r>
              <a:rPr sz="1100" b="0">
                <a:solidFill>
                  <a:srgbClr val="E6EDF5"/>
                </a:solidFill>
                <a:latin typeface="Consolas"/>
              </a:rPr>
              <a:t>    "urgency": { "type": "score",</a:t>
            </a:r>
          </a:p>
          <a:p>
            <a:pPr algn="l">
              <a:lnSpc>
                <a:spcPct val="105000"/>
              </a:lnSpc>
            </a:pPr>
            <a:r>
              <a:rPr sz="1100" b="0">
                <a:solidFill>
                  <a:srgbClr val="E6EDF5"/>
                </a:solidFill>
                <a:latin typeface="Consolas"/>
              </a:rPr>
              <a:t>      "instructions": "얼마나 급한가?",</a:t>
            </a:r>
          </a:p>
          <a:p>
            <a:pPr algn="l">
              <a:lnSpc>
                <a:spcPct val="105000"/>
              </a:lnSpc>
            </a:pPr>
            <a:r>
              <a:rPr sz="1100" b="0">
                <a:solidFill>
                  <a:srgbClr val="E6EDF5"/>
                </a:solidFill>
                <a:latin typeface="Consolas"/>
              </a:rPr>
              <a:t>      "criteria": ["기다려도 됨",</a:t>
            </a:r>
          </a:p>
          <a:p>
            <a:pPr algn="l">
              <a:lnSpc>
                <a:spcPct val="105000"/>
              </a:lnSpc>
            </a:pPr>
            <a:r>
              <a:rPr sz="1100" b="0">
                <a:solidFill>
                  <a:srgbClr val="E6EDF5"/>
                </a:solidFill>
                <a:latin typeface="Consolas"/>
              </a:rPr>
              <a:t>        "오늘 안에", "지금 막혀 있음"] },</a:t>
            </a:r>
          </a:p>
          <a:p>
            <a:pPr algn="l">
              <a:lnSpc>
                <a:spcPct val="105000"/>
              </a:lnSpc>
            </a:pPr>
            <a:r>
              <a:rPr sz="1100" b="0">
                <a:solidFill>
                  <a:srgbClr val="E6EDF5"/>
                </a:solidFill>
                <a:latin typeface="Consolas"/>
              </a:rPr>
              <a:t>    "refund": { "type": "noul",</a:t>
            </a:r>
          </a:p>
          <a:p>
            <a:pPr algn="l">
              <a:lnSpc>
                <a:spcPct val="105000"/>
              </a:lnSpc>
            </a:pPr>
            <a:r>
              <a:rPr sz="1100" b="0">
                <a:solidFill>
                  <a:srgbClr val="E6EDF5"/>
                </a:solidFill>
                <a:latin typeface="Consolas"/>
              </a:rPr>
              <a:t>      "instructions": "환불 요청인가?" }</a:t>
            </a:r>
          </a:p>
          <a:p>
            <a:pPr algn="l">
              <a:lnSpc>
                <a:spcPct val="105000"/>
              </a:lnSpc>
            </a:pPr>
            <a:r>
              <a:rPr sz="1100" b="0">
                <a:solidFill>
                  <a:srgbClr val="E6EDF5"/>
                </a:solidFill>
                <a:latin typeface="Consolas"/>
              </a:rPr>
              <a:t>  } }</a:t>
            </a:r>
          </a:p>
        </p:txBody>
      </p:sp>
      <p:sp>
        <p:nvSpPr>
          <p:cNvPr id="9" name="Rounded Rectangle 8"/>
          <p:cNvSpPr/>
          <p:nvPr/>
        </p:nvSpPr>
        <p:spPr>
          <a:xfrm>
            <a:off x="6309360" y="1463040"/>
            <a:ext cx="5303520" cy="32461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17904"/>
            <a:ext cx="5120640" cy="3154679"/>
          </a:xfrm>
          <a:prstGeom prst="rect">
            <a:avLst/>
          </a:prstGeom>
          <a:noFill/>
        </p:spPr>
        <p:txBody>
          <a:bodyPr wrap="square" anchor="t" lIns="45720" rIns="45720" tIns="27432" bIns="27432">
            <a:spAutoFit/>
          </a:bodyPr>
          <a:lstStyle/>
          <a:p>
            <a:pPr algn="l">
              <a:lnSpc>
                <a:spcPct val="105000"/>
              </a:lnSpc>
            </a:pPr>
            <a:r>
              <a:rPr sz="1100" b="0">
                <a:solidFill>
                  <a:srgbClr val="E6EDF5"/>
                </a:solidFill>
                <a:latin typeface="Consolas"/>
              </a:rPr>
              <a:t>{ "model": "jev-1.13.0",</a:t>
            </a:r>
          </a:p>
          <a:p>
            <a:pPr algn="l">
              <a:lnSpc>
                <a:spcPct val="105000"/>
              </a:lnSpc>
            </a:pPr>
            <a:r>
              <a:rPr sz="1100" b="0">
                <a:solidFill>
                  <a:srgbClr val="E6EDF5"/>
                </a:solidFill>
                <a:latin typeface="Consolas"/>
              </a:rPr>
              <a:t>  "answers": {</a:t>
            </a:r>
          </a:p>
          <a:p>
            <a:pPr algn="l">
              <a:lnSpc>
                <a:spcPct val="105000"/>
              </a:lnSpc>
            </a:pPr>
            <a:r>
              <a:rPr sz="1100" b="0">
                <a:solidFill>
                  <a:srgbClr val="E6EDF5"/>
                </a:solidFill>
                <a:latin typeface="Consolas"/>
              </a:rPr>
              <a:t>    "team": { "type": "choice",</a:t>
            </a:r>
          </a:p>
          <a:p>
            <a:pPr algn="l">
              <a:lnSpc>
                <a:spcPct val="105000"/>
              </a:lnSpc>
            </a:pPr>
            <a:r>
              <a:rPr sz="1100" b="0">
                <a:solidFill>
                  <a:srgbClr val="E6EDF5"/>
                </a:solidFill>
                <a:latin typeface="Consolas"/>
              </a:rPr>
              <a:t>      "choice": "billing", "confidence": 0.895,</a:t>
            </a:r>
          </a:p>
          <a:p>
            <a:pPr algn="l">
              <a:lnSpc>
                <a:spcPct val="105000"/>
              </a:lnSpc>
            </a:pPr>
            <a:r>
              <a:rPr sz="1100" b="0">
                <a:solidFill>
                  <a:srgbClr val="E6EDF5"/>
                </a:solidFill>
                <a:latin typeface="Consolas"/>
              </a:rPr>
              <a:t>      "probabilities": {</a:t>
            </a:r>
          </a:p>
          <a:p>
            <a:pPr algn="l">
              <a:lnSpc>
                <a:spcPct val="105000"/>
              </a:lnSpc>
            </a:pPr>
            <a:r>
              <a:rPr sz="1100" b="0">
                <a:solidFill>
                  <a:srgbClr val="E6EDF5"/>
                </a:solidFill>
                <a:latin typeface="Consolas"/>
              </a:rPr>
              <a:t>        "billing": 0.93, "technical": 0.04,</a:t>
            </a:r>
          </a:p>
          <a:p>
            <a:pPr algn="l">
              <a:lnSpc>
                <a:spcPct val="105000"/>
              </a:lnSpc>
            </a:pPr>
            <a:r>
              <a:rPr sz="1100" b="0">
                <a:solidFill>
                  <a:srgbClr val="E6EDF5"/>
                </a:solidFill>
                <a:latin typeface="Consolas"/>
              </a:rPr>
              <a:t>        "fraud": 0.03 } },</a:t>
            </a:r>
          </a:p>
          <a:p>
            <a:pPr algn="l">
              <a:lnSpc>
                <a:spcPct val="105000"/>
              </a:lnSpc>
            </a:pPr>
            <a:r>
              <a:rPr sz="1100" b="0">
                <a:solidFill>
                  <a:srgbClr val="E6EDF5"/>
                </a:solidFill>
                <a:latin typeface="Consolas"/>
              </a:rPr>
              <a:t>    "urgency": { "type": "score",</a:t>
            </a:r>
          </a:p>
          <a:p>
            <a:pPr algn="l">
              <a:lnSpc>
                <a:spcPct val="105000"/>
              </a:lnSpc>
            </a:pPr>
            <a:r>
              <a:rPr sz="1100" b="0">
                <a:solidFill>
                  <a:srgbClr val="E6EDF5"/>
                </a:solidFill>
                <a:latin typeface="Consolas"/>
              </a:rPr>
              <a:t>      "score": 1.65, "confidence": 0.475,</a:t>
            </a:r>
          </a:p>
          <a:p>
            <a:pPr algn="l">
              <a:lnSpc>
                <a:spcPct val="105000"/>
              </a:lnSpc>
            </a:pPr>
            <a:r>
              <a:rPr sz="1100" b="0">
                <a:solidFill>
                  <a:srgbClr val="E6EDF5"/>
                </a:solidFill>
                <a:latin typeface="Consolas"/>
              </a:rPr>
              <a:t>      "probabilities": {"0":0.05,"1":0.25,"2":0.70} },</a:t>
            </a:r>
          </a:p>
          <a:p>
            <a:pPr algn="l">
              <a:lnSpc>
                <a:spcPct val="105000"/>
              </a:lnSpc>
            </a:pPr>
            <a:r>
              <a:rPr sz="1100" b="0">
                <a:solidFill>
                  <a:srgbClr val="E6EDF5"/>
                </a:solidFill>
                <a:latin typeface="Consolas"/>
              </a:rPr>
              <a:t>    "refund": { "type": "noul", "noul": 0.97 }</a:t>
            </a:r>
          </a:p>
          <a:p>
            <a:pPr algn="l">
              <a:lnSpc>
                <a:spcPct val="105000"/>
              </a:lnSpc>
            </a:pPr>
            <a:r>
              <a:rPr sz="1100" b="0">
                <a:solidFill>
                  <a:srgbClr val="E6EDF5"/>
                </a:solidFill>
                <a:latin typeface="Consolas"/>
              </a:rPr>
              <a:t>  } }</a:t>
            </a:r>
          </a:p>
        </p:txBody>
      </p:sp>
      <p:sp>
        <p:nvSpPr>
          <p:cNvPr id="11" name="Rounded Rectangle 10"/>
          <p:cNvSpPr/>
          <p:nvPr/>
        </p:nvSpPr>
        <p:spPr>
          <a:xfrm>
            <a:off x="6309360" y="4846320"/>
            <a:ext cx="5303520" cy="1371600"/>
          </a:xfrm>
          <a:prstGeom prst="roundRect">
            <a:avLst>
              <a:gd name="adj" fmla="val 8000"/>
            </a:avLst>
          </a:prstGeom>
          <a:solidFill>
            <a:srgbClr val="F5F8FC"/>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4919472"/>
            <a:ext cx="5084064" cy="457200"/>
          </a:xfrm>
          <a:prstGeom prst="rect">
            <a:avLst/>
          </a:prstGeom>
          <a:noFill/>
        </p:spPr>
        <p:txBody>
          <a:bodyPr wrap="square" anchor="t" lIns="45720" rIns="45720" tIns="27432" bIns="27432">
            <a:spAutoFit/>
          </a:bodyPr>
          <a:lstStyle/>
          <a:p>
            <a:pPr algn="l">
              <a:lnSpc>
                <a:spcPct val="110000"/>
              </a:lnSpc>
            </a:pPr>
            <a:r>
              <a:rPr sz="1400" b="1">
                <a:solidFill>
                  <a:srgbClr val="1F4E79"/>
                </a:solidFill>
                <a:latin typeface="Malgun Gothic"/>
              </a:rPr>
              <a:t>예시는 스키마에 맞춰 직접 구성한 값</a:t>
            </a:r>
          </a:p>
        </p:txBody>
      </p:sp>
      <p:sp>
        <p:nvSpPr>
          <p:cNvPr id="13" name="TextBox 12"/>
          <p:cNvSpPr txBox="1"/>
          <p:nvPr/>
        </p:nvSpPr>
        <p:spPr>
          <a:xfrm>
            <a:off x="6419088" y="5376672"/>
            <a:ext cx="5084064" cy="777240"/>
          </a:xfrm>
          <a:prstGeom prst="rect">
            <a:avLst/>
          </a:prstGeom>
          <a:noFill/>
        </p:spPr>
        <p:txBody>
          <a:bodyPr wrap="square" anchor="t" lIns="45720" rIns="45720" tIns="27432" bIns="27432">
            <a:spAutoFit/>
          </a:bodyPr>
          <a:lstStyle/>
          <a:p>
            <a:pPr algn="l">
              <a:lnSpc>
                <a:spcPct val="110000"/>
              </a:lnSpc>
            </a:pPr>
            <a:r>
              <a:rPr sz="1200" b="0">
                <a:solidFill>
                  <a:srgbClr val="1B1F24"/>
                </a:solidFill>
                <a:latin typeface="Malgun Gothic"/>
              </a:rPr>
              <a:t>실제 호출 결과 아님
질문 수 상한은 문서에 명시 없음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벤더별 계약 비교</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Jev 계약이 사실상 표준 · OpenAI는 변형</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9</a:t>
            </a:r>
          </a:p>
        </p:txBody>
      </p:sp>
      <p:graphicFrame>
        <p:nvGraphicFramePr>
          <p:cNvPr id="7" name="Table 6"/>
          <p:cNvGraphicFramePr>
            <a:graphicFrameLocks noGrp="1"/>
          </p:cNvGraphicFramePr>
          <p:nvPr/>
        </p:nvGraphicFramePr>
        <p:xfrm>
          <a:off x="548640" y="1463040"/>
          <a:ext cx="11064237" cy="4242816"/>
        </p:xfrm>
        <a:graphic>
          <a:graphicData uri="http://schemas.openxmlformats.org/drawingml/2006/table">
            <a:tbl>
              <a:tblPr firstRow="1" bandRow="1">
                <a:tableStyleId>{5C22544A-7EE6-4342-B048-85BDC9FD1C3A}</a:tableStyleId>
              </a:tblPr>
              <a:tblGrid>
                <a:gridCol w="1565694"/>
                <a:gridCol w="1774453"/>
                <a:gridCol w="2191972"/>
                <a:gridCol w="1774453"/>
                <a:gridCol w="1983212"/>
                <a:gridCol w="1774453"/>
              </a:tblGrid>
              <a:tr h="530352">
                <a:tc>
                  <a:txBody>
                    <a:bodyPr wrap="square"/>
                    <a:lstStyle/>
                    <a:p>
                      <a:r>
                        <a:rPr sz="1200" b="1">
                          <a:solidFill>
                            <a:srgbClr val="FFFFFF"/>
                          </a:solidFill>
                          <a:latin typeface="Malgun Gothic"/>
                        </a:rPr>
                        <a:t/>
                      </a:r>
                    </a:p>
                  </a:txBody>
                  <a:tcPr marL="54864" marR="54864" marT="27432" marB="27432" anchor="ctr">
                    <a:solidFill>
                      <a:srgbClr val="1F4E79"/>
                    </a:solidFill>
                  </a:tcPr>
                </a:tc>
                <a:tc>
                  <a:txBody>
                    <a:bodyPr wrap="square"/>
                    <a:lstStyle/>
                    <a:p>
                      <a:r>
                        <a:rPr sz="1200" b="1">
                          <a:solidFill>
                            <a:srgbClr val="FFFFFF"/>
                          </a:solidFill>
                          <a:latin typeface="Malgun Gothic"/>
                        </a:rPr>
                        <a:t>Jev</a:t>
                      </a:r>
                    </a:p>
                  </a:txBody>
                  <a:tcPr marL="54864" marR="54864" marT="27432" marB="27432" anchor="ctr">
                    <a:solidFill>
                      <a:srgbClr val="1F4E79"/>
                    </a:solidFill>
                  </a:tcPr>
                </a:tc>
                <a:tc>
                  <a:txBody>
                    <a:bodyPr wrap="square"/>
                    <a:lstStyle/>
                    <a:p>
                      <a:r>
                        <a:rPr sz="1200" b="1">
                          <a:solidFill>
                            <a:srgbClr val="FFFFFF"/>
                          </a:solidFill>
                          <a:latin typeface="Malgun Gothic"/>
                        </a:rPr>
                        <a:t>OpenAI Decisions</a:t>
                      </a:r>
                    </a:p>
                  </a:txBody>
                  <a:tcPr marL="54864" marR="54864" marT="27432" marB="27432" anchor="ctr">
                    <a:solidFill>
                      <a:srgbClr val="1F4E79"/>
                    </a:solidFill>
                  </a:tcPr>
                </a:tc>
                <a:tc>
                  <a:txBody>
                    <a:bodyPr wrap="square"/>
                    <a:lstStyle/>
                    <a:p>
                      <a:r>
                        <a:rPr sz="1200" b="1">
                          <a:solidFill>
                            <a:srgbClr val="FFFFFF"/>
                          </a:solidFill>
                          <a:latin typeface="Malgun Gothic"/>
                        </a:rPr>
                        <a:t>Liquid d1</a:t>
                      </a:r>
                    </a:p>
                  </a:txBody>
                  <a:tcPr marL="54864" marR="54864" marT="27432" marB="27432" anchor="ctr">
                    <a:solidFill>
                      <a:srgbClr val="1F4E79"/>
                    </a:solidFill>
                  </a:tcPr>
                </a:tc>
                <a:tc>
                  <a:txBody>
                    <a:bodyPr wrap="square"/>
                    <a:lstStyle/>
                    <a:p>
                      <a:r>
                        <a:rPr sz="1200" b="1">
                          <a:solidFill>
                            <a:srgbClr val="FFFFFF"/>
                          </a:solidFill>
                          <a:latin typeface="Malgun Gothic"/>
                        </a:rPr>
                        <a:t>GLiNER2.5-Decide</a:t>
                      </a:r>
                    </a:p>
                  </a:txBody>
                  <a:tcPr marL="54864" marR="54864" marT="27432" marB="27432" anchor="ctr">
                    <a:solidFill>
                      <a:srgbClr val="1F4E79"/>
                    </a:solidFill>
                  </a:tcPr>
                </a:tc>
                <a:tc>
                  <a:txBody>
                    <a:bodyPr wrap="square"/>
                    <a:lstStyle/>
                    <a:p>
                      <a:r>
                        <a:rPr sz="1200" b="1">
                          <a:solidFill>
                            <a:srgbClr val="FFFFFF"/>
                          </a:solidFill>
                          <a:latin typeface="Malgun Gothic"/>
                        </a:rPr>
                        <a:t>Clairic</a:t>
                      </a:r>
                    </a:p>
                  </a:txBody>
                  <a:tcPr marL="54864" marR="54864" marT="27432" marB="27432" anchor="ctr">
                    <a:solidFill>
                      <a:srgbClr val="1F4E79"/>
                    </a:solidFill>
                  </a:tcPr>
                </a:tc>
              </a:tr>
              <a:tr h="530352">
                <a:tc>
                  <a:txBody>
                    <a:bodyPr wrap="square"/>
                    <a:lstStyle/>
                    <a:p>
                      <a:r>
                        <a:rPr sz="1200" b="1">
                          <a:solidFill>
                            <a:srgbClr val="1B1F24"/>
                          </a:solidFill>
                          <a:latin typeface="Malgun Gothic"/>
                        </a:rPr>
                        <a:t>입력 키</a:t>
                      </a:r>
                    </a:p>
                  </a:txBody>
                  <a:tcPr marL="54864" marR="54864" marT="27432" marB="27432" anchor="ctr">
                    <a:solidFill>
                      <a:srgbClr val="DCE8F5"/>
                    </a:solidFill>
                  </a:tcPr>
                </a:tc>
                <a:tc>
                  <a:txBody>
                    <a:bodyPr wrap="square"/>
                    <a:lstStyle/>
                    <a:p>
                      <a:r>
                        <a:rPr sz="1200">
                          <a:solidFill>
                            <a:srgbClr val="1B1F24"/>
                          </a:solidFill>
                          <a:latin typeface="Malgun Gothic"/>
                        </a:rPr>
                        <a:t>state</a:t>
                      </a:r>
                    </a:p>
                  </a:txBody>
                  <a:tcPr marL="54864" marR="54864" marT="27432" marB="27432" anchor="ctr">
                    <a:solidFill>
                      <a:srgbClr val="DCE8F5"/>
                    </a:solidFill>
                  </a:tcPr>
                </a:tc>
                <a:tc>
                  <a:txBody>
                    <a:bodyPr wrap="square"/>
                    <a:lstStyle/>
                    <a:p>
                      <a:r>
                        <a:rPr sz="1200">
                          <a:solidFill>
                            <a:srgbClr val="1B1F24"/>
                          </a:solidFill>
                          <a:latin typeface="Malgun Gothic"/>
                        </a:rPr>
                        <a:t>input (+메시지 배열)</a:t>
                      </a:r>
                    </a:p>
                  </a:txBody>
                  <a:tcPr marL="54864" marR="54864" marT="27432" marB="27432" anchor="ctr">
                    <a:solidFill>
                      <a:srgbClr val="DCE8F5"/>
                    </a:solidFill>
                  </a:tcPr>
                </a:tc>
                <a:tc>
                  <a:txBody>
                    <a:bodyPr wrap="square"/>
                    <a:lstStyle/>
                    <a:p>
                      <a:r>
                        <a:rPr sz="1200">
                          <a:solidFill>
                            <a:srgbClr val="1B1F24"/>
                          </a:solidFill>
                          <a:latin typeface="Malgun Gothic"/>
                        </a:rPr>
                        <a:t>state + images[]</a:t>
                      </a:r>
                    </a:p>
                  </a:txBody>
                  <a:tcPr marL="54864" marR="54864" marT="27432" marB="27432" anchor="ctr">
                    <a:solidFill>
                      <a:srgbClr val="DCE8F5"/>
                    </a:solidFill>
                  </a:tcPr>
                </a:tc>
                <a:tc>
                  <a:txBody>
                    <a:bodyPr wrap="square"/>
                    <a:lstStyle/>
                    <a:p>
                      <a:r>
                        <a:rPr sz="1200">
                          <a:solidFill>
                            <a:srgbClr val="1B1F24"/>
                          </a:solidFill>
                          <a:latin typeface="Malgun Gothic"/>
                        </a:rPr>
                        <a:t>텍스트 + 라벨</a:t>
                      </a:r>
                    </a:p>
                  </a:txBody>
                  <a:tcPr marL="54864" marR="54864" marT="27432" marB="27432" anchor="ctr">
                    <a:solidFill>
                      <a:srgbClr val="DCE8F5"/>
                    </a:solidFill>
                  </a:tcPr>
                </a:tc>
                <a:tc>
                  <a:txBody>
                    <a:bodyPr wrap="square"/>
                    <a:lstStyle/>
                    <a:p>
                      <a:r>
                        <a:rPr sz="1200">
                          <a:solidFill>
                            <a:srgbClr val="1B1F24"/>
                          </a:solidFill>
                          <a:latin typeface="Malgun Gothic"/>
                        </a:rPr>
                        <a:t>state + images[]</a:t>
                      </a:r>
                    </a:p>
                  </a:txBody>
                  <a:tcPr marL="54864" marR="54864" marT="27432" marB="27432" anchor="ctr">
                    <a:solidFill>
                      <a:srgbClr val="DCE8F5"/>
                    </a:solidFill>
                  </a:tcPr>
                </a:tc>
              </a:tr>
              <a:tr h="530352">
                <a:tc>
                  <a:txBody>
                    <a:bodyPr wrap="square"/>
                    <a:lstStyle/>
                    <a:p>
                      <a:r>
                        <a:rPr sz="1200" b="1">
                          <a:solidFill>
                            <a:srgbClr val="1B1F24"/>
                          </a:solidFill>
                          <a:latin typeface="Malgun Gothic"/>
                        </a:rPr>
                        <a:t>질문 컨테이너</a:t>
                      </a:r>
                    </a:p>
                  </a:txBody>
                  <a:tcPr marL="54864" marR="54864" marT="27432" marB="27432" anchor="ctr">
                    <a:solidFill>
                      <a:srgbClr val="FFFFFF"/>
                    </a:solidFill>
                  </a:tcPr>
                </a:tc>
                <a:tc>
                  <a:txBody>
                    <a:bodyPr wrap="square"/>
                    <a:lstStyle/>
                    <a:p>
                      <a:r>
                        <a:rPr sz="1200">
                          <a:solidFill>
                            <a:srgbClr val="1B1F24"/>
                          </a:solidFill>
                          <a:latin typeface="Malgun Gothic"/>
                        </a:rPr>
                        <a:t>questions 맵</a:t>
                      </a:r>
                    </a:p>
                  </a:txBody>
                  <a:tcPr marL="54864" marR="54864" marT="27432" marB="27432" anchor="ctr">
                    <a:solidFill>
                      <a:srgbClr val="FFFFFF"/>
                    </a:solidFill>
                  </a:tcPr>
                </a:tc>
                <a:tc>
                  <a:txBody>
                    <a:bodyPr wrap="square"/>
                    <a:lstStyle/>
                    <a:p>
                      <a:r>
                        <a:rPr sz="1200">
                          <a:solidFill>
                            <a:srgbClr val="1B1F24"/>
                          </a:solidFill>
                          <a:latin typeface="Malgun Gothic"/>
                        </a:rPr>
                        <a:t>questions 배열(name)</a:t>
                      </a:r>
                    </a:p>
                  </a:txBody>
                  <a:tcPr marL="54864" marR="54864" marT="27432" marB="27432" anchor="ctr">
                    <a:solidFill>
                      <a:srgbClr val="FFFFFF"/>
                    </a:solidFill>
                  </a:tcPr>
                </a:tc>
                <a:tc>
                  <a:txBody>
                    <a:bodyPr wrap="square"/>
                    <a:lstStyle/>
                    <a:p>
                      <a:r>
                        <a:rPr sz="1200">
                          <a:solidFill>
                            <a:srgbClr val="1B1F24"/>
                          </a:solidFill>
                          <a:latin typeface="Malgun Gothic"/>
                        </a:rPr>
                        <a:t>맵</a:t>
                      </a:r>
                    </a:p>
                  </a:txBody>
                  <a:tcPr marL="54864" marR="54864" marT="27432" marB="27432" anchor="ctr">
                    <a:solidFill>
                      <a:srgbClr val="FFFFFF"/>
                    </a:solidFill>
                  </a:tcPr>
                </a:tc>
                <a:tc>
                  <a:txBody>
                    <a:bodyPr wrap="square"/>
                    <a:lstStyle/>
                    <a:p>
                      <a:r>
                        <a:rPr sz="1200">
                          <a:solidFill>
                            <a:srgbClr val="1B1F24"/>
                          </a:solidFill>
                          <a:latin typeface="Malgun Gothic"/>
                        </a:rPr>
                        <a:t>스키마 작업명</a:t>
                      </a:r>
                    </a:p>
                  </a:txBody>
                  <a:tcPr marL="54864" marR="54864" marT="27432" marB="27432" anchor="ctr">
                    <a:solidFill>
                      <a:srgbClr val="FFFFFF"/>
                    </a:solidFill>
                  </a:tcPr>
                </a:tc>
                <a:tc>
                  <a:txBody>
                    <a:bodyPr wrap="square"/>
                    <a:lstStyle/>
                    <a:p>
                      <a:r>
                        <a:rPr sz="1200">
                          <a:solidFill>
                            <a:srgbClr val="1B1F24"/>
                          </a:solidFill>
                          <a:latin typeface="Malgun Gothic"/>
                        </a:rPr>
                        <a:t>fields 맵</a:t>
                      </a:r>
                    </a:p>
                  </a:txBody>
                  <a:tcPr marL="54864" marR="54864" marT="27432" marB="27432" anchor="ctr">
                    <a:solidFill>
                      <a:srgbClr val="FFFFFF"/>
                    </a:solidFill>
                  </a:tcPr>
                </a:tc>
              </a:tr>
              <a:tr h="530352">
                <a:tc>
                  <a:txBody>
                    <a:bodyPr wrap="square"/>
                    <a:lstStyle/>
                    <a:p>
                      <a:r>
                        <a:rPr sz="1200" b="1">
                          <a:solidFill>
                            <a:srgbClr val="1B1F24"/>
                          </a:solidFill>
                          <a:latin typeface="Malgun Gothic"/>
                        </a:rPr>
                        <a:t>참/거짓</a:t>
                      </a:r>
                    </a:p>
                  </a:txBody>
                  <a:tcPr marL="54864" marR="54864" marT="27432" marB="27432" anchor="ctr">
                    <a:solidFill>
                      <a:srgbClr val="DCE8F5"/>
                    </a:solidFill>
                  </a:tcPr>
                </a:tc>
                <a:tc>
                  <a:txBody>
                    <a:bodyPr wrap="square"/>
                    <a:lstStyle/>
                    <a:p>
                      <a:r>
                        <a:rPr sz="1200">
                          <a:solidFill>
                            <a:srgbClr val="1B1F24"/>
                          </a:solidFill>
                          <a:latin typeface="Malgun Gothic"/>
                        </a:rPr>
                        <a:t>noul</a:t>
                      </a:r>
                    </a:p>
                  </a:txBody>
                  <a:tcPr marL="54864" marR="54864" marT="27432" marB="27432" anchor="ctr">
                    <a:solidFill>
                      <a:srgbClr val="DCE8F5"/>
                    </a:solidFill>
                  </a:tcPr>
                </a:tc>
                <a:tc>
                  <a:txBody>
                    <a:bodyPr wrap="square"/>
                    <a:lstStyle/>
                    <a:p>
                      <a:r>
                        <a:rPr sz="1200">
                          <a:solidFill>
                            <a:srgbClr val="1B1F24"/>
                          </a:solidFill>
                          <a:latin typeface="Malgun Gothic"/>
                        </a:rPr>
                        <a:t>predicate</a:t>
                      </a:r>
                    </a:p>
                  </a:txBody>
                  <a:tcPr marL="54864" marR="54864" marT="27432" marB="27432" anchor="ctr">
                    <a:solidFill>
                      <a:srgbClr val="DCE8F5"/>
                    </a:solidFill>
                  </a:tcPr>
                </a:tc>
                <a:tc>
                  <a:txBody>
                    <a:bodyPr wrap="square"/>
                    <a:lstStyle/>
                    <a:p>
                      <a:r>
                        <a:rPr sz="1200">
                          <a:solidFill>
                            <a:srgbClr val="1B1F24"/>
                          </a:solidFill>
                          <a:latin typeface="Malgun Gothic"/>
                        </a:rPr>
                        <a:t>noul</a:t>
                      </a:r>
                    </a:p>
                  </a:txBody>
                  <a:tcPr marL="54864" marR="54864" marT="27432" marB="27432" anchor="ctr">
                    <a:solidFill>
                      <a:srgbClr val="DCE8F5"/>
                    </a:solidFill>
                  </a:tcPr>
                </a:tc>
                <a:tc>
                  <a:txBody>
                    <a:bodyPr wrap="square"/>
                    <a:lstStyle/>
                    <a:p>
                      <a:r>
                        <a:rPr sz="1200">
                          <a:solidFill>
                            <a:srgbClr val="1B1F24"/>
                          </a:solidFill>
                          <a:latin typeface="Malgun Gothic"/>
                        </a:rPr>
                        <a:t>yes/no 라벨</a:t>
                      </a:r>
                    </a:p>
                  </a:txBody>
                  <a:tcPr marL="54864" marR="54864" marT="27432" marB="27432" anchor="ctr">
                    <a:solidFill>
                      <a:srgbClr val="DCE8F5"/>
                    </a:solidFill>
                  </a:tcPr>
                </a:tc>
                <a:tc>
                  <a:txBody>
                    <a:bodyPr wrap="square"/>
                    <a:lstStyle/>
                    <a:p>
                      <a:r>
                        <a:rPr sz="1200">
                          <a:solidFill>
                            <a:srgbClr val="1B1F24"/>
                          </a:solidFill>
                          <a:latin typeface="Malgun Gothic"/>
                        </a:rPr>
                        <a:t>—</a:t>
                      </a:r>
                    </a:p>
                  </a:txBody>
                  <a:tcPr marL="54864" marR="54864" marT="27432" marB="27432" anchor="ctr">
                    <a:solidFill>
                      <a:srgbClr val="DCE8F5"/>
                    </a:solidFill>
                  </a:tcPr>
                </a:tc>
              </a:tr>
              <a:tr h="530352">
                <a:tc>
                  <a:txBody>
                    <a:bodyPr wrap="square"/>
                    <a:lstStyle/>
                    <a:p>
                      <a:r>
                        <a:rPr sz="1200" b="1">
                          <a:solidFill>
                            <a:srgbClr val="1B1F24"/>
                          </a:solidFill>
                          <a:latin typeface="Malgun Gothic"/>
                        </a:rPr>
                        <a:t>choice 후보</a:t>
                      </a:r>
                    </a:p>
                  </a:txBody>
                  <a:tcPr marL="54864" marR="54864" marT="27432" marB="27432" anchor="ctr">
                    <a:solidFill>
                      <a:srgbClr val="FFFFFF"/>
                    </a:solidFill>
                  </a:tcPr>
                </a:tc>
                <a:tc>
                  <a:txBody>
                    <a:bodyPr wrap="square"/>
                    <a:lstStyle/>
                    <a:p>
                      <a:r>
                        <a:rPr sz="1200">
                          <a:solidFill>
                            <a:srgbClr val="1B1F24"/>
                          </a:solidFill>
                          <a:latin typeface="Malgun Gothic"/>
                        </a:rPr>
                        <a:t>criteria 맵 ≤255</a:t>
                      </a:r>
                    </a:p>
                  </a:txBody>
                  <a:tcPr marL="54864" marR="54864" marT="27432" marB="27432" anchor="ctr">
                    <a:solidFill>
                      <a:srgbClr val="FFFFFF"/>
                    </a:solidFill>
                  </a:tcPr>
                </a:tc>
                <a:tc>
                  <a:txBody>
                    <a:bodyPr wrap="square"/>
                    <a:lstStyle/>
                    <a:p>
                      <a:r>
                        <a:rPr sz="1200">
                          <a:solidFill>
                            <a:srgbClr val="1B1F24"/>
                          </a:solidFill>
                          <a:latin typeface="Malgun Gothic"/>
                        </a:rPr>
                        <a:t>choices[{value,desc}]</a:t>
                      </a:r>
                    </a:p>
                  </a:txBody>
                  <a:tcPr marL="54864" marR="54864" marT="27432" marB="27432" anchor="ctr">
                    <a:solidFill>
                      <a:srgbClr val="FFFFFF"/>
                    </a:solidFill>
                  </a:tcPr>
                </a:tc>
                <a:tc>
                  <a:txBody>
                    <a:bodyPr wrap="square"/>
                    <a:lstStyle/>
                    <a:p>
                      <a:r>
                        <a:rPr sz="1200">
                          <a:solidFill>
                            <a:srgbClr val="1B1F24"/>
                          </a:solidFill>
                          <a:latin typeface="Malgun Gothic"/>
                        </a:rPr>
                        <a:t>맵</a:t>
                      </a:r>
                    </a:p>
                  </a:txBody>
                  <a:tcPr marL="54864" marR="54864" marT="27432" marB="27432" anchor="ctr">
                    <a:solidFill>
                      <a:srgbClr val="FFFFFF"/>
                    </a:solidFill>
                  </a:tcPr>
                </a:tc>
                <a:tc>
                  <a:txBody>
                    <a:bodyPr wrap="square"/>
                    <a:lstStyle/>
                    <a:p>
                      <a:r>
                        <a:rPr sz="1200">
                          <a:solidFill>
                            <a:srgbClr val="1B1F24"/>
                          </a:solidFill>
                          <a:latin typeface="Malgun Gothic"/>
                        </a:rPr>
                        <a:t>라벨 리스트</a:t>
                      </a:r>
                    </a:p>
                  </a:txBody>
                  <a:tcPr marL="54864" marR="54864" marT="27432" marB="27432" anchor="ctr">
                    <a:solidFill>
                      <a:srgbClr val="FFFFFF"/>
                    </a:solidFill>
                  </a:tcPr>
                </a:tc>
                <a:tc>
                  <a:txBody>
                    <a:bodyPr wrap="square"/>
                    <a:lstStyle/>
                    <a:p>
                      <a:r>
                        <a:rPr sz="1200">
                          <a:solidFill>
                            <a:srgbClr val="1B1F24"/>
                          </a:solidFill>
                          <a:latin typeface="Malgun Gothic"/>
                        </a:rPr>
                        <a:t>—</a:t>
                      </a:r>
                    </a:p>
                  </a:txBody>
                  <a:tcPr marL="54864" marR="54864" marT="27432" marB="27432" anchor="ctr">
                    <a:solidFill>
                      <a:srgbClr val="FFFFFF"/>
                    </a:solidFill>
                  </a:tcPr>
                </a:tc>
              </a:tr>
              <a:tr h="530352">
                <a:tc>
                  <a:txBody>
                    <a:bodyPr wrap="square"/>
                    <a:lstStyle/>
                    <a:p>
                      <a:r>
                        <a:rPr sz="1200" b="1">
                          <a:solidFill>
                            <a:srgbClr val="1B1F24"/>
                          </a:solidFill>
                          <a:latin typeface="Malgun Gothic"/>
                        </a:rPr>
                        <a:t>score</a:t>
                      </a:r>
                    </a:p>
                  </a:txBody>
                  <a:tcPr marL="54864" marR="54864" marT="27432" marB="27432" anchor="ctr">
                    <a:solidFill>
                      <a:srgbClr val="DCE8F5"/>
                    </a:solidFill>
                  </a:tcPr>
                </a:tc>
                <a:tc>
                  <a:txBody>
                    <a:bodyPr wrap="square"/>
                    <a:lstStyle/>
                    <a:p>
                      <a:r>
                        <a:rPr sz="1200">
                          <a:solidFill>
                            <a:srgbClr val="1B1F24"/>
                          </a:solidFill>
                          <a:latin typeface="Malgun Gothic"/>
                        </a:rPr>
                        <a:t>배열 ≤10</a:t>
                      </a:r>
                    </a:p>
                  </a:txBody>
                  <a:tcPr marL="54864" marR="54864" marT="27432" marB="27432" anchor="ctr">
                    <a:solidFill>
                      <a:srgbClr val="DCE8F5"/>
                    </a:solidFill>
                  </a:tcPr>
                </a:tc>
                <a:tc>
                  <a:txBody>
                    <a:bodyPr wrap="square"/>
                    <a:lstStyle/>
                    <a:p>
                      <a:r>
                        <a:rPr sz="1200">
                          <a:solidFill>
                            <a:srgbClr val="1B1F24"/>
                          </a:solidFill>
                          <a:latin typeface="Malgun Gothic"/>
                        </a:rPr>
                        <a:t>levels[{label,desc}]</a:t>
                      </a:r>
                    </a:p>
                  </a:txBody>
                  <a:tcPr marL="54864" marR="54864" marT="27432" marB="27432" anchor="ctr">
                    <a:solidFill>
                      <a:srgbClr val="DCE8F5"/>
                    </a:solidFill>
                  </a:tcPr>
                </a:tc>
                <a:tc>
                  <a:txBody>
                    <a:bodyPr wrap="square"/>
                    <a:lstStyle/>
                    <a:p>
                      <a:r>
                        <a:rPr sz="1200">
                          <a:solidFill>
                            <a:srgbClr val="1B1F24"/>
                          </a:solidFill>
                          <a:latin typeface="Malgun Gothic"/>
                        </a:rPr>
                        <a:t>배열 2–10</a:t>
                      </a:r>
                    </a:p>
                  </a:txBody>
                  <a:tcPr marL="54864" marR="54864" marT="27432" marB="27432" anchor="ctr">
                    <a:solidFill>
                      <a:srgbClr val="DCE8F5"/>
                    </a:solidFill>
                  </a:tcPr>
                </a:tc>
                <a:tc>
                  <a:txBody>
                    <a:bodyPr wrap="square"/>
                    <a:lstStyle/>
                    <a:p>
                      <a:r>
                        <a:rPr sz="1200">
                          <a:solidFill>
                            <a:srgbClr val="1B1F24"/>
                          </a:solidFill>
                          <a:latin typeface="Malgun Gothic"/>
                        </a:rPr>
                        <a:t>'0'–'10' 라벨</a:t>
                      </a:r>
                    </a:p>
                  </a:txBody>
                  <a:tcPr marL="54864" marR="54864" marT="27432" marB="27432" anchor="ctr">
                    <a:solidFill>
                      <a:srgbClr val="DCE8F5"/>
                    </a:solidFill>
                  </a:tcPr>
                </a:tc>
                <a:tc>
                  <a:txBody>
                    <a:bodyPr wrap="square"/>
                    <a:lstStyle/>
                    <a:p>
                      <a:r>
                        <a:rPr sz="1200">
                          <a:solidFill>
                            <a:srgbClr val="1B1F24"/>
                          </a:solidFill>
                          <a:latin typeface="Malgun Gothic"/>
                        </a:rPr>
                        <a:t>estimate</a:t>
                      </a:r>
                    </a:p>
                  </a:txBody>
                  <a:tcPr marL="54864" marR="54864" marT="27432" marB="27432" anchor="ctr">
                    <a:solidFill>
                      <a:srgbClr val="DCE8F5"/>
                    </a:solidFill>
                  </a:tcPr>
                </a:tc>
              </a:tr>
              <a:tr h="530352">
                <a:tc>
                  <a:txBody>
                    <a:bodyPr wrap="square"/>
                    <a:lstStyle/>
                    <a:p>
                      <a:r>
                        <a:rPr sz="1200" b="1">
                          <a:solidFill>
                            <a:srgbClr val="1B1F24"/>
                          </a:solidFill>
                          <a:latin typeface="Malgun Gothic"/>
                        </a:rPr>
                        <a:t>기본 출력</a:t>
                      </a:r>
                    </a:p>
                  </a:txBody>
                  <a:tcPr marL="54864" marR="54864" marT="27432" marB="27432" anchor="ctr">
                    <a:solidFill>
                      <a:srgbClr val="FFFFFF"/>
                    </a:solidFill>
                  </a:tcPr>
                </a:tc>
                <a:tc>
                  <a:txBody>
                    <a:bodyPr wrap="square"/>
                    <a:lstStyle/>
                    <a:p>
                      <a:r>
                        <a:rPr sz="1200">
                          <a:solidFill>
                            <a:srgbClr val="1B1F24"/>
                          </a:solidFill>
                          <a:latin typeface="Malgun Gothic"/>
                        </a:rPr>
                        <a:t>확률 + confidence</a:t>
                      </a:r>
                    </a:p>
                  </a:txBody>
                  <a:tcPr marL="54864" marR="54864" marT="27432" marB="27432" anchor="ctr">
                    <a:solidFill>
                      <a:srgbClr val="FFFFFF"/>
                    </a:solidFill>
                  </a:tcPr>
                </a:tc>
                <a:tc>
                  <a:txBody>
                    <a:bodyPr wrap="square"/>
                    <a:lstStyle/>
                    <a:p>
                      <a:r>
                        <a:rPr sz="1200">
                          <a:solidFill>
                            <a:srgbClr val="1B1F24"/>
                          </a:solidFill>
                          <a:latin typeface="Malgun Gothic"/>
                        </a:rPr>
                        <a:t>확률 배열 + confidence</a:t>
                      </a:r>
                    </a:p>
                  </a:txBody>
                  <a:tcPr marL="54864" marR="54864" marT="27432" marB="27432" anchor="ctr">
                    <a:solidFill>
                      <a:srgbClr val="FFFFFF"/>
                    </a:solidFill>
                  </a:tcPr>
                </a:tc>
                <a:tc>
                  <a:txBody>
                    <a:bodyPr wrap="square"/>
                    <a:lstStyle/>
                    <a:p>
                      <a:r>
                        <a:rPr sz="1200">
                          <a:solidFill>
                            <a:srgbClr val="1B1F24"/>
                          </a:solidFill>
                          <a:latin typeface="Malgun Gothic"/>
                        </a:rPr>
                        <a:t>확률 + confidence</a:t>
                      </a:r>
                    </a:p>
                  </a:txBody>
                  <a:tcPr marL="54864" marR="54864" marT="27432" marB="27432" anchor="ctr">
                    <a:solidFill>
                      <a:srgbClr val="FFFFFF"/>
                    </a:solidFill>
                  </a:tcPr>
                </a:tc>
                <a:tc>
                  <a:txBody>
                    <a:bodyPr wrap="square"/>
                    <a:lstStyle/>
                    <a:p>
                      <a:r>
                        <a:rPr sz="1200">
                          <a:solidFill>
                            <a:srgbClr val="1B1F24"/>
                          </a:solidFill>
                          <a:latin typeface="Malgun Gothic"/>
                        </a:rPr>
                        <a:t>라벨 문자열</a:t>
                      </a:r>
                    </a:p>
                  </a:txBody>
                  <a:tcPr marL="54864" marR="54864" marT="27432" marB="27432" anchor="ctr">
                    <a:solidFill>
                      <a:srgbClr val="FFFFFF"/>
                    </a:solidFill>
                  </a:tcPr>
                </a:tc>
                <a:tc>
                  <a:txBody>
                    <a:bodyPr wrap="square"/>
                    <a:lstStyle/>
                    <a:p>
                      <a:r>
                        <a:rPr sz="1200">
                          <a:solidFill>
                            <a:srgbClr val="1B1F24"/>
                          </a:solidFill>
                          <a:latin typeface="Malgun Gothic"/>
                        </a:rPr>
                        <a:t>value·p_null</a:t>
                      </a:r>
                    </a:p>
                  </a:txBody>
                  <a:tcPr marL="54864" marR="54864" marT="27432" marB="27432" anchor="ctr">
                    <a:solidFill>
                      <a:srgbClr val="FFFFFF"/>
                    </a:solidFill>
                  </a:tcPr>
                </a:tc>
              </a:tr>
              <a:tr h="530352">
                <a:tc>
                  <a:txBody>
                    <a:bodyPr wrap="square"/>
                    <a:lstStyle/>
                    <a:p>
                      <a:r>
                        <a:rPr sz="1200" b="1">
                          <a:solidFill>
                            <a:srgbClr val="1B1F24"/>
                          </a:solidFill>
                          <a:latin typeface="Malgun Gothic"/>
                        </a:rPr>
                        <a:t>호출</a:t>
                      </a:r>
                    </a:p>
                  </a:txBody>
                  <a:tcPr marL="54864" marR="54864" marT="27432" marB="27432" anchor="ctr">
                    <a:solidFill>
                      <a:srgbClr val="DCE8F5"/>
                    </a:solidFill>
                  </a:tcPr>
                </a:tc>
                <a:tc>
                  <a:txBody>
                    <a:bodyPr wrap="square"/>
                    <a:lstStyle/>
                    <a:p>
                      <a:r>
                        <a:rPr sz="1200">
                          <a:solidFill>
                            <a:srgbClr val="1B1F24"/>
                          </a:solidFill>
                          <a:latin typeface="Malgun Gothic"/>
                        </a:rPr>
                        <a:t>REST</a:t>
                      </a:r>
                    </a:p>
                  </a:txBody>
                  <a:tcPr marL="54864" marR="54864" marT="27432" marB="27432" anchor="ctr">
                    <a:solidFill>
                      <a:srgbClr val="DCE8F5"/>
                    </a:solidFill>
                  </a:tcPr>
                </a:tc>
                <a:tc>
                  <a:txBody>
                    <a:bodyPr wrap="square"/>
                    <a:lstStyle/>
                    <a:p>
                      <a:r>
                        <a:rPr sz="1200">
                          <a:solidFill>
                            <a:srgbClr val="1B1F24"/>
                          </a:solidFill>
                          <a:latin typeface="Malgun Gothic"/>
                        </a:rPr>
                        <a:t>REST</a:t>
                      </a:r>
                    </a:p>
                  </a:txBody>
                  <a:tcPr marL="54864" marR="54864" marT="27432" marB="27432" anchor="ctr">
                    <a:solidFill>
                      <a:srgbClr val="DCE8F5"/>
                    </a:solidFill>
                  </a:tcPr>
                </a:tc>
                <a:tc>
                  <a:txBody>
                    <a:bodyPr wrap="square"/>
                    <a:lstStyle/>
                    <a:p>
                      <a:r>
                        <a:rPr sz="1200">
                          <a:solidFill>
                            <a:srgbClr val="1B1F24"/>
                          </a:solidFill>
                          <a:latin typeface="Malgun Gothic"/>
                        </a:rPr>
                        <a:t>REST / 로컬</a:t>
                      </a:r>
                    </a:p>
                  </a:txBody>
                  <a:tcPr marL="54864" marR="54864" marT="27432" marB="27432" anchor="ctr">
                    <a:solidFill>
                      <a:srgbClr val="DCE8F5"/>
                    </a:solidFill>
                  </a:tcPr>
                </a:tc>
                <a:tc>
                  <a:txBody>
                    <a:bodyPr wrap="square"/>
                    <a:lstStyle/>
                    <a:p>
                      <a:r>
                        <a:rPr sz="1200">
                          <a:solidFill>
                            <a:srgbClr val="1B1F24"/>
                          </a:solidFill>
                          <a:latin typeface="Malgun Gothic"/>
                        </a:rPr>
                        <a:t>로컬 라이브러리</a:t>
                      </a:r>
                    </a:p>
                  </a:txBody>
                  <a:tcPr marL="54864" marR="54864" marT="27432" marB="27432" anchor="ctr">
                    <a:solidFill>
                      <a:srgbClr val="DCE8F5"/>
                    </a:solidFill>
                  </a:tcPr>
                </a:tc>
                <a:tc>
                  <a:txBody>
                    <a:bodyPr wrap="square"/>
                    <a:lstStyle/>
                    <a:p>
                      <a:r>
                        <a:rPr sz="1200">
                          <a:solidFill>
                            <a:srgbClr val="1B1F24"/>
                          </a:solidFill>
                          <a:latin typeface="Malgun Gothic"/>
                        </a:rPr>
                        <a:t>Workers AI</a:t>
                      </a:r>
                    </a:p>
                  </a:txBody>
                  <a:tcPr marL="54864" marR="54864" marT="27432" marB="27432" anchor="ctr">
                    <a:solidFill>
                      <a:srgbClr val="DCE8F5"/>
                    </a:solidFill>
                  </a:tcPr>
                </a:tc>
              </a:tr>
            </a:tbl>
          </a:graphicData>
        </a:graphic>
      </p:graphicFrame>
      <p:sp>
        <p:nvSpPr>
          <p:cNvPr id="8" name="TextBox 7"/>
          <p:cNvSpPr txBox="1"/>
          <p:nvPr/>
        </p:nvSpPr>
        <p:spPr>
          <a:xfrm>
            <a:off x="548640" y="5852160"/>
            <a:ext cx="11064240" cy="457200"/>
          </a:xfrm>
          <a:prstGeom prst="rect">
            <a:avLst/>
          </a:prstGeom>
          <a:noFill/>
        </p:spPr>
        <p:txBody>
          <a:bodyPr wrap="square" anchor="t" lIns="45720" rIns="45720" tIns="27432" bIns="27432">
            <a:spAutoFit/>
          </a:bodyPr>
          <a:lstStyle/>
          <a:p>
            <a:pPr algn="l">
              <a:lnSpc>
                <a:spcPct val="110000"/>
              </a:lnSpc>
            </a:pPr>
            <a:r>
              <a:rPr sz="1300" b="1">
                <a:solidFill>
                  <a:srgbClr val="2A9D8F"/>
                </a:solidFill>
                <a:latin typeface="Malgun Gothic"/>
              </a:rPr>
              <a:t>호환: Cloudflare Clef · Fastino GLiDE · Perplexity · Respan · Upstage · Inception 모두 state/questions 본문 수용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숫자를 읽는 법</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score는 기댓값, confidence는 분포의 뾰족함</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10</a:t>
            </a:r>
          </a:p>
        </p:txBody>
      </p:sp>
      <p:sp>
        <p:nvSpPr>
          <p:cNvPr id="7" name="Rounded Rectangle 6"/>
          <p:cNvSpPr/>
          <p:nvPr/>
        </p:nvSpPr>
        <p:spPr>
          <a:xfrm>
            <a:off x="640080" y="1463040"/>
            <a:ext cx="5394960" cy="228600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36192"/>
            <a:ext cx="5175504" cy="457200"/>
          </a:xfrm>
          <a:prstGeom prst="rect">
            <a:avLst/>
          </a:prstGeom>
          <a:noFill/>
        </p:spPr>
        <p:txBody>
          <a:bodyPr wrap="square" anchor="t" lIns="45720" rIns="45720" tIns="27432" bIns="27432">
            <a:spAutoFit/>
          </a:bodyPr>
          <a:lstStyle/>
          <a:p>
            <a:pPr algn="l">
              <a:lnSpc>
                <a:spcPct val="110000"/>
              </a:lnSpc>
            </a:pPr>
            <a:r>
              <a:rPr sz="1800" b="1">
                <a:solidFill>
                  <a:srgbClr val="1F4E79"/>
                </a:solidFill>
                <a:latin typeface="Malgun Gothic"/>
              </a:rPr>
              <a:t>score = Σ i · p_i</a:t>
            </a:r>
          </a:p>
        </p:txBody>
      </p:sp>
      <p:sp>
        <p:nvSpPr>
          <p:cNvPr id="9" name="TextBox 8"/>
          <p:cNvSpPr txBox="1"/>
          <p:nvPr/>
        </p:nvSpPr>
        <p:spPr>
          <a:xfrm>
            <a:off x="749808" y="1993392"/>
            <a:ext cx="5175504" cy="1691640"/>
          </a:xfrm>
          <a:prstGeom prst="rect">
            <a:avLst/>
          </a:prstGeom>
          <a:noFill/>
        </p:spPr>
        <p:txBody>
          <a:bodyPr wrap="square" anchor="t" lIns="45720" rIns="45720" tIns="27432" bIns="27432">
            <a:spAutoFit/>
          </a:bodyPr>
          <a:lstStyle/>
          <a:p>
            <a:pPr algn="l">
              <a:lnSpc>
                <a:spcPct val="110000"/>
              </a:lnSpc>
            </a:pPr>
            <a:r>
              <a:rPr sz="1700" b="0">
                <a:solidFill>
                  <a:srgbClr val="1B1F24"/>
                </a:solidFill>
                <a:latin typeface="Malgun Gothic"/>
              </a:rPr>
              <a:t>레벨 확률 (0.1, 0.7, 0.2)
→ 0·0.1 + 1·0.7 + 2·0.2 = 1.1
서로 다른 분포가 같은 점수를 낼 수 있다</a:t>
            </a:r>
          </a:p>
        </p:txBody>
      </p:sp>
      <p:sp>
        <p:nvSpPr>
          <p:cNvPr id="10" name="Rounded Rectangle 9"/>
          <p:cNvSpPr/>
          <p:nvPr/>
        </p:nvSpPr>
        <p:spPr>
          <a:xfrm>
            <a:off x="6217920" y="1463040"/>
            <a:ext cx="5394960" cy="228600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1536192"/>
            <a:ext cx="5175504" cy="457200"/>
          </a:xfrm>
          <a:prstGeom prst="rect">
            <a:avLst/>
          </a:prstGeom>
          <a:noFill/>
        </p:spPr>
        <p:txBody>
          <a:bodyPr wrap="square" anchor="t" lIns="45720" rIns="45720" tIns="27432" bIns="27432">
            <a:spAutoFit/>
          </a:bodyPr>
          <a:lstStyle/>
          <a:p>
            <a:pPr algn="l">
              <a:lnSpc>
                <a:spcPct val="110000"/>
              </a:lnSpc>
            </a:pPr>
            <a:r>
              <a:rPr sz="1800" b="1">
                <a:solidFill>
                  <a:srgbClr val="1F4E79"/>
                </a:solidFill>
                <a:latin typeface="Malgun Gothic"/>
              </a:rPr>
              <a:t>confidence 수식</a:t>
            </a:r>
          </a:p>
        </p:txBody>
      </p:sp>
      <p:sp>
        <p:nvSpPr>
          <p:cNvPr id="12" name="TextBox 11"/>
          <p:cNvSpPr txBox="1"/>
          <p:nvPr/>
        </p:nvSpPr>
        <p:spPr>
          <a:xfrm>
            <a:off x="6327648" y="1993392"/>
            <a:ext cx="5175504" cy="1691640"/>
          </a:xfrm>
          <a:prstGeom prst="rect">
            <a:avLst/>
          </a:prstGeom>
          <a:noFill/>
        </p:spPr>
        <p:txBody>
          <a:bodyPr wrap="square" anchor="t" lIns="45720" rIns="45720" tIns="27432" bIns="27432">
            <a:spAutoFit/>
          </a:bodyPr>
          <a:lstStyle/>
          <a:p>
            <a:pPr algn="l">
              <a:lnSpc>
                <a:spcPct val="110000"/>
              </a:lnSpc>
            </a:pPr>
            <a:r>
              <a:rPr sz="1700" b="0">
                <a:solidFill>
                  <a:srgbClr val="1B1F24"/>
                </a:solidFill>
                <a:latin typeface="Malgun Gothic"/>
              </a:rPr>
              <a:t>choice: (p_max − 1/n) / (1 − 1/n)
noul: |2p − 1| (GLiDE)
score: 1 − Σ p_i|i−m| / MAD_unif</a:t>
            </a:r>
          </a:p>
        </p:txBody>
      </p:sp>
      <p:sp>
        <p:nvSpPr>
          <p:cNvPr id="13" name="Rounded Rectangle 12"/>
          <p:cNvSpPr/>
          <p:nvPr/>
        </p:nvSpPr>
        <p:spPr>
          <a:xfrm>
            <a:off x="640080" y="4023360"/>
            <a:ext cx="10972800" cy="2103120"/>
          </a:xfrm>
          <a:prstGeom prst="roundRect">
            <a:avLst>
              <a:gd name="adj" fmla="val 8000"/>
            </a:avLst>
          </a:prstGeom>
          <a:solidFill>
            <a:srgbClr val="FDF6E8"/>
          </a:solidFill>
          <a:ln w="1587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114800"/>
            <a:ext cx="10515600" cy="457200"/>
          </a:xfrm>
          <a:prstGeom prst="rect">
            <a:avLst/>
          </a:prstGeom>
          <a:noFill/>
        </p:spPr>
        <p:txBody>
          <a:bodyPr wrap="square" anchor="t" lIns="45720" rIns="45720" tIns="27432" bIns="27432">
            <a:spAutoFit/>
          </a:bodyPr>
          <a:lstStyle/>
          <a:p>
            <a:pPr algn="l">
              <a:lnSpc>
                <a:spcPct val="110000"/>
              </a:lnSpc>
            </a:pPr>
            <a:r>
              <a:rPr sz="1600" b="1">
                <a:solidFill>
                  <a:srgbClr val="7A5710"/>
                </a:solidFill>
                <a:latin typeface="Malgun Gothic"/>
              </a:rPr>
              <a:t>OpenAI 문서 예시에 대입하면 (이 글의 계산)</a:t>
            </a:r>
          </a:p>
        </p:txBody>
      </p:sp>
      <p:sp>
        <p:nvSpPr>
          <p:cNvPr id="15" name="TextBox 14"/>
          <p:cNvSpPr txBox="1"/>
          <p:nvPr/>
        </p:nvSpPr>
        <p:spPr>
          <a:xfrm>
            <a:off x="868680" y="4617720"/>
            <a:ext cx="10515600" cy="146304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choice (0.95, 0.02, 0.01, 0.02) → (0.95−0.25)/0.75 = 0.933  (문서: 0.93)</a:t>
            </a:r>
          </a:p>
          <a:p>
            <a:pPr algn="l">
              <a:lnSpc>
                <a:spcPct val="110000"/>
              </a:lnSpc>
            </a:pPr>
            <a:r>
              <a:rPr sz="1400" b="0">
                <a:solidFill>
                  <a:srgbClr val="1B1F24"/>
                </a:solidFill>
                <a:latin typeface="Malgun Gothic"/>
              </a:rPr>
              <a:t>score (0.1, 0.7, 0.2) → 1 − 0.3/(2/3) = 0.55  (문서: 0.55)</a:t>
            </a:r>
          </a:p>
          <a:p>
            <a:pPr algn="l">
              <a:lnSpc>
                <a:spcPct val="110000"/>
              </a:lnSpc>
            </a:pPr>
            <a:r>
              <a:rPr sz="1400" b="0">
                <a:solidFill>
                  <a:srgbClr val="1B1F24"/>
                </a:solidFill>
                <a:latin typeface="Malgun Gothic"/>
              </a:rPr>
              <a:t>→ 두 예시 모두 일치. 벤더 간 confidence 비교가 크게 어긋나지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2743200" cy="1463040"/>
          </a:xfrm>
          <a:prstGeom prst="rect">
            <a:avLst/>
          </a:prstGeom>
          <a:noFill/>
        </p:spPr>
        <p:txBody>
          <a:bodyPr wrap="square" anchor="t" lIns="45720" rIns="45720" tIns="27432" bIns="27432">
            <a:spAutoFit/>
          </a:bodyPr>
          <a:lstStyle/>
          <a:p>
            <a:pPr algn="l">
              <a:lnSpc>
                <a:spcPct val="110000"/>
              </a:lnSpc>
            </a:pPr>
            <a:r>
              <a:rPr sz="9600" b="1">
                <a:solidFill>
                  <a:srgbClr val="E8A33D"/>
                </a:solidFill>
                <a:latin typeface="Malgun Gothic"/>
              </a:rPr>
              <a:t>02</a:t>
            </a:r>
          </a:p>
        </p:txBody>
      </p:sp>
      <p:sp>
        <p:nvSpPr>
          <p:cNvPr id="4" name="TextBox 3"/>
          <p:cNvSpPr txBox="1"/>
          <p:nvPr/>
        </p:nvSpPr>
        <p:spPr>
          <a:xfrm>
            <a:off x="914400" y="3566160"/>
            <a:ext cx="10058400" cy="91440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실행 방식</a:t>
            </a:r>
          </a:p>
        </p:txBody>
      </p:sp>
      <p:sp>
        <p:nvSpPr>
          <p:cNvPr id="5" name="TextBox 4"/>
          <p:cNvSpPr txBox="1"/>
          <p:nvPr/>
        </p:nvSpPr>
        <p:spPr>
          <a:xfrm>
            <a:off x="914400" y="4480560"/>
            <a:ext cx="10058400" cy="548640"/>
          </a:xfrm>
          <a:prstGeom prst="rect">
            <a:avLst/>
          </a:prstGeom>
          <a:noFill/>
        </p:spPr>
        <p:txBody>
          <a:bodyPr wrap="square" anchor="t" lIns="45720" rIns="45720" tIns="27432" bIns="27432">
            <a:spAutoFit/>
          </a:bodyPr>
          <a:lstStyle/>
          <a:p>
            <a:pPr algn="l">
              <a:lnSpc>
                <a:spcPct val="110000"/>
              </a:lnSpc>
            </a:pPr>
            <a:r>
              <a:rPr sz="2000" b="0">
                <a:solidFill>
                  <a:srgbClr val="BFD3EA"/>
                </a:solidFill>
                <a:latin typeface="Malgun Gothic"/>
              </a:rPr>
              <a:t>‘한 번의 forward pass’의 실체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‘한 번의 forward pass’의 실제</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요청 → 응답 데이터 흐름</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12</a:t>
            </a:r>
          </a:p>
        </p:txBody>
      </p:sp>
      <p:sp>
        <p:nvSpPr>
          <p:cNvPr id="7" name="Rounded Rectangle 6"/>
          <p:cNvSpPr/>
          <p:nvPr/>
        </p:nvSpPr>
        <p:spPr>
          <a:xfrm>
            <a:off x="502920"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애플리케이션</a:t>
            </a:r>
          </a:p>
          <a:p>
            <a:pPr algn="ctr"/>
            <a:r>
              <a:rPr sz="1100" b="1">
                <a:solidFill>
                  <a:srgbClr val="1F4E79"/>
                </a:solidFill>
                <a:latin typeface="Malgun Gothic"/>
              </a:rPr>
              <a:t>state+questions</a:t>
            </a:r>
          </a:p>
        </p:txBody>
      </p:sp>
      <p:cxnSp>
        <p:nvCxnSpPr>
          <p:cNvPr id="8" name="Connector 7"/>
          <p:cNvCxnSpPr/>
          <p:nvPr/>
        </p:nvCxnSpPr>
        <p:spPr>
          <a:xfrm>
            <a:off x="1792224"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938528"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API 계층</a:t>
            </a:r>
          </a:p>
          <a:p>
            <a:pPr algn="ctr"/>
            <a:r>
              <a:rPr sz="1100" b="1">
                <a:solidFill>
                  <a:srgbClr val="1F4E79"/>
                </a:solidFill>
                <a:latin typeface="Malgun Gothic"/>
              </a:rPr>
              <a:t>검증·토큰 계산</a:t>
            </a:r>
          </a:p>
        </p:txBody>
      </p:sp>
      <p:cxnSp>
        <p:nvCxnSpPr>
          <p:cNvPr id="10" name="Connector 9"/>
          <p:cNvCxnSpPr/>
          <p:nvPr/>
        </p:nvCxnSpPr>
        <p:spPr>
          <a:xfrm>
            <a:off x="3227832"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74136"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질문별 프롬프트</a:t>
            </a:r>
          </a:p>
          <a:p>
            <a:pPr algn="ctr"/>
            <a:r>
              <a:rPr sz="1100" b="1">
                <a:solidFill>
                  <a:srgbClr val="1F4E79"/>
                </a:solidFill>
                <a:latin typeface="Malgun Gothic"/>
              </a:rPr>
              <a:t>state+지시+선택지</a:t>
            </a:r>
          </a:p>
        </p:txBody>
      </p:sp>
      <p:cxnSp>
        <p:nvCxnSpPr>
          <p:cNvPr id="12" name="Connector 11"/>
          <p:cNvCxnSpPr/>
          <p:nvPr/>
        </p:nvCxnSpPr>
        <p:spPr>
          <a:xfrm>
            <a:off x="4663440"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809744"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배치·패킹</a:t>
            </a:r>
          </a:p>
          <a:p>
            <a:pPr algn="ctr"/>
            <a:r>
              <a:rPr sz="1100" b="1">
                <a:solidFill>
                  <a:srgbClr val="1F4E79"/>
                </a:solidFill>
                <a:latin typeface="Malgun Gothic"/>
              </a:rPr>
              <a:t>패딩 없이</a:t>
            </a:r>
          </a:p>
        </p:txBody>
      </p:sp>
      <p:cxnSp>
        <p:nvCxnSpPr>
          <p:cNvPr id="14" name="Connector 13"/>
          <p:cNvCxnSpPr/>
          <p:nvPr/>
        </p:nvCxnSpPr>
        <p:spPr>
          <a:xfrm>
            <a:off x="6099048"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45352" y="1737360"/>
            <a:ext cx="1280160" cy="91440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2263F"/>
                </a:solidFill>
                <a:latin typeface="Malgun Gothic"/>
              </a:rPr>
              <a:t>prefill 1회</a:t>
            </a:r>
          </a:p>
          <a:p>
            <a:pPr algn="ctr"/>
            <a:r>
              <a:rPr sz="1100" b="1">
                <a:solidFill>
                  <a:srgbClr val="12263F"/>
                </a:solidFill>
                <a:latin typeface="Malgun Gothic"/>
              </a:rPr>
              <a:t>hidden state</a:t>
            </a:r>
          </a:p>
        </p:txBody>
      </p:sp>
      <p:cxnSp>
        <p:nvCxnSpPr>
          <p:cNvPr id="16" name="Connector 15"/>
          <p:cNvCxnSpPr/>
          <p:nvPr/>
        </p:nvCxnSpPr>
        <p:spPr>
          <a:xfrm>
            <a:off x="7534656"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80960" y="1737360"/>
            <a:ext cx="1280160" cy="91440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2263F"/>
                </a:solidFill>
                <a:latin typeface="Malgun Gothic"/>
              </a:rPr>
              <a:t>판독</a:t>
            </a:r>
          </a:p>
          <a:p>
            <a:pPr algn="ctr"/>
            <a:r>
              <a:rPr sz="1100" b="1">
                <a:solidFill>
                  <a:srgbClr val="12263F"/>
                </a:solidFill>
                <a:latin typeface="Malgun Gothic"/>
              </a:rPr>
              <a:t>어휘·헤드·유사도</a:t>
            </a:r>
          </a:p>
        </p:txBody>
      </p:sp>
      <p:cxnSp>
        <p:nvCxnSpPr>
          <p:cNvPr id="18" name="Connector 17"/>
          <p:cNvCxnSpPr/>
          <p:nvPr/>
        </p:nvCxnSpPr>
        <p:spPr>
          <a:xfrm>
            <a:off x="8970264"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16568"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softmax</a:t>
            </a:r>
          </a:p>
          <a:p>
            <a:pPr algn="ctr"/>
            <a:r>
              <a:rPr sz="1100" b="1">
                <a:solidFill>
                  <a:srgbClr val="1F4E79"/>
                </a:solidFill>
                <a:latin typeface="Malgun Gothic"/>
              </a:rPr>
              <a:t>+ 온도 보정</a:t>
            </a:r>
          </a:p>
        </p:txBody>
      </p:sp>
      <p:cxnSp>
        <p:nvCxnSpPr>
          <p:cNvPr id="20" name="Connector 19"/>
          <p:cNvCxnSpPr/>
          <p:nvPr/>
        </p:nvCxnSpPr>
        <p:spPr>
          <a:xfrm>
            <a:off x="10405872" y="2194560"/>
            <a:ext cx="137160" cy="0"/>
          </a:xfrm>
          <a:prstGeom prst="line">
            <a:avLst/>
          </a:prstGeom>
          <a:ln w="2286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552176" y="1737360"/>
            <a:ext cx="1280160" cy="91440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100" b="1">
                <a:solidFill>
                  <a:srgbClr val="1F4E79"/>
                </a:solidFill>
                <a:latin typeface="Malgun Gothic"/>
              </a:rPr>
              <a:t>answers</a:t>
            </a:r>
          </a:p>
          <a:p>
            <a:pPr algn="ctr"/>
            <a:r>
              <a:rPr sz="1100" b="1">
                <a:solidFill>
                  <a:srgbClr val="1F4E79"/>
                </a:solidFill>
                <a:latin typeface="Malgun Gothic"/>
              </a:rPr>
              <a:t>+ usage</a:t>
            </a:r>
          </a:p>
        </p:txBody>
      </p:sp>
      <p:sp>
        <p:nvSpPr>
          <p:cNvPr id="22" name="Rounded Rectangle 21"/>
          <p:cNvSpPr/>
          <p:nvPr/>
        </p:nvSpPr>
        <p:spPr>
          <a:xfrm>
            <a:off x="640080" y="3200400"/>
            <a:ext cx="3566160" cy="23774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273552"/>
            <a:ext cx="334670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출력이 공짜인 이유</a:t>
            </a:r>
          </a:p>
        </p:txBody>
      </p:sp>
      <p:sp>
        <p:nvSpPr>
          <p:cNvPr id="24" name="TextBox 23"/>
          <p:cNvSpPr txBox="1"/>
          <p:nvPr/>
        </p:nvSpPr>
        <p:spPr>
          <a:xfrm>
            <a:off x="749808" y="3730752"/>
            <a:ext cx="3346704" cy="178308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디코딩이 없어 비용이 전부 prefill</a:t>
            </a:r>
          </a:p>
          <a:p>
            <a:pPr algn="l">
              <a:lnSpc>
                <a:spcPct val="110000"/>
              </a:lnSpc>
            </a:pPr>
            <a:r>
              <a:rPr sz="1600" b="0">
                <a:solidFill>
                  <a:srgbClr val="1B1F24"/>
                </a:solidFill>
                <a:latin typeface="Malgun Gothic"/>
              </a:rPr>
              <a:t>AA도 입력 토큰만으로 비용 계산</a:t>
            </a:r>
          </a:p>
        </p:txBody>
      </p:sp>
      <p:sp>
        <p:nvSpPr>
          <p:cNvPr id="25" name="Rounded Rectangle 24"/>
          <p:cNvSpPr/>
          <p:nvPr/>
        </p:nvSpPr>
        <p:spPr>
          <a:xfrm>
            <a:off x="4389120" y="3200400"/>
            <a:ext cx="3566160" cy="23774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3273552"/>
            <a:ext cx="334670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지연이 입력에 좌우</a:t>
            </a:r>
          </a:p>
        </p:txBody>
      </p:sp>
      <p:sp>
        <p:nvSpPr>
          <p:cNvPr id="27" name="TextBox 26"/>
          <p:cNvSpPr txBox="1"/>
          <p:nvPr/>
        </p:nvSpPr>
        <p:spPr>
          <a:xfrm>
            <a:off x="4498848" y="3730752"/>
            <a:ext cx="3346704" cy="178308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d1-3B 4090: 짧은 질문 8 ms</a:t>
            </a:r>
          </a:p>
          <a:p>
            <a:pPr algn="l">
              <a:lnSpc>
                <a:spcPct val="110000"/>
              </a:lnSpc>
            </a:pPr>
            <a:r>
              <a:rPr sz="1600" b="0">
                <a:solidFill>
                  <a:srgbClr val="1B1F24"/>
                </a:solidFill>
                <a:latin typeface="Malgun Gothic"/>
              </a:rPr>
              <a:t>3.4K 토큰 state 102 ms</a:t>
            </a:r>
          </a:p>
        </p:txBody>
      </p:sp>
      <p:sp>
        <p:nvSpPr>
          <p:cNvPr id="28" name="Rounded Rectangle 27"/>
          <p:cNvSpPr/>
          <p:nvPr/>
        </p:nvSpPr>
        <p:spPr>
          <a:xfrm>
            <a:off x="8138159" y="3200400"/>
            <a:ext cx="3566160" cy="23774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7" y="3273552"/>
            <a:ext cx="334670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‘단일 패스’의 단위는 제각각</a:t>
            </a:r>
          </a:p>
        </p:txBody>
      </p:sp>
      <p:sp>
        <p:nvSpPr>
          <p:cNvPr id="30" name="TextBox 29"/>
          <p:cNvSpPr txBox="1"/>
          <p:nvPr/>
        </p:nvSpPr>
        <p:spPr>
          <a:xfrm>
            <a:off x="8247887" y="3730752"/>
            <a:ext cx="3346704" cy="178308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질문별 패스 (Liquid 호스팅·GLiDE)</a:t>
            </a:r>
          </a:p>
          <a:p>
            <a:pPr algn="l">
              <a:lnSpc>
                <a:spcPct val="110000"/>
              </a:lnSpc>
            </a:pPr>
            <a:r>
              <a:rPr sz="1600" b="0">
                <a:solidFill>
                  <a:srgbClr val="1B1F24"/>
                </a:solidFill>
                <a:latin typeface="Malgun Gothic"/>
              </a:rPr>
              <a:t>공유·결합 (Clef joint head · 캐시)</a:t>
            </a:r>
          </a:p>
        </p:txBody>
      </p:sp>
      <p:sp>
        <p:nvSpPr>
          <p:cNvPr id="31" name="TextBox 30"/>
          <p:cNvSpPr txBox="1"/>
          <p:nvPr/>
        </p:nvSpPr>
        <p:spPr>
          <a:xfrm>
            <a:off x="640080" y="5760720"/>
            <a:ext cx="10972800" cy="457200"/>
          </a:xfrm>
          <a:prstGeom prst="rect">
            <a:avLst/>
          </a:prstGeom>
          <a:noFill/>
        </p:spPr>
        <p:txBody>
          <a:bodyPr wrap="square" anchor="t" lIns="45720" rIns="45720" tIns="27432" bIns="27432">
            <a:spAutoFit/>
          </a:bodyPr>
          <a:lstStyle/>
          <a:p>
            <a:pPr algn="l">
              <a:lnSpc>
                <a:spcPct val="110000"/>
              </a:lnSpc>
            </a:pPr>
            <a:r>
              <a:rPr sz="1500" b="1">
                <a:solidFill>
                  <a:srgbClr val="C0634A"/>
                </a:solidFill>
                <a:latin typeface="Malgun Gothic"/>
              </a:rPr>
              <a:t>Jev의 usage.output_tokens는 질문당 약 20 — 0이 아니다 (설명 없음)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네 가지 실행 계열</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판독을 어디서 하는가</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13</a:t>
            </a:r>
          </a:p>
        </p:txBody>
      </p:sp>
      <p:sp>
        <p:nvSpPr>
          <p:cNvPr id="7" name="Rounded Rectangle 6"/>
          <p:cNvSpPr/>
          <p:nvPr/>
        </p:nvSpPr>
        <p:spPr>
          <a:xfrm>
            <a:off x="548640" y="1554480"/>
            <a:ext cx="2697480" cy="4206240"/>
          </a:xfrm>
          <a:prstGeom prst="roundRect">
            <a:avLst>
              <a:gd name="adj" fmla="val 8000"/>
            </a:avLst>
          </a:prstGeom>
          <a:solidFill>
            <a:srgbClr val="FFFFFF"/>
          </a:solidFill>
          <a:ln w="31750">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54480"/>
            <a:ext cx="2697480" cy="685800"/>
          </a:xfrm>
          <a:prstGeom prst="roundRect">
            <a:avLst>
              <a:gd name="adj" fmla="val 8000"/>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27632"/>
            <a:ext cx="2514600" cy="548640"/>
          </a:xfrm>
          <a:prstGeom prst="rect">
            <a:avLst/>
          </a:prstGeom>
          <a:noFill/>
        </p:spPr>
        <p:txBody>
          <a:bodyPr wrap="square" anchor="ctr" lIns="45720" rIns="45720" tIns="27432" bIns="27432">
            <a:spAutoFit/>
          </a:bodyPr>
          <a:lstStyle/>
          <a:p>
            <a:pPr algn="l">
              <a:lnSpc>
                <a:spcPct val="110000"/>
              </a:lnSpc>
            </a:pPr>
            <a:r>
              <a:rPr sz="1700" b="1">
                <a:solidFill>
                  <a:srgbClr val="FFFFFF"/>
                </a:solidFill>
                <a:latin typeface="Malgun Gothic"/>
              </a:rPr>
              <a:t>A. 어휘 판독</a:t>
            </a:r>
          </a:p>
        </p:txBody>
      </p:sp>
      <p:sp>
        <p:nvSpPr>
          <p:cNvPr id="10" name="TextBox 9"/>
          <p:cNvSpPr txBox="1"/>
          <p:nvPr/>
        </p:nvSpPr>
        <p:spPr>
          <a:xfrm>
            <a:off x="685800" y="2377440"/>
            <a:ext cx="2423160" cy="1554480"/>
          </a:xfrm>
          <a:prstGeom prst="rect">
            <a:avLst/>
          </a:prstGeom>
          <a:noFill/>
        </p:spPr>
        <p:txBody>
          <a:bodyPr wrap="square" anchor="t" lIns="45720" rIns="45720" tIns="27432" bIns="27432">
            <a:spAutoFit/>
          </a:bodyPr>
          <a:lstStyle/>
          <a:p>
            <a:pPr algn="l">
              <a:lnSpc>
                <a:spcPct val="110000"/>
              </a:lnSpc>
            </a:pPr>
            <a:r>
              <a:rPr sz="1500" b="0">
                <a:solidFill>
                  <a:srgbClr val="1B1F24"/>
                </a:solidFill>
                <a:latin typeface="Malgun Gothic"/>
              </a:rPr>
              <a:t>선택지를 문자로 제시</a:t>
            </a:r>
          </a:p>
          <a:p>
            <a:pPr algn="l">
              <a:lnSpc>
                <a:spcPct val="110000"/>
              </a:lnSpc>
            </a:pPr>
            <a:r>
              <a:rPr sz="1500" b="0">
                <a:solidFill>
                  <a:srgbClr val="1B1F24"/>
                </a:solidFill>
                <a:latin typeface="Malgun Gothic"/>
              </a:rPr>
              <a:t>다음 토큰 확률을 선택지에 대해 재정규화</a:t>
            </a:r>
          </a:p>
        </p:txBody>
      </p:sp>
      <p:sp>
        <p:nvSpPr>
          <p:cNvPr id="11" name="TextBox 10"/>
          <p:cNvSpPr txBox="1"/>
          <p:nvPr/>
        </p:nvSpPr>
        <p:spPr>
          <a:xfrm>
            <a:off x="685800" y="4023360"/>
            <a:ext cx="2423160" cy="274320"/>
          </a:xfrm>
          <a:prstGeom prst="rect">
            <a:avLst/>
          </a:prstGeom>
          <a:noFill/>
        </p:spPr>
        <p:txBody>
          <a:bodyPr wrap="square" anchor="t" lIns="45720" rIns="45720" tIns="27432" bIns="27432">
            <a:spAutoFit/>
          </a:bodyPr>
          <a:lstStyle/>
          <a:p>
            <a:pPr algn="l">
              <a:lnSpc>
                <a:spcPct val="110000"/>
              </a:lnSpc>
            </a:pPr>
            <a:r>
              <a:rPr sz="1100" b="1">
                <a:solidFill>
                  <a:srgbClr val="5B6770"/>
                </a:solidFill>
                <a:latin typeface="Malgun Gothic"/>
              </a:rPr>
              <a:t>대표</a:t>
            </a:r>
          </a:p>
        </p:txBody>
      </p:sp>
      <p:sp>
        <p:nvSpPr>
          <p:cNvPr id="12" name="TextBox 11"/>
          <p:cNvSpPr txBox="1"/>
          <p:nvPr/>
        </p:nvSpPr>
        <p:spPr>
          <a:xfrm>
            <a:off x="685800" y="4297680"/>
            <a:ext cx="2423160" cy="1371600"/>
          </a:xfrm>
          <a:prstGeom prst="rect">
            <a:avLst/>
          </a:prstGeom>
          <a:noFill/>
        </p:spPr>
        <p:txBody>
          <a:bodyPr wrap="square" anchor="t" lIns="45720" rIns="45720" tIns="27432" bIns="27432">
            <a:spAutoFit/>
          </a:bodyPr>
          <a:lstStyle/>
          <a:p>
            <a:pPr algn="l">
              <a:lnSpc>
                <a:spcPct val="110000"/>
              </a:lnSpc>
            </a:pPr>
            <a:r>
              <a:rPr sz="1500" b="1">
                <a:solidFill>
                  <a:srgbClr val="12263F"/>
                </a:solidFill>
                <a:latin typeface="Malgun Gothic"/>
              </a:rPr>
              <a:t>Tev1(문자 1개 생성)</a:t>
            </a:r>
          </a:p>
          <a:p>
            <a:pPr algn="l">
              <a:lnSpc>
                <a:spcPct val="110000"/>
              </a:lnSpc>
            </a:pPr>
            <a:r>
              <a:rPr sz="1500" b="1">
                <a:solidFill>
                  <a:srgbClr val="12263F"/>
                </a:solidFill>
                <a:latin typeface="Malgun Gothic"/>
              </a:rPr>
              <a:t>논문의 listwise 정식화</a:t>
            </a:r>
          </a:p>
        </p:txBody>
      </p:sp>
      <p:sp>
        <p:nvSpPr>
          <p:cNvPr id="13" name="Rounded Rectangle 12"/>
          <p:cNvSpPr/>
          <p:nvPr/>
        </p:nvSpPr>
        <p:spPr>
          <a:xfrm>
            <a:off x="3383280" y="1554480"/>
            <a:ext cx="2697480" cy="4206240"/>
          </a:xfrm>
          <a:prstGeom prst="roundRect">
            <a:avLst>
              <a:gd name="adj" fmla="val 8000"/>
            </a:avLst>
          </a:prstGeom>
          <a:solidFill>
            <a:srgbClr val="FFFFFF"/>
          </a:solidFill>
          <a:ln w="3175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80" y="1554480"/>
            <a:ext cx="2697480" cy="68580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627632"/>
            <a:ext cx="2514600" cy="548640"/>
          </a:xfrm>
          <a:prstGeom prst="rect">
            <a:avLst/>
          </a:prstGeom>
          <a:noFill/>
        </p:spPr>
        <p:txBody>
          <a:bodyPr wrap="square" anchor="ctr" lIns="45720" rIns="45720" tIns="27432" bIns="27432">
            <a:spAutoFit/>
          </a:bodyPr>
          <a:lstStyle/>
          <a:p>
            <a:pPr algn="l">
              <a:lnSpc>
                <a:spcPct val="110000"/>
              </a:lnSpc>
            </a:pPr>
            <a:r>
              <a:rPr sz="1700" b="1">
                <a:solidFill>
                  <a:srgbClr val="FFFFFF"/>
                </a:solidFill>
                <a:latin typeface="Malgun Gothic"/>
              </a:rPr>
              <a:t>B. 결정 헤드</a:t>
            </a:r>
          </a:p>
        </p:txBody>
      </p:sp>
      <p:sp>
        <p:nvSpPr>
          <p:cNvPr id="16" name="TextBox 15"/>
          <p:cNvSpPr txBox="1"/>
          <p:nvPr/>
        </p:nvSpPr>
        <p:spPr>
          <a:xfrm>
            <a:off x="3520440" y="2377440"/>
            <a:ext cx="2423160" cy="1554480"/>
          </a:xfrm>
          <a:prstGeom prst="rect">
            <a:avLst/>
          </a:prstGeom>
          <a:noFill/>
        </p:spPr>
        <p:txBody>
          <a:bodyPr wrap="square" anchor="t" lIns="45720" rIns="45720" tIns="27432" bIns="27432">
            <a:spAutoFit/>
          </a:bodyPr>
          <a:lstStyle/>
          <a:p>
            <a:pPr algn="l">
              <a:lnSpc>
                <a:spcPct val="110000"/>
              </a:lnSpc>
            </a:pPr>
            <a:r>
              <a:rPr sz="1500" b="0">
                <a:solidFill>
                  <a:srgbClr val="1B1F24"/>
                </a:solidFill>
                <a:latin typeface="Malgun Gothic"/>
              </a:rPr>
              <a:t>hidden state 위 작은 헤드가</a:t>
            </a:r>
          </a:p>
          <a:p>
            <a:pPr algn="l">
              <a:lnSpc>
                <a:spcPct val="110000"/>
              </a:lnSpc>
            </a:pPr>
            <a:r>
              <a:rPr sz="1500" b="0">
                <a:solidFill>
                  <a:srgbClr val="1B1F24"/>
                </a:solidFill>
                <a:latin typeface="Malgun Gothic"/>
              </a:rPr>
              <a:t>선택지별 logit 직접 출력</a:t>
            </a:r>
          </a:p>
        </p:txBody>
      </p:sp>
      <p:sp>
        <p:nvSpPr>
          <p:cNvPr id="17" name="TextBox 16"/>
          <p:cNvSpPr txBox="1"/>
          <p:nvPr/>
        </p:nvSpPr>
        <p:spPr>
          <a:xfrm>
            <a:off x="3520440" y="4023360"/>
            <a:ext cx="2423160" cy="274320"/>
          </a:xfrm>
          <a:prstGeom prst="rect">
            <a:avLst/>
          </a:prstGeom>
          <a:noFill/>
        </p:spPr>
        <p:txBody>
          <a:bodyPr wrap="square" anchor="t" lIns="45720" rIns="45720" tIns="27432" bIns="27432">
            <a:spAutoFit/>
          </a:bodyPr>
          <a:lstStyle/>
          <a:p>
            <a:pPr algn="l">
              <a:lnSpc>
                <a:spcPct val="110000"/>
              </a:lnSpc>
            </a:pPr>
            <a:r>
              <a:rPr sz="1100" b="1">
                <a:solidFill>
                  <a:srgbClr val="5B6770"/>
                </a:solidFill>
                <a:latin typeface="Malgun Gothic"/>
              </a:rPr>
              <a:t>대표</a:t>
            </a:r>
          </a:p>
        </p:txBody>
      </p:sp>
      <p:sp>
        <p:nvSpPr>
          <p:cNvPr id="18" name="TextBox 17"/>
          <p:cNvSpPr txBox="1"/>
          <p:nvPr/>
        </p:nvSpPr>
        <p:spPr>
          <a:xfrm>
            <a:off x="3520440" y="4297680"/>
            <a:ext cx="2423160" cy="1371600"/>
          </a:xfrm>
          <a:prstGeom prst="rect">
            <a:avLst/>
          </a:prstGeom>
          <a:noFill/>
        </p:spPr>
        <p:txBody>
          <a:bodyPr wrap="square" anchor="t" lIns="45720" rIns="45720" tIns="27432" bIns="27432">
            <a:spAutoFit/>
          </a:bodyPr>
          <a:lstStyle/>
          <a:p>
            <a:pPr algn="l">
              <a:lnSpc>
                <a:spcPct val="110000"/>
              </a:lnSpc>
            </a:pPr>
            <a:r>
              <a:rPr sz="1500" b="1">
                <a:solidFill>
                  <a:srgbClr val="12263F"/>
                </a:solidFill>
                <a:latin typeface="Malgun Gothic"/>
              </a:rPr>
              <a:t>Clef · Kev · Strands</a:t>
            </a:r>
          </a:p>
          <a:p>
            <a:pPr algn="l">
              <a:lnSpc>
                <a:spcPct val="110000"/>
              </a:lnSpc>
            </a:pPr>
            <a:r>
              <a:rPr sz="1500" b="1">
                <a:solidFill>
                  <a:srgbClr val="12263F"/>
                </a:solidFill>
                <a:latin typeface="Malgun Gothic"/>
              </a:rPr>
              <a:t>Von · GLiNER2.5-Decide · d1-omni</a:t>
            </a:r>
          </a:p>
        </p:txBody>
      </p:sp>
      <p:sp>
        <p:nvSpPr>
          <p:cNvPr id="19" name="Rounded Rectangle 18"/>
          <p:cNvSpPr/>
          <p:nvPr/>
        </p:nvSpPr>
        <p:spPr>
          <a:xfrm>
            <a:off x="6217920" y="1554480"/>
            <a:ext cx="2697480" cy="4206240"/>
          </a:xfrm>
          <a:prstGeom prst="roundRect">
            <a:avLst>
              <a:gd name="adj" fmla="val 8000"/>
            </a:avLst>
          </a:prstGeom>
          <a:solidFill>
            <a:srgbClr val="FFFFFF"/>
          </a:solidFill>
          <a:ln w="31750">
            <a:solidFill>
              <a:srgbClr val="8A6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1554480"/>
            <a:ext cx="2697480" cy="685800"/>
          </a:xfrm>
          <a:prstGeom prst="roundRect">
            <a:avLst>
              <a:gd name="adj" fmla="val 8000"/>
            </a:avLst>
          </a:prstGeom>
          <a:solidFill>
            <a:srgbClr val="8A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1627632"/>
            <a:ext cx="2514600" cy="548640"/>
          </a:xfrm>
          <a:prstGeom prst="rect">
            <a:avLst/>
          </a:prstGeom>
          <a:noFill/>
        </p:spPr>
        <p:txBody>
          <a:bodyPr wrap="square" anchor="ctr" lIns="45720" rIns="45720" tIns="27432" bIns="27432">
            <a:spAutoFit/>
          </a:bodyPr>
          <a:lstStyle/>
          <a:p>
            <a:pPr algn="l">
              <a:lnSpc>
                <a:spcPct val="110000"/>
              </a:lnSpc>
            </a:pPr>
            <a:r>
              <a:rPr sz="1700" b="1">
                <a:solidFill>
                  <a:srgbClr val="FFFFFF"/>
                </a:solidFill>
                <a:latin typeface="Malgun Gothic"/>
              </a:rPr>
              <a:t>C. 대조 점수화</a:t>
            </a:r>
          </a:p>
        </p:txBody>
      </p:sp>
      <p:sp>
        <p:nvSpPr>
          <p:cNvPr id="22" name="TextBox 21"/>
          <p:cNvSpPr txBox="1"/>
          <p:nvPr/>
        </p:nvSpPr>
        <p:spPr>
          <a:xfrm>
            <a:off x="6355080" y="2377440"/>
            <a:ext cx="2423160" cy="1554480"/>
          </a:xfrm>
          <a:prstGeom prst="rect">
            <a:avLst/>
          </a:prstGeom>
          <a:noFill/>
        </p:spPr>
        <p:txBody>
          <a:bodyPr wrap="square" anchor="t" lIns="45720" rIns="45720" tIns="27432" bIns="27432">
            <a:spAutoFit/>
          </a:bodyPr>
          <a:lstStyle/>
          <a:p>
            <a:pPr algn="l">
              <a:lnSpc>
                <a:spcPct val="110000"/>
              </a:lnSpc>
            </a:pPr>
            <a:r>
              <a:rPr sz="1500" b="0">
                <a:solidFill>
                  <a:srgbClr val="1B1F24"/>
                </a:solidFill>
                <a:latin typeface="Malgun Gothic"/>
              </a:rPr>
              <a:t>상태·후보 행동을 각각 임베딩</a:t>
            </a:r>
          </a:p>
          <a:p>
            <a:pPr algn="l">
              <a:lnSpc>
                <a:spcPct val="110000"/>
              </a:lnSpc>
            </a:pPr>
            <a:r>
              <a:rPr sz="1500" b="0">
                <a:solidFill>
                  <a:srgbClr val="1B1F24"/>
                </a:solidFill>
                <a:latin typeface="Malgun Gothic"/>
              </a:rPr>
              <a:t>유사도 softmax</a:t>
            </a:r>
          </a:p>
        </p:txBody>
      </p:sp>
      <p:sp>
        <p:nvSpPr>
          <p:cNvPr id="23" name="TextBox 22"/>
          <p:cNvSpPr txBox="1"/>
          <p:nvPr/>
        </p:nvSpPr>
        <p:spPr>
          <a:xfrm>
            <a:off x="6355080" y="4023360"/>
            <a:ext cx="2423160" cy="274320"/>
          </a:xfrm>
          <a:prstGeom prst="rect">
            <a:avLst/>
          </a:prstGeom>
          <a:noFill/>
        </p:spPr>
        <p:txBody>
          <a:bodyPr wrap="square" anchor="t" lIns="45720" rIns="45720" tIns="27432" bIns="27432">
            <a:spAutoFit/>
          </a:bodyPr>
          <a:lstStyle/>
          <a:p>
            <a:pPr algn="l">
              <a:lnSpc>
                <a:spcPct val="110000"/>
              </a:lnSpc>
            </a:pPr>
            <a:r>
              <a:rPr sz="1100" b="1">
                <a:solidFill>
                  <a:srgbClr val="5B6770"/>
                </a:solidFill>
                <a:latin typeface="Malgun Gothic"/>
              </a:rPr>
              <a:t>대표</a:t>
            </a:r>
          </a:p>
        </p:txBody>
      </p:sp>
      <p:sp>
        <p:nvSpPr>
          <p:cNvPr id="24" name="TextBox 23"/>
          <p:cNvSpPr txBox="1"/>
          <p:nvPr/>
        </p:nvSpPr>
        <p:spPr>
          <a:xfrm>
            <a:off x="6355080" y="4297680"/>
            <a:ext cx="2423160" cy="1371600"/>
          </a:xfrm>
          <a:prstGeom prst="rect">
            <a:avLst/>
          </a:prstGeom>
          <a:noFill/>
        </p:spPr>
        <p:txBody>
          <a:bodyPr wrap="square" anchor="t" lIns="45720" rIns="45720" tIns="27432" bIns="27432">
            <a:spAutoFit/>
          </a:bodyPr>
          <a:lstStyle/>
          <a:p>
            <a:pPr algn="l">
              <a:lnSpc>
                <a:spcPct val="110000"/>
              </a:lnSpc>
            </a:pPr>
            <a:r>
              <a:rPr sz="1500" b="1">
                <a:solidFill>
                  <a:srgbClr val="12263F"/>
                </a:solidFill>
                <a:latin typeface="Malgun Gothic"/>
              </a:rPr>
              <a:t>CLM-8B</a:t>
            </a:r>
          </a:p>
          <a:p>
            <a:pPr algn="l">
              <a:lnSpc>
                <a:spcPct val="110000"/>
              </a:lnSpc>
            </a:pPr>
            <a:r>
              <a:rPr sz="1500" b="1">
                <a:solidFill>
                  <a:srgbClr val="12263F"/>
                </a:solidFill>
                <a:latin typeface="Malgun Gothic"/>
              </a:rPr>
              <a:t>(행동 임베딩 캐시)</a:t>
            </a:r>
          </a:p>
        </p:txBody>
      </p:sp>
      <p:sp>
        <p:nvSpPr>
          <p:cNvPr id="25" name="Rounded Rectangle 24"/>
          <p:cNvSpPr/>
          <p:nvPr/>
        </p:nvSpPr>
        <p:spPr>
          <a:xfrm>
            <a:off x="9052560" y="1554480"/>
            <a:ext cx="2697480" cy="4206240"/>
          </a:xfrm>
          <a:prstGeom prst="roundRect">
            <a:avLst>
              <a:gd name="adj" fmla="val 8000"/>
            </a:avLst>
          </a:prstGeom>
          <a:solidFill>
            <a:srgbClr val="FFFFFF"/>
          </a:solidFill>
          <a:ln w="317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52560" y="1554480"/>
            <a:ext cx="2697480" cy="68580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1627632"/>
            <a:ext cx="2514600" cy="548640"/>
          </a:xfrm>
          <a:prstGeom prst="rect">
            <a:avLst/>
          </a:prstGeom>
          <a:noFill/>
        </p:spPr>
        <p:txBody>
          <a:bodyPr wrap="square" anchor="ctr" lIns="45720" rIns="45720" tIns="27432" bIns="27432">
            <a:spAutoFit/>
          </a:bodyPr>
          <a:lstStyle/>
          <a:p>
            <a:pPr algn="l">
              <a:lnSpc>
                <a:spcPct val="110000"/>
              </a:lnSpc>
            </a:pPr>
            <a:r>
              <a:rPr sz="1700" b="1">
                <a:solidFill>
                  <a:srgbClr val="FFFFFF"/>
                </a:solidFill>
                <a:latin typeface="Malgun Gothic"/>
              </a:rPr>
              <a:t>D. 제한적 사고</a:t>
            </a:r>
          </a:p>
        </p:txBody>
      </p:sp>
      <p:sp>
        <p:nvSpPr>
          <p:cNvPr id="28" name="TextBox 27"/>
          <p:cNvSpPr txBox="1"/>
          <p:nvPr/>
        </p:nvSpPr>
        <p:spPr>
          <a:xfrm>
            <a:off x="9189720" y="2377440"/>
            <a:ext cx="2423160" cy="1554480"/>
          </a:xfrm>
          <a:prstGeom prst="rect">
            <a:avLst/>
          </a:prstGeom>
          <a:noFill/>
        </p:spPr>
        <p:txBody>
          <a:bodyPr wrap="square" anchor="t" lIns="45720" rIns="45720" tIns="27432" bIns="27432">
            <a:spAutoFit/>
          </a:bodyPr>
          <a:lstStyle/>
          <a:p>
            <a:pPr algn="l">
              <a:lnSpc>
                <a:spcPct val="110000"/>
              </a:lnSpc>
            </a:pPr>
            <a:r>
              <a:rPr sz="1500" b="0">
                <a:solidFill>
                  <a:srgbClr val="1B1F24"/>
                </a:solidFill>
                <a:latin typeface="Malgun Gothic"/>
              </a:rPr>
              <a:t>불확실하면 짧게 생각 후</a:t>
            </a:r>
          </a:p>
          <a:p>
            <a:pPr algn="l">
              <a:lnSpc>
                <a:spcPct val="110000"/>
              </a:lnSpc>
            </a:pPr>
            <a:r>
              <a:rPr sz="1500" b="0">
                <a:solidFill>
                  <a:srgbClr val="1B1F24"/>
                </a:solidFill>
                <a:latin typeface="Malgun Gothic"/>
              </a:rPr>
              <a:t>재판독·평균</a:t>
            </a:r>
          </a:p>
        </p:txBody>
      </p:sp>
      <p:sp>
        <p:nvSpPr>
          <p:cNvPr id="29" name="TextBox 28"/>
          <p:cNvSpPr txBox="1"/>
          <p:nvPr/>
        </p:nvSpPr>
        <p:spPr>
          <a:xfrm>
            <a:off x="9189720" y="4023360"/>
            <a:ext cx="2423160" cy="274320"/>
          </a:xfrm>
          <a:prstGeom prst="rect">
            <a:avLst/>
          </a:prstGeom>
          <a:noFill/>
        </p:spPr>
        <p:txBody>
          <a:bodyPr wrap="square" anchor="t" lIns="45720" rIns="45720" tIns="27432" bIns="27432">
            <a:spAutoFit/>
          </a:bodyPr>
          <a:lstStyle/>
          <a:p>
            <a:pPr algn="l">
              <a:lnSpc>
                <a:spcPct val="110000"/>
              </a:lnSpc>
            </a:pPr>
            <a:r>
              <a:rPr sz="1100" b="1">
                <a:solidFill>
                  <a:srgbClr val="5B6770"/>
                </a:solidFill>
                <a:latin typeface="Malgun Gothic"/>
              </a:rPr>
              <a:t>대표</a:t>
            </a:r>
          </a:p>
        </p:txBody>
      </p:sp>
      <p:sp>
        <p:nvSpPr>
          <p:cNvPr id="30" name="TextBox 29"/>
          <p:cNvSpPr txBox="1"/>
          <p:nvPr/>
        </p:nvSpPr>
        <p:spPr>
          <a:xfrm>
            <a:off x="9189720" y="4297680"/>
            <a:ext cx="2423160" cy="1371600"/>
          </a:xfrm>
          <a:prstGeom prst="rect">
            <a:avLst/>
          </a:prstGeom>
          <a:noFill/>
        </p:spPr>
        <p:txBody>
          <a:bodyPr wrap="square" anchor="t" lIns="45720" rIns="45720" tIns="27432" bIns="27432">
            <a:spAutoFit/>
          </a:bodyPr>
          <a:lstStyle/>
          <a:p>
            <a:pPr algn="l">
              <a:lnSpc>
                <a:spcPct val="110000"/>
              </a:lnSpc>
            </a:pPr>
            <a:r>
              <a:rPr sz="1500" b="1">
                <a:solidFill>
                  <a:srgbClr val="12263F"/>
                </a:solidFill>
                <a:latin typeface="Malgun Gothic"/>
              </a:rPr>
              <a:t>Span-02 (확률 &lt; 0.8)</a:t>
            </a:r>
          </a:p>
          <a:p>
            <a:pPr algn="l">
              <a:lnSpc>
                <a:spcPct val="110000"/>
              </a:lnSpc>
            </a:pPr>
            <a:r>
              <a:rPr sz="1500" b="1">
                <a:solidFill>
                  <a:srgbClr val="12263F"/>
                </a:solidFill>
                <a:latin typeface="Malgun Gothic"/>
              </a:rPr>
              <a:t>GLiDE 런치판</a:t>
            </a:r>
          </a:p>
        </p:txBody>
      </p:sp>
      <p:sp>
        <p:nvSpPr>
          <p:cNvPr id="31" name="TextBox 30"/>
          <p:cNvSpPr txBox="1"/>
          <p:nvPr/>
        </p:nvSpPr>
        <p:spPr>
          <a:xfrm>
            <a:off x="548640" y="5897880"/>
            <a:ext cx="11155680" cy="457200"/>
          </a:xfrm>
          <a:prstGeom prst="rect">
            <a:avLst/>
          </a:prstGeom>
          <a:noFill/>
        </p:spPr>
        <p:txBody>
          <a:bodyPr wrap="square" anchor="t" lIns="45720" rIns="45720" tIns="27432" bIns="27432">
            <a:spAutoFit/>
          </a:bodyPr>
          <a:lstStyle/>
          <a:p>
            <a:pPr algn="l">
              <a:lnSpc>
                <a:spcPct val="110000"/>
              </a:lnSpc>
            </a:pPr>
            <a:r>
              <a:rPr sz="1400" b="1">
                <a:solidFill>
                  <a:srgbClr val="C0634A"/>
                </a:solidFill>
                <a:latin typeface="Malgun Gothic"/>
              </a:rPr>
              <a:t>‘출력 토큰 0’은 업계 공통 사실이 아니다 — Tev1은 문자 1개를 생성하고, Span-02·GLiDE 런치판은 사고한다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모델별 구조 — 확인된 만큼만</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벤더/카드 확인 vs 집계 인용</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14</a:t>
            </a:r>
          </a:p>
        </p:txBody>
      </p:sp>
      <p:graphicFrame>
        <p:nvGraphicFramePr>
          <p:cNvPr id="7" name="Table 6"/>
          <p:cNvGraphicFramePr>
            <a:graphicFrameLocks noGrp="1"/>
          </p:cNvGraphicFramePr>
          <p:nvPr/>
        </p:nvGraphicFramePr>
        <p:xfrm>
          <a:off x="548640" y="1463040"/>
          <a:ext cx="11064238" cy="4608576"/>
        </p:xfrm>
        <a:graphic>
          <a:graphicData uri="http://schemas.openxmlformats.org/drawingml/2006/table">
            <a:tbl>
              <a:tblPr firstRow="1" bandRow="1">
                <a:tableStyleId>{5C22544A-7EE6-4342-B048-85BDC9FD1C3A}</a:tableStyleId>
              </a:tblPr>
              <a:tblGrid>
                <a:gridCol w="1880920"/>
                <a:gridCol w="3872484"/>
                <a:gridCol w="3983126"/>
                <a:gridCol w="1327708"/>
              </a:tblGrid>
              <a:tr h="512064">
                <a:tc>
                  <a:txBody>
                    <a:bodyPr wrap="square"/>
                    <a:lstStyle/>
                    <a:p>
                      <a:r>
                        <a:rPr sz="1300" b="1">
                          <a:solidFill>
                            <a:srgbClr val="FFFFFF"/>
                          </a:solidFill>
                          <a:latin typeface="Malgun Gothic"/>
                        </a:rPr>
                        <a:t>모델</a:t>
                      </a:r>
                    </a:p>
                  </a:txBody>
                  <a:tcPr marL="54864" marR="54864" marT="27432" marB="27432" anchor="ctr">
                    <a:solidFill>
                      <a:srgbClr val="1F4E79"/>
                    </a:solidFill>
                  </a:tcPr>
                </a:tc>
                <a:tc>
                  <a:txBody>
                    <a:bodyPr wrap="square"/>
                    <a:lstStyle/>
                    <a:p>
                      <a:r>
                        <a:rPr sz="1300" b="1">
                          <a:solidFill>
                            <a:srgbClr val="FFFFFF"/>
                          </a:solidFill>
                          <a:latin typeface="Malgun Gothic"/>
                        </a:rPr>
                        <a:t>구조</a:t>
                      </a:r>
                    </a:p>
                  </a:txBody>
                  <a:tcPr marL="54864" marR="54864" marT="27432" marB="27432" anchor="ctr">
                    <a:solidFill>
                      <a:srgbClr val="1F4E79"/>
                    </a:solidFill>
                  </a:tcPr>
                </a:tc>
                <a:tc>
                  <a:txBody>
                    <a:bodyPr wrap="square"/>
                    <a:lstStyle/>
                    <a:p>
                      <a:r>
                        <a:rPr sz="1300" b="1">
                          <a:solidFill>
                            <a:srgbClr val="FFFFFF"/>
                          </a:solidFill>
                          <a:latin typeface="Malgun Gothic"/>
                        </a:rPr>
                        <a:t>판독</a:t>
                      </a:r>
                    </a:p>
                  </a:txBody>
                  <a:tcPr marL="54864" marR="54864" marT="27432" marB="27432" anchor="ctr">
                    <a:solidFill>
                      <a:srgbClr val="1F4E79"/>
                    </a:solidFill>
                  </a:tcPr>
                </a:tc>
                <a:tc>
                  <a:txBody>
                    <a:bodyPr wrap="square"/>
                    <a:lstStyle/>
                    <a:p>
                      <a:r>
                        <a:rPr sz="1300" b="1">
                          <a:solidFill>
                            <a:srgbClr val="FFFFFF"/>
                          </a:solidFill>
                          <a:latin typeface="Malgun Gothic"/>
                        </a:rPr>
                        <a:t>근거</a:t>
                      </a:r>
                    </a:p>
                  </a:txBody>
                  <a:tcPr marL="54864" marR="54864" marT="27432" marB="27432" anchor="ctr">
                    <a:solidFill>
                      <a:srgbClr val="1F4E79"/>
                    </a:solidFill>
                  </a:tcPr>
                </a:tc>
              </a:tr>
              <a:tr h="512064">
                <a:tc>
                  <a:txBody>
                    <a:bodyPr wrap="square"/>
                    <a:lstStyle/>
                    <a:p>
                      <a:r>
                        <a:rPr sz="1300" b="1">
                          <a:solidFill>
                            <a:srgbClr val="1B1F24"/>
                          </a:solidFill>
                          <a:latin typeface="Malgun Gothic"/>
                        </a:rPr>
                        <a:t>Clef 27B</a:t>
                      </a:r>
                    </a:p>
                  </a:txBody>
                  <a:tcPr marL="54864" marR="54864" marT="27432" marB="27432" anchor="ctr">
                    <a:solidFill>
                      <a:srgbClr val="DCE8F5"/>
                    </a:solidFill>
                  </a:tcPr>
                </a:tc>
                <a:tc>
                  <a:txBody>
                    <a:bodyPr wrap="square"/>
                    <a:lstStyle/>
                    <a:p>
                      <a:r>
                        <a:rPr sz="1300">
                          <a:solidFill>
                            <a:srgbClr val="1B1F24"/>
                          </a:solidFill>
                          <a:latin typeface="Malgun Gothic"/>
                        </a:rPr>
                        <a:t>Qwen3.8-27B + joint schema head</a:t>
                      </a:r>
                    </a:p>
                  </a:txBody>
                  <a:tcPr marL="54864" marR="54864" marT="27432" marB="27432" anchor="ctr">
                    <a:solidFill>
                      <a:srgbClr val="DCE8F5"/>
                    </a:solidFill>
                  </a:tcPr>
                </a:tc>
                <a:tc>
                  <a:txBody>
                    <a:bodyPr wrap="square"/>
                    <a:lstStyle/>
                    <a:p>
                      <a:r>
                        <a:rPr sz="1300">
                          <a:solidFill>
                            <a:srgbClr val="1B1F24"/>
                          </a:solidFill>
                          <a:latin typeface="Malgun Gothic"/>
                        </a:rPr>
                        <a:t>질문·선택지 결합 점수화</a:t>
                      </a:r>
                    </a:p>
                  </a:txBody>
                  <a:tcPr marL="54864" marR="54864" marT="27432" marB="27432" anchor="ctr">
                    <a:solidFill>
                      <a:srgbClr val="DCE8F5"/>
                    </a:solidFill>
                  </a:tcPr>
                </a:tc>
                <a:tc>
                  <a:txBody>
                    <a:bodyPr wrap="square"/>
                    <a:lstStyle/>
                    <a:p>
                      <a:r>
                        <a:rPr sz="1300">
                          <a:solidFill>
                            <a:srgbClr val="1B1F24"/>
                          </a:solidFill>
                          <a:latin typeface="Malgun Gothic"/>
                        </a:rPr>
                        <a:t>카드·블로그</a:t>
                      </a:r>
                    </a:p>
                  </a:txBody>
                  <a:tcPr marL="54864" marR="54864" marT="27432" marB="27432" anchor="ctr">
                    <a:solidFill>
                      <a:srgbClr val="DCE8F5"/>
                    </a:solidFill>
                  </a:tcPr>
                </a:tc>
              </a:tr>
              <a:tr h="512064">
                <a:tc>
                  <a:txBody>
                    <a:bodyPr wrap="square"/>
                    <a:lstStyle/>
                    <a:p>
                      <a:r>
                        <a:rPr sz="1300" b="1">
                          <a:solidFill>
                            <a:srgbClr val="1B1F24"/>
                          </a:solidFill>
                          <a:latin typeface="Malgun Gothic"/>
                        </a:rPr>
                        <a:t>d1-3B</a:t>
                      </a:r>
                    </a:p>
                  </a:txBody>
                  <a:tcPr marL="54864" marR="54864" marT="27432" marB="27432" anchor="ctr">
                    <a:solidFill>
                      <a:srgbClr val="FFFFFF"/>
                    </a:solidFill>
                  </a:tcPr>
                </a:tc>
                <a:tc>
                  <a:txBody>
                    <a:bodyPr wrap="square"/>
                    <a:lstStyle/>
                    <a:p>
                      <a:r>
                        <a:rPr sz="1300">
                          <a:solidFill>
                            <a:srgbClr val="1B1F24"/>
                          </a:solidFill>
                          <a:latin typeface="Malgun Gothic"/>
                        </a:rPr>
                        <a:t>LFM2.5-VL-3B 디코더 VLM</a:t>
                      </a:r>
                    </a:p>
                  </a:txBody>
                  <a:tcPr marL="54864" marR="54864" marT="27432" marB="27432" anchor="ctr">
                    <a:solidFill>
                      <a:srgbClr val="FFFFFF"/>
                    </a:solidFill>
                  </a:tcPr>
                </a:tc>
                <a:tc>
                  <a:txBody>
                    <a:bodyPr wrap="square"/>
                    <a:lstStyle/>
                    <a:p>
                      <a:r>
                        <a:rPr sz="1300">
                          <a:solidFill>
                            <a:srgbClr val="1B1F24"/>
                          </a:solidFill>
                          <a:latin typeface="Malgun Gothic"/>
                        </a:rPr>
                        <a:t>카드에 없음</a:t>
                      </a:r>
                    </a:p>
                  </a:txBody>
                  <a:tcPr marL="54864" marR="54864" marT="27432" marB="27432" anchor="ctr">
                    <a:solidFill>
                      <a:srgbClr val="FFFFFF"/>
                    </a:solidFill>
                  </a:tcPr>
                </a:tc>
                <a:tc>
                  <a:txBody>
                    <a:bodyPr wrap="square"/>
                    <a:lstStyle/>
                    <a:p>
                      <a:r>
                        <a:rPr sz="1300">
                          <a:solidFill>
                            <a:srgbClr val="1B1F24"/>
                          </a:solidFill>
                          <a:latin typeface="Malgun Gothic"/>
                        </a:rPr>
                        <a:t>카드</a:t>
                      </a:r>
                    </a:p>
                  </a:txBody>
                  <a:tcPr marL="54864" marR="54864" marT="27432" marB="27432" anchor="ctr">
                    <a:solidFill>
                      <a:srgbClr val="FFFFFF"/>
                    </a:solidFill>
                  </a:tcPr>
                </a:tc>
              </a:tr>
              <a:tr h="512064">
                <a:tc>
                  <a:txBody>
                    <a:bodyPr wrap="square"/>
                    <a:lstStyle/>
                    <a:p>
                      <a:r>
                        <a:rPr sz="1300" b="1">
                          <a:solidFill>
                            <a:srgbClr val="1B1F24"/>
                          </a:solidFill>
                          <a:latin typeface="Malgun Gothic"/>
                        </a:rPr>
                        <a:t>d1-omni-600M</a:t>
                      </a:r>
                    </a:p>
                  </a:txBody>
                  <a:tcPr marL="54864" marR="54864" marT="27432" marB="27432" anchor="ctr">
                    <a:solidFill>
                      <a:srgbClr val="DCE8F5"/>
                    </a:solidFill>
                  </a:tcPr>
                </a:tc>
                <a:tc>
                  <a:txBody>
                    <a:bodyPr wrap="square"/>
                    <a:lstStyle/>
                    <a:p>
                      <a:r>
                        <a:rPr sz="1300">
                          <a:solidFill>
                            <a:srgbClr val="1B1F24"/>
                          </a:solidFill>
                          <a:latin typeface="Malgun Gothic"/>
                        </a:rPr>
                        <a:t>양방향 인코더 + 비전·오디오</a:t>
                      </a:r>
                    </a:p>
                  </a:txBody>
                  <a:tcPr marL="54864" marR="54864" marT="27432" marB="27432" anchor="ctr">
                    <a:solidFill>
                      <a:srgbClr val="DCE8F5"/>
                    </a:solidFill>
                  </a:tcPr>
                </a:tc>
                <a:tc>
                  <a:txBody>
                    <a:bodyPr wrap="square"/>
                    <a:lstStyle/>
                    <a:p>
                      <a:r>
                        <a:rPr sz="1300">
                          <a:solidFill>
                            <a:srgbClr val="1B1F24"/>
                          </a:solidFill>
                          <a:latin typeface="Malgun Gothic"/>
                        </a:rPr>
                        <a:t>결정 헤드 + 유형별 온도</a:t>
                      </a:r>
                    </a:p>
                  </a:txBody>
                  <a:tcPr marL="54864" marR="54864" marT="27432" marB="27432" anchor="ctr">
                    <a:solidFill>
                      <a:srgbClr val="DCE8F5"/>
                    </a:solidFill>
                  </a:tcPr>
                </a:tc>
                <a:tc>
                  <a:txBody>
                    <a:bodyPr wrap="square"/>
                    <a:lstStyle/>
                    <a:p>
                      <a:r>
                        <a:rPr sz="1300">
                          <a:solidFill>
                            <a:srgbClr val="1B1F24"/>
                          </a:solidFill>
                          <a:latin typeface="Malgun Gothic"/>
                        </a:rPr>
                        <a:t>카드</a:t>
                      </a:r>
                    </a:p>
                  </a:txBody>
                  <a:tcPr marL="54864" marR="54864" marT="27432" marB="27432" anchor="ctr">
                    <a:solidFill>
                      <a:srgbClr val="DCE8F5"/>
                    </a:solidFill>
                  </a:tcPr>
                </a:tc>
              </a:tr>
              <a:tr h="512064">
                <a:tc>
                  <a:txBody>
                    <a:bodyPr wrap="square"/>
                    <a:lstStyle/>
                    <a:p>
                      <a:r>
                        <a:rPr sz="1300" b="1">
                          <a:solidFill>
                            <a:srgbClr val="1B1F24"/>
                          </a:solidFill>
                          <a:latin typeface="Malgun Gothic"/>
                        </a:rPr>
                        <a:t>GLiNER2.5-Decide</a:t>
                      </a:r>
                    </a:p>
                  </a:txBody>
                  <a:tcPr marL="54864" marR="54864" marT="27432" marB="27432" anchor="ctr">
                    <a:solidFill>
                      <a:srgbClr val="FFFFFF"/>
                    </a:solidFill>
                  </a:tcPr>
                </a:tc>
                <a:tc>
                  <a:txBody>
                    <a:bodyPr wrap="square"/>
                    <a:lstStyle/>
                    <a:p>
                      <a:r>
                        <a:rPr sz="1300">
                          <a:solidFill>
                            <a:srgbClr val="1B1F24"/>
                          </a:solidFill>
                          <a:latin typeface="Malgun Gothic"/>
                        </a:rPr>
                        <a:t>DeBERTa-v3-large 340M</a:t>
                      </a:r>
                    </a:p>
                  </a:txBody>
                  <a:tcPr marL="54864" marR="54864" marT="27432" marB="27432" anchor="ctr">
                    <a:solidFill>
                      <a:srgbClr val="FFFFFF"/>
                    </a:solidFill>
                  </a:tcPr>
                </a:tc>
                <a:tc>
                  <a:txBody>
                    <a:bodyPr wrap="square"/>
                    <a:lstStyle/>
                    <a:p>
                      <a:r>
                        <a:rPr sz="1300">
                          <a:solidFill>
                            <a:srgbClr val="1B1F24"/>
                          </a:solidFill>
                          <a:latin typeface="Malgun Gothic"/>
                        </a:rPr>
                        <a:t>라벨을 호출 시 입력, 다중 헤드</a:t>
                      </a:r>
                    </a:p>
                  </a:txBody>
                  <a:tcPr marL="54864" marR="54864" marT="27432" marB="27432" anchor="ctr">
                    <a:solidFill>
                      <a:srgbClr val="FFFFFF"/>
                    </a:solidFill>
                  </a:tcPr>
                </a:tc>
                <a:tc>
                  <a:txBody>
                    <a:bodyPr wrap="square"/>
                    <a:lstStyle/>
                    <a:p>
                      <a:r>
                        <a:rPr sz="1300">
                          <a:solidFill>
                            <a:srgbClr val="1B1F24"/>
                          </a:solidFill>
                          <a:latin typeface="Malgun Gothic"/>
                        </a:rPr>
                        <a:t>카드</a:t>
                      </a:r>
                    </a:p>
                  </a:txBody>
                  <a:tcPr marL="54864" marR="54864" marT="27432" marB="27432" anchor="ctr">
                    <a:solidFill>
                      <a:srgbClr val="FFFFFF"/>
                    </a:solidFill>
                  </a:tcPr>
                </a:tc>
              </a:tr>
              <a:tr h="512064">
                <a:tc>
                  <a:txBody>
                    <a:bodyPr wrap="square"/>
                    <a:lstStyle/>
                    <a:p>
                      <a:r>
                        <a:rPr sz="1300" b="1">
                          <a:solidFill>
                            <a:srgbClr val="1B1F24"/>
                          </a:solidFill>
                          <a:latin typeface="Malgun Gothic"/>
                        </a:rPr>
                        <a:t>Kev</a:t>
                      </a:r>
                    </a:p>
                  </a:txBody>
                  <a:tcPr marL="54864" marR="54864" marT="27432" marB="27432" anchor="ctr">
                    <a:solidFill>
                      <a:srgbClr val="DCE8F5"/>
                    </a:solidFill>
                  </a:tcPr>
                </a:tc>
                <a:tc>
                  <a:txBody>
                    <a:bodyPr wrap="square"/>
                    <a:lstStyle/>
                    <a:p>
                      <a:r>
                        <a:rPr sz="1300">
                          <a:solidFill>
                            <a:srgbClr val="1B1F24"/>
                          </a:solidFill>
                          <a:latin typeface="Malgun Gothic"/>
                        </a:rPr>
                        <a:t>Qwen + LoRA r16 + 포인터 헤드</a:t>
                      </a:r>
                    </a:p>
                  </a:txBody>
                  <a:tcPr marL="54864" marR="54864" marT="27432" marB="27432" anchor="ctr">
                    <a:solidFill>
                      <a:srgbClr val="DCE8F5"/>
                    </a:solidFill>
                  </a:tcPr>
                </a:tc>
                <a:tc>
                  <a:txBody>
                    <a:bodyPr wrap="square"/>
                    <a:lstStyle/>
                    <a:p>
                      <a:r>
                        <a:rPr sz="1300">
                          <a:solidFill>
                            <a:srgbClr val="1B1F24"/>
                          </a:solidFill>
                          <a:latin typeface="Malgun Gothic"/>
                        </a:rPr>
                        <a:t>결정 토큰 대 선택지, 온도 동봉</a:t>
                      </a:r>
                    </a:p>
                  </a:txBody>
                  <a:tcPr marL="54864" marR="54864" marT="27432" marB="27432" anchor="ctr">
                    <a:solidFill>
                      <a:srgbClr val="DCE8F5"/>
                    </a:solidFill>
                  </a:tcPr>
                </a:tc>
                <a:tc>
                  <a:txBody>
                    <a:bodyPr wrap="square"/>
                    <a:lstStyle/>
                    <a:p>
                      <a:r>
                        <a:rPr sz="1300">
                          <a:solidFill>
                            <a:srgbClr val="1B1F24"/>
                          </a:solidFill>
                          <a:latin typeface="Malgun Gothic"/>
                        </a:rPr>
                        <a:t>집계</a:t>
                      </a:r>
                    </a:p>
                  </a:txBody>
                  <a:tcPr marL="54864" marR="54864" marT="27432" marB="27432" anchor="ctr">
                    <a:solidFill>
                      <a:srgbClr val="DCE8F5"/>
                    </a:solidFill>
                  </a:tcPr>
                </a:tc>
              </a:tr>
              <a:tr h="512064">
                <a:tc>
                  <a:txBody>
                    <a:bodyPr wrap="square"/>
                    <a:lstStyle/>
                    <a:p>
                      <a:r>
                        <a:rPr sz="1300" b="1">
                          <a:solidFill>
                            <a:srgbClr val="1B1F24"/>
                          </a:solidFill>
                          <a:latin typeface="Malgun Gothic"/>
                        </a:rPr>
                        <a:t>Von</a:t>
                      </a:r>
                    </a:p>
                  </a:txBody>
                  <a:tcPr marL="54864" marR="54864" marT="27432" marB="27432" anchor="ctr">
                    <a:solidFill>
                      <a:srgbClr val="FFFFFF"/>
                    </a:solidFill>
                  </a:tcPr>
                </a:tc>
                <a:tc>
                  <a:txBody>
                    <a:bodyPr wrap="square"/>
                    <a:lstStyle/>
                    <a:p>
                      <a:r>
                        <a:rPr sz="1300">
                          <a:solidFill>
                            <a:srgbClr val="1B1F24"/>
                          </a:solidFill>
                          <a:latin typeface="Malgun Gothic"/>
                        </a:rPr>
                        <a:t>ModernBERT 395M</a:t>
                      </a:r>
                    </a:p>
                  </a:txBody>
                  <a:tcPr marL="54864" marR="54864" marT="27432" marB="27432" anchor="ctr">
                    <a:solidFill>
                      <a:srgbClr val="FFFFFF"/>
                    </a:solidFill>
                  </a:tcPr>
                </a:tc>
                <a:tc>
                  <a:txBody>
                    <a:bodyPr wrap="square"/>
                    <a:lstStyle/>
                    <a:p>
                      <a:r>
                        <a:rPr sz="1300">
                          <a:solidFill>
                            <a:srgbClr val="1B1F24"/>
                          </a:solidFill>
                          <a:latin typeface="Malgun Gothic"/>
                        </a:rPr>
                        <a:t>선택지 마커를 한 번에 점수화</a:t>
                      </a:r>
                    </a:p>
                  </a:txBody>
                  <a:tcPr marL="54864" marR="54864" marT="27432" marB="27432" anchor="ctr">
                    <a:solidFill>
                      <a:srgbClr val="FFFFFF"/>
                    </a:solidFill>
                  </a:tcPr>
                </a:tc>
                <a:tc>
                  <a:txBody>
                    <a:bodyPr wrap="square"/>
                    <a:lstStyle/>
                    <a:p>
                      <a:r>
                        <a:rPr sz="1300">
                          <a:solidFill>
                            <a:srgbClr val="1B1F24"/>
                          </a:solidFill>
                          <a:latin typeface="Malgun Gothic"/>
                        </a:rPr>
                        <a:t>집계</a:t>
                      </a:r>
                    </a:p>
                  </a:txBody>
                  <a:tcPr marL="54864" marR="54864" marT="27432" marB="27432" anchor="ctr">
                    <a:solidFill>
                      <a:srgbClr val="FFFFFF"/>
                    </a:solidFill>
                  </a:tcPr>
                </a:tc>
              </a:tr>
              <a:tr h="512064">
                <a:tc>
                  <a:txBody>
                    <a:bodyPr wrap="square"/>
                    <a:lstStyle/>
                    <a:p>
                      <a:r>
                        <a:rPr sz="1300" b="1">
                          <a:solidFill>
                            <a:srgbClr val="1B1F24"/>
                          </a:solidFill>
                          <a:latin typeface="Malgun Gothic"/>
                        </a:rPr>
                        <a:t>CLM-8B</a:t>
                      </a:r>
                    </a:p>
                  </a:txBody>
                  <a:tcPr marL="54864" marR="54864" marT="27432" marB="27432" anchor="ctr">
                    <a:solidFill>
                      <a:srgbClr val="DCE8F5"/>
                    </a:solidFill>
                  </a:tcPr>
                </a:tc>
                <a:tc>
                  <a:txBody>
                    <a:bodyPr wrap="square"/>
                    <a:lstStyle/>
                    <a:p>
                      <a:r>
                        <a:rPr sz="1300">
                          <a:solidFill>
                            <a:srgbClr val="1B1F24"/>
                          </a:solidFill>
                          <a:latin typeface="Malgun Gothic"/>
                        </a:rPr>
                        <a:t>동결 Qwen3-8B + 프로젝션</a:t>
                      </a:r>
                    </a:p>
                  </a:txBody>
                  <a:tcPr marL="54864" marR="54864" marT="27432" marB="27432" anchor="ctr">
                    <a:solidFill>
                      <a:srgbClr val="DCE8F5"/>
                    </a:solidFill>
                  </a:tcPr>
                </a:tc>
                <a:tc>
                  <a:txBody>
                    <a:bodyPr wrap="square"/>
                    <a:lstStyle/>
                    <a:p>
                      <a:r>
                        <a:rPr sz="1300">
                          <a:solidFill>
                            <a:srgbClr val="1B1F24"/>
                          </a:solidFill>
                          <a:latin typeface="Malgun Gothic"/>
                        </a:rPr>
                        <a:t>InfoNCE 유사도 softmax</a:t>
                      </a:r>
                    </a:p>
                  </a:txBody>
                  <a:tcPr marL="54864" marR="54864" marT="27432" marB="27432" anchor="ctr">
                    <a:solidFill>
                      <a:srgbClr val="DCE8F5"/>
                    </a:solidFill>
                  </a:tcPr>
                </a:tc>
                <a:tc>
                  <a:txBody>
                    <a:bodyPr wrap="square"/>
                    <a:lstStyle/>
                    <a:p>
                      <a:r>
                        <a:rPr sz="1300">
                          <a:solidFill>
                            <a:srgbClr val="1B1F24"/>
                          </a:solidFill>
                          <a:latin typeface="Malgun Gothic"/>
                        </a:rPr>
                        <a:t>집계</a:t>
                      </a:r>
                    </a:p>
                  </a:txBody>
                  <a:tcPr marL="54864" marR="54864" marT="27432" marB="27432" anchor="ctr">
                    <a:solidFill>
                      <a:srgbClr val="DCE8F5"/>
                    </a:solidFill>
                  </a:tcPr>
                </a:tc>
              </a:tr>
              <a:tr h="512064">
                <a:tc>
                  <a:txBody>
                    <a:bodyPr wrap="square"/>
                    <a:lstStyle/>
                    <a:p>
                      <a:r>
                        <a:rPr sz="1300" b="1">
                          <a:solidFill>
                            <a:srgbClr val="1B1F24"/>
                          </a:solidFill>
                          <a:latin typeface="Malgun Gothic"/>
                        </a:rPr>
                        <a:t>Jev</a:t>
                      </a:r>
                    </a:p>
                  </a:txBody>
                  <a:tcPr marL="54864" marR="54864" marT="27432" marB="27432" anchor="ctr">
                    <a:solidFill>
                      <a:srgbClr val="FFFFFF"/>
                    </a:solidFill>
                  </a:tcPr>
                </a:tc>
                <a:tc>
                  <a:txBody>
                    <a:bodyPr wrap="square"/>
                    <a:lstStyle/>
                    <a:p>
                      <a:r>
                        <a:rPr sz="1300" b="1">
                          <a:solidFill>
                            <a:srgbClr val="C0634A"/>
                          </a:solidFill>
                          <a:latin typeface="Malgun Gothic"/>
                        </a:rPr>
                        <a:t>비공개</a:t>
                      </a:r>
                    </a:p>
                  </a:txBody>
                  <a:tcPr marL="54864" marR="54864" marT="27432" marB="27432" anchor="ctr">
                    <a:solidFill>
                      <a:srgbClr val="FFFFFF"/>
                    </a:solidFill>
                  </a:tcPr>
                </a:tc>
                <a:tc>
                  <a:txBody>
                    <a:bodyPr wrap="square"/>
                    <a:lstStyle/>
                    <a:p>
                      <a:r>
                        <a:rPr sz="1300" b="1">
                          <a:solidFill>
                            <a:srgbClr val="C0634A"/>
                          </a:solidFill>
                          <a:latin typeface="Malgun Gothic"/>
                        </a:rPr>
                        <a:t>비공개</a:t>
                      </a:r>
                    </a:p>
                  </a:txBody>
                  <a:tcPr marL="54864" marR="54864" marT="27432" marB="27432" anchor="ctr">
                    <a:solidFill>
                      <a:srgbClr val="FFFFFF"/>
                    </a:solidFill>
                  </a:tcPr>
                </a:tc>
                <a:tc>
                  <a:txBody>
                    <a:bodyPr wrap="square"/>
                    <a:lstStyle/>
                    <a:p>
                      <a:r>
                        <a:rPr sz="1300">
                          <a:solidFill>
                            <a:srgbClr val="1B1F24"/>
                          </a:solidFill>
                          <a:latin typeface="Malgun Gothic"/>
                        </a:rPr>
                        <a:t>—</a:t>
                      </a:r>
                    </a:p>
                  </a:txBody>
                  <a:tcPr marL="54864" marR="54864"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Jev 내부 — 공개된 것과 아닌 것</a:t>
            </a:r>
          </a:p>
        </p:txBody>
      </p:sp>
      <p:sp>
        <p:nvSpPr>
          <p:cNvPr id="4" name="TextBox 3"/>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5" name="TextBox 4"/>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15</a:t>
            </a:r>
          </a:p>
        </p:txBody>
      </p:sp>
      <p:sp>
        <p:nvSpPr>
          <p:cNvPr id="6" name="Rounded Rectangle 5"/>
          <p:cNvSpPr/>
          <p:nvPr/>
        </p:nvSpPr>
        <p:spPr>
          <a:xfrm>
            <a:off x="640080" y="1371600"/>
            <a:ext cx="5303520" cy="4754880"/>
          </a:xfrm>
          <a:prstGeom prst="roundRect">
            <a:avLst>
              <a:gd name="adj" fmla="val 8000"/>
            </a:avLst>
          </a:prstGeom>
          <a:solidFill>
            <a:srgbClr val="EEF7EE"/>
          </a:solidFill>
          <a:ln w="15875">
            <a:solidFill>
              <a:srgbClr val="5A9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4937760" cy="457200"/>
          </a:xfrm>
          <a:prstGeom prst="rect">
            <a:avLst/>
          </a:prstGeom>
          <a:noFill/>
        </p:spPr>
        <p:txBody>
          <a:bodyPr wrap="square" anchor="t" lIns="45720" rIns="45720" tIns="27432" bIns="27432">
            <a:spAutoFit/>
          </a:bodyPr>
          <a:lstStyle/>
          <a:p>
            <a:pPr algn="l">
              <a:lnSpc>
                <a:spcPct val="110000"/>
              </a:lnSpc>
            </a:pPr>
            <a:r>
              <a:rPr sz="2000" b="1">
                <a:solidFill>
                  <a:srgbClr val="22502A"/>
                </a:solidFill>
                <a:latin typeface="Malgun Gothic"/>
              </a:rPr>
              <a:t>공식 진술 (3문장)</a:t>
            </a:r>
          </a:p>
        </p:txBody>
      </p:sp>
      <p:sp>
        <p:nvSpPr>
          <p:cNvPr id="8" name="TextBox 7"/>
          <p:cNvSpPr txBox="1"/>
          <p:nvPr/>
        </p:nvSpPr>
        <p:spPr>
          <a:xfrm>
            <a:off x="822960" y="2103120"/>
            <a:ext cx="4937760" cy="320040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‘새 모델 아키텍처 + 병렬 샘플러’</a:t>
            </a:r>
          </a:p>
          <a:p>
            <a:pPr algn="l">
              <a:lnSpc>
                <a:spcPct val="110000"/>
              </a:lnSpc>
            </a:pPr>
            <a:r>
              <a:rPr sz="1800" b="0">
                <a:solidFill>
                  <a:srgbClr val="1B1F24"/>
                </a:solidFill>
                <a:latin typeface="Malgun Gothic"/>
              </a:rPr>
              <a:t>‘모든 출력이 하나의 쿼리에서 생성’</a:t>
            </a:r>
          </a:p>
          <a:p>
            <a:pPr algn="l">
              <a:lnSpc>
                <a:spcPct val="110000"/>
              </a:lnSpc>
            </a:pPr>
            <a:r>
              <a:rPr sz="1800" b="0">
                <a:solidFill>
                  <a:srgbClr val="1B1F24"/>
                </a:solidFill>
                <a:latin typeface="Malgun Gothic"/>
              </a:rPr>
              <a:t>RLCD: 교정된 결정을 위한 강화학습</a:t>
            </a:r>
          </a:p>
          <a:p>
            <a:pPr algn="l">
              <a:lnSpc>
                <a:spcPct val="110000"/>
              </a:lnSpc>
            </a:pPr>
            <a:r>
              <a:rPr sz="1800" b="0">
                <a:solidFill>
                  <a:srgbClr val="1B1F24"/>
                </a:solidFill>
                <a:latin typeface="Malgun Gothic"/>
              </a:rPr>
              <a:t/>
            </a:r>
          </a:p>
          <a:p>
            <a:pPr algn="l">
              <a:lnSpc>
                <a:spcPct val="110000"/>
              </a:lnSpc>
            </a:pPr>
            <a:r>
              <a:rPr sz="1800" b="0">
                <a:solidFill>
                  <a:srgbClr val="1B1F24"/>
                </a:solidFill>
                <a:latin typeface="Malgun Gothic"/>
              </a:rPr>
              <a:t>컨텍스트 64k(질문당 32k) · $0.042/MTok</a:t>
            </a:r>
          </a:p>
          <a:p>
            <a:pPr algn="l">
              <a:lnSpc>
                <a:spcPct val="110000"/>
              </a:lnSpc>
            </a:pPr>
            <a:r>
              <a:rPr sz="1800" b="0">
                <a:solidFill>
                  <a:srgbClr val="1B1F24"/>
                </a:solidFill>
                <a:latin typeface="Malgun Gothic"/>
              </a:rPr>
              <a:t>1.14: box 타입 추가</a:t>
            </a:r>
          </a:p>
        </p:txBody>
      </p:sp>
      <p:sp>
        <p:nvSpPr>
          <p:cNvPr id="9" name="Rounded Rectangle 8"/>
          <p:cNvSpPr/>
          <p:nvPr/>
        </p:nvSpPr>
        <p:spPr>
          <a:xfrm>
            <a:off x="6217920" y="1371600"/>
            <a:ext cx="5303520" cy="4754880"/>
          </a:xfrm>
          <a:prstGeom prst="roundRect">
            <a:avLst>
              <a:gd name="adj" fmla="val 8000"/>
            </a:avLst>
          </a:prstGeom>
          <a:solidFill>
            <a:srgbClr val="FDF1EE"/>
          </a:solidFill>
          <a:ln w="15875">
            <a:solidFill>
              <a:srgbClr val="C06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63040"/>
            <a:ext cx="4937760" cy="457200"/>
          </a:xfrm>
          <a:prstGeom prst="rect">
            <a:avLst/>
          </a:prstGeom>
          <a:noFill/>
        </p:spPr>
        <p:txBody>
          <a:bodyPr wrap="square" anchor="t" lIns="45720" rIns="45720" tIns="27432" bIns="27432">
            <a:spAutoFit/>
          </a:bodyPr>
          <a:lstStyle/>
          <a:p>
            <a:pPr algn="l">
              <a:lnSpc>
                <a:spcPct val="110000"/>
              </a:lnSpc>
            </a:pPr>
            <a:r>
              <a:rPr sz="2000" b="1">
                <a:solidFill>
                  <a:srgbClr val="6B2A1A"/>
                </a:solidFill>
                <a:latin typeface="Malgun Gothic"/>
              </a:rPr>
              <a:t>비공개 · 미확인</a:t>
            </a:r>
          </a:p>
        </p:txBody>
      </p:sp>
      <p:sp>
        <p:nvSpPr>
          <p:cNvPr id="11" name="TextBox 10"/>
          <p:cNvSpPr txBox="1"/>
          <p:nvPr/>
        </p:nvSpPr>
        <p:spPr>
          <a:xfrm>
            <a:off x="6400800" y="2103120"/>
            <a:ext cx="4937760" cy="320040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베이스 모델 · 크기 · 헤드 구조</a:t>
            </a:r>
          </a:p>
          <a:p>
            <a:pPr algn="l">
              <a:lnSpc>
                <a:spcPct val="110000"/>
              </a:lnSpc>
            </a:pPr>
            <a:r>
              <a:rPr sz="1800" b="0">
                <a:solidFill>
                  <a:srgbClr val="1B1F24"/>
                </a:solidFill>
                <a:latin typeface="Malgun Gothic"/>
              </a:rPr>
              <a:t>학습 데이터</a:t>
            </a:r>
          </a:p>
          <a:p>
            <a:pPr algn="l">
              <a:lnSpc>
                <a:spcPct val="110000"/>
              </a:lnSpc>
            </a:pPr>
            <a:r>
              <a:rPr sz="1800" b="0">
                <a:solidFill>
                  <a:srgbClr val="1B1F24"/>
                </a:solidFill>
                <a:latin typeface="Malgun Gothic"/>
              </a:rPr>
              <a:t>output_tokens ≈ 질문당 20의 의미</a:t>
            </a:r>
          </a:p>
          <a:p>
            <a:pPr algn="l">
              <a:lnSpc>
                <a:spcPct val="110000"/>
              </a:lnSpc>
            </a:pPr>
            <a:r>
              <a:rPr sz="1800" b="0">
                <a:solidFill>
                  <a:srgbClr val="1B1F24"/>
                </a:solidFill>
                <a:latin typeface="Malgun Gothic"/>
              </a:rPr>
              <a:t>어휘 판독인지 헤드형인지</a:t>
            </a:r>
          </a:p>
          <a:p>
            <a:pPr algn="l">
              <a:lnSpc>
                <a:spcPct val="110000"/>
              </a:lnSpc>
            </a:pPr>
            <a:r>
              <a:rPr sz="1800" b="0">
                <a:solidFill>
                  <a:srgbClr val="1B1F24"/>
                </a:solidFill>
                <a:latin typeface="Malgun Gothic"/>
              </a:rPr>
              <a:t/>
            </a:r>
          </a:p>
          <a:p>
            <a:pPr algn="l">
              <a:lnSpc>
                <a:spcPct val="110000"/>
              </a:lnSpc>
            </a:pPr>
            <a:r>
              <a:rPr sz="1800" b="0">
                <a:solidFill>
                  <a:srgbClr val="1B1F24"/>
                </a:solidFill>
                <a:latin typeface="Malgun Gothic"/>
              </a:rPr>
              <a:t>정황: 첫 선택지 편향 인정,</a:t>
            </a:r>
          </a:p>
          <a:p>
            <a:pPr algn="l">
              <a:lnSpc>
                <a:spcPct val="110000"/>
              </a:lnSpc>
            </a:pPr>
            <a:r>
              <a:rPr sz="1800" b="0">
                <a:solidFill>
                  <a:srgbClr val="1B1F24"/>
                </a:solidFill>
                <a:latin typeface="Malgun Gothic"/>
              </a:rPr>
              <a:t>score 레벨 독립 판단 서술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직접 돌리기</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호스팅은 JSON 그대로, 자체 호스팅은 요건이 제각각</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16</a:t>
            </a:r>
          </a:p>
        </p:txBody>
      </p:sp>
      <p:graphicFrame>
        <p:nvGraphicFramePr>
          <p:cNvPr id="7" name="Table 6"/>
          <p:cNvGraphicFramePr>
            <a:graphicFrameLocks noGrp="1"/>
          </p:cNvGraphicFramePr>
          <p:nvPr/>
        </p:nvGraphicFramePr>
        <p:xfrm>
          <a:off x="548640" y="1463040"/>
          <a:ext cx="7132318" cy="4773168"/>
        </p:xfrm>
        <a:graphic>
          <a:graphicData uri="http://schemas.openxmlformats.org/drawingml/2006/table">
            <a:tbl>
              <a:tblPr firstRow="1" bandRow="1">
                <a:tableStyleId>{5C22544A-7EE6-4342-B048-85BDC9FD1C3A}</a:tableStyleId>
              </a:tblPr>
              <a:tblGrid>
                <a:gridCol w="1711756"/>
                <a:gridCol w="4374489"/>
                <a:gridCol w="1046073"/>
              </a:tblGrid>
              <a:tr h="530352">
                <a:tc>
                  <a:txBody>
                    <a:bodyPr wrap="square"/>
                    <a:lstStyle/>
                    <a:p>
                      <a:r>
                        <a:rPr sz="1200" b="1">
                          <a:solidFill>
                            <a:srgbClr val="FFFFFF"/>
                          </a:solidFill>
                          <a:latin typeface="Malgun Gothic"/>
                        </a:rPr>
                        <a:t>모델</a:t>
                      </a:r>
                    </a:p>
                  </a:txBody>
                  <a:tcPr marL="54864" marR="54864" marT="27432" marB="27432" anchor="ctr">
                    <a:solidFill>
                      <a:srgbClr val="1F4E79"/>
                    </a:solidFill>
                  </a:tcPr>
                </a:tc>
                <a:tc>
                  <a:txBody>
                    <a:bodyPr wrap="square"/>
                    <a:lstStyle/>
                    <a:p>
                      <a:r>
                        <a:rPr sz="1200" b="1">
                          <a:solidFill>
                            <a:srgbClr val="FFFFFF"/>
                          </a:solidFill>
                          <a:latin typeface="Malgun Gothic"/>
                        </a:rPr>
                        <a:t>요건 · 실행</a:t>
                      </a:r>
                    </a:p>
                  </a:txBody>
                  <a:tcPr marL="54864" marR="54864" marT="27432" marB="27432" anchor="ctr">
                    <a:solidFill>
                      <a:srgbClr val="1F4E79"/>
                    </a:solidFill>
                  </a:tcPr>
                </a:tc>
                <a:tc>
                  <a:txBody>
                    <a:bodyPr wrap="square"/>
                    <a:lstStyle/>
                    <a:p>
                      <a:r>
                        <a:rPr sz="1200" b="1">
                          <a:solidFill>
                            <a:srgbClr val="FFFFFF"/>
                          </a:solidFill>
                          <a:latin typeface="Malgun Gothic"/>
                        </a:rPr>
                        <a:t>근거</a:t>
                      </a:r>
                    </a:p>
                  </a:txBody>
                  <a:tcPr marL="54864" marR="54864" marT="27432" marB="27432" anchor="ctr">
                    <a:solidFill>
                      <a:srgbClr val="1F4E79"/>
                    </a:solidFill>
                  </a:tcPr>
                </a:tc>
              </a:tr>
              <a:tr h="530352">
                <a:tc>
                  <a:txBody>
                    <a:bodyPr wrap="square"/>
                    <a:lstStyle/>
                    <a:p>
                      <a:r>
                        <a:rPr sz="1200" b="1">
                          <a:solidFill>
                            <a:srgbClr val="1B1F24"/>
                          </a:solidFill>
                          <a:latin typeface="Malgun Gothic"/>
                        </a:rPr>
                        <a:t>d1-3B</a:t>
                      </a:r>
                    </a:p>
                  </a:txBody>
                  <a:tcPr marL="54864" marR="54864" marT="27432" marB="27432" anchor="ctr">
                    <a:solidFill>
                      <a:srgbClr val="DCE8F5"/>
                    </a:solidFill>
                  </a:tcPr>
                </a:tc>
                <a:tc>
                  <a:txBody>
                    <a:bodyPr wrap="square"/>
                    <a:lstStyle/>
                    <a:p>
                      <a:r>
                        <a:rPr sz="1200">
                          <a:solidFill>
                            <a:srgbClr val="1B1F24"/>
                          </a:solidFill>
                          <a:latin typeface="Malgun Gothic"/>
                        </a:rPr>
                        <a:t>transformers ≥ 5.14, bf16 · RTX 4090 8 ms · Orin Nano 50 ms</a:t>
                      </a:r>
                    </a:p>
                  </a:txBody>
                  <a:tcPr marL="54864" marR="54864" marT="27432" marB="27432" anchor="ctr">
                    <a:solidFill>
                      <a:srgbClr val="DCE8F5"/>
                    </a:solidFill>
                  </a:tcPr>
                </a:tc>
                <a:tc>
                  <a:txBody>
                    <a:bodyPr wrap="square"/>
                    <a:lstStyle/>
                    <a:p>
                      <a:r>
                        <a:rPr sz="1200">
                          <a:solidFill>
                            <a:srgbClr val="1B1F24"/>
                          </a:solidFill>
                          <a:latin typeface="Malgun Gothic"/>
                        </a:rPr>
                        <a:t>카드·블로그</a:t>
                      </a:r>
                    </a:p>
                  </a:txBody>
                  <a:tcPr marL="54864" marR="54864" marT="27432" marB="27432" anchor="ctr">
                    <a:solidFill>
                      <a:srgbClr val="DCE8F5"/>
                    </a:solidFill>
                  </a:tcPr>
                </a:tc>
              </a:tr>
              <a:tr h="530352">
                <a:tc>
                  <a:txBody>
                    <a:bodyPr wrap="square"/>
                    <a:lstStyle/>
                    <a:p>
                      <a:r>
                        <a:rPr sz="1200" b="1">
                          <a:solidFill>
                            <a:srgbClr val="1B1F24"/>
                          </a:solidFill>
                          <a:latin typeface="Malgun Gothic"/>
                        </a:rPr>
                        <a:t>d1-omni-600M</a:t>
                      </a:r>
                    </a:p>
                  </a:txBody>
                  <a:tcPr marL="54864" marR="54864" marT="27432" marB="27432" anchor="ctr">
                    <a:solidFill>
                      <a:srgbClr val="FFFFFF"/>
                    </a:solidFill>
                  </a:tcPr>
                </a:tc>
                <a:tc>
                  <a:txBody>
                    <a:bodyPr wrap="square"/>
                    <a:lstStyle/>
                    <a:p>
                      <a:r>
                        <a:rPr sz="1200">
                          <a:solidFill>
                            <a:srgbClr val="1B1F24"/>
                          </a:solidFill>
                          <a:latin typeface="Malgun Gothic"/>
                        </a:rPr>
                        <a:t>transformers ≥ 5.15, fp16 · ctx 16,384</a:t>
                      </a:r>
                    </a:p>
                  </a:txBody>
                  <a:tcPr marL="54864" marR="54864" marT="27432" marB="27432" anchor="ctr">
                    <a:solidFill>
                      <a:srgbClr val="FFFFFF"/>
                    </a:solidFill>
                  </a:tcPr>
                </a:tc>
                <a:tc>
                  <a:txBody>
                    <a:bodyPr wrap="square"/>
                    <a:lstStyle/>
                    <a:p>
                      <a:r>
                        <a:rPr sz="1200">
                          <a:solidFill>
                            <a:srgbClr val="1B1F24"/>
                          </a:solidFill>
                          <a:latin typeface="Malgun Gothic"/>
                        </a:rPr>
                        <a:t>카드</a:t>
                      </a:r>
                    </a:p>
                  </a:txBody>
                  <a:tcPr marL="54864" marR="54864" marT="27432" marB="27432" anchor="ctr">
                    <a:solidFill>
                      <a:srgbClr val="FFFFFF"/>
                    </a:solidFill>
                  </a:tcPr>
                </a:tc>
              </a:tr>
              <a:tr h="530352">
                <a:tc>
                  <a:txBody>
                    <a:bodyPr wrap="square"/>
                    <a:lstStyle/>
                    <a:p>
                      <a:r>
                        <a:rPr sz="1200" b="1">
                          <a:solidFill>
                            <a:srgbClr val="1B1F24"/>
                          </a:solidFill>
                          <a:latin typeface="Malgun Gothic"/>
                        </a:rPr>
                        <a:t>GLiNER2.5-Decide</a:t>
                      </a:r>
                    </a:p>
                  </a:txBody>
                  <a:tcPr marL="54864" marR="54864" marT="27432" marB="27432" anchor="ctr">
                    <a:solidFill>
                      <a:srgbClr val="DCE8F5"/>
                    </a:solidFill>
                  </a:tcPr>
                </a:tc>
                <a:tc>
                  <a:txBody>
                    <a:bodyPr wrap="square"/>
                    <a:lstStyle/>
                    <a:p>
                      <a:r>
                        <a:rPr sz="1200">
                          <a:solidFill>
                            <a:srgbClr val="1B1F24"/>
                          </a:solidFill>
                          <a:latin typeface="Malgun Gothic"/>
                        </a:rPr>
                        <a:t>pip install gliner2 · CPU/GPU · 340M</a:t>
                      </a:r>
                    </a:p>
                  </a:txBody>
                  <a:tcPr marL="54864" marR="54864" marT="27432" marB="27432" anchor="ctr">
                    <a:solidFill>
                      <a:srgbClr val="DCE8F5"/>
                    </a:solidFill>
                  </a:tcPr>
                </a:tc>
                <a:tc>
                  <a:txBody>
                    <a:bodyPr wrap="square"/>
                    <a:lstStyle/>
                    <a:p>
                      <a:r>
                        <a:rPr sz="1200">
                          <a:solidFill>
                            <a:srgbClr val="1B1F24"/>
                          </a:solidFill>
                          <a:latin typeface="Malgun Gothic"/>
                        </a:rPr>
                        <a:t>카드</a:t>
                      </a:r>
                    </a:p>
                  </a:txBody>
                  <a:tcPr marL="54864" marR="54864" marT="27432" marB="27432" anchor="ctr">
                    <a:solidFill>
                      <a:srgbClr val="DCE8F5"/>
                    </a:solidFill>
                  </a:tcPr>
                </a:tc>
              </a:tr>
              <a:tr h="530352">
                <a:tc>
                  <a:txBody>
                    <a:bodyPr wrap="square"/>
                    <a:lstStyle/>
                    <a:p>
                      <a:r>
                        <a:rPr sz="1200" b="1">
                          <a:solidFill>
                            <a:srgbClr val="1B1F24"/>
                          </a:solidFill>
                          <a:latin typeface="Malgun Gothic"/>
                        </a:rPr>
                        <a:t>Clef 27B</a:t>
                      </a:r>
                    </a:p>
                  </a:txBody>
                  <a:tcPr marL="54864" marR="54864" marT="27432" marB="27432" anchor="ctr">
                    <a:solidFill>
                      <a:srgbClr val="FFFFFF"/>
                    </a:solidFill>
                  </a:tcPr>
                </a:tc>
                <a:tc>
                  <a:txBody>
                    <a:bodyPr wrap="square"/>
                    <a:lstStyle/>
                    <a:p>
                      <a:r>
                        <a:rPr sz="1200">
                          <a:solidFill>
                            <a:srgbClr val="1B1F24"/>
                          </a:solidFill>
                          <a:latin typeface="Malgun Gothic"/>
                        </a:rPr>
                        <a:t>단일 H200에서 테스트 · SGLang /v1/systemone · Docker</a:t>
                      </a:r>
                    </a:p>
                  </a:txBody>
                  <a:tcPr marL="54864" marR="54864" marT="27432" marB="27432" anchor="ctr">
                    <a:solidFill>
                      <a:srgbClr val="FFFFFF"/>
                    </a:solidFill>
                  </a:tcPr>
                </a:tc>
                <a:tc>
                  <a:txBody>
                    <a:bodyPr wrap="square"/>
                    <a:lstStyle/>
                    <a:p>
                      <a:r>
                        <a:rPr sz="1200">
                          <a:solidFill>
                            <a:srgbClr val="1B1F24"/>
                          </a:solidFill>
                          <a:latin typeface="Malgun Gothic"/>
                        </a:rPr>
                        <a:t>카드</a:t>
                      </a:r>
                    </a:p>
                  </a:txBody>
                  <a:tcPr marL="54864" marR="54864" marT="27432" marB="27432" anchor="ctr">
                    <a:solidFill>
                      <a:srgbClr val="FFFFFF"/>
                    </a:solidFill>
                  </a:tcPr>
                </a:tc>
              </a:tr>
              <a:tr h="530352">
                <a:tc>
                  <a:txBody>
                    <a:bodyPr wrap="square"/>
                    <a:lstStyle/>
                    <a:p>
                      <a:r>
                        <a:rPr sz="1200" b="1">
                          <a:solidFill>
                            <a:srgbClr val="1B1F24"/>
                          </a:solidFill>
                          <a:latin typeface="Malgun Gothic"/>
                        </a:rPr>
                        <a:t>pplx-decider v1.2 / flash</a:t>
                      </a:r>
                    </a:p>
                  </a:txBody>
                  <a:tcPr marL="54864" marR="54864" marT="27432" marB="27432" anchor="ctr">
                    <a:solidFill>
                      <a:srgbClr val="DCE8F5"/>
                    </a:solidFill>
                  </a:tcPr>
                </a:tc>
                <a:tc>
                  <a:txBody>
                    <a:bodyPr wrap="square"/>
                    <a:lstStyle/>
                    <a:p>
                      <a:r>
                        <a:rPr sz="1200">
                          <a:solidFill>
                            <a:srgbClr val="1B1F24"/>
                          </a:solidFill>
                          <a:latin typeface="Malgun Gothic"/>
                        </a:rPr>
                        <a:t>약 52 GiB / 약 9 GiB (맥 앱 16 GB)</a:t>
                      </a:r>
                    </a:p>
                  </a:txBody>
                  <a:tcPr marL="54864" marR="54864" marT="27432" marB="27432" anchor="ctr">
                    <a:solidFill>
                      <a:srgbClr val="DCE8F5"/>
                    </a:solidFill>
                  </a:tcPr>
                </a:tc>
                <a:tc>
                  <a:txBody>
                    <a:bodyPr wrap="square"/>
                    <a:lstStyle/>
                    <a:p>
                      <a:r>
                        <a:rPr sz="1200">
                          <a:solidFill>
                            <a:srgbClr val="1B1F24"/>
                          </a:solidFill>
                          <a:latin typeface="Malgun Gothic"/>
                        </a:rPr>
                        <a:t>집계</a:t>
                      </a:r>
                    </a:p>
                  </a:txBody>
                  <a:tcPr marL="54864" marR="54864" marT="27432" marB="27432" anchor="ctr">
                    <a:solidFill>
                      <a:srgbClr val="DCE8F5"/>
                    </a:solidFill>
                  </a:tcPr>
                </a:tc>
              </a:tr>
              <a:tr h="530352">
                <a:tc>
                  <a:txBody>
                    <a:bodyPr wrap="square"/>
                    <a:lstStyle/>
                    <a:p>
                      <a:r>
                        <a:rPr sz="1200" b="1">
                          <a:solidFill>
                            <a:srgbClr val="1B1F24"/>
                          </a:solidFill>
                          <a:latin typeface="Malgun Gothic"/>
                        </a:rPr>
                        <a:t>GLiDE</a:t>
                      </a:r>
                    </a:p>
                  </a:txBody>
                  <a:tcPr marL="54864" marR="54864" marT="27432" marB="27432" anchor="ctr">
                    <a:solidFill>
                      <a:srgbClr val="FFFFFF"/>
                    </a:solidFill>
                  </a:tcPr>
                </a:tc>
                <a:tc>
                  <a:txBody>
                    <a:bodyPr wrap="square"/>
                    <a:lstStyle/>
                    <a:p>
                      <a:r>
                        <a:rPr sz="1200">
                          <a:solidFill>
                            <a:srgbClr val="1B1F24"/>
                          </a:solidFill>
                          <a:latin typeface="Malgun Gothic"/>
                        </a:rPr>
                        <a:t>bf16 52.2 GB · 80 GB급 GPU 1장</a:t>
                      </a:r>
                    </a:p>
                  </a:txBody>
                  <a:tcPr marL="54864" marR="54864" marT="27432" marB="27432" anchor="ctr">
                    <a:solidFill>
                      <a:srgbClr val="FFFFFF"/>
                    </a:solidFill>
                  </a:tcPr>
                </a:tc>
                <a:tc>
                  <a:txBody>
                    <a:bodyPr wrap="square"/>
                    <a:lstStyle/>
                    <a:p>
                      <a:r>
                        <a:rPr sz="1200">
                          <a:solidFill>
                            <a:srgbClr val="1B1F24"/>
                          </a:solidFill>
                          <a:latin typeface="Malgun Gothic"/>
                        </a:rPr>
                        <a:t>집계</a:t>
                      </a:r>
                    </a:p>
                  </a:txBody>
                  <a:tcPr marL="54864" marR="54864" marT="27432" marB="27432" anchor="ctr">
                    <a:solidFill>
                      <a:srgbClr val="FFFFFF"/>
                    </a:solidFill>
                  </a:tcPr>
                </a:tc>
              </a:tr>
              <a:tr h="530352">
                <a:tc>
                  <a:txBody>
                    <a:bodyPr wrap="square"/>
                    <a:lstStyle/>
                    <a:p>
                      <a:r>
                        <a:rPr sz="1200" b="1">
                          <a:solidFill>
                            <a:srgbClr val="1B1F24"/>
                          </a:solidFill>
                          <a:latin typeface="Malgun Gothic"/>
                        </a:rPr>
                        <a:t>Kev</a:t>
                      </a:r>
                    </a:p>
                  </a:txBody>
                  <a:tcPr marL="54864" marR="54864" marT="27432" marB="27432" anchor="ctr">
                    <a:solidFill>
                      <a:srgbClr val="DCE8F5"/>
                    </a:solidFill>
                  </a:tcPr>
                </a:tc>
                <a:tc>
                  <a:txBody>
                    <a:bodyPr wrap="square"/>
                    <a:lstStyle/>
                    <a:p>
                      <a:r>
                        <a:rPr sz="1200">
                          <a:solidFill>
                            <a:srgbClr val="1B1F24"/>
                          </a:solidFill>
                          <a:latin typeface="Malgun Gothic"/>
                        </a:rPr>
                        <a:t>0.8–9B 맥(MLX) 가능 · 27B는 80 GB · 요청 직렬 처리</a:t>
                      </a:r>
                    </a:p>
                  </a:txBody>
                  <a:tcPr marL="54864" marR="54864" marT="27432" marB="27432" anchor="ctr">
                    <a:solidFill>
                      <a:srgbClr val="DCE8F5"/>
                    </a:solidFill>
                  </a:tcPr>
                </a:tc>
                <a:tc>
                  <a:txBody>
                    <a:bodyPr wrap="square"/>
                    <a:lstStyle/>
                    <a:p>
                      <a:r>
                        <a:rPr sz="1200">
                          <a:solidFill>
                            <a:srgbClr val="1B1F24"/>
                          </a:solidFill>
                          <a:latin typeface="Malgun Gothic"/>
                        </a:rPr>
                        <a:t>집계</a:t>
                      </a:r>
                    </a:p>
                  </a:txBody>
                  <a:tcPr marL="54864" marR="54864" marT="27432" marB="27432" anchor="ctr">
                    <a:solidFill>
                      <a:srgbClr val="DCE8F5"/>
                    </a:solidFill>
                  </a:tcPr>
                </a:tc>
              </a:tr>
              <a:tr h="530352">
                <a:tc>
                  <a:txBody>
                    <a:bodyPr wrap="square"/>
                    <a:lstStyle/>
                    <a:p>
                      <a:r>
                        <a:rPr sz="1200" b="1">
                          <a:solidFill>
                            <a:srgbClr val="1B1F24"/>
                          </a:solidFill>
                          <a:latin typeface="Malgun Gothic"/>
                        </a:rPr>
                        <a:t>Von</a:t>
                      </a:r>
                    </a:p>
                  </a:txBody>
                  <a:tcPr marL="54864" marR="54864" marT="27432" marB="27432" anchor="ctr">
                    <a:solidFill>
                      <a:srgbClr val="FFFFFF"/>
                    </a:solidFill>
                  </a:tcPr>
                </a:tc>
                <a:tc>
                  <a:txBody>
                    <a:bodyPr wrap="square"/>
                    <a:lstStyle/>
                    <a:p>
                      <a:r>
                        <a:rPr sz="1200">
                          <a:solidFill>
                            <a:srgbClr val="1B1F24"/>
                          </a:solidFill>
                          <a:latin typeface="Malgun Gothic"/>
                        </a:rPr>
                        <a:t>CPU(OpenVINO) 가능 · ctx 8,192 · 유지보수 중단</a:t>
                      </a:r>
                    </a:p>
                  </a:txBody>
                  <a:tcPr marL="54864" marR="54864" marT="27432" marB="27432" anchor="ctr">
                    <a:solidFill>
                      <a:srgbClr val="FFFFFF"/>
                    </a:solidFill>
                  </a:tcPr>
                </a:tc>
                <a:tc>
                  <a:txBody>
                    <a:bodyPr wrap="square"/>
                    <a:lstStyle/>
                    <a:p>
                      <a:r>
                        <a:rPr sz="1200">
                          <a:solidFill>
                            <a:srgbClr val="1B1F24"/>
                          </a:solidFill>
                          <a:latin typeface="Malgun Gothic"/>
                        </a:rPr>
                        <a:t>집계</a:t>
                      </a:r>
                    </a:p>
                  </a:txBody>
                  <a:tcPr marL="54864" marR="54864" marT="27432" marB="27432" anchor="ctr">
                    <a:solidFill>
                      <a:srgbClr val="FFFFFF"/>
                    </a:solidFill>
                  </a:tcPr>
                </a:tc>
              </a:tr>
            </a:tbl>
          </a:graphicData>
        </a:graphic>
      </p:graphicFrame>
      <p:sp>
        <p:nvSpPr>
          <p:cNvPr id="8" name="Rounded Rectangle 7"/>
          <p:cNvSpPr/>
          <p:nvPr/>
        </p:nvSpPr>
        <p:spPr>
          <a:xfrm>
            <a:off x="7909560" y="1463040"/>
            <a:ext cx="3749039" cy="292608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517904"/>
            <a:ext cx="3566159" cy="2834640"/>
          </a:xfrm>
          <a:prstGeom prst="rect">
            <a:avLst/>
          </a:prstGeom>
          <a:noFill/>
        </p:spPr>
        <p:txBody>
          <a:bodyPr wrap="square" anchor="t" lIns="45720" rIns="45720" tIns="27432" bIns="27432">
            <a:spAutoFit/>
          </a:bodyPr>
          <a:lstStyle/>
          <a:p>
            <a:pPr algn="l">
              <a:lnSpc>
                <a:spcPct val="105000"/>
              </a:lnSpc>
            </a:pPr>
            <a:r>
              <a:rPr sz="1100" b="0">
                <a:solidFill>
                  <a:srgbClr val="E6EDF5"/>
                </a:solidFill>
                <a:latin typeface="Consolas"/>
              </a:rPr>
              <a:t>model = AutoModel.from_pretrained(</a:t>
            </a:r>
          </a:p>
          <a:p>
            <a:pPr algn="l">
              <a:lnSpc>
                <a:spcPct val="105000"/>
              </a:lnSpc>
            </a:pPr>
            <a:r>
              <a:rPr sz="1100" b="0">
                <a:solidFill>
                  <a:srgbClr val="E6EDF5"/>
                </a:solidFill>
                <a:latin typeface="Consolas"/>
              </a:rPr>
              <a:t>  "LiquidAI/d1-3B",</a:t>
            </a:r>
          </a:p>
          <a:p>
            <a:pPr algn="l">
              <a:lnSpc>
                <a:spcPct val="105000"/>
              </a:lnSpc>
            </a:pPr>
            <a:r>
              <a:rPr sz="1100" b="0">
                <a:solidFill>
                  <a:srgbClr val="E6EDF5"/>
                </a:solidFill>
                <a:latin typeface="Consolas"/>
              </a:rPr>
              <a:t>  trust_remote_code=True,</a:t>
            </a:r>
          </a:p>
          <a:p>
            <a:pPr algn="l">
              <a:lnSpc>
                <a:spcPct val="105000"/>
              </a:lnSpc>
            </a:pPr>
            <a:r>
              <a:rPr sz="1100" b="0">
                <a:solidFill>
                  <a:srgbClr val="E6EDF5"/>
                </a:solidFill>
                <a:latin typeface="Consolas"/>
              </a:rPr>
              <a:t>  dtype=torch.bfloat16).to('cuda')</a:t>
            </a:r>
          </a:p>
          <a:p>
            <a:pPr algn="l">
              <a:lnSpc>
                <a:spcPct val="105000"/>
              </a:lnSpc>
            </a:pPr>
            <a:r>
              <a:rPr sz="1100" b="0">
                <a:solidFill>
                  <a:srgbClr val="E6EDF5"/>
                </a:solidFill>
                <a:latin typeface="Consolas"/>
              </a:rPr>
              <a:t/>
            </a:r>
          </a:p>
          <a:p>
            <a:pPr algn="l">
              <a:lnSpc>
                <a:spcPct val="105000"/>
              </a:lnSpc>
            </a:pPr>
            <a:r>
              <a:rPr sz="1100" b="0">
                <a:solidFill>
                  <a:srgbClr val="E6EDF5"/>
                </a:solidFill>
                <a:latin typeface="Consolas"/>
              </a:rPr>
              <a:t>model.system_one(text, questions)</a:t>
            </a:r>
          </a:p>
          <a:p>
            <a:pPr algn="l">
              <a:lnSpc>
                <a:spcPct val="105000"/>
              </a:lnSpc>
            </a:pPr>
            <a:r>
              <a:rPr sz="1100" b="0">
                <a:solidFill>
                  <a:srgbClr val="E6EDF5"/>
                </a:solidFill>
                <a:latin typeface="Consolas"/>
              </a:rPr>
              <a:t>model.system_one_batch(</a:t>
            </a:r>
          </a:p>
          <a:p>
            <a:pPr algn="l">
              <a:lnSpc>
                <a:spcPct val="105000"/>
              </a:lnSpc>
            </a:pPr>
            <a:r>
              <a:rPr sz="1100" b="0">
                <a:solidFill>
                  <a:srgbClr val="E6EDF5"/>
                </a:solidFill>
                <a:latin typeface="Consolas"/>
              </a:rPr>
              <a:t>  [(t, qs) for t in tickets])</a:t>
            </a:r>
          </a:p>
        </p:txBody>
      </p:sp>
      <p:sp>
        <p:nvSpPr>
          <p:cNvPr id="10" name="Rounded Rectangle 9"/>
          <p:cNvSpPr/>
          <p:nvPr/>
        </p:nvSpPr>
        <p:spPr>
          <a:xfrm>
            <a:off x="7909560" y="4572000"/>
            <a:ext cx="3749039" cy="160020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4645152"/>
            <a:ext cx="3529583" cy="457200"/>
          </a:xfrm>
          <a:prstGeom prst="rect">
            <a:avLst/>
          </a:prstGeom>
          <a:noFill/>
        </p:spPr>
        <p:txBody>
          <a:bodyPr wrap="square" anchor="t" lIns="45720" rIns="45720" tIns="27432" bIns="27432">
            <a:spAutoFit/>
          </a:bodyPr>
          <a:lstStyle/>
          <a:p>
            <a:pPr algn="l">
              <a:lnSpc>
                <a:spcPct val="110000"/>
              </a:lnSpc>
            </a:pPr>
            <a:r>
              <a:rPr sz="1500" b="1">
                <a:solidFill>
                  <a:srgbClr val="1F4E79"/>
                </a:solidFill>
                <a:latin typeface="Malgun Gothic"/>
              </a:rPr>
              <a:t>교체는 설정 한 줄</a:t>
            </a:r>
          </a:p>
        </p:txBody>
      </p:sp>
      <p:sp>
        <p:nvSpPr>
          <p:cNvPr id="12" name="TextBox 11"/>
          <p:cNvSpPr txBox="1"/>
          <p:nvPr/>
        </p:nvSpPr>
        <p:spPr>
          <a:xfrm>
            <a:off x="8019288" y="5102352"/>
            <a:ext cx="3529583" cy="100584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다수가 /v1/systemone 호환
base_url만 바꾸면 전환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2743200" cy="1463040"/>
          </a:xfrm>
          <a:prstGeom prst="rect">
            <a:avLst/>
          </a:prstGeom>
          <a:noFill/>
        </p:spPr>
        <p:txBody>
          <a:bodyPr wrap="square" anchor="t" lIns="45720" rIns="45720" tIns="27432" bIns="27432">
            <a:spAutoFit/>
          </a:bodyPr>
          <a:lstStyle/>
          <a:p>
            <a:pPr algn="l">
              <a:lnSpc>
                <a:spcPct val="110000"/>
              </a:lnSpc>
            </a:pPr>
            <a:r>
              <a:rPr sz="9600" b="1">
                <a:solidFill>
                  <a:srgbClr val="E8A33D"/>
                </a:solidFill>
                <a:latin typeface="Malgun Gothic"/>
              </a:rPr>
              <a:t>03</a:t>
            </a:r>
          </a:p>
        </p:txBody>
      </p:sp>
      <p:sp>
        <p:nvSpPr>
          <p:cNvPr id="4" name="TextBox 3"/>
          <p:cNvSpPr txBox="1"/>
          <p:nvPr/>
        </p:nvSpPr>
        <p:spPr>
          <a:xfrm>
            <a:off x="914400" y="3566160"/>
            <a:ext cx="10058400" cy="91440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선택지 순서 의존성</a:t>
            </a:r>
          </a:p>
        </p:txBody>
      </p:sp>
      <p:sp>
        <p:nvSpPr>
          <p:cNvPr id="5" name="TextBox 4"/>
          <p:cNvSpPr txBox="1"/>
          <p:nvPr/>
        </p:nvSpPr>
        <p:spPr>
          <a:xfrm>
            <a:off x="914400" y="4480560"/>
            <a:ext cx="10058400" cy="548640"/>
          </a:xfrm>
          <a:prstGeom prst="rect">
            <a:avLst/>
          </a:prstGeom>
          <a:noFill/>
        </p:spPr>
        <p:txBody>
          <a:bodyPr wrap="square" anchor="t" lIns="45720" rIns="45720" tIns="27432" bIns="27432">
            <a:spAutoFit/>
          </a:bodyPr>
          <a:lstStyle/>
          <a:p>
            <a:pPr algn="l">
              <a:lnSpc>
                <a:spcPct val="110000"/>
              </a:lnSpc>
            </a:pPr>
            <a:r>
              <a:rPr sz="2000" b="0">
                <a:solidFill>
                  <a:srgbClr val="BFD3EA"/>
                </a:solidFill>
                <a:latin typeface="Malgun Gothic"/>
              </a:rPr>
              <a:t>Consider, Then Choose — Runoff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순서만 바꿔도 답이 바뀐다</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flip = 선택지를 한 번 섞었을 때 답이 바뀌는 비율 (Runoff 논문)</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18</a:t>
            </a:r>
          </a:p>
        </p:txBody>
      </p:sp>
      <p:sp>
        <p:nvSpPr>
          <p:cNvPr id="7" name="TextBox 6"/>
          <p:cNvSpPr txBox="1"/>
          <p:nvPr/>
        </p:nvSpPr>
        <p:spPr>
          <a:xfrm>
            <a:off x="640080" y="1463040"/>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Qwen3-8B listwise K=2</a:t>
            </a:r>
          </a:p>
        </p:txBody>
      </p:sp>
      <p:sp>
        <p:nvSpPr>
          <p:cNvPr id="8" name="Rectangle 7"/>
          <p:cNvSpPr/>
          <p:nvPr/>
        </p:nvSpPr>
        <p:spPr>
          <a:xfrm>
            <a:off x="4937760" y="1536192"/>
            <a:ext cx="1289304" cy="384048"/>
          </a:xfrm>
          <a:prstGeom prst="rect">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463040"/>
            <a:ext cx="1097280" cy="502920"/>
          </a:xfrm>
          <a:prstGeom prst="rect">
            <a:avLst/>
          </a:prstGeom>
          <a:noFill/>
        </p:spPr>
        <p:txBody>
          <a:bodyPr wrap="square" anchor="ctr" lIns="45720" rIns="45720" tIns="27432" bIns="27432">
            <a:spAutoFit/>
          </a:bodyPr>
          <a:lstStyle/>
          <a:p>
            <a:pPr algn="l">
              <a:lnSpc>
                <a:spcPct val="110000"/>
              </a:lnSpc>
            </a:pPr>
            <a:r>
              <a:rPr sz="1400" b="1">
                <a:solidFill>
                  <a:srgbClr val="4A7FB5"/>
                </a:solidFill>
                <a:latin typeface="Malgun Gothic"/>
              </a:rPr>
              <a:t>4.7%</a:t>
            </a:r>
          </a:p>
        </p:txBody>
      </p:sp>
      <p:sp>
        <p:nvSpPr>
          <p:cNvPr id="10" name="TextBox 9"/>
          <p:cNvSpPr txBox="1"/>
          <p:nvPr/>
        </p:nvSpPr>
        <p:spPr>
          <a:xfrm>
            <a:off x="640080" y="2139696"/>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Qwen3-8B listwise K=20</a:t>
            </a:r>
          </a:p>
        </p:txBody>
      </p:sp>
      <p:sp>
        <p:nvSpPr>
          <p:cNvPr id="11" name="Rectangle 10"/>
          <p:cNvSpPr/>
          <p:nvPr/>
        </p:nvSpPr>
        <p:spPr>
          <a:xfrm>
            <a:off x="4937760" y="2212848"/>
            <a:ext cx="4663440" cy="384048"/>
          </a:xfrm>
          <a:prstGeom prst="rect">
            <a:avLst/>
          </a:prstGeom>
          <a:solidFill>
            <a:srgbClr val="C06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0" y="2139696"/>
            <a:ext cx="1097280" cy="502920"/>
          </a:xfrm>
          <a:prstGeom prst="rect">
            <a:avLst/>
          </a:prstGeom>
          <a:noFill/>
        </p:spPr>
        <p:txBody>
          <a:bodyPr wrap="square" anchor="ctr" lIns="45720" rIns="45720" tIns="27432" bIns="27432">
            <a:spAutoFit/>
          </a:bodyPr>
          <a:lstStyle/>
          <a:p>
            <a:pPr algn="l">
              <a:lnSpc>
                <a:spcPct val="110000"/>
              </a:lnSpc>
            </a:pPr>
            <a:r>
              <a:rPr sz="1400" b="1">
                <a:solidFill>
                  <a:srgbClr val="C0634A"/>
                </a:solidFill>
                <a:latin typeface="Malgun Gothic"/>
              </a:rPr>
              <a:t>17.0%</a:t>
            </a:r>
          </a:p>
        </p:txBody>
      </p:sp>
      <p:sp>
        <p:nvSpPr>
          <p:cNvPr id="13" name="TextBox 12"/>
          <p:cNvSpPr txBox="1"/>
          <p:nvPr/>
        </p:nvSpPr>
        <p:spPr>
          <a:xfrm>
            <a:off x="640080" y="2816352"/>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Qwen3-8B AnyJev K=20</a:t>
            </a:r>
          </a:p>
        </p:txBody>
      </p:sp>
      <p:sp>
        <p:nvSpPr>
          <p:cNvPr id="14" name="Rectangle 13"/>
          <p:cNvSpPr/>
          <p:nvPr/>
        </p:nvSpPr>
        <p:spPr>
          <a:xfrm>
            <a:off x="4937760" y="2889504"/>
            <a:ext cx="2825496" cy="38404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54696" y="2816352"/>
            <a:ext cx="1097280" cy="502920"/>
          </a:xfrm>
          <a:prstGeom prst="rect">
            <a:avLst/>
          </a:prstGeom>
          <a:noFill/>
        </p:spPr>
        <p:txBody>
          <a:bodyPr wrap="square" anchor="ctr" lIns="45720" rIns="45720" tIns="27432" bIns="27432">
            <a:spAutoFit/>
          </a:bodyPr>
          <a:lstStyle/>
          <a:p>
            <a:pPr algn="l">
              <a:lnSpc>
                <a:spcPct val="110000"/>
              </a:lnSpc>
            </a:pPr>
            <a:r>
              <a:rPr sz="1400" b="1">
                <a:solidFill>
                  <a:srgbClr val="E8A33D"/>
                </a:solidFill>
                <a:latin typeface="Malgun Gothic"/>
              </a:rPr>
              <a:t>10.3%</a:t>
            </a:r>
          </a:p>
        </p:txBody>
      </p:sp>
      <p:sp>
        <p:nvSpPr>
          <p:cNvPr id="16" name="TextBox 15"/>
          <p:cNvSpPr txBox="1"/>
          <p:nvPr/>
        </p:nvSpPr>
        <p:spPr>
          <a:xfrm>
            <a:off x="640080" y="3493008"/>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Jev 1.13 native (5셋 평균)</a:t>
            </a:r>
          </a:p>
        </p:txBody>
      </p:sp>
      <p:sp>
        <p:nvSpPr>
          <p:cNvPr id="17" name="Rectangle 16"/>
          <p:cNvSpPr/>
          <p:nvPr/>
        </p:nvSpPr>
        <p:spPr>
          <a:xfrm>
            <a:off x="4937760" y="3566160"/>
            <a:ext cx="1453895" cy="384048"/>
          </a:xfrm>
          <a:prstGeom prst="rect">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3493008"/>
            <a:ext cx="1097280" cy="502920"/>
          </a:xfrm>
          <a:prstGeom prst="rect">
            <a:avLst/>
          </a:prstGeom>
          <a:noFill/>
        </p:spPr>
        <p:txBody>
          <a:bodyPr wrap="square" anchor="ctr" lIns="45720" rIns="45720" tIns="27432" bIns="27432">
            <a:spAutoFit/>
          </a:bodyPr>
          <a:lstStyle/>
          <a:p>
            <a:pPr algn="l">
              <a:lnSpc>
                <a:spcPct val="110000"/>
              </a:lnSpc>
            </a:pPr>
            <a:r>
              <a:rPr sz="1400" b="1">
                <a:solidFill>
                  <a:srgbClr val="4A7FB5"/>
                </a:solidFill>
                <a:latin typeface="Malgun Gothic"/>
              </a:rPr>
              <a:t>5.3%</a:t>
            </a:r>
          </a:p>
        </p:txBody>
      </p:sp>
      <p:sp>
        <p:nvSpPr>
          <p:cNvPr id="19" name="TextBox 18"/>
          <p:cNvSpPr txBox="1"/>
          <p:nvPr/>
        </p:nvSpPr>
        <p:spPr>
          <a:xfrm>
            <a:off x="640080" y="4169664"/>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GPT-6 Luna native</a:t>
            </a:r>
          </a:p>
        </p:txBody>
      </p:sp>
      <p:sp>
        <p:nvSpPr>
          <p:cNvPr id="20" name="Rectangle 19"/>
          <p:cNvSpPr/>
          <p:nvPr/>
        </p:nvSpPr>
        <p:spPr>
          <a:xfrm>
            <a:off x="4937760" y="4242816"/>
            <a:ext cx="3621023" cy="384048"/>
          </a:xfrm>
          <a:prstGeom prst="rect">
            <a:avLst/>
          </a:prstGeom>
          <a:solidFill>
            <a:srgbClr val="C06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50224" y="4169664"/>
            <a:ext cx="1097280" cy="502920"/>
          </a:xfrm>
          <a:prstGeom prst="rect">
            <a:avLst/>
          </a:prstGeom>
          <a:noFill/>
        </p:spPr>
        <p:txBody>
          <a:bodyPr wrap="square" anchor="ctr" lIns="45720" rIns="45720" tIns="27432" bIns="27432">
            <a:spAutoFit/>
          </a:bodyPr>
          <a:lstStyle/>
          <a:p>
            <a:pPr algn="l">
              <a:lnSpc>
                <a:spcPct val="110000"/>
              </a:lnSpc>
            </a:pPr>
            <a:r>
              <a:rPr sz="1400" b="1">
                <a:solidFill>
                  <a:srgbClr val="C0634A"/>
                </a:solidFill>
                <a:latin typeface="Malgun Gothic"/>
              </a:rPr>
              <a:t>13.2%</a:t>
            </a:r>
          </a:p>
        </p:txBody>
      </p:sp>
      <p:sp>
        <p:nvSpPr>
          <p:cNvPr id="22" name="TextBox 21"/>
          <p:cNvSpPr txBox="1"/>
          <p:nvPr/>
        </p:nvSpPr>
        <p:spPr>
          <a:xfrm>
            <a:off x="640080" y="4846320"/>
            <a:ext cx="42062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Mercury Decide native</a:t>
            </a:r>
          </a:p>
        </p:txBody>
      </p:sp>
      <p:sp>
        <p:nvSpPr>
          <p:cNvPr id="23" name="Rectangle 22"/>
          <p:cNvSpPr/>
          <p:nvPr/>
        </p:nvSpPr>
        <p:spPr>
          <a:xfrm>
            <a:off x="4937760" y="4919472"/>
            <a:ext cx="2688336" cy="38404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4846320"/>
            <a:ext cx="1097280" cy="502920"/>
          </a:xfrm>
          <a:prstGeom prst="rect">
            <a:avLst/>
          </a:prstGeom>
          <a:noFill/>
        </p:spPr>
        <p:txBody>
          <a:bodyPr wrap="square" anchor="ctr" lIns="45720" rIns="45720" tIns="27432" bIns="27432">
            <a:spAutoFit/>
          </a:bodyPr>
          <a:lstStyle/>
          <a:p>
            <a:pPr algn="l">
              <a:lnSpc>
                <a:spcPct val="110000"/>
              </a:lnSpc>
            </a:pPr>
            <a:r>
              <a:rPr sz="1400" b="1">
                <a:solidFill>
                  <a:srgbClr val="E8A33D"/>
                </a:solidFill>
                <a:latin typeface="Malgun Gothic"/>
              </a:rPr>
              <a:t>9.8%</a:t>
            </a:r>
          </a:p>
        </p:txBody>
      </p:sp>
      <p:sp>
        <p:nvSpPr>
          <p:cNvPr id="25" name="Rounded Rectangle 24"/>
          <p:cNvSpPr/>
          <p:nvPr/>
        </p:nvSpPr>
        <p:spPr>
          <a:xfrm>
            <a:off x="640080" y="5760720"/>
            <a:ext cx="10972800" cy="594360"/>
          </a:xfrm>
          <a:prstGeom prst="roundRect">
            <a:avLst>
              <a:gd name="adj" fmla="val 8000"/>
            </a:avLst>
          </a:prstGeom>
          <a:solidFill>
            <a:srgbClr val="FDF6E8"/>
          </a:solidFill>
          <a:ln w="1587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833872"/>
            <a:ext cx="10753344" cy="457200"/>
          </a:xfrm>
          <a:prstGeom prst="rect">
            <a:avLst/>
          </a:prstGeom>
          <a:noFill/>
        </p:spPr>
        <p:txBody>
          <a:bodyPr wrap="square" anchor="t" lIns="45720" rIns="45720" tIns="27432" bIns="27432">
            <a:spAutoFit/>
          </a:bodyPr>
          <a:lstStyle/>
          <a:p>
            <a:pPr algn="l">
              <a:lnSpc>
                <a:spcPct val="110000"/>
              </a:lnSpc>
            </a:pPr>
            <a:r>
              <a:rPr sz="1400" b="1">
                <a:solidFill>
                  <a:srgbClr val="7A5710"/>
                </a:solidFill>
                <a:latin typeface="Malgun Gothic"/>
              </a:rPr>
              <a:t>원인: 모델이 상위 2~3개 사이에서 망설일 때 flip이 집중 (pointwise 1위 확률 &lt; 0.8이면 flip &gt; 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Runoff — consider → choose</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훈련 없는 두 단계 · 순서 불변이 구조적으로 보장</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19</a:t>
            </a:r>
          </a:p>
        </p:txBody>
      </p:sp>
      <p:sp>
        <p:nvSpPr>
          <p:cNvPr id="7" name="Rounded Rectangle 6"/>
          <p:cNvSpPr/>
          <p:nvPr/>
        </p:nvSpPr>
        <p:spPr>
          <a:xfrm>
            <a:off x="548640" y="1463040"/>
            <a:ext cx="5394960" cy="42062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5029200" cy="36576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① Consider (pointwise · 순서 무관)</a:t>
            </a:r>
          </a:p>
        </p:txBody>
      </p:sp>
      <p:sp>
        <p:nvSpPr>
          <p:cNvPr id="9" name="Rounded Rectangle 8"/>
          <p:cNvSpPr/>
          <p:nvPr/>
        </p:nvSpPr>
        <p:spPr>
          <a:xfrm>
            <a:off x="822960" y="2103120"/>
            <a:ext cx="484632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F4E79"/>
                </a:solidFill>
                <a:latin typeface="Malgun Gothic"/>
              </a:rPr>
              <a:t>선택지마다 따로 yes/no  f = log P(yes) − log P(no)</a:t>
            </a:r>
          </a:p>
        </p:txBody>
      </p:sp>
      <p:cxnSp>
        <p:nvCxnSpPr>
          <p:cNvPr id="10" name="Connector 9"/>
          <p:cNvCxnSpPr/>
          <p:nvPr/>
        </p:nvCxnSpPr>
        <p:spPr>
          <a:xfrm>
            <a:off x="3246120" y="2761488"/>
            <a:ext cx="0" cy="301752"/>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3108960"/>
            <a:ext cx="484632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F4E79"/>
                </a:solidFill>
                <a:latin typeface="Malgun Gothic"/>
              </a:rPr>
              <a:t>softmax → 분포 π</a:t>
            </a:r>
          </a:p>
        </p:txBody>
      </p:sp>
      <p:cxnSp>
        <p:nvCxnSpPr>
          <p:cNvPr id="12" name="Connector 11"/>
          <p:cNvCxnSpPr/>
          <p:nvPr/>
        </p:nvCxnSpPr>
        <p:spPr>
          <a:xfrm>
            <a:off x="3246120" y="3767328"/>
            <a:ext cx="0" cy="301752"/>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114800"/>
            <a:ext cx="484632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F4E79"/>
                </a:solidFill>
                <a:latin typeface="Malgun Gothic"/>
              </a:rPr>
              <a:t>질량 ≥ 0.99, 크기 ≥ 3인</a:t>
            </a:r>
          </a:p>
          <a:p>
            <a:pPr algn="ctr"/>
            <a:r>
              <a:rPr sz="1300" b="1">
                <a:solidFill>
                  <a:srgbClr val="1F4E79"/>
                </a:solidFill>
                <a:latin typeface="Malgun Gothic"/>
              </a:rPr>
              <a:t>최소 상위 집합 C</a:t>
            </a:r>
          </a:p>
        </p:txBody>
      </p:sp>
      <p:cxnSp>
        <p:nvCxnSpPr>
          <p:cNvPr id="14" name="Connector 13"/>
          <p:cNvCxnSpPr/>
          <p:nvPr/>
        </p:nvCxnSpPr>
        <p:spPr>
          <a:xfrm>
            <a:off x="5989320" y="3657600"/>
            <a:ext cx="411480" cy="0"/>
          </a:xfrm>
          <a:prstGeom prst="line">
            <a:avLst/>
          </a:prstGeom>
          <a:ln w="38100">
            <a:solidFill>
              <a:srgbClr val="E8A33D"/>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46520" y="1463040"/>
            <a:ext cx="5212080" cy="4206240"/>
          </a:xfrm>
          <a:prstGeom prst="roundRect">
            <a:avLst>
              <a:gd name="adj" fmla="val 8000"/>
            </a:avLst>
          </a:prstGeom>
          <a:solidFill>
            <a:srgbClr val="F3EEF9"/>
          </a:solidFill>
          <a:ln w="15875">
            <a:solidFill>
              <a:srgbClr val="8A6F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1508760"/>
            <a:ext cx="4846320" cy="365760"/>
          </a:xfrm>
          <a:prstGeom prst="rect">
            <a:avLst/>
          </a:prstGeom>
          <a:noFill/>
        </p:spPr>
        <p:txBody>
          <a:bodyPr wrap="square" anchor="t" lIns="45720" rIns="45720" tIns="27432" bIns="27432">
            <a:spAutoFit/>
          </a:bodyPr>
          <a:lstStyle/>
          <a:p>
            <a:pPr algn="l">
              <a:lnSpc>
                <a:spcPct val="110000"/>
              </a:lnSpc>
            </a:pPr>
            <a:r>
              <a:rPr sz="1600" b="1">
                <a:solidFill>
                  <a:srgbClr val="3D2A55"/>
                </a:solidFill>
                <a:latin typeface="Malgun Gothic"/>
              </a:rPr>
              <a:t>② Choose (listwise · C 안에서만)</a:t>
            </a:r>
          </a:p>
        </p:txBody>
      </p:sp>
      <p:sp>
        <p:nvSpPr>
          <p:cNvPr id="17" name="Rounded Rectangle 16"/>
          <p:cNvSpPr/>
          <p:nvPr/>
        </p:nvSpPr>
        <p:spPr>
          <a:xfrm>
            <a:off x="6720840" y="2103120"/>
            <a:ext cx="46634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3D2A55"/>
                </a:solidFill>
                <a:latin typeface="Malgun Gothic"/>
              </a:rPr>
              <a:t>π 순 정렬 = canonical ranking</a:t>
            </a:r>
          </a:p>
        </p:txBody>
      </p:sp>
      <p:cxnSp>
        <p:nvCxnSpPr>
          <p:cNvPr id="18" name="Connector 17"/>
          <p:cNvCxnSpPr/>
          <p:nvPr/>
        </p:nvCxnSpPr>
        <p:spPr>
          <a:xfrm>
            <a:off x="9052560" y="2761488"/>
            <a:ext cx="0" cy="301752"/>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20840" y="3108960"/>
            <a:ext cx="46634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3D2A55"/>
                </a:solidFill>
                <a:latin typeface="Malgun Gothic"/>
              </a:rPr>
              <a:t>m개 순환 이동마다 listwise 1회</a:t>
            </a:r>
          </a:p>
        </p:txBody>
      </p:sp>
      <p:cxnSp>
        <p:nvCxnSpPr>
          <p:cNvPr id="20" name="Connector 19"/>
          <p:cNvCxnSpPr/>
          <p:nvPr/>
        </p:nvCxnSpPr>
        <p:spPr>
          <a:xfrm>
            <a:off x="9052560" y="3767328"/>
            <a:ext cx="0" cy="301752"/>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720840" y="4114800"/>
            <a:ext cx="46634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3D2A55"/>
                </a:solidFill>
                <a:latin typeface="Malgun Gothic"/>
              </a:rPr>
              <a:t>로그 확률 평균 → r</a:t>
            </a:r>
          </a:p>
          <a:p>
            <a:pPr algn="ctr"/>
            <a:r>
              <a:rPr sz="1300" b="1">
                <a:solidFill>
                  <a:srgbClr val="3D2A55"/>
                </a:solidFill>
                <a:latin typeface="Malgun Gothic"/>
              </a:rPr>
              <a:t>최종: C 밖 = π, C 안 = π(C)·r</a:t>
            </a:r>
          </a:p>
        </p:txBody>
      </p:sp>
      <p:sp>
        <p:nvSpPr>
          <p:cNvPr id="22" name="TextBox 21"/>
          <p:cNvSpPr txBox="1"/>
          <p:nvPr/>
        </p:nvSpPr>
        <p:spPr>
          <a:xfrm>
            <a:off x="548640" y="5806440"/>
            <a:ext cx="11064240" cy="457200"/>
          </a:xfrm>
          <a:prstGeom prst="rect">
            <a:avLst/>
          </a:prstGeom>
          <a:noFill/>
        </p:spPr>
        <p:txBody>
          <a:bodyPr wrap="square" anchor="t" lIns="45720" rIns="45720" tIns="27432" bIns="27432">
            <a:spAutoFit/>
          </a:bodyPr>
          <a:lstStyle/>
          <a:p>
            <a:pPr algn="l">
              <a:lnSpc>
                <a:spcPct val="110000"/>
              </a:lnSpc>
            </a:pPr>
            <a:r>
              <a:rPr sz="1500" b="1">
                <a:solidFill>
                  <a:srgbClr val="12263F"/>
                </a:solidFill>
                <a:latin typeface="Malgun Gothic"/>
              </a:rPr>
              <a:t>비용 K + m² 슬롯 (AnyJev는 K²) · 두 번의 배치 forward pass · 결정성 가정 하에서 순서 불변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Runoff 결과</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정확도 % / flip % · 5개 데이터셋 평균</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20</a:t>
            </a:r>
          </a:p>
        </p:txBody>
      </p:sp>
      <p:graphicFrame>
        <p:nvGraphicFramePr>
          <p:cNvPr id="7" name="Table 6"/>
          <p:cNvGraphicFramePr>
            <a:graphicFrameLocks noGrp="1"/>
          </p:cNvGraphicFramePr>
          <p:nvPr/>
        </p:nvGraphicFramePr>
        <p:xfrm>
          <a:off x="548640" y="1463040"/>
          <a:ext cx="6675120" cy="2834640"/>
        </p:xfrm>
        <a:graphic>
          <a:graphicData uri="http://schemas.openxmlformats.org/drawingml/2006/table">
            <a:tbl>
              <a:tblPr firstRow="1" bandRow="1">
                <a:tableStyleId>{5C22544A-7EE6-4342-B048-85BDC9FD1C3A}</a:tableStyleId>
              </a:tblPr>
              <a:tblGrid>
                <a:gridCol w="1645920"/>
                <a:gridCol w="1828800"/>
                <a:gridCol w="1645920"/>
                <a:gridCol w="1554480"/>
              </a:tblGrid>
              <a:tr h="566928">
                <a:tc>
                  <a:txBody>
                    <a:bodyPr wrap="square"/>
                    <a:lstStyle/>
                    <a:p>
                      <a:r>
                        <a:rPr sz="1400" b="1">
                          <a:solidFill>
                            <a:srgbClr val="FFFFFF"/>
                          </a:solidFill>
                          <a:latin typeface="Malgun Gothic"/>
                        </a:rPr>
                        <a:t>모델</a:t>
                      </a:r>
                    </a:p>
                  </a:txBody>
                  <a:tcPr marL="54864" marR="54864" marT="27432" marB="27432" anchor="ctr">
                    <a:solidFill>
                      <a:srgbClr val="1F4E79"/>
                    </a:solidFill>
                  </a:tcPr>
                </a:tc>
                <a:tc>
                  <a:txBody>
                    <a:bodyPr wrap="square"/>
                    <a:lstStyle/>
                    <a:p>
                      <a:r>
                        <a:rPr sz="1400" b="1">
                          <a:solidFill>
                            <a:srgbClr val="FFFFFF"/>
                          </a:solidFill>
                          <a:latin typeface="Malgun Gothic"/>
                        </a:rPr>
                        <a:t>방식</a:t>
                      </a:r>
                    </a:p>
                  </a:txBody>
                  <a:tcPr marL="54864" marR="54864" marT="27432" marB="27432" anchor="ctr">
                    <a:solidFill>
                      <a:srgbClr val="1F4E79"/>
                    </a:solidFill>
                  </a:tcPr>
                </a:tc>
                <a:tc>
                  <a:txBody>
                    <a:bodyPr wrap="square"/>
                    <a:lstStyle/>
                    <a:p>
                      <a:r>
                        <a:rPr sz="1400" b="1">
                          <a:solidFill>
                            <a:srgbClr val="FFFFFF"/>
                          </a:solidFill>
                          <a:latin typeface="Malgun Gothic"/>
                        </a:rPr>
                        <a:t>정확도</a:t>
                      </a:r>
                    </a:p>
                  </a:txBody>
                  <a:tcPr marL="54864" marR="54864" marT="27432" marB="27432" anchor="ctr">
                    <a:solidFill>
                      <a:srgbClr val="1F4E79"/>
                    </a:solidFill>
                  </a:tcPr>
                </a:tc>
                <a:tc>
                  <a:txBody>
                    <a:bodyPr wrap="square"/>
                    <a:lstStyle/>
                    <a:p>
                      <a:r>
                        <a:rPr sz="1400" b="1">
                          <a:solidFill>
                            <a:srgbClr val="FFFFFF"/>
                          </a:solidFill>
                          <a:latin typeface="Malgun Gothic"/>
                        </a:rPr>
                        <a:t>flip</a:t>
                      </a:r>
                    </a:p>
                  </a:txBody>
                  <a:tcPr marL="54864" marR="54864" marT="27432" marB="27432" anchor="ctr">
                    <a:solidFill>
                      <a:srgbClr val="1F4E79"/>
                    </a:solidFill>
                  </a:tcPr>
                </a:tc>
              </a:tr>
              <a:tr h="566928">
                <a:tc>
                  <a:txBody>
                    <a:bodyPr wrap="square"/>
                    <a:lstStyle/>
                    <a:p>
                      <a:r>
                        <a:rPr sz="1400" b="1">
                          <a:solidFill>
                            <a:srgbClr val="1B1F24"/>
                          </a:solidFill>
                          <a:latin typeface="Malgun Gothic"/>
                        </a:rPr>
                        <a:t>Qwen3-8B</a:t>
                      </a:r>
                    </a:p>
                  </a:txBody>
                  <a:tcPr marL="54864" marR="54864" marT="27432" marB="27432" anchor="ctr">
                    <a:solidFill>
                      <a:srgbClr val="DCE8F5"/>
                    </a:solidFill>
                  </a:tcPr>
                </a:tc>
                <a:tc>
                  <a:txBody>
                    <a:bodyPr wrap="square"/>
                    <a:lstStyle/>
                    <a:p>
                      <a:r>
                        <a:rPr sz="1400">
                          <a:solidFill>
                            <a:srgbClr val="1B1F24"/>
                          </a:solidFill>
                          <a:latin typeface="Malgun Gothic"/>
                        </a:rPr>
                        <a:t>Listwise → Runoff</a:t>
                      </a:r>
                    </a:p>
                  </a:txBody>
                  <a:tcPr marL="54864" marR="54864" marT="27432" marB="27432" anchor="ctr">
                    <a:solidFill>
                      <a:srgbClr val="DCE8F5"/>
                    </a:solidFill>
                  </a:tcPr>
                </a:tc>
                <a:tc>
                  <a:txBody>
                    <a:bodyPr wrap="square"/>
                    <a:lstStyle/>
                    <a:p>
                      <a:r>
                        <a:rPr sz="1400">
                          <a:solidFill>
                            <a:srgbClr val="1B1F24"/>
                          </a:solidFill>
                          <a:latin typeface="Malgun Gothic"/>
                        </a:rPr>
                        <a:t>63.5 → 65.8</a:t>
                      </a:r>
                    </a:p>
                  </a:txBody>
                  <a:tcPr marL="54864" marR="54864" marT="27432" marB="27432" anchor="ctr">
                    <a:solidFill>
                      <a:srgbClr val="DCE8F5"/>
                    </a:solidFill>
                  </a:tcPr>
                </a:tc>
                <a:tc>
                  <a:txBody>
                    <a:bodyPr wrap="square"/>
                    <a:lstStyle/>
                    <a:p>
                      <a:r>
                        <a:rPr sz="1400" b="1">
                          <a:solidFill>
                            <a:srgbClr val="5A9A5A"/>
                          </a:solidFill>
                          <a:latin typeface="Malgun Gothic"/>
                        </a:rPr>
                        <a:t>22.8 → 0.0</a:t>
                      </a:r>
                    </a:p>
                  </a:txBody>
                  <a:tcPr marL="54864" marR="54864" marT="27432" marB="27432" anchor="ctr">
                    <a:solidFill>
                      <a:srgbClr val="DCE8F5"/>
                    </a:solidFill>
                  </a:tcPr>
                </a:tc>
              </a:tr>
              <a:tr h="566928">
                <a:tc>
                  <a:txBody>
                    <a:bodyPr wrap="square"/>
                    <a:lstStyle/>
                    <a:p>
                      <a:r>
                        <a:rPr sz="1400" b="1">
                          <a:solidFill>
                            <a:srgbClr val="1B1F24"/>
                          </a:solidFill>
                          <a:latin typeface="Malgun Gothic"/>
                        </a:rPr>
                        <a:t>Jev 1.13</a:t>
                      </a:r>
                    </a:p>
                  </a:txBody>
                  <a:tcPr marL="54864" marR="54864" marT="27432" marB="27432" anchor="ctr">
                    <a:solidFill>
                      <a:srgbClr val="FFFFFF"/>
                    </a:solidFill>
                  </a:tcPr>
                </a:tc>
                <a:tc>
                  <a:txBody>
                    <a:bodyPr wrap="square"/>
                    <a:lstStyle/>
                    <a:p>
                      <a:r>
                        <a:rPr sz="1400">
                          <a:solidFill>
                            <a:srgbClr val="1B1F24"/>
                          </a:solidFill>
                          <a:latin typeface="Malgun Gothic"/>
                        </a:rPr>
                        <a:t>Native → Runoff</a:t>
                      </a:r>
                    </a:p>
                  </a:txBody>
                  <a:tcPr marL="54864" marR="54864" marT="27432" marB="27432" anchor="ctr">
                    <a:solidFill>
                      <a:srgbClr val="FFFFFF"/>
                    </a:solidFill>
                  </a:tcPr>
                </a:tc>
                <a:tc>
                  <a:txBody>
                    <a:bodyPr wrap="square"/>
                    <a:lstStyle/>
                    <a:p>
                      <a:r>
                        <a:rPr sz="1400">
                          <a:solidFill>
                            <a:srgbClr val="1B1F24"/>
                          </a:solidFill>
                          <a:latin typeface="Malgun Gothic"/>
                        </a:rPr>
                        <a:t>80.6 → 81.5</a:t>
                      </a:r>
                    </a:p>
                  </a:txBody>
                  <a:tcPr marL="54864" marR="54864" marT="27432" marB="27432" anchor="ctr">
                    <a:solidFill>
                      <a:srgbClr val="FFFFFF"/>
                    </a:solidFill>
                  </a:tcPr>
                </a:tc>
                <a:tc>
                  <a:txBody>
                    <a:bodyPr wrap="square"/>
                    <a:lstStyle/>
                    <a:p>
                      <a:r>
                        <a:rPr sz="1400" b="1">
                          <a:solidFill>
                            <a:srgbClr val="5A9A5A"/>
                          </a:solidFill>
                          <a:latin typeface="Malgun Gothic"/>
                        </a:rPr>
                        <a:t>5.3 → 0.9</a:t>
                      </a:r>
                    </a:p>
                  </a:txBody>
                  <a:tcPr marL="54864" marR="54864" marT="27432" marB="27432" anchor="ctr">
                    <a:solidFill>
                      <a:srgbClr val="FFFFFF"/>
                    </a:solidFill>
                  </a:tcPr>
                </a:tc>
              </a:tr>
              <a:tr h="566928">
                <a:tc>
                  <a:txBody>
                    <a:bodyPr wrap="square"/>
                    <a:lstStyle/>
                    <a:p>
                      <a:r>
                        <a:rPr sz="1400" b="1">
                          <a:solidFill>
                            <a:srgbClr val="1B1F24"/>
                          </a:solidFill>
                          <a:latin typeface="Malgun Gothic"/>
                        </a:rPr>
                        <a:t>GPT-6 Luna</a:t>
                      </a:r>
                    </a:p>
                  </a:txBody>
                  <a:tcPr marL="54864" marR="54864" marT="27432" marB="27432" anchor="ctr">
                    <a:solidFill>
                      <a:srgbClr val="DCE8F5"/>
                    </a:solidFill>
                  </a:tcPr>
                </a:tc>
                <a:tc>
                  <a:txBody>
                    <a:bodyPr wrap="square"/>
                    <a:lstStyle/>
                    <a:p>
                      <a:r>
                        <a:rPr sz="1400">
                          <a:solidFill>
                            <a:srgbClr val="1B1F24"/>
                          </a:solidFill>
                          <a:latin typeface="Malgun Gothic"/>
                        </a:rPr>
                        <a:t>Native → Runoff</a:t>
                      </a:r>
                    </a:p>
                  </a:txBody>
                  <a:tcPr marL="54864" marR="54864" marT="27432" marB="27432" anchor="ctr">
                    <a:solidFill>
                      <a:srgbClr val="DCE8F5"/>
                    </a:solidFill>
                  </a:tcPr>
                </a:tc>
                <a:tc>
                  <a:txBody>
                    <a:bodyPr wrap="square"/>
                    <a:lstStyle/>
                    <a:p>
                      <a:r>
                        <a:rPr sz="1400">
                          <a:solidFill>
                            <a:srgbClr val="1B1F24"/>
                          </a:solidFill>
                          <a:latin typeface="Malgun Gothic"/>
                        </a:rPr>
                        <a:t>75.4 → 77.0</a:t>
                      </a:r>
                    </a:p>
                  </a:txBody>
                  <a:tcPr marL="54864" marR="54864" marT="27432" marB="27432" anchor="ctr">
                    <a:solidFill>
                      <a:srgbClr val="DCE8F5"/>
                    </a:solidFill>
                  </a:tcPr>
                </a:tc>
                <a:tc>
                  <a:txBody>
                    <a:bodyPr wrap="square"/>
                    <a:lstStyle/>
                    <a:p>
                      <a:r>
                        <a:rPr sz="1400" b="1">
                          <a:solidFill>
                            <a:srgbClr val="5A9A5A"/>
                          </a:solidFill>
                          <a:latin typeface="Malgun Gothic"/>
                        </a:rPr>
                        <a:t>13.2 → 0.0</a:t>
                      </a:r>
                    </a:p>
                  </a:txBody>
                  <a:tcPr marL="54864" marR="54864" marT="27432" marB="27432" anchor="ctr">
                    <a:solidFill>
                      <a:srgbClr val="DCE8F5"/>
                    </a:solidFill>
                  </a:tcPr>
                </a:tc>
              </a:tr>
              <a:tr h="566928">
                <a:tc>
                  <a:txBody>
                    <a:bodyPr wrap="square"/>
                    <a:lstStyle/>
                    <a:p>
                      <a:r>
                        <a:rPr sz="1400" b="1">
                          <a:solidFill>
                            <a:srgbClr val="1B1F24"/>
                          </a:solidFill>
                          <a:latin typeface="Malgun Gothic"/>
                        </a:rPr>
                        <a:t>Mercury Decide</a:t>
                      </a:r>
                    </a:p>
                  </a:txBody>
                  <a:tcPr marL="54864" marR="54864" marT="27432" marB="27432" anchor="ctr">
                    <a:solidFill>
                      <a:srgbClr val="FFFFFF"/>
                    </a:solidFill>
                  </a:tcPr>
                </a:tc>
                <a:tc>
                  <a:txBody>
                    <a:bodyPr wrap="square"/>
                    <a:lstStyle/>
                    <a:p>
                      <a:r>
                        <a:rPr sz="1400">
                          <a:solidFill>
                            <a:srgbClr val="1B1F24"/>
                          </a:solidFill>
                          <a:latin typeface="Malgun Gothic"/>
                        </a:rPr>
                        <a:t>Native → Runoff</a:t>
                      </a:r>
                    </a:p>
                  </a:txBody>
                  <a:tcPr marL="54864" marR="54864" marT="27432" marB="27432" anchor="ctr">
                    <a:solidFill>
                      <a:srgbClr val="FFFFFF"/>
                    </a:solidFill>
                  </a:tcPr>
                </a:tc>
                <a:tc>
                  <a:txBody>
                    <a:bodyPr wrap="square"/>
                    <a:lstStyle/>
                    <a:p>
                      <a:r>
                        <a:rPr sz="1400">
                          <a:solidFill>
                            <a:srgbClr val="1B1F24"/>
                          </a:solidFill>
                          <a:latin typeface="Malgun Gothic"/>
                        </a:rPr>
                        <a:t>76.7 → 78.5</a:t>
                      </a:r>
                    </a:p>
                  </a:txBody>
                  <a:tcPr marL="54864" marR="54864" marT="27432" marB="27432" anchor="ctr">
                    <a:solidFill>
                      <a:srgbClr val="FFFFFF"/>
                    </a:solidFill>
                  </a:tcPr>
                </a:tc>
                <a:tc>
                  <a:txBody>
                    <a:bodyPr wrap="square"/>
                    <a:lstStyle/>
                    <a:p>
                      <a:r>
                        <a:rPr sz="1400" b="1">
                          <a:solidFill>
                            <a:srgbClr val="5A9A5A"/>
                          </a:solidFill>
                          <a:latin typeface="Malgun Gothic"/>
                        </a:rPr>
                        <a:t>9.8 → 1.4</a:t>
                      </a:r>
                    </a:p>
                  </a:txBody>
                  <a:tcPr marL="54864" marR="54864" marT="27432" marB="27432" anchor="ctr">
                    <a:solidFill>
                      <a:srgbClr val="FFFFFF"/>
                    </a:solidFill>
                  </a:tcPr>
                </a:tc>
              </a:tr>
            </a:tbl>
          </a:graphicData>
        </a:graphic>
      </p:graphicFrame>
      <p:sp>
        <p:nvSpPr>
          <p:cNvPr id="8" name="Rounded Rectangle 7"/>
          <p:cNvSpPr/>
          <p:nvPr/>
        </p:nvSpPr>
        <p:spPr>
          <a:xfrm>
            <a:off x="7498079" y="1463040"/>
            <a:ext cx="4114800" cy="15544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07807" y="1536192"/>
            <a:ext cx="3895344" cy="45720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슬롯: K=20, m=3</a:t>
            </a:r>
          </a:p>
        </p:txBody>
      </p:sp>
      <p:sp>
        <p:nvSpPr>
          <p:cNvPr id="10" name="TextBox 9"/>
          <p:cNvSpPr txBox="1"/>
          <p:nvPr/>
        </p:nvSpPr>
        <p:spPr>
          <a:xfrm>
            <a:off x="7607807" y="1993392"/>
            <a:ext cx="3895344" cy="960119"/>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AnyJev 400  vs  Runoff 29</a:t>
            </a:r>
          </a:p>
        </p:txBody>
      </p:sp>
      <p:sp>
        <p:nvSpPr>
          <p:cNvPr id="11" name="Rounded Rectangle 10"/>
          <p:cNvSpPr/>
          <p:nvPr/>
        </p:nvSpPr>
        <p:spPr>
          <a:xfrm>
            <a:off x="7498079" y="3200400"/>
            <a:ext cx="4114800" cy="146304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3273552"/>
            <a:ext cx="3895344" cy="457200"/>
          </a:xfrm>
          <a:prstGeom prst="rect">
            <a:avLst/>
          </a:prstGeom>
          <a:noFill/>
        </p:spPr>
        <p:txBody>
          <a:bodyPr wrap="square" anchor="t" lIns="45720" rIns="45720" tIns="27432" bIns="27432">
            <a:spAutoFit/>
          </a:bodyPr>
          <a:lstStyle/>
          <a:p>
            <a:pPr algn="l">
              <a:lnSpc>
                <a:spcPct val="110000"/>
              </a:lnSpc>
            </a:pPr>
            <a:r>
              <a:rPr sz="1600" b="1">
                <a:solidFill>
                  <a:srgbClr val="1F4E79"/>
                </a:solidFill>
                <a:latin typeface="Malgun Gothic"/>
              </a:rPr>
              <a:t>지연 (Qwen3-8B, K=20)</a:t>
            </a:r>
          </a:p>
        </p:txBody>
      </p:sp>
      <p:sp>
        <p:nvSpPr>
          <p:cNvPr id="13" name="TextBox 12"/>
          <p:cNvSpPr txBox="1"/>
          <p:nvPr/>
        </p:nvSpPr>
        <p:spPr>
          <a:xfrm>
            <a:off x="7607807" y="3730752"/>
            <a:ext cx="3895344" cy="86868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308 ms → 77 ms (4.0배)</a:t>
            </a:r>
          </a:p>
        </p:txBody>
      </p:sp>
      <p:sp>
        <p:nvSpPr>
          <p:cNvPr id="14" name="Rounded Rectangle 13"/>
          <p:cNvSpPr/>
          <p:nvPr/>
        </p:nvSpPr>
        <p:spPr>
          <a:xfrm>
            <a:off x="548640" y="4572000"/>
            <a:ext cx="6675120" cy="1600200"/>
          </a:xfrm>
          <a:prstGeom prst="roundRect">
            <a:avLst>
              <a:gd name="adj" fmla="val 8000"/>
            </a:avLst>
          </a:prstGeom>
          <a:solidFill>
            <a:srgbClr val="FDF1EE"/>
          </a:solidFill>
          <a:ln w="15875">
            <a:solidFill>
              <a:srgbClr val="C06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645152"/>
            <a:ext cx="6455664" cy="457200"/>
          </a:xfrm>
          <a:prstGeom prst="rect">
            <a:avLst/>
          </a:prstGeom>
          <a:noFill/>
        </p:spPr>
        <p:txBody>
          <a:bodyPr wrap="square" anchor="t" lIns="45720" rIns="45720" tIns="27432" bIns="27432">
            <a:spAutoFit/>
          </a:bodyPr>
          <a:lstStyle/>
          <a:p>
            <a:pPr algn="l">
              <a:lnSpc>
                <a:spcPct val="110000"/>
              </a:lnSpc>
            </a:pPr>
            <a:r>
              <a:rPr sz="1600" b="1">
                <a:solidFill>
                  <a:srgbClr val="6B2A1A"/>
                </a:solidFill>
                <a:latin typeface="Malgun Gothic"/>
              </a:rPr>
              <a:t>한계</a:t>
            </a:r>
          </a:p>
        </p:txBody>
      </p:sp>
      <p:sp>
        <p:nvSpPr>
          <p:cNvPr id="16" name="TextBox 15"/>
          <p:cNvSpPr txBox="1"/>
          <p:nvPr/>
        </p:nvSpPr>
        <p:spPr>
          <a:xfrm>
            <a:off x="658368" y="5102352"/>
            <a:ext cx="6455664" cy="1005840"/>
          </a:xfrm>
          <a:prstGeom prst="rect">
            <a:avLst/>
          </a:prstGeom>
          <a:noFill/>
        </p:spPr>
        <p:txBody>
          <a:bodyPr wrap="square" anchor="t" lIns="45720" rIns="45720" tIns="27432" bIns="27432">
            <a:spAutoFit/>
          </a:bodyPr>
          <a:lstStyle/>
          <a:p>
            <a:pPr algn="l">
              <a:lnSpc>
                <a:spcPct val="110000"/>
              </a:lnSpc>
            </a:pPr>
            <a:r>
              <a:rPr sz="1300" b="0">
                <a:solidFill>
                  <a:srgbClr val="1B1F24"/>
                </a:solidFill>
                <a:latin typeface="Malgun Gothic"/>
              </a:rPr>
              <a:t>선택지 4~6개면 이점 작음(0.9배) · 닫힌 API 잔존 flip
순서만 해결, 이름 선호 편향은 별개 · MMLU-Pro에서 AnyJev에 몇 점 뒤짐</a:t>
            </a:r>
          </a:p>
        </p:txBody>
      </p:sp>
      <p:sp>
        <p:nvSpPr>
          <p:cNvPr id="17" name="Rounded Rectangle 16"/>
          <p:cNvSpPr/>
          <p:nvPr/>
        </p:nvSpPr>
        <p:spPr>
          <a:xfrm>
            <a:off x="7498079" y="4846320"/>
            <a:ext cx="4114800" cy="1325880"/>
          </a:xfrm>
          <a:prstGeom prst="roundRect">
            <a:avLst>
              <a:gd name="adj" fmla="val 8000"/>
            </a:avLst>
          </a:prstGeom>
          <a:solidFill>
            <a:srgbClr val="EEF7EE"/>
          </a:solidFill>
          <a:ln w="15875">
            <a:solidFill>
              <a:srgbClr val="5A9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7807" y="4919472"/>
            <a:ext cx="3895344" cy="457200"/>
          </a:xfrm>
          <a:prstGeom prst="rect">
            <a:avLst/>
          </a:prstGeom>
          <a:noFill/>
        </p:spPr>
        <p:txBody>
          <a:bodyPr wrap="square" anchor="t" lIns="45720" rIns="45720" tIns="27432" bIns="27432">
            <a:spAutoFit/>
          </a:bodyPr>
          <a:lstStyle/>
          <a:p>
            <a:pPr algn="l">
              <a:lnSpc>
                <a:spcPct val="110000"/>
              </a:lnSpc>
            </a:pPr>
            <a:r>
              <a:rPr sz="1500" b="1">
                <a:solidFill>
                  <a:srgbClr val="22502A"/>
                </a:solidFill>
                <a:latin typeface="Malgun Gothic"/>
              </a:rPr>
              <a:t>Jev에서 구현</a:t>
            </a:r>
          </a:p>
        </p:txBody>
      </p:sp>
      <p:sp>
        <p:nvSpPr>
          <p:cNvPr id="19" name="TextBox 18"/>
          <p:cNvSpPr txBox="1"/>
          <p:nvPr/>
        </p:nvSpPr>
        <p:spPr>
          <a:xfrm>
            <a:off x="7607807" y="5376672"/>
            <a:ext cx="389534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K개 noul 1요청 + choice m개 요청</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2743200" cy="1463040"/>
          </a:xfrm>
          <a:prstGeom prst="rect">
            <a:avLst/>
          </a:prstGeom>
          <a:noFill/>
        </p:spPr>
        <p:txBody>
          <a:bodyPr wrap="square" anchor="t" lIns="45720" rIns="45720" tIns="27432" bIns="27432">
            <a:spAutoFit/>
          </a:bodyPr>
          <a:lstStyle/>
          <a:p>
            <a:pPr algn="l">
              <a:lnSpc>
                <a:spcPct val="110000"/>
              </a:lnSpc>
            </a:pPr>
            <a:r>
              <a:rPr sz="9600" b="1">
                <a:solidFill>
                  <a:srgbClr val="E8A33D"/>
                </a:solidFill>
                <a:latin typeface="Malgun Gothic"/>
              </a:rPr>
              <a:t>04</a:t>
            </a:r>
          </a:p>
        </p:txBody>
      </p:sp>
      <p:sp>
        <p:nvSpPr>
          <p:cNvPr id="4" name="TextBox 3"/>
          <p:cNvSpPr txBox="1"/>
          <p:nvPr/>
        </p:nvSpPr>
        <p:spPr>
          <a:xfrm>
            <a:off x="914400" y="3566160"/>
            <a:ext cx="10058400" cy="91440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지형과 성능</a:t>
            </a:r>
          </a:p>
        </p:txBody>
      </p:sp>
      <p:sp>
        <p:nvSpPr>
          <p:cNvPr id="5" name="TextBox 4"/>
          <p:cNvSpPr txBox="1"/>
          <p:nvPr/>
        </p:nvSpPr>
        <p:spPr>
          <a:xfrm>
            <a:off x="914400" y="4480560"/>
            <a:ext cx="10058400" cy="548640"/>
          </a:xfrm>
          <a:prstGeom prst="rect">
            <a:avLst/>
          </a:prstGeom>
          <a:noFill/>
        </p:spPr>
        <p:txBody>
          <a:bodyPr wrap="square" anchor="t" lIns="45720" rIns="45720" tIns="27432" bIns="27432">
            <a:spAutoFit/>
          </a:bodyPr>
          <a:lstStyle/>
          <a:p>
            <a:pPr algn="l">
              <a:lnSpc>
                <a:spcPct val="110000"/>
              </a:lnSpc>
            </a:pPr>
            <a:r>
              <a:rPr sz="2000" b="0">
                <a:solidFill>
                  <a:srgbClr val="BFD3EA"/>
                </a:solidFill>
                <a:latin typeface="Malgun Gothic"/>
              </a:rPr>
              <a:t>누가 무엇을 냈고, 숫자는 얼마나 믿을 수 있나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모델 지형</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가격은 입력 $/MTok · 출력은 모두 무료 · 대부분 집계 사이트 표기</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22</a:t>
            </a:r>
          </a:p>
        </p:txBody>
      </p:sp>
      <p:graphicFrame>
        <p:nvGraphicFramePr>
          <p:cNvPr id="7" name="Table 6"/>
          <p:cNvGraphicFramePr>
            <a:graphicFrameLocks noGrp="1"/>
          </p:cNvGraphicFramePr>
          <p:nvPr/>
        </p:nvGraphicFramePr>
        <p:xfrm>
          <a:off x="457200" y="1417320"/>
          <a:ext cx="11247117" cy="4727448"/>
        </p:xfrm>
        <a:graphic>
          <a:graphicData uri="http://schemas.openxmlformats.org/drawingml/2006/table">
            <a:tbl>
              <a:tblPr firstRow="1" bandRow="1">
                <a:tableStyleId>{5C22544A-7EE6-4342-B048-85BDC9FD1C3A}</a:tableStyleId>
              </a:tblPr>
              <a:tblGrid>
                <a:gridCol w="2838058"/>
                <a:gridCol w="1892038"/>
                <a:gridCol w="3363624"/>
                <a:gridCol w="1471585"/>
                <a:gridCol w="1681812"/>
              </a:tblGrid>
              <a:tr h="429768">
                <a:tc>
                  <a:txBody>
                    <a:bodyPr wrap="square"/>
                    <a:lstStyle/>
                    <a:p>
                      <a:r>
                        <a:rPr sz="1200" b="1">
                          <a:solidFill>
                            <a:srgbClr val="FFFFFF"/>
                          </a:solidFill>
                          <a:latin typeface="Malgun Gothic"/>
                        </a:rPr>
                        <a:t>모델</a:t>
                      </a:r>
                    </a:p>
                  </a:txBody>
                  <a:tcPr marL="54864" marR="54864" marT="27432" marB="27432" anchor="ctr">
                    <a:solidFill>
                      <a:srgbClr val="1F4E79"/>
                    </a:solidFill>
                  </a:tcPr>
                </a:tc>
                <a:tc>
                  <a:txBody>
                    <a:bodyPr wrap="square"/>
                    <a:lstStyle/>
                    <a:p>
                      <a:r>
                        <a:rPr sz="1200" b="1">
                          <a:solidFill>
                            <a:srgbClr val="FFFFFF"/>
                          </a:solidFill>
                          <a:latin typeface="Malgun Gothic"/>
                        </a:rPr>
                        <a:t>공개</a:t>
                      </a:r>
                    </a:p>
                  </a:txBody>
                  <a:tcPr marL="54864" marR="54864" marT="27432" marB="27432" anchor="ctr">
                    <a:solidFill>
                      <a:srgbClr val="1F4E79"/>
                    </a:solidFill>
                  </a:tcPr>
                </a:tc>
                <a:tc>
                  <a:txBody>
                    <a:bodyPr wrap="square"/>
                    <a:lstStyle/>
                    <a:p>
                      <a:r>
                        <a:rPr sz="1200" b="1">
                          <a:solidFill>
                            <a:srgbClr val="FFFFFF"/>
                          </a:solidFill>
                          <a:latin typeface="Malgun Gothic"/>
                        </a:rPr>
                        <a:t>백본 · 규모</a:t>
                      </a:r>
                    </a:p>
                  </a:txBody>
                  <a:tcPr marL="54864" marR="54864" marT="27432" marB="27432" anchor="ctr">
                    <a:solidFill>
                      <a:srgbClr val="1F4E79"/>
                    </a:solidFill>
                  </a:tcPr>
                </a:tc>
                <a:tc>
                  <a:txBody>
                    <a:bodyPr wrap="square"/>
                    <a:lstStyle/>
                    <a:p>
                      <a:r>
                        <a:rPr sz="1200" b="1">
                          <a:solidFill>
                            <a:srgbClr val="FFFFFF"/>
                          </a:solidFill>
                          <a:latin typeface="Malgun Gothic"/>
                        </a:rPr>
                        <a:t>가격</a:t>
                      </a:r>
                    </a:p>
                  </a:txBody>
                  <a:tcPr marL="54864" marR="54864" marT="27432" marB="27432" anchor="ctr">
                    <a:solidFill>
                      <a:srgbClr val="1F4E79"/>
                    </a:solidFill>
                  </a:tcPr>
                </a:tc>
                <a:tc>
                  <a:txBody>
                    <a:bodyPr wrap="square"/>
                    <a:lstStyle/>
                    <a:p>
                      <a:r>
                        <a:rPr sz="1200" b="1">
                          <a:solidFill>
                            <a:srgbClr val="FFFFFF"/>
                          </a:solidFill>
                          <a:latin typeface="Malgun Gothic"/>
                        </a:rPr>
                        <a:t>가중치</a:t>
                      </a:r>
                    </a:p>
                  </a:txBody>
                  <a:tcPr marL="54864" marR="54864" marT="27432" marB="27432" anchor="ctr">
                    <a:solidFill>
                      <a:srgbClr val="1F4E79"/>
                    </a:solidFill>
                  </a:tcPr>
                </a:tc>
              </a:tr>
              <a:tr h="429768">
                <a:tc>
                  <a:txBody>
                    <a:bodyPr wrap="square"/>
                    <a:lstStyle/>
                    <a:p>
                      <a:r>
                        <a:rPr sz="1200" b="1">
                          <a:solidFill>
                            <a:srgbClr val="1B1F24"/>
                          </a:solidFill>
                          <a:latin typeface="Malgun Gothic"/>
                        </a:rPr>
                        <a:t>Jev 1.13/1.14</a:t>
                      </a:r>
                    </a:p>
                  </a:txBody>
                  <a:tcPr marL="54864" marR="54864" marT="27432" marB="27432" anchor="ctr">
                    <a:solidFill>
                      <a:srgbClr val="DCE8F5"/>
                    </a:solidFill>
                  </a:tcPr>
                </a:tc>
                <a:tc>
                  <a:txBody>
                    <a:bodyPr wrap="square"/>
                    <a:lstStyle/>
                    <a:p>
                      <a:r>
                        <a:rPr sz="1200">
                          <a:solidFill>
                            <a:srgbClr val="1B1F24"/>
                          </a:solidFill>
                          <a:latin typeface="Malgun Gothic"/>
                        </a:rPr>
                        <a:t>09-15 / 10-14</a:t>
                      </a:r>
                    </a:p>
                  </a:txBody>
                  <a:tcPr marL="54864" marR="54864" marT="27432" marB="27432" anchor="ctr">
                    <a:solidFill>
                      <a:srgbClr val="DCE8F5"/>
                    </a:solidFill>
                  </a:tcPr>
                </a:tc>
                <a:tc>
                  <a:txBody>
                    <a:bodyPr wrap="square"/>
                    <a:lstStyle/>
                    <a:p>
                      <a:r>
                        <a:rPr sz="1200">
                          <a:solidFill>
                            <a:srgbClr val="1B1F24"/>
                          </a:solidFill>
                          <a:latin typeface="Malgun Gothic"/>
                        </a:rPr>
                        <a:t>비공개</a:t>
                      </a:r>
                    </a:p>
                  </a:txBody>
                  <a:tcPr marL="54864" marR="54864" marT="27432" marB="27432" anchor="ctr">
                    <a:solidFill>
                      <a:srgbClr val="DCE8F5"/>
                    </a:solidFill>
                  </a:tcPr>
                </a:tc>
                <a:tc>
                  <a:txBody>
                    <a:bodyPr wrap="square"/>
                    <a:lstStyle/>
                    <a:p>
                      <a:r>
                        <a:rPr sz="1200">
                          <a:solidFill>
                            <a:srgbClr val="1B1F24"/>
                          </a:solidFill>
                          <a:latin typeface="Malgun Gothic"/>
                        </a:rPr>
                        <a:t>0.042</a:t>
                      </a:r>
                    </a:p>
                  </a:txBody>
                  <a:tcPr marL="54864" marR="54864" marT="27432" marB="27432" anchor="ctr">
                    <a:solidFill>
                      <a:srgbClr val="DCE8F5"/>
                    </a:solidFill>
                  </a:tcPr>
                </a:tc>
                <a:tc>
                  <a:txBody>
                    <a:bodyPr wrap="square"/>
                    <a:lstStyle/>
                    <a:p>
                      <a:r>
                        <a:rPr sz="1200">
                          <a:solidFill>
                            <a:srgbClr val="1B1F24"/>
                          </a:solidFill>
                          <a:latin typeface="Malgun Gothic"/>
                        </a:rPr>
                        <a:t>닫힘</a:t>
                      </a:r>
                    </a:p>
                  </a:txBody>
                  <a:tcPr marL="54864" marR="54864" marT="27432" marB="27432" anchor="ctr">
                    <a:solidFill>
                      <a:srgbClr val="DCE8F5"/>
                    </a:solidFill>
                  </a:tcPr>
                </a:tc>
              </a:tr>
              <a:tr h="429768">
                <a:tc>
                  <a:txBody>
                    <a:bodyPr wrap="square"/>
                    <a:lstStyle/>
                    <a:p>
                      <a:r>
                        <a:rPr sz="1200" b="1">
                          <a:solidFill>
                            <a:srgbClr val="1B1F24"/>
                          </a:solidFill>
                          <a:latin typeface="Malgun Gothic"/>
                        </a:rPr>
                        <a:t>OpenAI Decisions</a:t>
                      </a:r>
                    </a:p>
                  </a:txBody>
                  <a:tcPr marL="54864" marR="54864" marT="27432" marB="27432" anchor="ctr">
                    <a:solidFill>
                      <a:srgbClr val="FFFFFF"/>
                    </a:solidFill>
                  </a:tcPr>
                </a:tc>
                <a:tc>
                  <a:txBody>
                    <a:bodyPr wrap="square"/>
                    <a:lstStyle/>
                    <a:p>
                      <a:r>
                        <a:rPr sz="1200">
                          <a:solidFill>
                            <a:srgbClr val="1B1F24"/>
                          </a:solidFill>
                          <a:latin typeface="Malgun Gothic"/>
                        </a:rPr>
                        <a:t>10-06 베타</a:t>
                      </a:r>
                    </a:p>
                  </a:txBody>
                  <a:tcPr marL="54864" marR="54864" marT="27432" marB="27432" anchor="ctr">
                    <a:solidFill>
                      <a:srgbClr val="FFFFFF"/>
                    </a:solidFill>
                  </a:tcPr>
                </a:tc>
                <a:tc>
                  <a:txBody>
                    <a:bodyPr wrap="square"/>
                    <a:lstStyle/>
                    <a:p>
                      <a:r>
                        <a:rPr sz="1200">
                          <a:solidFill>
                            <a:srgbClr val="1B1F24"/>
                          </a:solidFill>
                          <a:latin typeface="Malgun Gothic"/>
                        </a:rPr>
                        <a:t>gpt-6-luna</a:t>
                      </a:r>
                    </a:p>
                  </a:txBody>
                  <a:tcPr marL="54864" marR="54864" marT="27432" marB="27432" anchor="ctr">
                    <a:solidFill>
                      <a:srgbClr val="FFFFFF"/>
                    </a:solidFill>
                  </a:tcPr>
                </a:tc>
                <a:tc>
                  <a:txBody>
                    <a:bodyPr wrap="square"/>
                    <a:lstStyle/>
                    <a:p>
                      <a:r>
                        <a:rPr sz="1200">
                          <a:solidFill>
                            <a:srgbClr val="1B1F24"/>
                          </a:solidFill>
                          <a:latin typeface="Malgun Gothic"/>
                        </a:rPr>
                        <a:t>0.10</a:t>
                      </a:r>
                    </a:p>
                  </a:txBody>
                  <a:tcPr marL="54864" marR="54864" marT="27432" marB="27432" anchor="ctr">
                    <a:solidFill>
                      <a:srgbClr val="FFFFFF"/>
                    </a:solidFill>
                  </a:tcPr>
                </a:tc>
                <a:tc>
                  <a:txBody>
                    <a:bodyPr wrap="square"/>
                    <a:lstStyle/>
                    <a:p>
                      <a:r>
                        <a:rPr sz="1200">
                          <a:solidFill>
                            <a:srgbClr val="1B1F24"/>
                          </a:solidFill>
                          <a:latin typeface="Malgun Gothic"/>
                        </a:rPr>
                        <a:t>닫힘</a:t>
                      </a:r>
                    </a:p>
                  </a:txBody>
                  <a:tcPr marL="54864" marR="54864" marT="27432" marB="27432" anchor="ctr">
                    <a:solidFill>
                      <a:srgbClr val="FFFFFF"/>
                    </a:solidFill>
                  </a:tcPr>
                </a:tc>
              </a:tr>
              <a:tr h="429768">
                <a:tc>
                  <a:txBody>
                    <a:bodyPr wrap="square"/>
                    <a:lstStyle/>
                    <a:p>
                      <a:r>
                        <a:rPr sz="1200" b="1">
                          <a:solidFill>
                            <a:srgbClr val="1B1F24"/>
                          </a:solidFill>
                          <a:latin typeface="Malgun Gothic"/>
                        </a:rPr>
                        <a:t>Liquid d1 / d1-ultra</a:t>
                      </a:r>
                    </a:p>
                  </a:txBody>
                  <a:tcPr marL="54864" marR="54864" marT="27432" marB="27432" anchor="ctr">
                    <a:solidFill>
                      <a:srgbClr val="DCE8F5"/>
                    </a:solidFill>
                  </a:tcPr>
                </a:tc>
                <a:tc>
                  <a:txBody>
                    <a:bodyPr wrap="square"/>
                    <a:lstStyle/>
                    <a:p>
                      <a:r>
                        <a:rPr sz="1200">
                          <a:solidFill>
                            <a:srgbClr val="1B1F24"/>
                          </a:solidFill>
                          <a:latin typeface="Malgun Gothic"/>
                        </a:rPr>
                        <a:t>09-29 / 10-15</a:t>
                      </a:r>
                    </a:p>
                  </a:txBody>
                  <a:tcPr marL="54864" marR="54864" marT="27432" marB="27432" anchor="ctr">
                    <a:solidFill>
                      <a:srgbClr val="DCE8F5"/>
                    </a:solidFill>
                  </a:tcPr>
                </a:tc>
                <a:tc>
                  <a:txBody>
                    <a:bodyPr wrap="square"/>
                    <a:lstStyle/>
                    <a:p>
                      <a:r>
                        <a:rPr sz="1200">
                          <a:solidFill>
                            <a:srgbClr val="1B1F24"/>
                          </a:solidFill>
                          <a:latin typeface="Malgun Gothic"/>
                        </a:rPr>
                        <a:t>비공개 / 더 큰 오픈 모델</a:t>
                      </a:r>
                    </a:p>
                  </a:txBody>
                  <a:tcPr marL="54864" marR="54864" marT="27432" marB="27432" anchor="ctr">
                    <a:solidFill>
                      <a:srgbClr val="DCE8F5"/>
                    </a:solidFill>
                  </a:tcPr>
                </a:tc>
                <a:tc>
                  <a:txBody>
                    <a:bodyPr wrap="square"/>
                    <a:lstStyle/>
                    <a:p>
                      <a:r>
                        <a:rPr sz="1200">
                          <a:solidFill>
                            <a:srgbClr val="1B1F24"/>
                          </a:solidFill>
                          <a:latin typeface="Malgun Gothic"/>
                        </a:rPr>
                        <a:t>0.02 / 0.042</a:t>
                      </a:r>
                    </a:p>
                  </a:txBody>
                  <a:tcPr marL="54864" marR="54864" marT="27432" marB="27432" anchor="ctr">
                    <a:solidFill>
                      <a:srgbClr val="DCE8F5"/>
                    </a:solidFill>
                  </a:tcPr>
                </a:tc>
                <a:tc>
                  <a:txBody>
                    <a:bodyPr wrap="square"/>
                    <a:lstStyle/>
                    <a:p>
                      <a:r>
                        <a:rPr sz="1200">
                          <a:solidFill>
                            <a:srgbClr val="1B1F24"/>
                          </a:solidFill>
                          <a:latin typeface="Malgun Gothic"/>
                        </a:rPr>
                        <a:t>닫힘</a:t>
                      </a:r>
                    </a:p>
                  </a:txBody>
                  <a:tcPr marL="54864" marR="54864" marT="27432" marB="27432" anchor="ctr">
                    <a:solidFill>
                      <a:srgbClr val="DCE8F5"/>
                    </a:solidFill>
                  </a:tcPr>
                </a:tc>
              </a:tr>
              <a:tr h="429768">
                <a:tc>
                  <a:txBody>
                    <a:bodyPr wrap="square"/>
                    <a:lstStyle/>
                    <a:p>
                      <a:r>
                        <a:rPr sz="1200" b="1">
                          <a:solidFill>
                            <a:srgbClr val="1B1F24"/>
                          </a:solidFill>
                          <a:latin typeface="Malgun Gothic"/>
                        </a:rPr>
                        <a:t>Liquid d1-3B · omni-600M</a:t>
                      </a:r>
                    </a:p>
                  </a:txBody>
                  <a:tcPr marL="54864" marR="54864" marT="27432" marB="27432" anchor="ctr">
                    <a:solidFill>
                      <a:srgbClr val="FFFFFF"/>
                    </a:solidFill>
                  </a:tcPr>
                </a:tc>
                <a:tc>
                  <a:txBody>
                    <a:bodyPr wrap="square"/>
                    <a:lstStyle/>
                    <a:p>
                      <a:r>
                        <a:rPr sz="1200">
                          <a:solidFill>
                            <a:srgbClr val="1B1F24"/>
                          </a:solidFill>
                          <a:latin typeface="Malgun Gothic"/>
                        </a:rPr>
                        <a:t>10-07</a:t>
                      </a:r>
                    </a:p>
                  </a:txBody>
                  <a:tcPr marL="54864" marR="54864" marT="27432" marB="27432" anchor="ctr">
                    <a:solidFill>
                      <a:srgbClr val="FFFFFF"/>
                    </a:solidFill>
                  </a:tcPr>
                </a:tc>
                <a:tc>
                  <a:txBody>
                    <a:bodyPr wrap="square"/>
                    <a:lstStyle/>
                    <a:p>
                      <a:r>
                        <a:rPr sz="1200">
                          <a:solidFill>
                            <a:srgbClr val="1B1F24"/>
                          </a:solidFill>
                          <a:latin typeface="Malgun Gothic"/>
                        </a:rPr>
                        <a:t>VLM 3.12B · 인코더 587M</a:t>
                      </a:r>
                    </a:p>
                  </a:txBody>
                  <a:tcPr marL="54864" marR="54864" marT="27432" marB="27432" anchor="ctr">
                    <a:solidFill>
                      <a:srgbClr val="FFFFFF"/>
                    </a:solidFill>
                  </a:tcPr>
                </a:tc>
                <a:tc>
                  <a:txBody>
                    <a:bodyPr wrap="square"/>
                    <a:lstStyle/>
                    <a:p>
                      <a:r>
                        <a:rPr sz="1200">
                          <a:solidFill>
                            <a:srgbClr val="1B1F24"/>
                          </a:solidFill>
                          <a:latin typeface="Malgun Gothic"/>
                        </a:rPr>
                        <a:t>로컬</a:t>
                      </a:r>
                    </a:p>
                  </a:txBody>
                  <a:tcPr marL="54864" marR="54864" marT="27432" marB="27432" anchor="ctr">
                    <a:solidFill>
                      <a:srgbClr val="FFFFFF"/>
                    </a:solidFill>
                  </a:tcPr>
                </a:tc>
                <a:tc>
                  <a:txBody>
                    <a:bodyPr wrap="square"/>
                    <a:lstStyle/>
                    <a:p>
                      <a:r>
                        <a:rPr sz="1200">
                          <a:solidFill>
                            <a:srgbClr val="1B1F24"/>
                          </a:solidFill>
                          <a:latin typeface="Malgun Gothic"/>
                        </a:rPr>
                        <a:t>LFM Open</a:t>
                      </a:r>
                    </a:p>
                  </a:txBody>
                  <a:tcPr marL="54864" marR="54864" marT="27432" marB="27432" anchor="ctr">
                    <a:solidFill>
                      <a:srgbClr val="FFFFFF"/>
                    </a:solidFill>
                  </a:tcPr>
                </a:tc>
              </a:tr>
              <a:tr h="429768">
                <a:tc>
                  <a:txBody>
                    <a:bodyPr wrap="square"/>
                    <a:lstStyle/>
                    <a:p>
                      <a:r>
                        <a:rPr sz="1200" b="1">
                          <a:solidFill>
                            <a:srgbClr val="1B1F24"/>
                          </a:solidFill>
                          <a:latin typeface="Malgun Gothic"/>
                        </a:rPr>
                        <a:t>Cloudflare Clef / flash</a:t>
                      </a:r>
                    </a:p>
                  </a:txBody>
                  <a:tcPr marL="54864" marR="54864" marT="27432" marB="27432" anchor="ctr">
                    <a:solidFill>
                      <a:srgbClr val="DCE8F5"/>
                    </a:solidFill>
                  </a:tcPr>
                </a:tc>
                <a:tc>
                  <a:txBody>
                    <a:bodyPr wrap="square"/>
                    <a:lstStyle/>
                    <a:p>
                      <a:r>
                        <a:rPr sz="1200">
                          <a:solidFill>
                            <a:srgbClr val="1B1F24"/>
                          </a:solidFill>
                          <a:latin typeface="Malgun Gothic"/>
                        </a:rPr>
                        <a:t>10-01</a:t>
                      </a:r>
                    </a:p>
                  </a:txBody>
                  <a:tcPr marL="54864" marR="54864" marT="27432" marB="27432" anchor="ctr">
                    <a:solidFill>
                      <a:srgbClr val="DCE8F5"/>
                    </a:solidFill>
                  </a:tcPr>
                </a:tc>
                <a:tc>
                  <a:txBody>
                    <a:bodyPr wrap="square"/>
                    <a:lstStyle/>
                    <a:p>
                      <a:r>
                        <a:rPr sz="1200">
                          <a:solidFill>
                            <a:srgbClr val="1B1F24"/>
                          </a:solidFill>
                          <a:latin typeface="Malgun Gothic"/>
                        </a:rPr>
                        <a:t>Qwen3.8-27B / 3.5-9B</a:t>
                      </a:r>
                    </a:p>
                  </a:txBody>
                  <a:tcPr marL="54864" marR="54864" marT="27432" marB="27432" anchor="ctr">
                    <a:solidFill>
                      <a:srgbClr val="DCE8F5"/>
                    </a:solidFill>
                  </a:tcPr>
                </a:tc>
                <a:tc>
                  <a:txBody>
                    <a:bodyPr wrap="square"/>
                    <a:lstStyle/>
                    <a:p>
                      <a:r>
                        <a:rPr sz="1200">
                          <a:solidFill>
                            <a:srgbClr val="1B1F24"/>
                          </a:solidFill>
                          <a:latin typeface="Malgun Gothic"/>
                        </a:rPr>
                        <a:t>집계 0.24</a:t>
                      </a:r>
                    </a:p>
                  </a:txBody>
                  <a:tcPr marL="54864" marR="54864" marT="27432" marB="27432" anchor="ctr">
                    <a:solidFill>
                      <a:srgbClr val="DCE8F5"/>
                    </a:solidFill>
                  </a:tcPr>
                </a:tc>
                <a:tc>
                  <a:txBody>
                    <a:bodyPr wrap="square"/>
                    <a:lstStyle/>
                    <a:p>
                      <a:r>
                        <a:rPr sz="1200">
                          <a:solidFill>
                            <a:srgbClr val="1B1F24"/>
                          </a:solidFill>
                          <a:latin typeface="Malgun Gothic"/>
                        </a:rPr>
                        <a:t>Apache-2.0</a:t>
                      </a:r>
                    </a:p>
                  </a:txBody>
                  <a:tcPr marL="54864" marR="54864" marT="27432" marB="27432" anchor="ctr">
                    <a:solidFill>
                      <a:srgbClr val="DCE8F5"/>
                    </a:solidFill>
                  </a:tcPr>
                </a:tc>
              </a:tr>
              <a:tr h="429768">
                <a:tc>
                  <a:txBody>
                    <a:bodyPr wrap="square"/>
                    <a:lstStyle/>
                    <a:p>
                      <a:r>
                        <a:rPr sz="1200" b="1">
                          <a:solidFill>
                            <a:srgbClr val="1B1F24"/>
                          </a:solidFill>
                          <a:latin typeface="Malgun Gothic"/>
                        </a:rPr>
                        <a:t>pplx-decider v1.2</a:t>
                      </a:r>
                    </a:p>
                  </a:txBody>
                  <a:tcPr marL="54864" marR="54864" marT="27432" marB="27432" anchor="ctr">
                    <a:solidFill>
                      <a:srgbClr val="FFFFFF"/>
                    </a:solidFill>
                  </a:tcPr>
                </a:tc>
                <a:tc>
                  <a:txBody>
                    <a:bodyPr wrap="square"/>
                    <a:lstStyle/>
                    <a:p>
                      <a:r>
                        <a:rPr sz="1200">
                          <a:solidFill>
                            <a:srgbClr val="1B1F24"/>
                          </a:solidFill>
                          <a:latin typeface="Malgun Gothic"/>
                        </a:rPr>
                        <a:t>10-01 (v1.2 10-16)</a:t>
                      </a:r>
                    </a:p>
                  </a:txBody>
                  <a:tcPr marL="54864" marR="54864" marT="27432" marB="27432" anchor="ctr">
                    <a:solidFill>
                      <a:srgbClr val="FFFFFF"/>
                    </a:solidFill>
                  </a:tcPr>
                </a:tc>
                <a:tc>
                  <a:txBody>
                    <a:bodyPr wrap="square"/>
                    <a:lstStyle/>
                    <a:p>
                      <a:r>
                        <a:rPr sz="1200">
                          <a:solidFill>
                            <a:srgbClr val="1B1F24"/>
                          </a:solidFill>
                          <a:latin typeface="Malgun Gothic"/>
                        </a:rPr>
                        <a:t>Qwen3.8-27B / 4B 증류</a:t>
                      </a:r>
                    </a:p>
                  </a:txBody>
                  <a:tcPr marL="54864" marR="54864" marT="27432" marB="27432" anchor="ctr">
                    <a:solidFill>
                      <a:srgbClr val="FFFFFF"/>
                    </a:solidFill>
                  </a:tcPr>
                </a:tc>
                <a:tc>
                  <a:txBody>
                    <a:bodyPr wrap="square"/>
                    <a:lstStyle/>
                    <a:p>
                      <a:r>
                        <a:rPr sz="1200">
                          <a:solidFill>
                            <a:srgbClr val="1B1F24"/>
                          </a:solidFill>
                          <a:latin typeface="Malgun Gothic"/>
                        </a:rPr>
                        <a:t>0.02 / 0.01</a:t>
                      </a:r>
                    </a:p>
                  </a:txBody>
                  <a:tcPr marL="54864" marR="54864" marT="27432" marB="27432" anchor="ctr">
                    <a:solidFill>
                      <a:srgbClr val="FFFFFF"/>
                    </a:solidFill>
                  </a:tcPr>
                </a:tc>
                <a:tc>
                  <a:txBody>
                    <a:bodyPr wrap="square"/>
                    <a:lstStyle/>
                    <a:p>
                      <a:r>
                        <a:rPr sz="1200">
                          <a:solidFill>
                            <a:srgbClr val="1B1F24"/>
                          </a:solidFill>
                          <a:latin typeface="Malgun Gothic"/>
                        </a:rPr>
                        <a:t>Apache-2.0</a:t>
                      </a:r>
                    </a:p>
                  </a:txBody>
                  <a:tcPr marL="54864" marR="54864" marT="27432" marB="27432" anchor="ctr">
                    <a:solidFill>
                      <a:srgbClr val="FFFFFF"/>
                    </a:solidFill>
                  </a:tcPr>
                </a:tc>
              </a:tr>
              <a:tr h="429768">
                <a:tc>
                  <a:txBody>
                    <a:bodyPr wrap="square"/>
                    <a:lstStyle/>
                    <a:p>
                      <a:r>
                        <a:rPr sz="1200" b="1">
                          <a:solidFill>
                            <a:srgbClr val="1B1F24"/>
                          </a:solidFill>
                          <a:latin typeface="Malgun Gothic"/>
                        </a:rPr>
                        <a:t>Fastino GLiDE 1.2</a:t>
                      </a:r>
                    </a:p>
                  </a:txBody>
                  <a:tcPr marL="54864" marR="54864" marT="27432" marB="27432" anchor="ctr">
                    <a:solidFill>
                      <a:srgbClr val="DCE8F5"/>
                    </a:solidFill>
                  </a:tcPr>
                </a:tc>
                <a:tc>
                  <a:txBody>
                    <a:bodyPr wrap="square"/>
                    <a:lstStyle/>
                    <a:p>
                      <a:r>
                        <a:rPr sz="1200">
                          <a:solidFill>
                            <a:srgbClr val="1B1F24"/>
                          </a:solidFill>
                          <a:latin typeface="Malgun Gothic"/>
                        </a:rPr>
                        <a:t>09-30 / 10-22</a:t>
                      </a:r>
                    </a:p>
                  </a:txBody>
                  <a:tcPr marL="54864" marR="54864" marT="27432" marB="27432" anchor="ctr">
                    <a:solidFill>
                      <a:srgbClr val="DCE8F5"/>
                    </a:solidFill>
                  </a:tcPr>
                </a:tc>
                <a:tc>
                  <a:txBody>
                    <a:bodyPr wrap="square"/>
                    <a:lstStyle/>
                    <a:p>
                      <a:r>
                        <a:rPr sz="1200">
                          <a:solidFill>
                            <a:srgbClr val="1B1F24"/>
                          </a:solidFill>
                          <a:latin typeface="Malgun Gothic"/>
                        </a:rPr>
                        <a:t>Qwen3.8-27B</a:t>
                      </a:r>
                    </a:p>
                  </a:txBody>
                  <a:tcPr marL="54864" marR="54864" marT="27432" marB="27432" anchor="ctr">
                    <a:solidFill>
                      <a:srgbClr val="DCE8F5"/>
                    </a:solidFill>
                  </a:tcPr>
                </a:tc>
                <a:tc>
                  <a:txBody>
                    <a:bodyPr wrap="square"/>
                    <a:lstStyle/>
                    <a:p>
                      <a:r>
                        <a:rPr sz="1200">
                          <a:solidFill>
                            <a:srgbClr val="1B1F24"/>
                          </a:solidFill>
                          <a:latin typeface="Malgun Gothic"/>
                        </a:rPr>
                        <a:t>0.04</a:t>
                      </a:r>
                    </a:p>
                  </a:txBody>
                  <a:tcPr marL="54864" marR="54864" marT="27432" marB="27432" anchor="ctr">
                    <a:solidFill>
                      <a:srgbClr val="DCE8F5"/>
                    </a:solidFill>
                  </a:tcPr>
                </a:tc>
                <a:tc>
                  <a:txBody>
                    <a:bodyPr wrap="square"/>
                    <a:lstStyle/>
                    <a:p>
                      <a:r>
                        <a:rPr sz="1200">
                          <a:solidFill>
                            <a:srgbClr val="1B1F24"/>
                          </a:solidFill>
                          <a:latin typeface="Malgun Gothic"/>
                        </a:rPr>
                        <a:t>Community</a:t>
                      </a:r>
                    </a:p>
                  </a:txBody>
                  <a:tcPr marL="54864" marR="54864" marT="27432" marB="27432" anchor="ctr">
                    <a:solidFill>
                      <a:srgbClr val="DCE8F5"/>
                    </a:solidFill>
                  </a:tcPr>
                </a:tc>
              </a:tr>
              <a:tr h="429768">
                <a:tc>
                  <a:txBody>
                    <a:bodyPr wrap="square"/>
                    <a:lstStyle/>
                    <a:p>
                      <a:r>
                        <a:rPr sz="1200" b="1">
                          <a:solidFill>
                            <a:srgbClr val="1B1F24"/>
                          </a:solidFill>
                          <a:latin typeface="Malgun Gothic"/>
                        </a:rPr>
                        <a:t>GLiNER2.5-Decide</a:t>
                      </a:r>
                    </a:p>
                  </a:txBody>
                  <a:tcPr marL="54864" marR="54864" marT="27432" marB="27432" anchor="ctr">
                    <a:solidFill>
                      <a:srgbClr val="FFFFFF"/>
                    </a:solidFill>
                  </a:tcPr>
                </a:tc>
                <a:tc>
                  <a:txBody>
                    <a:bodyPr wrap="square"/>
                    <a:lstStyle/>
                    <a:p>
                      <a:r>
                        <a:rPr sz="1200">
                          <a:solidFill>
                            <a:srgbClr val="1B1F24"/>
                          </a:solidFill>
                          <a:latin typeface="Malgun Gothic"/>
                        </a:rPr>
                        <a:t>09-24</a:t>
                      </a:r>
                    </a:p>
                  </a:txBody>
                  <a:tcPr marL="54864" marR="54864" marT="27432" marB="27432" anchor="ctr">
                    <a:solidFill>
                      <a:srgbClr val="FFFFFF"/>
                    </a:solidFill>
                  </a:tcPr>
                </a:tc>
                <a:tc>
                  <a:txBody>
                    <a:bodyPr wrap="square"/>
                    <a:lstStyle/>
                    <a:p>
                      <a:r>
                        <a:rPr sz="1200">
                          <a:solidFill>
                            <a:srgbClr val="1B1F24"/>
                          </a:solidFill>
                          <a:latin typeface="Malgun Gothic"/>
                        </a:rPr>
                        <a:t>DeBERTa-v3-large 340M</a:t>
                      </a:r>
                    </a:p>
                  </a:txBody>
                  <a:tcPr marL="54864" marR="54864" marT="27432" marB="27432" anchor="ctr">
                    <a:solidFill>
                      <a:srgbClr val="FFFFFF"/>
                    </a:solidFill>
                  </a:tcPr>
                </a:tc>
                <a:tc>
                  <a:txBody>
                    <a:bodyPr wrap="square"/>
                    <a:lstStyle/>
                    <a:p>
                      <a:r>
                        <a:rPr sz="1200">
                          <a:solidFill>
                            <a:srgbClr val="1B1F24"/>
                          </a:solidFill>
                          <a:latin typeface="Malgun Gothic"/>
                        </a:rPr>
                        <a:t>로컬</a:t>
                      </a:r>
                    </a:p>
                  </a:txBody>
                  <a:tcPr marL="54864" marR="54864" marT="27432" marB="27432" anchor="ctr">
                    <a:solidFill>
                      <a:srgbClr val="FFFFFF"/>
                    </a:solidFill>
                  </a:tcPr>
                </a:tc>
                <a:tc>
                  <a:txBody>
                    <a:bodyPr wrap="square"/>
                    <a:lstStyle/>
                    <a:p>
                      <a:r>
                        <a:rPr sz="1200">
                          <a:solidFill>
                            <a:srgbClr val="1B1F24"/>
                          </a:solidFill>
                          <a:latin typeface="Malgun Gothic"/>
                        </a:rPr>
                        <a:t>Apache-2.0</a:t>
                      </a:r>
                    </a:p>
                  </a:txBody>
                  <a:tcPr marL="54864" marR="54864" marT="27432" marB="27432" anchor="ctr">
                    <a:solidFill>
                      <a:srgbClr val="FFFFFF"/>
                    </a:solidFill>
                  </a:tcPr>
                </a:tc>
              </a:tr>
              <a:tr h="429768">
                <a:tc>
                  <a:txBody>
                    <a:bodyPr wrap="square"/>
                    <a:lstStyle/>
                    <a:p>
                      <a:r>
                        <a:rPr sz="1200" b="1">
                          <a:solidFill>
                            <a:srgbClr val="1B1F24"/>
                          </a:solidFill>
                          <a:latin typeface="Malgun Gothic"/>
                        </a:rPr>
                        <a:t>Span-02 (Respan)</a:t>
                      </a:r>
                    </a:p>
                  </a:txBody>
                  <a:tcPr marL="54864" marR="54864" marT="27432" marB="27432" anchor="ctr">
                    <a:solidFill>
                      <a:srgbClr val="DCE8F5"/>
                    </a:solidFill>
                  </a:tcPr>
                </a:tc>
                <a:tc>
                  <a:txBody>
                    <a:bodyPr wrap="square"/>
                    <a:lstStyle/>
                    <a:p>
                      <a:r>
                        <a:rPr sz="1200">
                          <a:solidFill>
                            <a:srgbClr val="1B1F24"/>
                          </a:solidFill>
                          <a:latin typeface="Malgun Gothic"/>
                        </a:rPr>
                        <a:t>10-15</a:t>
                      </a:r>
                    </a:p>
                  </a:txBody>
                  <a:tcPr marL="54864" marR="54864" marT="27432" marB="27432" anchor="ctr">
                    <a:solidFill>
                      <a:srgbClr val="DCE8F5"/>
                    </a:solidFill>
                  </a:tcPr>
                </a:tc>
                <a:tc>
                  <a:txBody>
                    <a:bodyPr wrap="square"/>
                    <a:lstStyle/>
                    <a:p>
                      <a:r>
                        <a:rPr sz="1200">
                          <a:solidFill>
                            <a:srgbClr val="1B1F24"/>
                          </a:solidFill>
                          <a:latin typeface="Malgun Gothic"/>
                        </a:rPr>
                        <a:t>Gemma 4 26B-A4B</a:t>
                      </a:r>
                    </a:p>
                  </a:txBody>
                  <a:tcPr marL="54864" marR="54864" marT="27432" marB="27432" anchor="ctr">
                    <a:solidFill>
                      <a:srgbClr val="DCE8F5"/>
                    </a:solidFill>
                  </a:tcPr>
                </a:tc>
                <a:tc>
                  <a:txBody>
                    <a:bodyPr wrap="square"/>
                    <a:lstStyle/>
                    <a:p>
                      <a:r>
                        <a:rPr sz="1200">
                          <a:solidFill>
                            <a:srgbClr val="1B1F24"/>
                          </a:solidFill>
                          <a:latin typeface="Malgun Gothic"/>
                        </a:rPr>
                        <a:t>0.01</a:t>
                      </a:r>
                    </a:p>
                  </a:txBody>
                  <a:tcPr marL="54864" marR="54864" marT="27432" marB="27432" anchor="ctr">
                    <a:solidFill>
                      <a:srgbClr val="DCE8F5"/>
                    </a:solidFill>
                  </a:tcPr>
                </a:tc>
                <a:tc>
                  <a:txBody>
                    <a:bodyPr wrap="square"/>
                    <a:lstStyle/>
                    <a:p>
                      <a:r>
                        <a:rPr sz="1200">
                          <a:solidFill>
                            <a:srgbClr val="1B1F24"/>
                          </a:solidFill>
                          <a:latin typeface="Malgun Gothic"/>
                        </a:rPr>
                        <a:t>Apache-2.0</a:t>
                      </a:r>
                    </a:p>
                  </a:txBody>
                  <a:tcPr marL="54864" marR="54864" marT="27432" marB="27432" anchor="ctr">
                    <a:solidFill>
                      <a:srgbClr val="DCE8F5"/>
                    </a:solidFill>
                  </a:tcPr>
                </a:tc>
              </a:tr>
              <a:tr h="429768">
                <a:tc>
                  <a:txBody>
                    <a:bodyPr wrap="square"/>
                    <a:lstStyle/>
                    <a:p>
                      <a:r>
                        <a:rPr sz="1200" b="1">
                          <a:solidFill>
                            <a:srgbClr val="1B1F24"/>
                          </a:solidFill>
                          <a:latin typeface="Malgun Gothic"/>
                        </a:rPr>
                        <a:t>Kev · Strands · Von · CLM</a:t>
                      </a:r>
                    </a:p>
                  </a:txBody>
                  <a:tcPr marL="54864" marR="54864" marT="27432" marB="27432" anchor="ctr">
                    <a:solidFill>
                      <a:srgbClr val="FFFFFF"/>
                    </a:solidFill>
                  </a:tcPr>
                </a:tc>
                <a:tc>
                  <a:txBody>
                    <a:bodyPr wrap="square"/>
                    <a:lstStyle/>
                    <a:p>
                      <a:r>
                        <a:rPr sz="1200">
                          <a:solidFill>
                            <a:srgbClr val="1B1F24"/>
                          </a:solidFill>
                          <a:latin typeface="Malgun Gothic"/>
                        </a:rPr>
                        <a:t>9~10월</a:t>
                      </a:r>
                    </a:p>
                  </a:txBody>
                  <a:tcPr marL="54864" marR="54864" marT="27432" marB="27432" anchor="ctr">
                    <a:solidFill>
                      <a:srgbClr val="FFFFFF"/>
                    </a:solidFill>
                  </a:tcPr>
                </a:tc>
                <a:tc>
                  <a:txBody>
                    <a:bodyPr wrap="square"/>
                    <a:lstStyle/>
                    <a:p>
                      <a:r>
                        <a:rPr sz="1200">
                          <a:solidFill>
                            <a:srgbClr val="1B1F24"/>
                          </a:solidFill>
                          <a:latin typeface="Malgun Gothic"/>
                        </a:rPr>
                        <a:t>LoRA+헤드 · 인코더 · 대조</a:t>
                      </a:r>
                    </a:p>
                  </a:txBody>
                  <a:tcPr marL="54864" marR="54864" marT="27432" marB="27432" anchor="ctr">
                    <a:solidFill>
                      <a:srgbClr val="FFFFFF"/>
                    </a:solidFill>
                  </a:tcPr>
                </a:tc>
                <a:tc>
                  <a:txBody>
                    <a:bodyPr wrap="square"/>
                    <a:lstStyle/>
                    <a:p>
                      <a:r>
                        <a:rPr sz="1200">
                          <a:solidFill>
                            <a:srgbClr val="1B1F24"/>
                          </a:solidFill>
                          <a:latin typeface="Malgun Gothic"/>
                        </a:rPr>
                        <a:t>로컬</a:t>
                      </a:r>
                    </a:p>
                  </a:txBody>
                  <a:tcPr marL="54864" marR="54864" marT="27432" marB="27432" anchor="ctr">
                    <a:solidFill>
                      <a:srgbClr val="FFFFFF"/>
                    </a:solidFill>
                  </a:tcPr>
                </a:tc>
                <a:tc>
                  <a:txBody>
                    <a:bodyPr wrap="square"/>
                    <a:lstStyle/>
                    <a:p>
                      <a:r>
                        <a:rPr sz="1200">
                          <a:solidFill>
                            <a:srgbClr val="1B1F24"/>
                          </a:solidFill>
                          <a:latin typeface="Malgun Gothic"/>
                        </a:rPr>
                        <a:t>Apache-2.0</a:t>
                      </a:r>
                    </a:p>
                  </a:txBody>
                  <a:tcPr marL="54864" marR="54864" marT="27432" marB="27432" anchor="ctr">
                    <a:solidFill>
                      <a:srgbClr val="FFFFFF"/>
                    </a:solidFill>
                  </a:tcPr>
                </a:tc>
              </a:tr>
            </a:tbl>
          </a:graphicData>
        </a:graphic>
      </p:graphicFrame>
      <p:sp>
        <p:nvSpPr>
          <p:cNvPr id="8" name="TextBox 7"/>
          <p:cNvSpPr txBox="1"/>
          <p:nvPr/>
        </p:nvSpPr>
        <p:spPr>
          <a:xfrm>
            <a:off x="457200" y="6126480"/>
            <a:ext cx="11247120" cy="365760"/>
          </a:xfrm>
          <a:prstGeom prst="rect">
            <a:avLst/>
          </a:prstGeom>
          <a:noFill/>
        </p:spPr>
        <p:txBody>
          <a:bodyPr wrap="square" anchor="t" lIns="45720" rIns="45720" tIns="27432" bIns="27432">
            <a:spAutoFit/>
          </a:bodyPr>
          <a:lstStyle/>
          <a:p>
            <a:pPr algn="l">
              <a:lnSpc>
                <a:spcPct val="110000"/>
              </a:lnSpc>
            </a:pPr>
            <a:r>
              <a:rPr sz="1200" b="0">
                <a:solidFill>
                  <a:srgbClr val="5B6770"/>
                </a:solidFill>
                <a:latin typeface="Malgun Gothic"/>
              </a:rPr>
              <a:t>Microsoft-Decision-1 · Solar Decide · Mercury Decide · Tev1 · Clairic 등은 본문 표 참조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Artificial Analysis Decision Index</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2026-10-13 · 지식 · 추론 · 도구 호출 · 안전 분류</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23</a:t>
            </a:r>
          </a:p>
        </p:txBody>
      </p:sp>
      <p:sp>
        <p:nvSpPr>
          <p:cNvPr id="7" name="TextBox 6"/>
          <p:cNvSpPr txBox="1"/>
          <p:nvPr/>
        </p:nvSpPr>
        <p:spPr>
          <a:xfrm>
            <a:off x="5120640" y="1371600"/>
            <a:ext cx="109728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지수</a:t>
            </a:r>
          </a:p>
        </p:txBody>
      </p:sp>
      <p:sp>
        <p:nvSpPr>
          <p:cNvPr id="8" name="TextBox 7"/>
          <p:cNvSpPr txBox="1"/>
          <p:nvPr/>
        </p:nvSpPr>
        <p:spPr>
          <a:xfrm>
            <a:off x="8412480" y="1371600"/>
            <a:ext cx="13716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 / 100만 과제</a:t>
            </a:r>
          </a:p>
        </p:txBody>
      </p:sp>
      <p:sp>
        <p:nvSpPr>
          <p:cNvPr id="9" name="TextBox 8"/>
          <p:cNvSpPr txBox="1"/>
          <p:nvPr/>
        </p:nvSpPr>
        <p:spPr>
          <a:xfrm>
            <a:off x="10241280" y="1371600"/>
            <a:ext cx="1371600" cy="274320"/>
          </a:xfrm>
          <a:prstGeom prst="rect">
            <a:avLst/>
          </a:prstGeom>
          <a:noFill/>
        </p:spPr>
        <p:txBody>
          <a:bodyPr wrap="square" anchor="t" lIns="45720" rIns="45720" tIns="27432" bIns="27432">
            <a:spAutoFit/>
          </a:bodyPr>
          <a:lstStyle/>
          <a:p>
            <a:pPr algn="l">
              <a:lnSpc>
                <a:spcPct val="110000"/>
              </a:lnSpc>
            </a:pPr>
            <a:r>
              <a:rPr sz="1200" b="1">
                <a:solidFill>
                  <a:srgbClr val="5B6770"/>
                </a:solidFill>
                <a:latin typeface="Malgun Gothic"/>
              </a:rPr>
              <a:t>중앙 지연</a:t>
            </a:r>
          </a:p>
        </p:txBody>
      </p:sp>
      <p:sp>
        <p:nvSpPr>
          <p:cNvPr id="10" name="TextBox 9"/>
          <p:cNvSpPr txBox="1"/>
          <p:nvPr/>
        </p:nvSpPr>
        <p:spPr>
          <a:xfrm>
            <a:off x="548640" y="1737360"/>
            <a:ext cx="32918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Claude Haiku 5.5 (LM)</a:t>
            </a:r>
          </a:p>
        </p:txBody>
      </p:sp>
      <p:sp>
        <p:nvSpPr>
          <p:cNvPr id="11" name="Rectangle 10"/>
          <p:cNvSpPr/>
          <p:nvPr/>
        </p:nvSpPr>
        <p:spPr>
          <a:xfrm>
            <a:off x="3657600" y="1810512"/>
            <a:ext cx="4119020" cy="365760"/>
          </a:xfrm>
          <a:prstGeom prst="rect">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22340" y="1737360"/>
            <a:ext cx="731520" cy="502920"/>
          </a:xfrm>
          <a:prstGeom prst="rect">
            <a:avLst/>
          </a:prstGeom>
          <a:noFill/>
        </p:spPr>
        <p:txBody>
          <a:bodyPr wrap="square" anchor="ctr" lIns="45720" rIns="45720" tIns="27432" bIns="27432">
            <a:spAutoFit/>
          </a:bodyPr>
          <a:lstStyle/>
          <a:p>
            <a:pPr algn="l">
              <a:lnSpc>
                <a:spcPct val="110000"/>
              </a:lnSpc>
            </a:pPr>
            <a:r>
              <a:rPr sz="1400" b="1">
                <a:solidFill>
                  <a:srgbClr val="5B6770"/>
                </a:solidFill>
                <a:latin typeface="Malgun Gothic"/>
              </a:rPr>
              <a:t>61</a:t>
            </a:r>
          </a:p>
        </p:txBody>
      </p:sp>
      <p:sp>
        <p:nvSpPr>
          <p:cNvPr id="13" name="TextBox 12"/>
          <p:cNvSpPr txBox="1"/>
          <p:nvPr/>
        </p:nvSpPr>
        <p:spPr>
          <a:xfrm>
            <a:off x="8412480" y="1737360"/>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$184</a:t>
            </a:r>
          </a:p>
        </p:txBody>
      </p:sp>
      <p:sp>
        <p:nvSpPr>
          <p:cNvPr id="14" name="TextBox 13"/>
          <p:cNvSpPr txBox="1"/>
          <p:nvPr/>
        </p:nvSpPr>
        <p:spPr>
          <a:xfrm>
            <a:off x="10241280" y="1737360"/>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1.4 s</a:t>
            </a:r>
          </a:p>
        </p:txBody>
      </p:sp>
      <p:sp>
        <p:nvSpPr>
          <p:cNvPr id="15" name="TextBox 14"/>
          <p:cNvSpPr txBox="1"/>
          <p:nvPr/>
        </p:nvSpPr>
        <p:spPr>
          <a:xfrm>
            <a:off x="548640" y="2395728"/>
            <a:ext cx="32918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Jev 1.13</a:t>
            </a:r>
          </a:p>
        </p:txBody>
      </p:sp>
      <p:sp>
        <p:nvSpPr>
          <p:cNvPr id="16" name="Rectangle 15"/>
          <p:cNvSpPr/>
          <p:nvPr/>
        </p:nvSpPr>
        <p:spPr>
          <a:xfrm>
            <a:off x="3657600" y="2468880"/>
            <a:ext cx="3916445" cy="36576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19765" y="2395728"/>
            <a:ext cx="731520" cy="502920"/>
          </a:xfrm>
          <a:prstGeom prst="rect">
            <a:avLst/>
          </a:prstGeom>
          <a:noFill/>
        </p:spPr>
        <p:txBody>
          <a:bodyPr wrap="square" anchor="ctr" lIns="45720" rIns="45720" tIns="27432" bIns="27432">
            <a:spAutoFit/>
          </a:bodyPr>
          <a:lstStyle/>
          <a:p>
            <a:pPr algn="l">
              <a:lnSpc>
                <a:spcPct val="110000"/>
              </a:lnSpc>
            </a:pPr>
            <a:r>
              <a:rPr sz="1400" b="1">
                <a:solidFill>
                  <a:srgbClr val="E8A33D"/>
                </a:solidFill>
                <a:latin typeface="Malgun Gothic"/>
              </a:rPr>
              <a:t>58</a:t>
            </a:r>
          </a:p>
        </p:txBody>
      </p:sp>
      <p:sp>
        <p:nvSpPr>
          <p:cNvPr id="18" name="TextBox 17"/>
          <p:cNvSpPr txBox="1"/>
          <p:nvPr/>
        </p:nvSpPr>
        <p:spPr>
          <a:xfrm>
            <a:off x="8412480" y="2395728"/>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$42</a:t>
            </a:r>
          </a:p>
        </p:txBody>
      </p:sp>
      <p:sp>
        <p:nvSpPr>
          <p:cNvPr id="19" name="TextBox 18"/>
          <p:cNvSpPr txBox="1"/>
          <p:nvPr/>
        </p:nvSpPr>
        <p:spPr>
          <a:xfrm>
            <a:off x="10241280" y="2395728"/>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0.13 s</a:t>
            </a:r>
          </a:p>
        </p:txBody>
      </p:sp>
      <p:sp>
        <p:nvSpPr>
          <p:cNvPr id="20" name="TextBox 19"/>
          <p:cNvSpPr txBox="1"/>
          <p:nvPr/>
        </p:nvSpPr>
        <p:spPr>
          <a:xfrm>
            <a:off x="548640" y="3054096"/>
            <a:ext cx="32918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GPT-6 Luna (LM)</a:t>
            </a:r>
          </a:p>
        </p:txBody>
      </p:sp>
      <p:sp>
        <p:nvSpPr>
          <p:cNvPr id="21" name="Rectangle 20"/>
          <p:cNvSpPr/>
          <p:nvPr/>
        </p:nvSpPr>
        <p:spPr>
          <a:xfrm>
            <a:off x="3657600" y="3127248"/>
            <a:ext cx="3713870" cy="365760"/>
          </a:xfrm>
          <a:prstGeom prst="rect">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7190" y="3054096"/>
            <a:ext cx="731520" cy="502920"/>
          </a:xfrm>
          <a:prstGeom prst="rect">
            <a:avLst/>
          </a:prstGeom>
          <a:noFill/>
        </p:spPr>
        <p:txBody>
          <a:bodyPr wrap="square" anchor="ctr" lIns="45720" rIns="45720" tIns="27432" bIns="27432">
            <a:spAutoFit/>
          </a:bodyPr>
          <a:lstStyle/>
          <a:p>
            <a:pPr algn="l">
              <a:lnSpc>
                <a:spcPct val="110000"/>
              </a:lnSpc>
            </a:pPr>
            <a:r>
              <a:rPr sz="1400" b="1">
                <a:solidFill>
                  <a:srgbClr val="5B6770"/>
                </a:solidFill>
                <a:latin typeface="Malgun Gothic"/>
              </a:rPr>
              <a:t>55</a:t>
            </a:r>
          </a:p>
        </p:txBody>
      </p:sp>
      <p:sp>
        <p:nvSpPr>
          <p:cNvPr id="23" name="TextBox 22"/>
          <p:cNvSpPr txBox="1"/>
          <p:nvPr/>
        </p:nvSpPr>
        <p:spPr>
          <a:xfrm>
            <a:off x="8412480" y="3054096"/>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$131</a:t>
            </a:r>
          </a:p>
        </p:txBody>
      </p:sp>
      <p:sp>
        <p:nvSpPr>
          <p:cNvPr id="24" name="TextBox 23"/>
          <p:cNvSpPr txBox="1"/>
          <p:nvPr/>
        </p:nvSpPr>
        <p:spPr>
          <a:xfrm>
            <a:off x="10241280" y="3054096"/>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1.5 s</a:t>
            </a:r>
          </a:p>
        </p:txBody>
      </p:sp>
      <p:sp>
        <p:nvSpPr>
          <p:cNvPr id="25" name="TextBox 24"/>
          <p:cNvSpPr txBox="1"/>
          <p:nvPr/>
        </p:nvSpPr>
        <p:spPr>
          <a:xfrm>
            <a:off x="548640" y="3712464"/>
            <a:ext cx="32918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GLiDE (런치판)</a:t>
            </a:r>
          </a:p>
        </p:txBody>
      </p:sp>
      <p:sp>
        <p:nvSpPr>
          <p:cNvPr id="26" name="Rectangle 25"/>
          <p:cNvSpPr/>
          <p:nvPr/>
        </p:nvSpPr>
        <p:spPr>
          <a:xfrm>
            <a:off x="3657600" y="3785616"/>
            <a:ext cx="3646345" cy="365760"/>
          </a:xfrm>
          <a:prstGeom prst="rect">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9665" y="3712464"/>
            <a:ext cx="731520" cy="502920"/>
          </a:xfrm>
          <a:prstGeom prst="rect">
            <a:avLst/>
          </a:prstGeom>
          <a:noFill/>
        </p:spPr>
        <p:txBody>
          <a:bodyPr wrap="square" anchor="ctr" lIns="45720" rIns="45720" tIns="27432" bIns="27432">
            <a:spAutoFit/>
          </a:bodyPr>
          <a:lstStyle/>
          <a:p>
            <a:pPr algn="l">
              <a:lnSpc>
                <a:spcPct val="110000"/>
              </a:lnSpc>
            </a:pPr>
            <a:r>
              <a:rPr sz="1400" b="1">
                <a:solidFill>
                  <a:srgbClr val="4A7FB5"/>
                </a:solidFill>
                <a:latin typeface="Malgun Gothic"/>
              </a:rPr>
              <a:t>54</a:t>
            </a:r>
          </a:p>
        </p:txBody>
      </p:sp>
      <p:sp>
        <p:nvSpPr>
          <p:cNvPr id="28" name="TextBox 27"/>
          <p:cNvSpPr txBox="1"/>
          <p:nvPr/>
        </p:nvSpPr>
        <p:spPr>
          <a:xfrm>
            <a:off x="8412480" y="3712464"/>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$119</a:t>
            </a:r>
          </a:p>
        </p:txBody>
      </p:sp>
      <p:sp>
        <p:nvSpPr>
          <p:cNvPr id="29" name="TextBox 28"/>
          <p:cNvSpPr txBox="1"/>
          <p:nvPr/>
        </p:nvSpPr>
        <p:spPr>
          <a:xfrm>
            <a:off x="10241280" y="3712464"/>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a:t>
            </a:r>
          </a:p>
        </p:txBody>
      </p:sp>
      <p:sp>
        <p:nvSpPr>
          <p:cNvPr id="30" name="TextBox 29"/>
          <p:cNvSpPr txBox="1"/>
          <p:nvPr/>
        </p:nvSpPr>
        <p:spPr>
          <a:xfrm>
            <a:off x="548640" y="4370831"/>
            <a:ext cx="329184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Microsoft-Decision-1</a:t>
            </a:r>
          </a:p>
        </p:txBody>
      </p:sp>
      <p:sp>
        <p:nvSpPr>
          <p:cNvPr id="31" name="Rectangle 30"/>
          <p:cNvSpPr/>
          <p:nvPr/>
        </p:nvSpPr>
        <p:spPr>
          <a:xfrm>
            <a:off x="3657600" y="4443983"/>
            <a:ext cx="3646345" cy="365760"/>
          </a:xfrm>
          <a:prstGeom prst="rect">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9665" y="4370831"/>
            <a:ext cx="731520" cy="502920"/>
          </a:xfrm>
          <a:prstGeom prst="rect">
            <a:avLst/>
          </a:prstGeom>
          <a:noFill/>
        </p:spPr>
        <p:txBody>
          <a:bodyPr wrap="square" anchor="ctr" lIns="45720" rIns="45720" tIns="27432" bIns="27432">
            <a:spAutoFit/>
          </a:bodyPr>
          <a:lstStyle/>
          <a:p>
            <a:pPr algn="l">
              <a:lnSpc>
                <a:spcPct val="110000"/>
              </a:lnSpc>
            </a:pPr>
            <a:r>
              <a:rPr sz="1400" b="1">
                <a:solidFill>
                  <a:srgbClr val="4A7FB5"/>
                </a:solidFill>
                <a:latin typeface="Malgun Gothic"/>
              </a:rPr>
              <a:t>54</a:t>
            </a:r>
          </a:p>
        </p:txBody>
      </p:sp>
      <p:sp>
        <p:nvSpPr>
          <p:cNvPr id="33" name="TextBox 32"/>
          <p:cNvSpPr txBox="1"/>
          <p:nvPr/>
        </p:nvSpPr>
        <p:spPr>
          <a:xfrm>
            <a:off x="8412480" y="4370831"/>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$31</a:t>
            </a:r>
          </a:p>
        </p:txBody>
      </p:sp>
      <p:sp>
        <p:nvSpPr>
          <p:cNvPr id="34" name="TextBox 33"/>
          <p:cNvSpPr txBox="1"/>
          <p:nvPr/>
        </p:nvSpPr>
        <p:spPr>
          <a:xfrm>
            <a:off x="10241280" y="4370831"/>
            <a:ext cx="1371600" cy="502920"/>
          </a:xfrm>
          <a:prstGeom prst="rect">
            <a:avLst/>
          </a:prstGeom>
          <a:noFill/>
        </p:spPr>
        <p:txBody>
          <a:bodyPr wrap="square" anchor="ctr" lIns="45720" rIns="45720" tIns="27432" bIns="27432">
            <a:spAutoFit/>
          </a:bodyPr>
          <a:lstStyle/>
          <a:p>
            <a:pPr algn="l">
              <a:lnSpc>
                <a:spcPct val="110000"/>
              </a:lnSpc>
            </a:pPr>
            <a:r>
              <a:rPr sz="1400" b="0">
                <a:solidFill>
                  <a:srgbClr val="1B1F24"/>
                </a:solidFill>
                <a:latin typeface="Malgun Gothic"/>
              </a:rPr>
              <a:t>—</a:t>
            </a:r>
          </a:p>
        </p:txBody>
      </p:sp>
      <p:sp>
        <p:nvSpPr>
          <p:cNvPr id="35" name="Rounded Rectangle 34"/>
          <p:cNvSpPr/>
          <p:nvPr/>
        </p:nvSpPr>
        <p:spPr>
          <a:xfrm>
            <a:off x="548640" y="5120640"/>
            <a:ext cx="3657600" cy="1143000"/>
          </a:xfrm>
          <a:prstGeom prst="roundRect">
            <a:avLst>
              <a:gd name="adj" fmla="val 8000"/>
            </a:avLst>
          </a:prstGeom>
          <a:solidFill>
            <a:srgbClr val="EEF7EE"/>
          </a:solidFill>
          <a:ln w="15875">
            <a:solidFill>
              <a:srgbClr val="5A9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193792"/>
            <a:ext cx="3438144" cy="457200"/>
          </a:xfrm>
          <a:prstGeom prst="rect">
            <a:avLst/>
          </a:prstGeom>
          <a:noFill/>
        </p:spPr>
        <p:txBody>
          <a:bodyPr wrap="square" anchor="t" lIns="45720" rIns="45720" tIns="27432" bIns="27432">
            <a:spAutoFit/>
          </a:bodyPr>
          <a:lstStyle/>
          <a:p>
            <a:pPr algn="l">
              <a:lnSpc>
                <a:spcPct val="110000"/>
              </a:lnSpc>
            </a:pPr>
            <a:r>
              <a:rPr sz="1500" b="1">
                <a:solidFill>
                  <a:srgbClr val="22502A"/>
                </a:solidFill>
                <a:latin typeface="Malgun Gothic"/>
              </a:rPr>
              <a:t>강한 곳</a:t>
            </a:r>
          </a:p>
        </p:txBody>
      </p:sp>
      <p:sp>
        <p:nvSpPr>
          <p:cNvPr id="37" name="TextBox 36"/>
          <p:cNvSpPr txBox="1"/>
          <p:nvPr/>
        </p:nvSpPr>
        <p:spPr>
          <a:xfrm>
            <a:off x="658368" y="5650992"/>
            <a:ext cx="3438144" cy="54864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분류 · 도구 호출 판단</a:t>
            </a:r>
          </a:p>
        </p:txBody>
      </p:sp>
      <p:sp>
        <p:nvSpPr>
          <p:cNvPr id="38" name="Rounded Rectangle 37"/>
          <p:cNvSpPr/>
          <p:nvPr/>
        </p:nvSpPr>
        <p:spPr>
          <a:xfrm>
            <a:off x="4343400" y="5120640"/>
            <a:ext cx="3657600" cy="1143000"/>
          </a:xfrm>
          <a:prstGeom prst="roundRect">
            <a:avLst>
              <a:gd name="adj" fmla="val 8000"/>
            </a:avLst>
          </a:prstGeom>
          <a:solidFill>
            <a:srgbClr val="FDF1EE"/>
          </a:solidFill>
          <a:ln w="15875">
            <a:solidFill>
              <a:srgbClr val="C06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53128" y="5193792"/>
            <a:ext cx="3438144" cy="457200"/>
          </a:xfrm>
          <a:prstGeom prst="rect">
            <a:avLst/>
          </a:prstGeom>
          <a:noFill/>
        </p:spPr>
        <p:txBody>
          <a:bodyPr wrap="square" anchor="t" lIns="45720" rIns="45720" tIns="27432" bIns="27432">
            <a:spAutoFit/>
          </a:bodyPr>
          <a:lstStyle/>
          <a:p>
            <a:pPr algn="l">
              <a:lnSpc>
                <a:spcPct val="110000"/>
              </a:lnSpc>
            </a:pPr>
            <a:r>
              <a:rPr sz="1500" b="1">
                <a:solidFill>
                  <a:srgbClr val="6B2A1A"/>
                </a:solidFill>
                <a:latin typeface="Malgun Gothic"/>
              </a:rPr>
              <a:t>약한 곳</a:t>
            </a:r>
          </a:p>
        </p:txBody>
      </p:sp>
      <p:sp>
        <p:nvSpPr>
          <p:cNvPr id="40" name="TextBox 39"/>
          <p:cNvSpPr txBox="1"/>
          <p:nvPr/>
        </p:nvSpPr>
        <p:spPr>
          <a:xfrm>
            <a:off x="4453128" y="5650992"/>
            <a:ext cx="3438144" cy="54864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지식 · 추론 (AA-Omni 35 vs 52~66)</a:t>
            </a:r>
          </a:p>
        </p:txBody>
      </p:sp>
      <p:sp>
        <p:nvSpPr>
          <p:cNvPr id="41" name="Rounded Rectangle 40"/>
          <p:cNvSpPr/>
          <p:nvPr/>
        </p:nvSpPr>
        <p:spPr>
          <a:xfrm>
            <a:off x="8138160" y="5120640"/>
            <a:ext cx="3474720" cy="1143000"/>
          </a:xfrm>
          <a:prstGeom prst="roundRect">
            <a:avLst>
              <a:gd name="adj" fmla="val 8000"/>
            </a:avLst>
          </a:prstGeom>
          <a:solidFill>
            <a:srgbClr val="FDF6E8"/>
          </a:solidFill>
          <a:ln w="1587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8" y="5193792"/>
            <a:ext cx="3255263" cy="457200"/>
          </a:xfrm>
          <a:prstGeom prst="rect">
            <a:avLst/>
          </a:prstGeom>
          <a:noFill/>
        </p:spPr>
        <p:txBody>
          <a:bodyPr wrap="square" anchor="t" lIns="45720" rIns="45720" tIns="27432" bIns="27432">
            <a:spAutoFit/>
          </a:bodyPr>
          <a:lstStyle/>
          <a:p>
            <a:pPr algn="l">
              <a:lnSpc>
                <a:spcPct val="110000"/>
              </a:lnSpc>
            </a:pPr>
            <a:r>
              <a:rPr sz="1500" b="1">
                <a:solidFill>
                  <a:srgbClr val="7A5710"/>
                </a:solidFill>
                <a:latin typeface="Malgun Gothic"/>
              </a:rPr>
              <a:t>과신</a:t>
            </a:r>
          </a:p>
        </p:txBody>
      </p:sp>
      <p:sp>
        <p:nvSpPr>
          <p:cNvPr id="43" name="TextBox 42"/>
          <p:cNvSpPr txBox="1"/>
          <p:nvPr/>
        </p:nvSpPr>
        <p:spPr>
          <a:xfrm>
            <a:off x="8247888" y="5650992"/>
            <a:ext cx="3255263" cy="548640"/>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거의 모든 구간에서 정확도 &lt; 제시 확률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숫자가 서로 어긋나는 이유</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‘1위’는 지표 이름과 함께가 아니면 의미가 없다</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24</a:t>
            </a:r>
          </a:p>
        </p:txBody>
      </p:sp>
      <p:sp>
        <p:nvSpPr>
          <p:cNvPr id="7" name="Rounded Rectangle 6"/>
          <p:cNvSpPr/>
          <p:nvPr/>
        </p:nvSpPr>
        <p:spPr>
          <a:xfrm>
            <a:off x="548640" y="1554480"/>
            <a:ext cx="3566160" cy="29260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27632"/>
            <a:ext cx="3346704" cy="457200"/>
          </a:xfrm>
          <a:prstGeom prst="rect">
            <a:avLst/>
          </a:prstGeom>
          <a:noFill/>
        </p:spPr>
        <p:txBody>
          <a:bodyPr wrap="square" anchor="t" lIns="45720" rIns="45720" tIns="27432" bIns="27432">
            <a:spAutoFit/>
          </a:bodyPr>
          <a:lstStyle/>
          <a:p>
            <a:pPr algn="l">
              <a:lnSpc>
                <a:spcPct val="110000"/>
              </a:lnSpc>
            </a:pPr>
            <a:r>
              <a:rPr sz="1800" b="1">
                <a:solidFill>
                  <a:srgbClr val="1F4E79"/>
                </a:solidFill>
                <a:latin typeface="Malgun Gothic"/>
              </a:rPr>
              <a:t>지표마다 순위가 다르다</a:t>
            </a:r>
          </a:p>
        </p:txBody>
      </p:sp>
      <p:sp>
        <p:nvSpPr>
          <p:cNvPr id="9" name="TextBox 8"/>
          <p:cNvSpPr txBox="1"/>
          <p:nvPr/>
        </p:nvSpPr>
        <p:spPr>
          <a:xfrm>
            <a:off x="658368" y="2084831"/>
            <a:ext cx="3346704" cy="233172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AA: Jev 1.13 = 결정 모델 선두권</a:t>
            </a:r>
          </a:p>
          <a:p>
            <a:pPr algn="l">
              <a:lnSpc>
                <a:spcPct val="110000"/>
              </a:lnSpc>
            </a:pPr>
            <a:r>
              <a:rPr sz="1600" b="0">
                <a:solidFill>
                  <a:srgbClr val="1B1F24"/>
                </a:solidFill>
                <a:latin typeface="Malgun Gothic"/>
              </a:rPr>
              <a:t>Jev Decision Index 0.4.1: GLiDE 71.5, pplx 68.0, Jev 1.14 60.2</a:t>
            </a:r>
          </a:p>
        </p:txBody>
      </p:sp>
      <p:sp>
        <p:nvSpPr>
          <p:cNvPr id="10" name="Rounded Rectangle 9"/>
          <p:cNvSpPr/>
          <p:nvPr/>
        </p:nvSpPr>
        <p:spPr>
          <a:xfrm>
            <a:off x="4297679" y="1554480"/>
            <a:ext cx="3566160" cy="29260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7407" y="1627632"/>
            <a:ext cx="3346704" cy="457200"/>
          </a:xfrm>
          <a:prstGeom prst="rect">
            <a:avLst/>
          </a:prstGeom>
          <a:noFill/>
        </p:spPr>
        <p:txBody>
          <a:bodyPr wrap="square" anchor="t" lIns="45720" rIns="45720" tIns="27432" bIns="27432">
            <a:spAutoFit/>
          </a:bodyPr>
          <a:lstStyle/>
          <a:p>
            <a:pPr algn="l">
              <a:lnSpc>
                <a:spcPct val="110000"/>
              </a:lnSpc>
            </a:pPr>
            <a:r>
              <a:rPr sz="1800" b="1">
                <a:solidFill>
                  <a:srgbClr val="1F4E79"/>
                </a:solidFill>
                <a:latin typeface="Malgun Gothic"/>
              </a:rPr>
              <a:t>프로토콜이 다르다</a:t>
            </a:r>
          </a:p>
        </p:txBody>
      </p:sp>
      <p:sp>
        <p:nvSpPr>
          <p:cNvPr id="12" name="TextBox 11"/>
          <p:cNvSpPr txBox="1"/>
          <p:nvPr/>
        </p:nvSpPr>
        <p:spPr>
          <a:xfrm>
            <a:off x="4407407" y="2084831"/>
            <a:ext cx="3346704" cy="233172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BenchLM의 d1-ultra 65.2는</a:t>
            </a:r>
          </a:p>
          <a:p>
            <a:pPr algn="l">
              <a:lnSpc>
                <a:spcPct val="110000"/>
              </a:lnSpc>
            </a:pPr>
            <a:r>
              <a:rPr sz="1600" b="0">
                <a:solidFill>
                  <a:srgbClr val="1B1F24"/>
                </a:solidFill>
                <a:latin typeface="Malgun Gothic"/>
              </a:rPr>
              <a:t>AA의 Jev 58과 같은 지수가 아님</a:t>
            </a:r>
          </a:p>
        </p:txBody>
      </p:sp>
      <p:sp>
        <p:nvSpPr>
          <p:cNvPr id="13" name="Rounded Rectangle 12"/>
          <p:cNvSpPr/>
          <p:nvPr/>
        </p:nvSpPr>
        <p:spPr>
          <a:xfrm>
            <a:off x="8046719" y="1554480"/>
            <a:ext cx="3566160" cy="29260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6447" y="1627632"/>
            <a:ext cx="3346704" cy="457200"/>
          </a:xfrm>
          <a:prstGeom prst="rect">
            <a:avLst/>
          </a:prstGeom>
          <a:noFill/>
        </p:spPr>
        <p:txBody>
          <a:bodyPr wrap="square" anchor="t" lIns="45720" rIns="45720" tIns="27432" bIns="27432">
            <a:spAutoFit/>
          </a:bodyPr>
          <a:lstStyle/>
          <a:p>
            <a:pPr algn="l">
              <a:lnSpc>
                <a:spcPct val="110000"/>
              </a:lnSpc>
            </a:pPr>
            <a:r>
              <a:rPr sz="1800" b="1">
                <a:solidFill>
                  <a:srgbClr val="1F4E79"/>
                </a:solidFill>
                <a:latin typeface="Malgun Gothic"/>
              </a:rPr>
              <a:t>지연도 측정마다 다르다</a:t>
            </a:r>
          </a:p>
        </p:txBody>
      </p:sp>
      <p:sp>
        <p:nvSpPr>
          <p:cNvPr id="15" name="TextBox 14"/>
          <p:cNvSpPr txBox="1"/>
          <p:nvPr/>
        </p:nvSpPr>
        <p:spPr>
          <a:xfrm>
            <a:off x="8156447" y="2084831"/>
            <a:ext cx="3346704" cy="233172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Jev 중앙값: AA 130 ms</a:t>
            </a:r>
          </a:p>
          <a:p>
            <a:pPr algn="l">
              <a:lnSpc>
                <a:spcPct val="110000"/>
              </a:lnSpc>
            </a:pPr>
            <a:r>
              <a:rPr sz="1600" b="0">
                <a:solidFill>
                  <a:srgbClr val="1B1F24"/>
                </a:solidFill>
                <a:latin typeface="Malgun Gothic"/>
              </a:rPr>
              <a:t>Cloudflare 측정 524 ms</a:t>
            </a:r>
          </a:p>
          <a:p>
            <a:pPr algn="l">
              <a:lnSpc>
                <a:spcPct val="110000"/>
              </a:lnSpc>
            </a:pPr>
            <a:r>
              <a:rPr sz="1600" b="0">
                <a:solidFill>
                  <a:srgbClr val="1B1F24"/>
                </a:solidFill>
                <a:latin typeface="Malgun Gothic"/>
              </a:rPr>
              <a:t>(회사 주장 70–500 ms)</a:t>
            </a:r>
          </a:p>
        </p:txBody>
      </p:sp>
      <p:graphicFrame>
        <p:nvGraphicFramePr>
          <p:cNvPr id="16" name="Table 15"/>
          <p:cNvGraphicFramePr>
            <a:graphicFrameLocks noGrp="1"/>
          </p:cNvGraphicFramePr>
          <p:nvPr/>
        </p:nvGraphicFramePr>
        <p:xfrm>
          <a:off x="548640" y="4754880"/>
          <a:ext cx="11064237" cy="1005840"/>
        </p:xfrm>
        <a:graphic>
          <a:graphicData uri="http://schemas.openxmlformats.org/drawingml/2006/table">
            <a:tbl>
              <a:tblPr firstRow="1" bandRow="1">
                <a:tableStyleId>{5C22544A-7EE6-4342-B048-85BDC9FD1C3A}</a:tableStyleId>
              </a:tblPr>
              <a:tblGrid>
                <a:gridCol w="2739716"/>
                <a:gridCol w="1369858"/>
                <a:gridCol w="1369858"/>
                <a:gridCol w="1475231"/>
                <a:gridCol w="1369858"/>
                <a:gridCol w="1369858"/>
                <a:gridCol w="1369858"/>
              </a:tblGrid>
              <a:tr h="502920">
                <a:tc>
                  <a:txBody>
                    <a:bodyPr wrap="square"/>
                    <a:lstStyle/>
                    <a:p>
                      <a:r>
                        <a:rPr sz="1300" b="1">
                          <a:solidFill>
                            <a:srgbClr val="FFFFFF"/>
                          </a:solidFill>
                          <a:latin typeface="Malgun Gothic"/>
                        </a:rPr>
                        <a:t>ECE (낮을수록 좋음)</a:t>
                      </a:r>
                    </a:p>
                  </a:txBody>
                  <a:tcPr marL="54864" marR="54864" marT="27432" marB="27432" anchor="ctr">
                    <a:solidFill>
                      <a:srgbClr val="1F4E79"/>
                    </a:solidFill>
                  </a:tcPr>
                </a:tc>
                <a:tc>
                  <a:txBody>
                    <a:bodyPr wrap="square"/>
                    <a:lstStyle/>
                    <a:p>
                      <a:r>
                        <a:rPr sz="1300" b="1">
                          <a:solidFill>
                            <a:srgbClr val="FFFFFF"/>
                          </a:solidFill>
                          <a:latin typeface="Malgun Gothic"/>
                        </a:rPr>
                        <a:t>GLiDE</a:t>
                      </a:r>
                    </a:p>
                  </a:txBody>
                  <a:tcPr marL="54864" marR="54864" marT="27432" marB="27432" anchor="ctr">
                    <a:solidFill>
                      <a:srgbClr val="1F4E79"/>
                    </a:solidFill>
                  </a:tcPr>
                </a:tc>
                <a:tc>
                  <a:txBody>
                    <a:bodyPr wrap="square"/>
                    <a:lstStyle/>
                    <a:p>
                      <a:r>
                        <a:rPr sz="1300" b="1">
                          <a:solidFill>
                            <a:srgbClr val="FFFFFF"/>
                          </a:solidFill>
                          <a:latin typeface="Malgun Gothic"/>
                        </a:rPr>
                        <a:t>Kev-27B</a:t>
                      </a:r>
                    </a:p>
                  </a:txBody>
                  <a:tcPr marL="54864" marR="54864" marT="27432" marB="27432" anchor="ctr">
                    <a:solidFill>
                      <a:srgbClr val="1F4E79"/>
                    </a:solidFill>
                  </a:tcPr>
                </a:tc>
                <a:tc>
                  <a:txBody>
                    <a:bodyPr wrap="square"/>
                    <a:lstStyle/>
                    <a:p>
                      <a:r>
                        <a:rPr sz="1300" b="1">
                          <a:solidFill>
                            <a:srgbClr val="FFFFFF"/>
                          </a:solidFill>
                          <a:latin typeface="Malgun Gothic"/>
                        </a:rPr>
                        <a:t>pplx v1.2</a:t>
                      </a:r>
                    </a:p>
                  </a:txBody>
                  <a:tcPr marL="54864" marR="54864" marT="27432" marB="27432" anchor="ctr">
                    <a:solidFill>
                      <a:srgbClr val="1F4E79"/>
                    </a:solidFill>
                  </a:tcPr>
                </a:tc>
                <a:tc>
                  <a:txBody>
                    <a:bodyPr wrap="square"/>
                    <a:lstStyle/>
                    <a:p>
                      <a:r>
                        <a:rPr sz="1300" b="1">
                          <a:solidFill>
                            <a:srgbClr val="FFFFFF"/>
                          </a:solidFill>
                          <a:latin typeface="Malgun Gothic"/>
                        </a:rPr>
                        <a:t>Jev 1.14</a:t>
                      </a:r>
                    </a:p>
                  </a:txBody>
                  <a:tcPr marL="54864" marR="54864" marT="27432" marB="27432" anchor="ctr">
                    <a:solidFill>
                      <a:srgbClr val="1F4E79"/>
                    </a:solidFill>
                  </a:tcPr>
                </a:tc>
                <a:tc>
                  <a:txBody>
                    <a:bodyPr wrap="square"/>
                    <a:lstStyle/>
                    <a:p>
                      <a:r>
                        <a:rPr sz="1300" b="1">
                          <a:solidFill>
                            <a:srgbClr val="FFFFFF"/>
                          </a:solidFill>
                          <a:latin typeface="Malgun Gothic"/>
                        </a:rPr>
                        <a:t>Von</a:t>
                      </a:r>
                    </a:p>
                  </a:txBody>
                  <a:tcPr marL="54864" marR="54864" marT="27432" marB="27432" anchor="ctr">
                    <a:solidFill>
                      <a:srgbClr val="1F4E79"/>
                    </a:solidFill>
                  </a:tcPr>
                </a:tc>
                <a:tc>
                  <a:txBody>
                    <a:bodyPr wrap="square"/>
                    <a:lstStyle/>
                    <a:p>
                      <a:r>
                        <a:rPr sz="1300" b="1">
                          <a:solidFill>
                            <a:srgbClr val="FFFFFF"/>
                          </a:solidFill>
                          <a:latin typeface="Malgun Gothic"/>
                        </a:rPr>
                        <a:t>CLM-8B</a:t>
                      </a:r>
                    </a:p>
                  </a:txBody>
                  <a:tcPr marL="54864" marR="54864" marT="27432" marB="27432" anchor="ctr">
                    <a:solidFill>
                      <a:srgbClr val="1F4E79"/>
                    </a:solidFill>
                  </a:tcPr>
                </a:tc>
              </a:tr>
              <a:tr h="502920">
                <a:tc>
                  <a:txBody>
                    <a:bodyPr wrap="square"/>
                    <a:lstStyle/>
                    <a:p>
                      <a:r>
                        <a:rPr sz="1300" b="1">
                          <a:solidFill>
                            <a:srgbClr val="1B1F24"/>
                          </a:solidFill>
                          <a:latin typeface="Malgun Gothic"/>
                        </a:rPr>
                        <a:t>Jev Decision Index 0.4.1</a:t>
                      </a:r>
                    </a:p>
                  </a:txBody>
                  <a:tcPr marL="54864" marR="54864" marT="27432" marB="27432" anchor="ctr">
                    <a:solidFill>
                      <a:srgbClr val="DCE8F5"/>
                    </a:solidFill>
                  </a:tcPr>
                </a:tc>
                <a:tc>
                  <a:txBody>
                    <a:bodyPr wrap="square"/>
                    <a:lstStyle/>
                    <a:p>
                      <a:r>
                        <a:rPr sz="1300">
                          <a:solidFill>
                            <a:srgbClr val="1B1F24"/>
                          </a:solidFill>
                          <a:latin typeface="Malgun Gothic"/>
                        </a:rPr>
                        <a:t>0.020</a:t>
                      </a:r>
                    </a:p>
                  </a:txBody>
                  <a:tcPr marL="54864" marR="54864" marT="27432" marB="27432" anchor="ctr">
                    <a:solidFill>
                      <a:srgbClr val="DCE8F5"/>
                    </a:solidFill>
                  </a:tcPr>
                </a:tc>
                <a:tc>
                  <a:txBody>
                    <a:bodyPr wrap="square"/>
                    <a:lstStyle/>
                    <a:p>
                      <a:r>
                        <a:rPr sz="1300">
                          <a:solidFill>
                            <a:srgbClr val="1B1F24"/>
                          </a:solidFill>
                          <a:latin typeface="Malgun Gothic"/>
                        </a:rPr>
                        <a:t>0.022</a:t>
                      </a:r>
                    </a:p>
                  </a:txBody>
                  <a:tcPr marL="54864" marR="54864" marT="27432" marB="27432" anchor="ctr">
                    <a:solidFill>
                      <a:srgbClr val="DCE8F5"/>
                    </a:solidFill>
                  </a:tcPr>
                </a:tc>
                <a:tc>
                  <a:txBody>
                    <a:bodyPr wrap="square"/>
                    <a:lstStyle/>
                    <a:p>
                      <a:r>
                        <a:rPr sz="1300">
                          <a:solidFill>
                            <a:srgbClr val="1B1F24"/>
                          </a:solidFill>
                          <a:latin typeface="Malgun Gothic"/>
                        </a:rPr>
                        <a:t>0.055</a:t>
                      </a:r>
                    </a:p>
                  </a:txBody>
                  <a:tcPr marL="54864" marR="54864" marT="27432" marB="27432" anchor="ctr">
                    <a:solidFill>
                      <a:srgbClr val="DCE8F5"/>
                    </a:solidFill>
                  </a:tcPr>
                </a:tc>
                <a:tc>
                  <a:txBody>
                    <a:bodyPr wrap="square"/>
                    <a:lstStyle/>
                    <a:p>
                      <a:r>
                        <a:rPr sz="1300">
                          <a:solidFill>
                            <a:srgbClr val="1B1F24"/>
                          </a:solidFill>
                          <a:latin typeface="Malgun Gothic"/>
                        </a:rPr>
                        <a:t>0.080</a:t>
                      </a:r>
                    </a:p>
                  </a:txBody>
                  <a:tcPr marL="54864" marR="54864" marT="27432" marB="27432" anchor="ctr">
                    <a:solidFill>
                      <a:srgbClr val="DCE8F5"/>
                    </a:solidFill>
                  </a:tcPr>
                </a:tc>
                <a:tc>
                  <a:txBody>
                    <a:bodyPr wrap="square"/>
                    <a:lstStyle/>
                    <a:p>
                      <a:r>
                        <a:rPr sz="1300">
                          <a:solidFill>
                            <a:srgbClr val="1B1F24"/>
                          </a:solidFill>
                          <a:latin typeface="Malgun Gothic"/>
                        </a:rPr>
                        <a:t>0.216</a:t>
                      </a:r>
                    </a:p>
                  </a:txBody>
                  <a:tcPr marL="54864" marR="54864" marT="27432" marB="27432" anchor="ctr">
                    <a:solidFill>
                      <a:srgbClr val="DCE8F5"/>
                    </a:solidFill>
                  </a:tcPr>
                </a:tc>
                <a:tc>
                  <a:txBody>
                    <a:bodyPr wrap="square"/>
                    <a:lstStyle/>
                    <a:p>
                      <a:r>
                        <a:rPr sz="1300">
                          <a:solidFill>
                            <a:srgbClr val="1B1F24"/>
                          </a:solidFill>
                          <a:latin typeface="Malgun Gothic"/>
                        </a:rPr>
                        <a:t>0.323</a:t>
                      </a:r>
                    </a:p>
                  </a:txBody>
                  <a:tcPr marL="54864" marR="54864" marT="27432" marB="27432" anchor="ctr">
                    <a:solidFill>
                      <a:srgbClr val="DCE8F5"/>
                    </a:solidFill>
                  </a:tcPr>
                </a:tc>
              </a:tr>
            </a:tbl>
          </a:graphicData>
        </a:graphic>
      </p:graphicFrame>
      <p:sp>
        <p:nvSpPr>
          <p:cNvPr id="17" name="TextBox 16"/>
          <p:cNvSpPr txBox="1"/>
          <p:nvPr/>
        </p:nvSpPr>
        <p:spPr>
          <a:xfrm>
            <a:off x="548640" y="5897880"/>
            <a:ext cx="11064240" cy="457200"/>
          </a:xfrm>
          <a:prstGeom prst="rect">
            <a:avLst/>
          </a:prstGeom>
          <a:noFill/>
        </p:spPr>
        <p:txBody>
          <a:bodyPr wrap="square" anchor="t" lIns="45720" rIns="45720" tIns="27432" bIns="27432">
            <a:spAutoFit/>
          </a:bodyPr>
          <a:lstStyle/>
          <a:p>
            <a:pPr algn="l">
              <a:lnSpc>
                <a:spcPct val="110000"/>
              </a:lnSpc>
            </a:pPr>
            <a:r>
              <a:rPr sz="1400" b="1">
                <a:solidFill>
                  <a:srgbClr val="C0634A"/>
                </a:solidFill>
                <a:latin typeface="Malgun Gothic"/>
              </a:rPr>
              <a:t>서드파티 리더보드의 비공개 테스트 — 자기 도메인에서 신뢰도 곡선을 직접 그려야 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2743200" cy="1463040"/>
          </a:xfrm>
          <a:prstGeom prst="rect">
            <a:avLst/>
          </a:prstGeom>
          <a:noFill/>
        </p:spPr>
        <p:txBody>
          <a:bodyPr wrap="square" anchor="t" lIns="45720" rIns="45720" tIns="27432" bIns="27432">
            <a:spAutoFit/>
          </a:bodyPr>
          <a:lstStyle/>
          <a:p>
            <a:pPr algn="l">
              <a:lnSpc>
                <a:spcPct val="110000"/>
              </a:lnSpc>
            </a:pPr>
            <a:r>
              <a:rPr sz="9600" b="1">
                <a:solidFill>
                  <a:srgbClr val="E8A33D"/>
                </a:solidFill>
                <a:latin typeface="Malgun Gothic"/>
              </a:rPr>
              <a:t>05</a:t>
            </a:r>
          </a:p>
        </p:txBody>
      </p:sp>
      <p:sp>
        <p:nvSpPr>
          <p:cNvPr id="4" name="TextBox 3"/>
          <p:cNvSpPr txBox="1"/>
          <p:nvPr/>
        </p:nvSpPr>
        <p:spPr>
          <a:xfrm>
            <a:off x="914400" y="3566160"/>
            <a:ext cx="10058400" cy="91440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실전 패턴</a:t>
            </a:r>
          </a:p>
        </p:txBody>
      </p:sp>
      <p:sp>
        <p:nvSpPr>
          <p:cNvPr id="5" name="TextBox 4"/>
          <p:cNvSpPr txBox="1"/>
          <p:nvPr/>
        </p:nvSpPr>
        <p:spPr>
          <a:xfrm>
            <a:off x="914400" y="4480560"/>
            <a:ext cx="10058400" cy="548640"/>
          </a:xfrm>
          <a:prstGeom prst="rect">
            <a:avLst/>
          </a:prstGeom>
          <a:noFill/>
        </p:spPr>
        <p:txBody>
          <a:bodyPr wrap="square" anchor="t" lIns="45720" rIns="45720" tIns="27432" bIns="27432">
            <a:spAutoFit/>
          </a:bodyPr>
          <a:lstStyle/>
          <a:p>
            <a:pPr algn="l">
              <a:lnSpc>
                <a:spcPct val="110000"/>
              </a:lnSpc>
            </a:pPr>
            <a:r>
              <a:rPr sz="2000" b="0">
                <a:solidFill>
                  <a:srgbClr val="BFD3EA"/>
                </a:solidFill>
                <a:latin typeface="Malgun Gothic"/>
              </a:rPr>
              <a:t>게이팅 · 캐스케이드 · 팬아웃 · UI 라우터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신뢰도 게이팅 + 캐스케이드</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싼 모델로 만들고 · 결정 모델로 검증하고 · 의심스러울 때만 비싼 모델로</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26</a:t>
            </a:r>
          </a:p>
        </p:txBody>
      </p:sp>
      <p:sp>
        <p:nvSpPr>
          <p:cNvPr id="7" name="Rounded Rectangle 6"/>
          <p:cNvSpPr/>
          <p:nvPr/>
        </p:nvSpPr>
        <p:spPr>
          <a:xfrm>
            <a:off x="548640" y="1828800"/>
            <a:ext cx="1737360" cy="82296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F4E79"/>
                </a:solidFill>
                <a:latin typeface="Malgun Gothic"/>
              </a:rPr>
              <a:t>문서·요청</a:t>
            </a:r>
          </a:p>
        </p:txBody>
      </p:sp>
      <p:cxnSp>
        <p:nvCxnSpPr>
          <p:cNvPr id="8" name="Connector 7"/>
          <p:cNvCxnSpPr/>
          <p:nvPr/>
        </p:nvCxnSpPr>
        <p:spPr>
          <a:xfrm>
            <a:off x="2304288" y="2240280"/>
            <a:ext cx="347472" cy="0"/>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97480" y="1828800"/>
            <a:ext cx="2103120" cy="82296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F4E79"/>
                </a:solidFill>
                <a:latin typeface="Malgun Gothic"/>
              </a:rPr>
              <a:t>① 저가 LLM 추출</a:t>
            </a:r>
          </a:p>
          <a:p>
            <a:pPr algn="ctr"/>
            <a:r>
              <a:rPr sz="1300" b="1">
                <a:solidFill>
                  <a:srgbClr val="1F4E79"/>
                </a:solidFill>
                <a:latin typeface="Malgun Gothic"/>
              </a:rPr>
              <a:t>gpt-5.4-mini</a:t>
            </a:r>
          </a:p>
        </p:txBody>
      </p:sp>
      <p:cxnSp>
        <p:nvCxnSpPr>
          <p:cNvPr id="10" name="Connector 9"/>
          <p:cNvCxnSpPr/>
          <p:nvPr/>
        </p:nvCxnSpPr>
        <p:spPr>
          <a:xfrm>
            <a:off x="4818888" y="2240280"/>
            <a:ext cx="347472" cy="0"/>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212080" y="1828800"/>
            <a:ext cx="2377440" cy="82296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2263F"/>
                </a:solidFill>
                <a:latin typeface="Malgun Gothic"/>
              </a:rPr>
              <a:t>② System One 검증</a:t>
            </a:r>
          </a:p>
          <a:p>
            <a:pPr algn="ctr"/>
            <a:r>
              <a:rPr sz="1300" b="1">
                <a:solidFill>
                  <a:srgbClr val="12263F"/>
                </a:solidFill>
                <a:latin typeface="Malgun Gothic"/>
              </a:rPr>
              <a:t>필드별 noul 배터리</a:t>
            </a:r>
          </a:p>
        </p:txBody>
      </p:sp>
      <p:cxnSp>
        <p:nvCxnSpPr>
          <p:cNvPr id="12" name="Connector 11"/>
          <p:cNvCxnSpPr/>
          <p:nvPr/>
        </p:nvCxnSpPr>
        <p:spPr>
          <a:xfrm>
            <a:off x="7607808" y="2240280"/>
            <a:ext cx="347471" cy="0"/>
          </a:xfrm>
          <a:prstGeom prst="line">
            <a:avLst/>
          </a:prstGeom>
          <a:ln w="25400">
            <a:solidFill>
              <a:srgbClr val="5B677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01000" y="1828800"/>
            <a:ext cx="1737360" cy="822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1F4E79"/>
                </a:solidFill>
                <a:latin typeface="Malgun Gothic"/>
              </a:rPr>
              <a:t>③ any_flag</a:t>
            </a:r>
          </a:p>
          <a:p>
            <a:pPr algn="ctr"/>
            <a:r>
              <a:rPr sz="1300" b="1">
                <a:solidFill>
                  <a:srgbClr val="1F4E79"/>
                </a:solidFill>
                <a:latin typeface="Malgun Gothic"/>
              </a:rPr>
              <a:t>P &gt; 0.7 ?</a:t>
            </a:r>
          </a:p>
        </p:txBody>
      </p:sp>
      <p:cxnSp>
        <p:nvCxnSpPr>
          <p:cNvPr id="14" name="Connector 13"/>
          <p:cNvCxnSpPr/>
          <p:nvPr/>
        </p:nvCxnSpPr>
        <p:spPr>
          <a:xfrm flipV="1">
            <a:off x="9738360" y="1600200"/>
            <a:ext cx="365760" cy="411480"/>
          </a:xfrm>
          <a:prstGeom prst="line">
            <a:avLst/>
          </a:prstGeom>
          <a:ln w="25400">
            <a:solidFill>
              <a:srgbClr val="5A9A5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149840" y="1325880"/>
            <a:ext cx="1645920" cy="594360"/>
          </a:xfrm>
          <a:prstGeom prst="roundRect">
            <a:avLst>
              <a:gd name="adj" fmla="val 8000"/>
            </a:avLst>
          </a:prstGeom>
          <a:solidFill>
            <a:srgbClr val="EEF7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22502A"/>
                </a:solidFill>
                <a:latin typeface="Malgun Gothic"/>
              </a:rPr>
              <a:t>저가 결과 채택</a:t>
            </a:r>
          </a:p>
        </p:txBody>
      </p:sp>
      <p:cxnSp>
        <p:nvCxnSpPr>
          <p:cNvPr id="16" name="Connector 15"/>
          <p:cNvCxnSpPr/>
          <p:nvPr/>
        </p:nvCxnSpPr>
        <p:spPr>
          <a:xfrm>
            <a:off x="9738360" y="2468880"/>
            <a:ext cx="365760" cy="411480"/>
          </a:xfrm>
          <a:prstGeom prst="line">
            <a:avLst/>
          </a:prstGeom>
          <a:ln w="25400">
            <a:solidFill>
              <a:srgbClr val="C0634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149840" y="2651760"/>
            <a:ext cx="1645920" cy="731520"/>
          </a:xfrm>
          <a:prstGeom prst="roundRect">
            <a:avLst>
              <a:gd name="adj" fmla="val 8000"/>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6B2A1A"/>
                </a:solidFill>
                <a:latin typeface="Malgun Gothic"/>
              </a:rPr>
              <a:t>④ 추론 모델</a:t>
            </a:r>
          </a:p>
          <a:p>
            <a:pPr algn="ctr"/>
            <a:r>
              <a:rPr sz="1200" b="1">
                <a:solidFill>
                  <a:srgbClr val="6B2A1A"/>
                </a:solidFill>
                <a:latin typeface="Malgun Gothic"/>
              </a:rPr>
              <a:t>gpt-5.5 high</a:t>
            </a:r>
          </a:p>
        </p:txBody>
      </p:sp>
      <p:sp>
        <p:nvSpPr>
          <p:cNvPr id="18" name="Rounded Rectangle 17"/>
          <p:cNvSpPr/>
          <p:nvPr/>
        </p:nvSpPr>
        <p:spPr>
          <a:xfrm>
            <a:off x="548640" y="3566160"/>
            <a:ext cx="5394960" cy="256032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639312"/>
            <a:ext cx="517550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confidence 3구간</a:t>
            </a:r>
          </a:p>
        </p:txBody>
      </p:sp>
      <p:sp>
        <p:nvSpPr>
          <p:cNvPr id="20" name="TextBox 19"/>
          <p:cNvSpPr txBox="1"/>
          <p:nvPr/>
        </p:nvSpPr>
        <p:spPr>
          <a:xfrm>
            <a:off x="658368" y="4096511"/>
            <a:ext cx="5175504" cy="196596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높음 (&gt;0.9)  자동 실행</a:t>
            </a:r>
          </a:p>
          <a:p>
            <a:pPr algn="l">
              <a:lnSpc>
                <a:spcPct val="110000"/>
              </a:lnSpc>
            </a:pPr>
            <a:r>
              <a:rPr sz="1600" b="0">
                <a:solidFill>
                  <a:srgbClr val="1B1F24"/>
                </a:solidFill>
                <a:latin typeface="Malgun Gothic"/>
              </a:rPr>
              <a:t>중간  사용자 확인</a:t>
            </a:r>
          </a:p>
          <a:p>
            <a:pPr algn="l">
              <a:lnSpc>
                <a:spcPct val="110000"/>
              </a:lnSpc>
            </a:pPr>
            <a:r>
              <a:rPr sz="1600" b="0">
                <a:solidFill>
                  <a:srgbClr val="1B1F24"/>
                </a:solidFill>
                <a:latin typeface="Malgun Gothic"/>
              </a:rPr>
              <a:t>낮음 (&lt;0.5)  사람·LLM 폴백</a:t>
            </a:r>
          </a:p>
          <a:p>
            <a:pPr algn="l">
              <a:lnSpc>
                <a:spcPct val="110000"/>
              </a:lnSpc>
            </a:pPr>
            <a:r>
              <a:rPr sz="1600" b="0">
                <a:solidFill>
                  <a:srgbClr val="1B1F24"/>
                </a:solidFill>
                <a:latin typeface="Malgun Gothic"/>
              </a:rPr>
              <a:t>noul 시작점 0.7 / 0.3 — 위험에 비례</a:t>
            </a:r>
          </a:p>
        </p:txBody>
      </p:sp>
      <p:sp>
        <p:nvSpPr>
          <p:cNvPr id="21" name="Rounded Rectangle 20"/>
          <p:cNvSpPr/>
          <p:nvPr/>
        </p:nvSpPr>
        <p:spPr>
          <a:xfrm>
            <a:off x="6217920" y="3566160"/>
            <a:ext cx="5394960" cy="256032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639312"/>
            <a:ext cx="517550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SDE 쿡북 (TypeSafe 내부 100건)</a:t>
            </a:r>
          </a:p>
        </p:txBody>
      </p:sp>
      <p:sp>
        <p:nvSpPr>
          <p:cNvPr id="23" name="TextBox 22"/>
          <p:cNvSpPr txBox="1"/>
          <p:nvPr/>
        </p:nvSpPr>
        <p:spPr>
          <a:xfrm>
            <a:off x="6327648" y="4096511"/>
            <a:ext cx="5175504" cy="1965960"/>
          </a:xfrm>
          <a:prstGeom prst="rect">
            <a:avLst/>
          </a:prstGeom>
          <a:noFill/>
        </p:spPr>
        <p:txBody>
          <a:bodyPr wrap="square" anchor="t" lIns="45720" rIns="45720" tIns="27432" bIns="27432">
            <a:spAutoFit/>
          </a:bodyPr>
          <a:lstStyle/>
          <a:p>
            <a:pPr algn="l">
              <a:lnSpc>
                <a:spcPct val="110000"/>
              </a:lnSpc>
            </a:pPr>
            <a:r>
              <a:rPr sz="1600" b="0">
                <a:solidFill>
                  <a:srgbClr val="1B1F24"/>
                </a:solidFill>
                <a:latin typeface="Malgun Gothic"/>
              </a:rPr>
              <a:t>추론 모델 단독: 품질 ~0.81, 건당 ~$0.10</a:t>
            </a:r>
          </a:p>
          <a:p>
            <a:pPr algn="l">
              <a:lnSpc>
                <a:spcPct val="110000"/>
              </a:lnSpc>
            </a:pPr>
            <a:r>
              <a:rPr sz="1600" b="0">
                <a:solidFill>
                  <a:srgbClr val="1B1F24"/>
                </a:solidFill>
                <a:latin typeface="Malgun Gothic"/>
              </a:rPr>
              <a:t>캐스케이드 프런티어가 모든 단일 모델의 위·왼쪽</a:t>
            </a:r>
          </a:p>
          <a:p>
            <a:pPr algn="l">
              <a:lnSpc>
                <a:spcPct val="110000"/>
              </a:lnSpc>
            </a:pPr>
            <a:r>
              <a:rPr sz="1600" b="0">
                <a:solidFill>
                  <a:srgbClr val="1B1F24"/>
                </a:solidFill>
                <a:latin typeface="Malgun Gothic"/>
              </a:rPr>
              <a:t>검증 질문: 환각 · 형식 위반 · 불완전 …</a:t>
            </a:r>
          </a:p>
          <a:p>
            <a:pPr algn="l">
              <a:lnSpc>
                <a:spcPct val="110000"/>
              </a:lnSpc>
            </a:pPr>
            <a:r>
              <a:rPr sz="1600" b="0">
                <a:solidFill>
                  <a:srgbClr val="1B1F24"/>
                </a:solidFill>
                <a:latin typeface="Malgun Gothic"/>
              </a:rPr>
              <a:t>정확한 좌표는 문서에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그 밖의 패턴</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결정 모델은 ‘고르고 점수 매기는’ 역할만</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27</a:t>
            </a:r>
          </a:p>
        </p:txBody>
      </p:sp>
      <p:sp>
        <p:nvSpPr>
          <p:cNvPr id="7" name="Rounded Rectangle 6"/>
          <p:cNvSpPr/>
          <p:nvPr/>
        </p:nvSpPr>
        <p:spPr>
          <a:xfrm>
            <a:off x="548640" y="1554480"/>
            <a:ext cx="2697480" cy="38404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45920"/>
            <a:ext cx="2468880" cy="457200"/>
          </a:xfrm>
          <a:prstGeom prst="rect">
            <a:avLst/>
          </a:prstGeom>
          <a:noFill/>
        </p:spPr>
        <p:txBody>
          <a:bodyPr wrap="square" anchor="t" lIns="45720" rIns="45720" tIns="27432" bIns="27432">
            <a:spAutoFit/>
          </a:bodyPr>
          <a:lstStyle/>
          <a:p>
            <a:pPr algn="l">
              <a:lnSpc>
                <a:spcPct val="110000"/>
              </a:lnSpc>
            </a:pPr>
            <a:r>
              <a:rPr sz="2100" b="1">
                <a:solidFill>
                  <a:srgbClr val="1F4E79"/>
                </a:solidFill>
                <a:latin typeface="Malgun Gothic"/>
              </a:rPr>
              <a:t>팬아웃</a:t>
            </a:r>
          </a:p>
        </p:txBody>
      </p:sp>
      <p:sp>
        <p:nvSpPr>
          <p:cNvPr id="9" name="TextBox 8"/>
          <p:cNvSpPr txBox="1"/>
          <p:nvPr/>
        </p:nvSpPr>
        <p:spPr>
          <a:xfrm>
            <a:off x="685800" y="2240280"/>
            <a:ext cx="2468880" cy="731520"/>
          </a:xfrm>
          <a:prstGeom prst="rect">
            <a:avLst/>
          </a:prstGeom>
          <a:noFill/>
        </p:spPr>
        <p:txBody>
          <a:bodyPr wrap="square" anchor="t" lIns="45720" rIns="45720" tIns="27432" bIns="27432">
            <a:spAutoFit/>
          </a:bodyPr>
          <a:lstStyle/>
          <a:p>
            <a:pPr algn="l">
              <a:lnSpc>
                <a:spcPct val="110000"/>
              </a:lnSpc>
            </a:pPr>
            <a:r>
              <a:rPr sz="1400" b="1">
                <a:solidFill>
                  <a:srgbClr val="E8A33D"/>
                </a:solidFill>
                <a:latin typeface="Malgun Gothic"/>
              </a:rPr>
              <a:t>13개 질문을 한 번에</a:t>
            </a:r>
          </a:p>
        </p:txBody>
      </p:sp>
      <p:sp>
        <p:nvSpPr>
          <p:cNvPr id="10" name="TextBox 9"/>
          <p:cNvSpPr txBox="1"/>
          <p:nvPr/>
        </p:nvSpPr>
        <p:spPr>
          <a:xfrm>
            <a:off x="685800" y="3108960"/>
            <a:ext cx="2468880" cy="210312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12.2배 저렴 · 10.0배 빠름</a:t>
            </a:r>
          </a:p>
          <a:p>
            <a:pPr algn="l">
              <a:lnSpc>
                <a:spcPct val="110000"/>
              </a:lnSpc>
            </a:pPr>
            <a:r>
              <a:rPr sz="1800" b="0">
                <a:solidFill>
                  <a:srgbClr val="1B1F24"/>
                </a:solidFill>
                <a:latin typeface="Malgun Gothic"/>
              </a:rPr>
              <a:t>(질문은 독립 평가)</a:t>
            </a:r>
          </a:p>
        </p:txBody>
      </p:sp>
      <p:sp>
        <p:nvSpPr>
          <p:cNvPr id="11" name="Rounded Rectangle 10"/>
          <p:cNvSpPr/>
          <p:nvPr/>
        </p:nvSpPr>
        <p:spPr>
          <a:xfrm>
            <a:off x="3383280" y="1554480"/>
            <a:ext cx="2697480" cy="38404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645920"/>
            <a:ext cx="2468880" cy="457200"/>
          </a:xfrm>
          <a:prstGeom prst="rect">
            <a:avLst/>
          </a:prstGeom>
          <a:noFill/>
        </p:spPr>
        <p:txBody>
          <a:bodyPr wrap="square" anchor="t" lIns="45720" rIns="45720" tIns="27432" bIns="27432">
            <a:spAutoFit/>
          </a:bodyPr>
          <a:lstStyle/>
          <a:p>
            <a:pPr algn="l">
              <a:lnSpc>
                <a:spcPct val="110000"/>
              </a:lnSpc>
            </a:pPr>
            <a:r>
              <a:rPr sz="2100" b="1">
                <a:solidFill>
                  <a:srgbClr val="1F4E79"/>
                </a:solidFill>
                <a:latin typeface="Malgun Gothic"/>
              </a:rPr>
              <a:t>재정렬</a:t>
            </a:r>
          </a:p>
        </p:txBody>
      </p:sp>
      <p:sp>
        <p:nvSpPr>
          <p:cNvPr id="13" name="TextBox 12"/>
          <p:cNvSpPr txBox="1"/>
          <p:nvPr/>
        </p:nvSpPr>
        <p:spPr>
          <a:xfrm>
            <a:off x="3520440" y="2240280"/>
            <a:ext cx="2468880" cy="731520"/>
          </a:xfrm>
          <a:prstGeom prst="rect">
            <a:avLst/>
          </a:prstGeom>
          <a:noFill/>
        </p:spPr>
        <p:txBody>
          <a:bodyPr wrap="square" anchor="t" lIns="45720" rIns="45720" tIns="27432" bIns="27432">
            <a:spAutoFit/>
          </a:bodyPr>
          <a:lstStyle/>
          <a:p>
            <a:pPr algn="l">
              <a:lnSpc>
                <a:spcPct val="110000"/>
              </a:lnSpc>
            </a:pPr>
            <a:r>
              <a:rPr sz="1400" b="1">
                <a:solidFill>
                  <a:srgbClr val="E8A33D"/>
                </a:solidFill>
                <a:latin typeface="Malgun Gothic"/>
              </a:rPr>
              <a:t>후보마다 noul 1개</a:t>
            </a:r>
          </a:p>
        </p:txBody>
      </p:sp>
      <p:sp>
        <p:nvSpPr>
          <p:cNvPr id="14" name="TextBox 13"/>
          <p:cNvSpPr txBox="1"/>
          <p:nvPr/>
        </p:nvSpPr>
        <p:spPr>
          <a:xfrm>
            <a:off x="3520440" y="3108960"/>
            <a:ext cx="2468880" cy="210312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top-1 5% → 18%</a:t>
            </a:r>
          </a:p>
          <a:p>
            <a:pPr algn="l">
              <a:lnSpc>
                <a:spcPct val="110000"/>
              </a:lnSpc>
            </a:pPr>
            <a:r>
              <a:rPr sz="1800" b="0">
                <a:solidFill>
                  <a:srgbClr val="1B1F24"/>
                </a:solidFill>
                <a:latin typeface="Malgun Gothic"/>
              </a:rPr>
              <a:t>1,200호출 $0.0645</a:t>
            </a:r>
          </a:p>
        </p:txBody>
      </p:sp>
      <p:sp>
        <p:nvSpPr>
          <p:cNvPr id="15" name="Rounded Rectangle 14"/>
          <p:cNvSpPr/>
          <p:nvPr/>
        </p:nvSpPr>
        <p:spPr>
          <a:xfrm>
            <a:off x="6217920" y="1554480"/>
            <a:ext cx="2697480" cy="38404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645920"/>
            <a:ext cx="2468880" cy="457200"/>
          </a:xfrm>
          <a:prstGeom prst="rect">
            <a:avLst/>
          </a:prstGeom>
          <a:noFill/>
        </p:spPr>
        <p:txBody>
          <a:bodyPr wrap="square" anchor="t" lIns="45720" rIns="45720" tIns="27432" bIns="27432">
            <a:spAutoFit/>
          </a:bodyPr>
          <a:lstStyle/>
          <a:p>
            <a:pPr algn="l">
              <a:lnSpc>
                <a:spcPct val="110000"/>
              </a:lnSpc>
            </a:pPr>
            <a:r>
              <a:rPr sz="2100" b="1">
                <a:solidFill>
                  <a:srgbClr val="1F4E79"/>
                </a:solidFill>
                <a:latin typeface="Malgun Gothic"/>
              </a:rPr>
              <a:t>UI 라우터</a:t>
            </a:r>
          </a:p>
        </p:txBody>
      </p:sp>
      <p:sp>
        <p:nvSpPr>
          <p:cNvPr id="17" name="TextBox 16"/>
          <p:cNvSpPr txBox="1"/>
          <p:nvPr/>
        </p:nvSpPr>
        <p:spPr>
          <a:xfrm>
            <a:off x="6355080" y="2240280"/>
            <a:ext cx="2468880" cy="731520"/>
          </a:xfrm>
          <a:prstGeom prst="rect">
            <a:avLst/>
          </a:prstGeom>
          <a:noFill/>
        </p:spPr>
        <p:txBody>
          <a:bodyPr wrap="square" anchor="t" lIns="45720" rIns="45720" tIns="27432" bIns="27432">
            <a:spAutoFit/>
          </a:bodyPr>
          <a:lstStyle/>
          <a:p>
            <a:pPr algn="l">
              <a:lnSpc>
                <a:spcPct val="110000"/>
              </a:lnSpc>
            </a:pPr>
            <a:r>
              <a:rPr sz="1400" b="1">
                <a:solidFill>
                  <a:srgbClr val="E8A33D"/>
                </a:solidFill>
                <a:latin typeface="Malgun Gothic"/>
              </a:rPr>
              <a:t>CopilotKit · json-render</a:t>
            </a:r>
          </a:p>
        </p:txBody>
      </p:sp>
      <p:sp>
        <p:nvSpPr>
          <p:cNvPr id="18" name="TextBox 17"/>
          <p:cNvSpPr txBox="1"/>
          <p:nvPr/>
        </p:nvSpPr>
        <p:spPr>
          <a:xfrm>
            <a:off x="6355080" y="3108960"/>
            <a:ext cx="2468880" cy="210312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choice(control) + score(fit_)</a:t>
            </a:r>
          </a:p>
          <a:p>
            <a:pPr algn="l">
              <a:lnSpc>
                <a:spcPct val="110000"/>
              </a:lnSpc>
            </a:pPr>
            <a:r>
              <a:rPr sz="1800" b="0">
                <a:solidFill>
                  <a:srgbClr val="1B1F24"/>
                </a:solidFill>
                <a:latin typeface="Malgun Gothic"/>
              </a:rPr>
              <a:t>앱이 검증 · 실행은 코드</a:t>
            </a:r>
          </a:p>
        </p:txBody>
      </p:sp>
      <p:sp>
        <p:nvSpPr>
          <p:cNvPr id="19" name="Rounded Rectangle 18"/>
          <p:cNvSpPr/>
          <p:nvPr/>
        </p:nvSpPr>
        <p:spPr>
          <a:xfrm>
            <a:off x="9052560" y="1554480"/>
            <a:ext cx="2697480" cy="38404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645920"/>
            <a:ext cx="2468880" cy="457200"/>
          </a:xfrm>
          <a:prstGeom prst="rect">
            <a:avLst/>
          </a:prstGeom>
          <a:noFill/>
        </p:spPr>
        <p:txBody>
          <a:bodyPr wrap="square" anchor="t" lIns="45720" rIns="45720" tIns="27432" bIns="27432">
            <a:spAutoFit/>
          </a:bodyPr>
          <a:lstStyle/>
          <a:p>
            <a:pPr algn="l">
              <a:lnSpc>
                <a:spcPct val="110000"/>
              </a:lnSpc>
            </a:pPr>
            <a:r>
              <a:rPr sz="2100" b="1">
                <a:solidFill>
                  <a:srgbClr val="1F4E79"/>
                </a:solidFill>
                <a:latin typeface="Malgun Gothic"/>
              </a:rPr>
              <a:t>도메인 특화</a:t>
            </a:r>
          </a:p>
        </p:txBody>
      </p:sp>
      <p:sp>
        <p:nvSpPr>
          <p:cNvPr id="21" name="TextBox 20"/>
          <p:cNvSpPr txBox="1"/>
          <p:nvPr/>
        </p:nvSpPr>
        <p:spPr>
          <a:xfrm>
            <a:off x="9189720" y="2240280"/>
            <a:ext cx="2468880" cy="731520"/>
          </a:xfrm>
          <a:prstGeom prst="rect">
            <a:avLst/>
          </a:prstGeom>
          <a:noFill/>
        </p:spPr>
        <p:txBody>
          <a:bodyPr wrap="square" anchor="t" lIns="45720" rIns="45720" tIns="27432" bIns="27432">
            <a:spAutoFit/>
          </a:bodyPr>
          <a:lstStyle/>
          <a:p>
            <a:pPr algn="l">
              <a:lnSpc>
                <a:spcPct val="110000"/>
              </a:lnSpc>
            </a:pPr>
            <a:r>
              <a:rPr sz="1400" b="1">
                <a:solidFill>
                  <a:srgbClr val="E8A33D"/>
                </a:solidFill>
                <a:latin typeface="Malgun Gothic"/>
              </a:rPr>
              <a:t>CS1-4B 임상</a:t>
            </a:r>
          </a:p>
        </p:txBody>
      </p:sp>
      <p:sp>
        <p:nvSpPr>
          <p:cNvPr id="22" name="TextBox 21"/>
          <p:cNvSpPr txBox="1"/>
          <p:nvPr/>
        </p:nvSpPr>
        <p:spPr>
          <a:xfrm>
            <a:off x="9189720" y="3108960"/>
            <a:ext cx="2468880" cy="2103120"/>
          </a:xfrm>
          <a:prstGeom prst="rect">
            <a:avLst/>
          </a:prstGeom>
          <a:noFill/>
        </p:spPr>
        <p:txBody>
          <a:bodyPr wrap="square" anchor="t" lIns="45720" rIns="45720" tIns="27432" bIns="27432">
            <a:spAutoFit/>
          </a:bodyPr>
          <a:lstStyle/>
          <a:p>
            <a:pPr algn="l">
              <a:lnSpc>
                <a:spcPct val="110000"/>
              </a:lnSpc>
            </a:pPr>
            <a:r>
              <a:rPr sz="1800" b="0">
                <a:solidFill>
                  <a:srgbClr val="1B1F24"/>
                </a:solidFill>
                <a:latin typeface="Malgun Gothic"/>
              </a:rPr>
              <a:t>14과제 중 13 승</a:t>
            </a:r>
          </a:p>
          <a:p>
            <a:pPr algn="l">
              <a:lnSpc>
                <a:spcPct val="110000"/>
              </a:lnSpc>
            </a:pPr>
            <a:r>
              <a:rPr sz="1800" b="0">
                <a:solidFill>
                  <a:srgbClr val="1B1F24"/>
                </a:solidFill>
                <a:latin typeface="Malgun Gothic"/>
              </a:rPr>
              <a:t>LM 토큰 690배 절감</a:t>
            </a:r>
          </a:p>
        </p:txBody>
      </p:sp>
      <p:sp>
        <p:nvSpPr>
          <p:cNvPr id="23" name="TextBox 22"/>
          <p:cNvSpPr txBox="1"/>
          <p:nvPr/>
        </p:nvSpPr>
        <p:spPr>
          <a:xfrm>
            <a:off x="548640" y="5577840"/>
            <a:ext cx="11064240" cy="731520"/>
          </a:xfrm>
          <a:prstGeom prst="rect">
            <a:avLst/>
          </a:prstGeom>
          <a:noFill/>
        </p:spPr>
        <p:txBody>
          <a:bodyPr wrap="square" anchor="t" lIns="45720" rIns="45720" tIns="27432" bIns="27432">
            <a:spAutoFit/>
          </a:bodyPr>
          <a:lstStyle/>
          <a:p>
            <a:pPr algn="l">
              <a:lnSpc>
                <a:spcPct val="110000"/>
              </a:lnSpc>
            </a:pPr>
            <a:r>
              <a:rPr sz="1600" b="1">
                <a:solidFill>
                  <a:srgbClr val="12263F"/>
                </a:solidFill>
                <a:latin typeface="Malgun Gothic"/>
              </a:rPr>
              <a:t>원칙: 후보 정의 · 검증 · 실행 권한은 코드가 쥔다 — 결정 모델은 앱이 정의한 후보 중에서 고르기만 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맡기지 말아야 할 일</a:t>
            </a:r>
          </a:p>
        </p:txBody>
      </p:sp>
      <p:sp>
        <p:nvSpPr>
          <p:cNvPr id="4" name="TextBox 3"/>
          <p:cNvSpPr txBox="1"/>
          <p:nvPr/>
        </p:nvSpPr>
        <p:spPr>
          <a:xfrm>
            <a:off x="502920" y="960120"/>
            <a:ext cx="11155680" cy="365760"/>
          </a:xfrm>
          <a:prstGeom prst="rect">
            <a:avLst/>
          </a:prstGeom>
          <a:noFill/>
        </p:spPr>
        <p:txBody>
          <a:bodyPr wrap="square" anchor="t" lIns="45720" rIns="45720" tIns="27432" bIns="27432">
            <a:spAutoFit/>
          </a:bodyPr>
          <a:lstStyle/>
          <a:p>
            <a:pPr algn="l">
              <a:lnSpc>
                <a:spcPct val="110000"/>
              </a:lnSpc>
            </a:pPr>
            <a:r>
              <a:rPr sz="1400" b="0">
                <a:solidFill>
                  <a:srgbClr val="5B6770"/>
                </a:solidFill>
                <a:latin typeface="Malgun Gothic"/>
              </a:rPr>
              <a:t>Jev 1.13의 알려진 약점 — 코드로 풀어라</a:t>
            </a:r>
          </a:p>
        </p:txBody>
      </p:sp>
      <p:sp>
        <p:nvSpPr>
          <p:cNvPr id="5" name="TextBox 4"/>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28</a:t>
            </a:r>
          </a:p>
        </p:txBody>
      </p:sp>
      <p:graphicFrame>
        <p:nvGraphicFramePr>
          <p:cNvPr id="7" name="Table 6"/>
          <p:cNvGraphicFramePr>
            <a:graphicFrameLocks noGrp="1"/>
          </p:cNvGraphicFramePr>
          <p:nvPr/>
        </p:nvGraphicFramePr>
        <p:xfrm>
          <a:off x="548640" y="1417320"/>
          <a:ext cx="11064239" cy="4242816"/>
        </p:xfrm>
        <a:graphic>
          <a:graphicData uri="http://schemas.openxmlformats.org/drawingml/2006/table">
            <a:tbl>
              <a:tblPr firstRow="1" bandRow="1">
                <a:tableStyleId>{5C22544A-7EE6-4342-B048-85BDC9FD1C3A}</a:tableStyleId>
              </a:tblPr>
              <a:tblGrid>
                <a:gridCol w="4329485"/>
                <a:gridCol w="6734754"/>
              </a:tblGrid>
              <a:tr h="530352">
                <a:tc>
                  <a:txBody>
                    <a:bodyPr wrap="square"/>
                    <a:lstStyle/>
                    <a:p>
                      <a:r>
                        <a:rPr sz="1500" b="1">
                          <a:solidFill>
                            <a:srgbClr val="FFFFFF"/>
                          </a:solidFill>
                          <a:latin typeface="Malgun Gothic"/>
                        </a:rPr>
                        <a:t>약점</a:t>
                      </a:r>
                    </a:p>
                  </a:txBody>
                  <a:tcPr marL="54864" marR="54864" marT="27432" marB="27432" anchor="ctr">
                    <a:solidFill>
                      <a:srgbClr val="1F4E79"/>
                    </a:solidFill>
                  </a:tcPr>
                </a:tc>
                <a:tc>
                  <a:txBody>
                    <a:bodyPr wrap="square"/>
                    <a:lstStyle/>
                    <a:p>
                      <a:r>
                        <a:rPr sz="1500" b="1">
                          <a:solidFill>
                            <a:srgbClr val="FFFFFF"/>
                          </a:solidFill>
                          <a:latin typeface="Malgun Gothic"/>
                        </a:rPr>
                        <a:t>회피법</a:t>
                      </a:r>
                    </a:p>
                  </a:txBody>
                  <a:tcPr marL="54864" marR="54864" marT="27432" marB="27432" anchor="ctr">
                    <a:solidFill>
                      <a:srgbClr val="1F4E79"/>
                    </a:solidFill>
                  </a:tcPr>
                </a:tc>
              </a:tr>
              <a:tr h="530352">
                <a:tc>
                  <a:txBody>
                    <a:bodyPr wrap="square"/>
                    <a:lstStyle/>
                    <a:p>
                      <a:r>
                        <a:rPr sz="1500" b="1">
                          <a:solidFill>
                            <a:srgbClr val="1B1F24"/>
                          </a:solidFill>
                          <a:latin typeface="Malgun Gothic"/>
                        </a:rPr>
                        <a:t>개수 세기 · 수치 비교 · 16진수</a:t>
                      </a:r>
                    </a:p>
                  </a:txBody>
                  <a:tcPr marL="54864" marR="54864" marT="27432" marB="27432" anchor="ctr">
                    <a:solidFill>
                      <a:srgbClr val="DCE8F5"/>
                    </a:solidFill>
                  </a:tcPr>
                </a:tc>
                <a:tc>
                  <a:txBody>
                    <a:bodyPr wrap="square"/>
                    <a:lstStyle/>
                    <a:p>
                      <a:r>
                        <a:rPr sz="1500">
                          <a:solidFill>
                            <a:srgbClr val="1B1F24"/>
                          </a:solidFill>
                          <a:latin typeface="Malgun Gothic"/>
                        </a:rPr>
                        <a:t>후보마다 질문 1개, 합산은 코드</a:t>
                      </a:r>
                    </a:p>
                  </a:txBody>
                  <a:tcPr marL="54864" marR="54864" marT="27432" marB="27432" anchor="ctr">
                    <a:solidFill>
                      <a:srgbClr val="DCE8F5"/>
                    </a:solidFill>
                  </a:tcPr>
                </a:tc>
              </a:tr>
              <a:tr h="530352">
                <a:tc>
                  <a:txBody>
                    <a:bodyPr wrap="square"/>
                    <a:lstStyle/>
                    <a:p>
                      <a:r>
                        <a:rPr sz="1500" b="1">
                          <a:solidFill>
                            <a:srgbClr val="1B1F24"/>
                          </a:solidFill>
                          <a:latin typeface="Malgun Gothic"/>
                        </a:rPr>
                        <a:t>날짜 · 기간 계산</a:t>
                      </a:r>
                    </a:p>
                  </a:txBody>
                  <a:tcPr marL="54864" marR="54864" marT="27432" marB="27432" anchor="ctr">
                    <a:solidFill>
                      <a:srgbClr val="FFFFFF"/>
                    </a:solidFill>
                  </a:tcPr>
                </a:tc>
                <a:tc>
                  <a:txBody>
                    <a:bodyPr wrap="square"/>
                    <a:lstStyle/>
                    <a:p>
                      <a:r>
                        <a:rPr sz="1500">
                          <a:solidFill>
                            <a:srgbClr val="1B1F24"/>
                          </a:solidFill>
                          <a:latin typeface="Malgun Gothic"/>
                        </a:rPr>
                        <a:t>월·일·연을 choice로 추출 후 코드 산술</a:t>
                      </a:r>
                    </a:p>
                  </a:txBody>
                  <a:tcPr marL="54864" marR="54864" marT="27432" marB="27432" anchor="ctr">
                    <a:solidFill>
                      <a:srgbClr val="FFFFFF"/>
                    </a:solidFill>
                  </a:tcPr>
                </a:tc>
              </a:tr>
              <a:tr h="530352">
                <a:tc>
                  <a:txBody>
                    <a:bodyPr wrap="square"/>
                    <a:lstStyle/>
                    <a:p>
                      <a:r>
                        <a:rPr sz="1500" b="1">
                          <a:solidFill>
                            <a:srgbClr val="1B1F24"/>
                          </a:solidFill>
                          <a:latin typeface="Malgun Gothic"/>
                        </a:rPr>
                        <a:t>긴 state에 섞인 무관 정보</a:t>
                      </a:r>
                    </a:p>
                  </a:txBody>
                  <a:tcPr marL="54864" marR="54864" marT="27432" marB="27432" anchor="ctr">
                    <a:solidFill>
                      <a:srgbClr val="DCE8F5"/>
                    </a:solidFill>
                  </a:tcPr>
                </a:tc>
                <a:tc>
                  <a:txBody>
                    <a:bodyPr wrap="square"/>
                    <a:lstStyle/>
                    <a:p>
                      <a:r>
                        <a:rPr sz="1500">
                          <a:solidFill>
                            <a:srgbClr val="1B1F24"/>
                          </a:solidFill>
                          <a:latin typeface="Malgun Gothic"/>
                        </a:rPr>
                        <a:t>코드로 거르거나 noul로 필터</a:t>
                      </a:r>
                    </a:p>
                  </a:txBody>
                  <a:tcPr marL="54864" marR="54864" marT="27432" marB="27432" anchor="ctr">
                    <a:solidFill>
                      <a:srgbClr val="DCE8F5"/>
                    </a:solidFill>
                  </a:tcPr>
                </a:tc>
              </a:tr>
              <a:tr h="530352">
                <a:tc>
                  <a:txBody>
                    <a:bodyPr wrap="square"/>
                    <a:lstStyle/>
                    <a:p>
                      <a:r>
                        <a:rPr sz="1500" b="1">
                          <a:solidFill>
                            <a:srgbClr val="1B1F24"/>
                          </a:solidFill>
                          <a:latin typeface="Malgun Gothic"/>
                        </a:rPr>
                        <a:t>적대적 텍스트 주입</a:t>
                      </a:r>
                    </a:p>
                  </a:txBody>
                  <a:tcPr marL="54864" marR="54864" marT="27432" marB="27432" anchor="ctr">
                    <a:solidFill>
                      <a:srgbClr val="FFFFFF"/>
                    </a:solidFill>
                  </a:tcPr>
                </a:tc>
                <a:tc>
                  <a:txBody>
                    <a:bodyPr wrap="square"/>
                    <a:lstStyle/>
                    <a:p>
                      <a:r>
                        <a:rPr sz="1500">
                          <a:solidFill>
                            <a:srgbClr val="1B1F24"/>
                          </a:solidFill>
                          <a:latin typeface="Malgun Gothic"/>
                        </a:rPr>
                        <a:t>기준 명시 + 에지 케이스 사전 테스트</a:t>
                      </a:r>
                    </a:p>
                  </a:txBody>
                  <a:tcPr marL="54864" marR="54864" marT="27432" marB="27432" anchor="ctr">
                    <a:solidFill>
                      <a:srgbClr val="FFFFFF"/>
                    </a:solidFill>
                  </a:tcPr>
                </a:tc>
              </a:tr>
              <a:tr h="530352">
                <a:tc>
                  <a:txBody>
                    <a:bodyPr wrap="square"/>
                    <a:lstStyle/>
                    <a:p>
                      <a:r>
                        <a:rPr sz="1500" b="1">
                          <a:solidFill>
                            <a:srgbClr val="1B1F24"/>
                          </a:solidFill>
                          <a:latin typeface="Malgun Gothic"/>
                        </a:rPr>
                        <a:t>첫 선택지로 기움</a:t>
                      </a:r>
                    </a:p>
                  </a:txBody>
                  <a:tcPr marL="54864" marR="54864" marT="27432" marB="27432" anchor="ctr">
                    <a:solidFill>
                      <a:srgbClr val="DCE8F5"/>
                    </a:solidFill>
                  </a:tcPr>
                </a:tc>
                <a:tc>
                  <a:txBody>
                    <a:bodyPr wrap="square"/>
                    <a:lstStyle/>
                    <a:p>
                      <a:r>
                        <a:rPr sz="1500">
                          <a:solidFill>
                            <a:srgbClr val="1B1F24"/>
                          </a:solidFill>
                          <a:latin typeface="Malgun Gothic"/>
                        </a:rPr>
                        <a:t>순서 교란 검사 · Runoff</a:t>
                      </a:r>
                    </a:p>
                  </a:txBody>
                  <a:tcPr marL="54864" marR="54864" marT="27432" marB="27432" anchor="ctr">
                    <a:solidFill>
                      <a:srgbClr val="DCE8F5"/>
                    </a:solidFill>
                  </a:tcPr>
                </a:tc>
              </a:tr>
              <a:tr h="530352">
                <a:tc>
                  <a:txBody>
                    <a:bodyPr wrap="square"/>
                    <a:lstStyle/>
                    <a:p>
                      <a:r>
                        <a:rPr sz="1500" b="1">
                          <a:solidFill>
                            <a:srgbClr val="1B1F24"/>
                          </a:solidFill>
                          <a:latin typeface="Malgun Gothic"/>
                        </a:rPr>
                        <a:t>score 수치 보간</a:t>
                      </a:r>
                    </a:p>
                  </a:txBody>
                  <a:tcPr marL="54864" marR="54864" marT="27432" marB="27432" anchor="ctr">
                    <a:solidFill>
                      <a:srgbClr val="FFFFFF"/>
                    </a:solidFill>
                  </a:tcPr>
                </a:tc>
                <a:tc>
                  <a:txBody>
                    <a:bodyPr wrap="square"/>
                    <a:lstStyle/>
                    <a:p>
                      <a:r>
                        <a:rPr sz="1500">
                          <a:solidFill>
                            <a:srgbClr val="1B1F24"/>
                          </a:solidFill>
                          <a:latin typeface="Malgun Gothic"/>
                        </a:rPr>
                        <a:t>임계값 통과 여부에만 사용</a:t>
                      </a:r>
                    </a:p>
                  </a:txBody>
                  <a:tcPr marL="54864" marR="54864" marT="27432" marB="27432" anchor="ctr">
                    <a:solidFill>
                      <a:srgbClr val="FFFFFF"/>
                    </a:solidFill>
                  </a:tcPr>
                </a:tc>
              </a:tr>
              <a:tr h="530352">
                <a:tc>
                  <a:txBody>
                    <a:bodyPr wrap="square"/>
                    <a:lstStyle/>
                    <a:p>
                      <a:r>
                        <a:rPr sz="1500" b="1">
                          <a:solidFill>
                            <a:srgbClr val="1B1F24"/>
                          </a:solidFill>
                          <a:latin typeface="Malgun Gothic"/>
                        </a:rPr>
                        <a:t>텍스트 생성</a:t>
                      </a:r>
                    </a:p>
                  </a:txBody>
                  <a:tcPr marL="54864" marR="54864" marT="27432" marB="27432" anchor="ctr">
                    <a:solidFill>
                      <a:srgbClr val="DCE8F5"/>
                    </a:solidFill>
                  </a:tcPr>
                </a:tc>
                <a:tc>
                  <a:txBody>
                    <a:bodyPr wrap="square"/>
                    <a:lstStyle/>
                    <a:p>
                      <a:r>
                        <a:rPr sz="1500">
                          <a:solidFill>
                            <a:srgbClr val="1B1F24"/>
                          </a:solidFill>
                          <a:latin typeface="Malgun Gothic"/>
                        </a:rPr>
                        <a:t>후보는 정규식·생성 모델이, Jev는 고르기만</a:t>
                      </a:r>
                    </a:p>
                  </a:txBody>
                  <a:tcPr marL="54864" marR="54864" marT="27432" marB="27432" anchor="ctr">
                    <a:solidFill>
                      <a:srgbClr val="DCE8F5"/>
                    </a:solidFill>
                  </a:tcPr>
                </a:tc>
              </a:tr>
            </a:tbl>
          </a:graphicData>
        </a:graphic>
      </p:graphicFrame>
      <p:sp>
        <p:nvSpPr>
          <p:cNvPr id="8" name="TextBox 7"/>
          <p:cNvSpPr txBox="1"/>
          <p:nvPr/>
        </p:nvSpPr>
        <p:spPr>
          <a:xfrm>
            <a:off x="548640" y="5760720"/>
            <a:ext cx="11064240" cy="365760"/>
          </a:xfrm>
          <a:prstGeom prst="rect">
            <a:avLst/>
          </a:prstGeom>
          <a:noFill/>
        </p:spPr>
        <p:txBody>
          <a:bodyPr wrap="square" anchor="t" lIns="45720" rIns="45720" tIns="27432" bIns="27432">
            <a:spAutoFit/>
          </a:bodyPr>
          <a:lstStyle/>
          <a:p>
            <a:pPr algn="l">
              <a:lnSpc>
                <a:spcPct val="110000"/>
              </a:lnSpc>
            </a:pPr>
            <a:r>
              <a:rPr sz="1600" b="1">
                <a:solidFill>
                  <a:srgbClr val="12263F"/>
                </a:solidFill>
                <a:latin typeface="Malgun Gothic"/>
              </a:rPr>
              <a:t>결정 모델은 의미 판단의 전문가이지 계산기가 아니다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731520"/>
          </a:xfrm>
          <a:prstGeom prst="rect">
            <a:avLst/>
          </a:prstGeom>
          <a:noFill/>
        </p:spPr>
        <p:txBody>
          <a:bodyPr wrap="square" anchor="ctr" lIns="45720" rIns="45720" tIns="27432" bIns="27432">
            <a:spAutoFit/>
          </a:bodyPr>
          <a:lstStyle/>
          <a:p>
            <a:pPr algn="l">
              <a:lnSpc>
                <a:spcPct val="110000"/>
              </a:lnSpc>
            </a:pPr>
            <a:r>
              <a:rPr sz="2800" b="1">
                <a:solidFill>
                  <a:srgbClr val="12263F"/>
                </a:solidFill>
                <a:latin typeface="Malgun Gothic"/>
              </a:rPr>
              <a:t>아직 모르는 것</a:t>
            </a:r>
          </a:p>
        </p:txBody>
      </p:sp>
      <p:sp>
        <p:nvSpPr>
          <p:cNvPr id="4" name="TextBox 3"/>
          <p:cNvSpPr txBox="1"/>
          <p:nvPr/>
        </p:nvSpPr>
        <p:spPr>
          <a:xfrm>
            <a:off x="502920" y="6446520"/>
            <a:ext cx="8229600" cy="274320"/>
          </a:xfrm>
          <a:prstGeom prst="rect">
            <a:avLst/>
          </a:prstGeom>
          <a:noFill/>
        </p:spPr>
        <p:txBody>
          <a:bodyPr wrap="square" anchor="t" lIns="45720" rIns="45720" tIns="27432" bIns="27432">
            <a:spAutoFit/>
          </a:bodyPr>
          <a:lstStyle/>
          <a:p>
            <a:pPr algn="l">
              <a:lnSpc>
                <a:spcPct val="110000"/>
              </a:lnSpc>
            </a:pPr>
            <a:r>
              <a:rPr sz="1000" b="0">
                <a:solidFill>
                  <a:srgbClr val="5B6770"/>
                </a:solidFill>
                <a:latin typeface="Malgun Gothic"/>
              </a:rPr>
              <a:t>Jev와 System One 모델  |  2026-10-23</a:t>
            </a:r>
          </a:p>
        </p:txBody>
      </p:sp>
      <p:sp>
        <p:nvSpPr>
          <p:cNvPr id="5" name="TextBox 4"/>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10000"/>
              </a:lnSpc>
            </a:pPr>
            <a:r>
              <a:rPr sz="1000" b="0">
                <a:solidFill>
                  <a:srgbClr val="5B6770"/>
                </a:solidFill>
                <a:latin typeface="Malgun Gothic"/>
              </a:rPr>
              <a:t>29</a:t>
            </a:r>
          </a:p>
        </p:txBody>
      </p:sp>
      <p:sp>
        <p:nvSpPr>
          <p:cNvPr id="6" name="Rounded Rectangle 5"/>
          <p:cNvSpPr/>
          <p:nvPr/>
        </p:nvSpPr>
        <p:spPr>
          <a:xfrm>
            <a:off x="548640" y="1325880"/>
            <a:ext cx="5440680" cy="1325880"/>
          </a:xfrm>
          <a:prstGeom prst="roundRect">
            <a:avLst>
              <a:gd name="adj" fmla="val 8000"/>
            </a:avLst>
          </a:prstGeom>
          <a:solidFill>
            <a:srgbClr val="FDF1EE"/>
          </a:solidFill>
          <a:ln w="15875">
            <a:solidFill>
              <a:srgbClr val="C06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99032"/>
            <a:ext cx="5221224" cy="457200"/>
          </a:xfrm>
          <a:prstGeom prst="rect">
            <a:avLst/>
          </a:prstGeom>
          <a:noFill/>
        </p:spPr>
        <p:txBody>
          <a:bodyPr wrap="square" anchor="t" lIns="45720" rIns="45720" tIns="27432" bIns="27432">
            <a:spAutoFit/>
          </a:bodyPr>
          <a:lstStyle/>
          <a:p>
            <a:pPr algn="l">
              <a:lnSpc>
                <a:spcPct val="110000"/>
              </a:lnSpc>
            </a:pPr>
            <a:r>
              <a:rPr sz="1700" b="1">
                <a:solidFill>
                  <a:srgbClr val="6B2A1A"/>
                </a:solidFill>
                <a:latin typeface="Malgun Gothic"/>
              </a:rPr>
              <a:t>Jev 내부</a:t>
            </a:r>
          </a:p>
        </p:txBody>
      </p:sp>
      <p:sp>
        <p:nvSpPr>
          <p:cNvPr id="8" name="TextBox 7"/>
          <p:cNvSpPr txBox="1"/>
          <p:nvPr/>
        </p:nvSpPr>
        <p:spPr>
          <a:xfrm>
            <a:off x="658368" y="1856231"/>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베이스·헤드·데이터 · output_tokens의 의미</a:t>
            </a:r>
          </a:p>
        </p:txBody>
      </p:sp>
      <p:sp>
        <p:nvSpPr>
          <p:cNvPr id="9" name="Rounded Rectangle 8"/>
          <p:cNvSpPr/>
          <p:nvPr/>
        </p:nvSpPr>
        <p:spPr>
          <a:xfrm>
            <a:off x="6172200" y="1325880"/>
            <a:ext cx="5440680" cy="1325880"/>
          </a:xfrm>
          <a:prstGeom prst="roundRect">
            <a:avLst>
              <a:gd name="adj" fmla="val 8000"/>
            </a:avLst>
          </a:prstGeom>
          <a:solidFill>
            <a:srgbClr val="FDF1EE"/>
          </a:solidFill>
          <a:ln w="15875">
            <a:solidFill>
              <a:srgbClr val="C06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81928" y="1399032"/>
            <a:ext cx="5221224" cy="457200"/>
          </a:xfrm>
          <a:prstGeom prst="rect">
            <a:avLst/>
          </a:prstGeom>
          <a:noFill/>
        </p:spPr>
        <p:txBody>
          <a:bodyPr wrap="square" anchor="t" lIns="45720" rIns="45720" tIns="27432" bIns="27432">
            <a:spAutoFit/>
          </a:bodyPr>
          <a:lstStyle/>
          <a:p>
            <a:pPr algn="l">
              <a:lnSpc>
                <a:spcPct val="110000"/>
              </a:lnSpc>
            </a:pPr>
            <a:r>
              <a:rPr sz="1700" b="1">
                <a:solidFill>
                  <a:srgbClr val="6B2A1A"/>
                </a:solidFill>
                <a:latin typeface="Malgun Gothic"/>
              </a:rPr>
              <a:t>OpenAI Decisions</a:t>
            </a:r>
          </a:p>
        </p:txBody>
      </p:sp>
      <p:sp>
        <p:nvSpPr>
          <p:cNvPr id="11" name="TextBox 10"/>
          <p:cNvSpPr txBox="1"/>
          <p:nvPr/>
        </p:nvSpPr>
        <p:spPr>
          <a:xfrm>
            <a:off x="6281928" y="1856231"/>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내부 방식 · ‘10배 빠름’의 벤치마크 · GA 시점</a:t>
            </a:r>
          </a:p>
        </p:txBody>
      </p:sp>
      <p:sp>
        <p:nvSpPr>
          <p:cNvPr id="12" name="Rounded Rectangle 11"/>
          <p:cNvSpPr/>
          <p:nvPr/>
        </p:nvSpPr>
        <p:spPr>
          <a:xfrm>
            <a:off x="548640" y="2834639"/>
            <a:ext cx="5440680" cy="13258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907791"/>
            <a:ext cx="522122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Microsoft-Decision-1</a:t>
            </a:r>
          </a:p>
        </p:txBody>
      </p:sp>
      <p:sp>
        <p:nvSpPr>
          <p:cNvPr id="14" name="TextBox 13"/>
          <p:cNvSpPr txBox="1"/>
          <p:nvPr/>
        </p:nvSpPr>
        <p:spPr>
          <a:xfrm>
            <a:off x="658368" y="3364991"/>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블로그 본문 미확인 · 프리뷰/GA 상충</a:t>
            </a:r>
          </a:p>
        </p:txBody>
      </p:sp>
      <p:sp>
        <p:nvSpPr>
          <p:cNvPr id="15" name="Rounded Rectangle 14"/>
          <p:cNvSpPr/>
          <p:nvPr/>
        </p:nvSpPr>
        <p:spPr>
          <a:xfrm>
            <a:off x="6172200" y="2834639"/>
            <a:ext cx="5440680" cy="13258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2907791"/>
            <a:ext cx="522122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Tev1 · Mercury</a:t>
            </a:r>
          </a:p>
        </p:txBody>
      </p:sp>
      <p:sp>
        <p:nvSpPr>
          <p:cNvPr id="17" name="TextBox 16"/>
          <p:cNvSpPr txBox="1"/>
          <p:nvPr/>
        </p:nvSpPr>
        <p:spPr>
          <a:xfrm>
            <a:off x="6281928" y="3364991"/>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1차 자료 미확인 · 아키텍처 비공개</a:t>
            </a:r>
          </a:p>
        </p:txBody>
      </p:sp>
      <p:sp>
        <p:nvSpPr>
          <p:cNvPr id="18" name="Rounded Rectangle 17"/>
          <p:cNvSpPr/>
          <p:nvPr/>
        </p:nvSpPr>
        <p:spPr>
          <a:xfrm>
            <a:off x="548640" y="4343400"/>
            <a:ext cx="5440680" cy="13258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16552"/>
            <a:ext cx="522122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LLM 교정 비교</a:t>
            </a:r>
          </a:p>
        </p:txBody>
      </p:sp>
      <p:sp>
        <p:nvSpPr>
          <p:cNvPr id="20" name="TextBox 19"/>
          <p:cNvSpPr txBox="1"/>
          <p:nvPr/>
        </p:nvSpPr>
        <p:spPr>
          <a:xfrm>
            <a:off x="658368" y="4873752"/>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AA 발표 시점 coming soon</a:t>
            </a:r>
          </a:p>
        </p:txBody>
      </p:sp>
      <p:sp>
        <p:nvSpPr>
          <p:cNvPr id="21" name="Rounded Rectangle 20"/>
          <p:cNvSpPr/>
          <p:nvPr/>
        </p:nvSpPr>
        <p:spPr>
          <a:xfrm>
            <a:off x="6172200" y="4343400"/>
            <a:ext cx="5440680" cy="1325880"/>
          </a:xfrm>
          <a:prstGeom prst="roundRect">
            <a:avLst>
              <a:gd name="adj" fmla="val 8000"/>
            </a:avLst>
          </a:prstGeom>
          <a:solidFill>
            <a:srgbClr val="EEF4FB"/>
          </a:solidFill>
          <a:ln w="15875">
            <a:solidFill>
              <a:srgbClr val="4A7F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1928" y="4416552"/>
            <a:ext cx="5221224" cy="457200"/>
          </a:xfrm>
          <a:prstGeom prst="rect">
            <a:avLst/>
          </a:prstGeom>
          <a:noFill/>
        </p:spPr>
        <p:txBody>
          <a:bodyPr wrap="square" anchor="t" lIns="45720" rIns="45720" tIns="27432" bIns="27432">
            <a:spAutoFit/>
          </a:bodyPr>
          <a:lstStyle/>
          <a:p>
            <a:pPr algn="l">
              <a:lnSpc>
                <a:spcPct val="110000"/>
              </a:lnSpc>
            </a:pPr>
            <a:r>
              <a:rPr sz="1700" b="1">
                <a:solidFill>
                  <a:srgbClr val="1F4E79"/>
                </a:solidFill>
                <a:latin typeface="Malgun Gothic"/>
              </a:rPr>
              <a:t>가격의 지속가능성</a:t>
            </a:r>
          </a:p>
        </p:txBody>
      </p:sp>
      <p:sp>
        <p:nvSpPr>
          <p:cNvPr id="23" name="TextBox 22"/>
          <p:cNvSpPr txBox="1"/>
          <p:nvPr/>
        </p:nvSpPr>
        <p:spPr>
          <a:xfrm>
            <a:off x="6281928" y="4873752"/>
            <a:ext cx="5221224" cy="731519"/>
          </a:xfrm>
          <a:prstGeom prst="rect">
            <a:avLst/>
          </a:prstGeom>
          <a:noFill/>
        </p:spPr>
        <p:txBody>
          <a:bodyPr wrap="square" anchor="t" lIns="45720" rIns="45720" tIns="27432" bIns="27432">
            <a:spAutoFit/>
          </a:bodyPr>
          <a:lstStyle/>
          <a:p>
            <a:pPr algn="l">
              <a:lnSpc>
                <a:spcPct val="110000"/>
              </a:lnSpc>
            </a:pPr>
            <a:r>
              <a:rPr sz="1400" b="0">
                <a:solidFill>
                  <a:srgbClr val="1B1F24"/>
                </a:solidFill>
                <a:latin typeface="Malgun Gothic"/>
              </a:rPr>
              <a:t>보조금 가능성 인정 · 한 달 새 단가 반토막</a:t>
            </a:r>
          </a:p>
        </p:txBody>
      </p:sp>
      <p:sp>
        <p:nvSpPr>
          <p:cNvPr id="24" name="TextBox 23"/>
          <p:cNvSpPr txBox="1"/>
          <p:nvPr/>
        </p:nvSpPr>
        <p:spPr>
          <a:xfrm>
            <a:off x="548640" y="5897880"/>
            <a:ext cx="10972800" cy="365760"/>
          </a:xfrm>
          <a:prstGeom prst="rect">
            <a:avLst/>
          </a:prstGeom>
          <a:noFill/>
        </p:spPr>
        <p:txBody>
          <a:bodyPr wrap="square" anchor="t" lIns="45720" rIns="45720" tIns="27432" bIns="27432">
            <a:spAutoFit/>
          </a:bodyPr>
          <a:lstStyle/>
          <a:p>
            <a:pPr algn="l">
              <a:lnSpc>
                <a:spcPct val="110000"/>
              </a:lnSpc>
            </a:pPr>
            <a:r>
              <a:rPr sz="1300" b="1">
                <a:solidFill>
                  <a:srgbClr val="C0634A"/>
                </a:solidFill>
                <a:latin typeface="Malgun Gothic"/>
              </a:rPr>
              <a:t>가장 큰 구조적 미지수: ‘출력 토큰 0’ 서술과 usage.output_tokens의 불일치를 벤더가 설명한 적이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263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822960"/>
          </a:xfrm>
          <a:prstGeom prst="rect">
            <a:avLst/>
          </a:prstGeom>
          <a:noFill/>
        </p:spPr>
        <p:txBody>
          <a:bodyPr wrap="square" anchor="t" lIns="45720" rIns="45720" tIns="27432" bIns="27432">
            <a:spAutoFit/>
          </a:bodyPr>
          <a:lstStyle/>
          <a:p>
            <a:pPr algn="l">
              <a:lnSpc>
                <a:spcPct val="110000"/>
              </a:lnSpc>
            </a:pPr>
            <a:r>
              <a:rPr sz="4000" b="1">
                <a:solidFill>
                  <a:srgbClr val="FFFFFF"/>
                </a:solidFill>
                <a:latin typeface="Malgun Gothic"/>
              </a:rPr>
              <a:t>정리 · Q&amp;A</a:t>
            </a:r>
          </a:p>
        </p:txBody>
      </p:sp>
      <p:sp>
        <p:nvSpPr>
          <p:cNvPr id="4" name="TextBox 3"/>
          <p:cNvSpPr txBox="1"/>
          <p:nvPr/>
        </p:nvSpPr>
        <p:spPr>
          <a:xfrm>
            <a:off x="822960" y="1828800"/>
            <a:ext cx="10607040" cy="640080"/>
          </a:xfrm>
          <a:prstGeom prst="rect">
            <a:avLst/>
          </a:prstGeom>
          <a:noFill/>
        </p:spPr>
        <p:txBody>
          <a:bodyPr wrap="square" anchor="t" lIns="45720" rIns="45720" tIns="27432" bIns="27432">
            <a:spAutoFit/>
          </a:bodyPr>
          <a:lstStyle/>
          <a:p>
            <a:pPr algn="l">
              <a:lnSpc>
                <a:spcPct val="110000"/>
              </a:lnSpc>
            </a:pPr>
            <a:r>
              <a:rPr sz="2000" b="0">
                <a:solidFill>
                  <a:srgbClr val="E6EDF5"/>
                </a:solidFill>
                <a:latin typeface="Malgun Gothic"/>
              </a:rPr>
              <a:t>•  계약: state + questions → probabilities · confidence. 호환 구현이 표준</a:t>
            </a:r>
          </a:p>
        </p:txBody>
      </p:sp>
      <p:sp>
        <p:nvSpPr>
          <p:cNvPr id="5" name="TextBox 4"/>
          <p:cNvSpPr txBox="1"/>
          <p:nvPr/>
        </p:nvSpPr>
        <p:spPr>
          <a:xfrm>
            <a:off x="822960" y="2606040"/>
            <a:ext cx="10607040" cy="640080"/>
          </a:xfrm>
          <a:prstGeom prst="rect">
            <a:avLst/>
          </a:prstGeom>
          <a:noFill/>
        </p:spPr>
        <p:txBody>
          <a:bodyPr wrap="square" anchor="t" lIns="45720" rIns="45720" tIns="27432" bIns="27432">
            <a:spAutoFit/>
          </a:bodyPr>
          <a:lstStyle/>
          <a:p>
            <a:pPr algn="l">
              <a:lnSpc>
                <a:spcPct val="110000"/>
              </a:lnSpc>
            </a:pPr>
            <a:r>
              <a:rPr sz="2000" b="0">
                <a:solidFill>
                  <a:srgbClr val="E6EDF5"/>
                </a:solidFill>
                <a:latin typeface="Malgun Gothic"/>
              </a:rPr>
              <a:t>•  실행: prefill 1회 + 판독. 단위와 방식은 벤더마다 다르다</a:t>
            </a:r>
          </a:p>
        </p:txBody>
      </p:sp>
      <p:sp>
        <p:nvSpPr>
          <p:cNvPr id="6" name="TextBox 5"/>
          <p:cNvSpPr txBox="1"/>
          <p:nvPr/>
        </p:nvSpPr>
        <p:spPr>
          <a:xfrm>
            <a:off x="822960" y="3383280"/>
            <a:ext cx="10607040" cy="640080"/>
          </a:xfrm>
          <a:prstGeom prst="rect">
            <a:avLst/>
          </a:prstGeom>
          <a:noFill/>
        </p:spPr>
        <p:txBody>
          <a:bodyPr wrap="square" anchor="t" lIns="45720" rIns="45720" tIns="27432" bIns="27432">
            <a:spAutoFit/>
          </a:bodyPr>
          <a:lstStyle/>
          <a:p>
            <a:pPr algn="l">
              <a:lnSpc>
                <a:spcPct val="110000"/>
              </a:lnSpc>
            </a:pPr>
            <a:r>
              <a:rPr sz="2000" b="0">
                <a:solidFill>
                  <a:srgbClr val="E6EDF5"/>
                </a:solidFill>
                <a:latin typeface="Malgun Gothic"/>
              </a:rPr>
              <a:t>•  약점: 선택지 순서(Runoff)와 과신(임계값은 자기 데이터로)</a:t>
            </a:r>
          </a:p>
        </p:txBody>
      </p:sp>
      <p:sp>
        <p:nvSpPr>
          <p:cNvPr id="7" name="TextBox 6"/>
          <p:cNvSpPr txBox="1"/>
          <p:nvPr/>
        </p:nvSpPr>
        <p:spPr>
          <a:xfrm>
            <a:off x="822960" y="4160520"/>
            <a:ext cx="10607040" cy="640080"/>
          </a:xfrm>
          <a:prstGeom prst="rect">
            <a:avLst/>
          </a:prstGeom>
          <a:noFill/>
        </p:spPr>
        <p:txBody>
          <a:bodyPr wrap="square" anchor="t" lIns="45720" rIns="45720" tIns="27432" bIns="27432">
            <a:spAutoFit/>
          </a:bodyPr>
          <a:lstStyle/>
          <a:p>
            <a:pPr algn="l">
              <a:lnSpc>
                <a:spcPct val="110000"/>
              </a:lnSpc>
            </a:pPr>
            <a:r>
              <a:rPr sz="2000" b="0">
                <a:solidFill>
                  <a:srgbClr val="E6EDF5"/>
                </a:solidFill>
                <a:latin typeface="Malgun Gothic"/>
              </a:rPr>
              <a:t>•  패턴: 싼 생성 → 결정 모델 검증 → 의심될 때만 비싼 모델</a:t>
            </a:r>
          </a:p>
        </p:txBody>
      </p:sp>
      <p:sp>
        <p:nvSpPr>
          <p:cNvPr id="8" name="TextBox 7"/>
          <p:cNvSpPr txBox="1"/>
          <p:nvPr/>
        </p:nvSpPr>
        <p:spPr>
          <a:xfrm>
            <a:off x="822960" y="4937760"/>
            <a:ext cx="10607040" cy="640080"/>
          </a:xfrm>
          <a:prstGeom prst="rect">
            <a:avLst/>
          </a:prstGeom>
          <a:noFill/>
        </p:spPr>
        <p:txBody>
          <a:bodyPr wrap="square" anchor="t" lIns="45720" rIns="45720" tIns="27432" bIns="27432">
            <a:spAutoFit/>
          </a:bodyPr>
          <a:lstStyle/>
          <a:p>
            <a:pPr algn="l">
              <a:lnSpc>
                <a:spcPct val="110000"/>
              </a:lnSpc>
            </a:pPr>
            <a:r>
              <a:rPr sz="2000" b="0">
                <a:solidFill>
                  <a:srgbClr val="E6EDF5"/>
                </a:solidFill>
                <a:latin typeface="Malgun Gothic"/>
              </a:rPr>
              <a:t>•  확인된 것과 집계된 것을 구분해서 읽자</a:t>
            </a:r>
          </a:p>
        </p:txBody>
      </p:sp>
      <p:sp>
        <p:nvSpPr>
          <p:cNvPr id="9" name="TextBox 8"/>
          <p:cNvSpPr txBox="1"/>
          <p:nvPr/>
        </p:nvSpPr>
        <p:spPr>
          <a:xfrm>
            <a:off x="822960" y="5943600"/>
            <a:ext cx="10058400" cy="457200"/>
          </a:xfrm>
          <a:prstGeom prst="rect">
            <a:avLst/>
          </a:prstGeom>
          <a:noFill/>
        </p:spPr>
        <p:txBody>
          <a:bodyPr wrap="square" anchor="t" lIns="45720" rIns="45720" tIns="27432" bIns="27432">
            <a:spAutoFit/>
          </a:bodyPr>
          <a:lstStyle/>
          <a:p>
            <a:pPr algn="l">
              <a:lnSpc>
                <a:spcPct val="110000"/>
              </a:lnSpc>
            </a:pPr>
            <a:r>
              <a:rPr sz="1400" b="0">
                <a:solidFill>
                  <a:srgbClr val="9FB6D0"/>
                </a:solidFill>
                <a:latin typeface="Malgun Gothic"/>
              </a:rPr>
              <a:t>자매 글: OpenIntelligentUI — Jev를 매 턴 렌더러 라우터로 쓰는 사례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