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기업 채택률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GitHub Actions</c:v>
                  </c:pt>
                  <c:pt idx="1">
                    <c:v>Jenkins</c:v>
                  </c:pt>
                  <c:pt idx="2">
                    <c:v>GitLab CI</c:v>
                  </c:pt>
                  <c:pt idx="3">
                    <c:v>기타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28</c:v>
                </c:pt>
                <c:pt idx="2">
                  <c:v>19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개인 프로젝트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GitHub Actions</c:v>
                  </c:pt>
                  <c:pt idx="1">
                    <c:v>Jenkins</c:v>
                  </c:pt>
                  <c:pt idx="2">
                    <c:v>GitLab CI</c:v>
                  </c:pt>
                  <c:pt idx="3">
                    <c:v>기타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</c:v>
                </c:pt>
                <c:pt idx="1">
                  <c:v>13</c:v>
                </c:pt>
                <c:pt idx="2">
                  <c:v>10</c:v>
                </c:pt>
                <c:pt idx="3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3D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7A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EF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DevOps 시장 규모 ($B)</c:v>
                </c:pt>
              </c:strCache>
            </c:strRef>
          </c:tx>
          <c:spPr>
            <a:solidFill>
              <a:srgbClr val="0A9396"/>
            </a:solidFill>
            <a:ln w="31750" cap="flat">
              <a:solidFill>
                <a:srgbClr val="0A93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A9396"/>
              </a:solidFill>
              <a:ln w="9525" cap="flat">
                <a:solidFill>
                  <a:srgbClr val="0A93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2026E</c:v>
                  </c:pt>
                  <c:pt idx="4">
                    <c:v>2027E</c:v>
                  </c:pt>
                  <c:pt idx="5">
                    <c:v>2028E</c:v>
                  </c:pt>
                  <c:pt idx="6">
                    <c:v>2029E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8.6</c:v>
                </c:pt>
                <c:pt idx="1">
                  <c:v>11.5</c:v>
                </c:pt>
                <c:pt idx="2">
                  <c:v>14.95</c:v>
                </c:pt>
                <c:pt idx="3">
                  <c:v>18.8</c:v>
                </c:pt>
                <c:pt idx="4">
                  <c:v>23.6</c:v>
                </c:pt>
                <c:pt idx="5">
                  <c:v>29.7</c:v>
                </c:pt>
                <c:pt idx="6">
                  <c:v>37.33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D2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233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D2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발표는 CI/CD의 핵심 개념을 입문자 관점에서 설명합니다. 개발 경험이 있으나 DevOps는 처음인 분들을 위한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발표의 전체 흐름입니다. 러너 부분(04)이 핵심 내용이며 가장 많은 시간을 할애할 예정입니다.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섹션에서는 CI/CD의 기본 개념과 필요성을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CI/CD 도입 전후의 차이를 직관적으로 보여주는 슬라이드입니다. '통합 지옥(Integration Hell)'은 브랜치를 오래 유지할수록 합칠 때 충돌이 기하급수적으로 늘어나는 현상입니다.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개념 모두 "CD"라고 불리지만 자동화 범위가 다릅니다. 대부분의 팀은 CI + 지속적 전달(Delivery)을 채택하며, 지속적 배포는 Netflix·Amazon 수준의 성숙한 팀이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파이프라인은 코드가 개발자 손에서 실제 서비스로 가는 자동화된 여정입니다. 각 단계에서 실패하면 파이프라인이 멈추고 담당자에게 알림이 전달됩니다.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섹션이 오늘 발표의 핵심입니다. 러너는 CI/CD에서 가장 오해가 많은 개념이기도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러너는 CI/CD 인프라의 실행 주체입니다. GitHub Actions의 경우, 깃허브 서버는 잡을 큐에 넣고, 러너가 그 잡을 가져가서 실행합니다.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롱폴링(Long Polling)은 서버가 클라이언트의 요청을 일정 시간 동안 열어두고, 새 데이터가 생기면 즉시 응답하는 방식입니다. GitHub 러너는 50초 간격으로 롱폴링을 반복하며 잡을 대기합니다. GitLab Runner는 기본 3초마다 폴링하며, 최근 롱폴링 방식도 지원합니다.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퍼블릭 저장소에 셀프 호스팅 러너를 사용할 때는 외부 PR이 내 서버에서 실행될 수 있으므로 보안에 주의해야 합니다. 프라이빗 저장소에서는 안전합니다.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ARC는 대규모 CI 환경에서 러너를 효율적으로 관리하는 Kubernetes Operator입니다. ephemeral(일회용) 러너를 사용하므로 잡 간 환경 오염 문제가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CI/CD 시장의 주요 도구들과 각각의 강점, 적합한 사용 상황을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Actions가 개인 프로젝트와 기업 모두에서 1위를 차지하고 있습니다. Jenkins는 레거시 인프라 의존도로 인해 기업 채택률이 여전히 높습니다.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도구의 강점은 명확히 구분됩니다. 처음 시작한다면 GitHub Actions를 권장합니다. Buildkite는 보안과 대규모 운영이 중요한 금융·의료 업계에서 특히 선호됩니다.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GitHub Actions 워크플로 YAML 예제와 실무에서 바로 적용할 수 있는 모범 사례를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YAML 워크플로는 선언적(declarative) 방식으로 파이프라인을 정의합니다. 잡(job)은 병렬 실행, 스텝(step)은 순차 실행이 기본값입니다. needs 키워드로 잡 간 의존성을 설정할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매트릭스 빌드는 오픈소스 라이브러리 개발에서 특히 유용합니다. 설정 한 줄로 여러 환경 조합의 테스트를 자동화할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모범 사례는 보안입니다. 2025년 공급망 공격 사례처럼, 액션을 태그로 고정하면 해킹당한 태그 버전이 배포될 수 있습니다. 커밋 SHA를 사용하면 코드 불변성이 보장됩니다.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Netflix, Google은 카나리 배포를 표준으로 사용합니다. 소규모 팀은 블루-그린으로 시작하는 것이 구현이 단순합니다. 두 전략 모두 배포 실패 시 롤백 계획이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CI/CD 분야는 AI와 보안을 중심으로 빠르게 진화하고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기반 CI/CD는 아직 초기 단계이지만, GitHub Copilot의 CI 통합, JetBrains AI Assistant의 파이프라인 최적화 제안 등 실용적인 도구들이 이미 등장하고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2025년에 실제로 발생한 사건: 타사 GitHub 액션 저장소가 해킹되어 태그 기반 액션을 사용하는 수백 개 저장소가 악성 코드를 실행했습니다. 커밋 SHA 고정이 이를 방지할 수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CI/CD 도입의 핵심은 완벽한 설정이 아니라 시작하는 것입니다. 간단한 테스트 자동화부터 시작해서 점진적으로 배포 자동화까지 확장하는 접근을 권장합니다.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발표를 마칩니다. CI/CD 도입 시 가장 자주 받는 질문: "어디서부터 시작해야 하나요?" — 답은 GitHub Actions의 가장 단순한 테스트 워크플로 하나를 만들어보는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A9396">
              <a:alpha val="4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완전 정복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1148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4D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러너(Runner)부터 배포 전략까지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개발자를 위한 친절한 입문 가이드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7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6월 13일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4754880"/>
            <a:ext cx="3200400" cy="3886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4754880"/>
            <a:ext cx="3200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Research Pipeline ·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CI/CD란 무엇인가?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9202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vs CD: 세 가지 개념 구분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788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파이프라인의 구조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57600"/>
            <a:ext cx="502920" cy="548640"/>
          </a:xfrm>
          <a:prstGeom prst="rect">
            <a:avLst/>
          </a:prstGeom>
          <a:solidFill>
            <a:srgbClr val="0A939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러너(Runner) 완전 해부 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051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49240" y="1097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도구 비교 (2025~2026)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92024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19202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492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 YAML 예제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278892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2788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모범 사례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365760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4924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트렌드 &amp; 미래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26280" y="1005840"/>
            <a:ext cx="45720" cy="3840480"/>
          </a:xfrm>
          <a:prstGeom prst="rect">
            <a:avLst/>
          </a:prstGeom>
          <a:solidFill>
            <a:srgbClr val="D0E0EC"/>
          </a:solidFill>
          <a:ln w="12700">
            <a:solidFill>
              <a:srgbClr val="D0E0E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A9396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50292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기초 개념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D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필요하고, 무엇이 달라지는가?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없는 세상 vs. 있는 세상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393192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|  CI/CD 없음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날 = 팀 전체 공포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 PC에서는 됐는데..."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브랜치 합치기 = 지옥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테스트 = 시간 낭비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롤백? 밤새 작업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914400"/>
            <a:ext cx="3931920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 |  CI/CD 도입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4630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하면 자동으로 테스트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발생 즉시 알림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수십 번 안전하게 배포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전체가 동일 기준 적용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원클릭 롤백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0248" y="2331720"/>
            <a:ext cx="59436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3317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 55%가 CI/CD 도구를 정기적으로 사용 중 (JetBrains State of Developer Ecosystem, 2025)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/ 지속적 전달 / 지속적 배포 — 무엇이 다른가?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지속적 통합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93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자주 합치기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빌드 &amp; 테스트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28416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지옥 방지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4251960"/>
            <a:ext cx="2468880" cy="347472"/>
          </a:xfrm>
          <a:prstGeom prst="rect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251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범위: 소스 → 테스트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868680"/>
            <a:ext cx="27432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868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지속적 전달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29000" y="2011680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1993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언제든 배포 가능 상태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2670048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패키징 자동화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29000" y="3328416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배포: 수동 버튼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83280" y="4251960"/>
            <a:ext cx="2468880" cy="347472"/>
          </a:xfrm>
          <a:prstGeom prst="rect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251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범위: 소스 → 패키징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868680"/>
            <a:ext cx="2743200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868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지속적 배포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2011680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1993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통과 → 즉시 배포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2670048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자동화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3328416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촘촘한 테스트 필수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5080" y="4251960"/>
            <a:ext cx="2468880" cy="347472"/>
          </a:xfrm>
          <a:prstGeom prst="rect">
            <a:avLst/>
          </a:prstGeom>
          <a:solidFill>
            <a:srgbClr val="2A9D8F">
              <a:alpha val="20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251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범위: 소스 → 프로덕션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35808" y="2103120"/>
            <a:ext cx="164592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08376" y="21031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007608" y="2103120"/>
            <a:ext cx="164592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0176" y="21031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파이프라인 — 4단계 흐름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92024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7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/ PR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58568" y="2057400"/>
            <a:ext cx="18288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03704" y="20116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60120"/>
            <a:ext cx="19202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6888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7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컴파일 / 이미지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07408" y="2057400"/>
            <a:ext cx="18288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52544" y="20116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17720" y="9601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960120"/>
            <a:ext cx="192024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1772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0916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7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56248" y="2057400"/>
            <a:ext cx="18288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1384" y="20116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766560" y="9601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960120"/>
            <a:ext cx="192024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656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7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스테이징 → 프로덕션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703320"/>
            <a:ext cx="850392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822192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794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소스: git push / PR이 트리거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24328" y="3822192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52928" y="3794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빌드: 의존성 설치, 컴파일, 도커 이미지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45736" y="3822192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3794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테스트: 단위·통합·성능 테스트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67144" y="3822192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95744" y="3794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배포: 스테이징 → 승인 → 프로덕션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4D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단계 실패 시 → 파이프라인 중단 &amp; 담당자 알림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A9396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50292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러너(Runner) 완전 해부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D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누가 코드를 실행하는가?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러너(Runner)란 무엇인가?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러너 = 파이프라인의 각 잡(Job)을 실제로 실행하는 에이전트(프로그램)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3886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74520"/>
            <a:ext cx="109728" cy="1371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38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GitHub/GitLab 서버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업무를 배분하는 사무실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잡을 큐에 넣고 러너에게 알림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874520"/>
            <a:ext cx="3886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874520"/>
            <a:ext cx="109728" cy="13716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938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러너 (Runner)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6360" y="2331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업무를 받아서 실제로 처리하는 직원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잡을 가져가 명령어를 실행하고 결과를 보고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24528" y="2194560"/>
            <a:ext cx="69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004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대표적인 러너 종류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3822192"/>
            <a:ext cx="3931920" cy="411480"/>
          </a:xfrm>
          <a:prstGeom prst="rect">
            <a:avLst/>
          </a:prstGeom>
          <a:solidFill>
            <a:srgbClr val="24292E">
              <a:alpha val="15000"/>
            </a:srgbClr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221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GitHub-Hosted Runner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3822192"/>
            <a:ext cx="3931920" cy="411480"/>
          </a:xfrm>
          <a:prstGeom prst="rect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8221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Runner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370832"/>
            <a:ext cx="3931920" cy="411480"/>
          </a:xfrm>
          <a:prstGeom prst="rect">
            <a:avLst/>
          </a:prstGeom>
          <a:solidFill>
            <a:srgbClr val="FC6D26">
              <a:alpha val="15000"/>
            </a:srgbClr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70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6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Runner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4370832"/>
            <a:ext cx="3931920" cy="411480"/>
          </a:xfrm>
          <a:prstGeom prst="rect">
            <a:avLst/>
          </a:prstGeom>
          <a:solidFill>
            <a:srgbClr val="14CC80">
              <a:alpha val="15000"/>
            </a:srgbClr>
          </a:solidFill>
          <a:ln w="12700">
            <a:solidFill>
              <a:srgbClr val="14CC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370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C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Buildkite Agent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잡을 가져가는가? — 롱폴링(Long Polling)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9875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러너 시작 → GitHub에 인증 &amp; 등록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91440" cy="411480"/>
          </a:xfrm>
          <a:prstGeom prst="rect">
            <a:avLst/>
          </a:prstGeom>
          <a:solidFill>
            <a:srgbClr val="446677"/>
          </a:solidFill>
          <a:ln w="12700">
            <a:solidFill>
              <a:srgbClr val="4466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96596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9476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롱폴링 요청 전송 "잡 있어요?"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91440" cy="411480"/>
          </a:xfrm>
          <a:prstGeom prst="rect">
            <a:avLst/>
          </a:prstGeom>
          <a:solidFill>
            <a:srgbClr val="446677"/>
          </a:solidFill>
          <a:ln w="12700">
            <a:solidFill>
              <a:srgbClr val="4466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9260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9077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서버: 최대 50초 대기 (HTTP 연결 유지)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91440" cy="411480"/>
          </a:xfrm>
          <a:prstGeom prst="rect">
            <a:avLst/>
          </a:prstGeom>
          <a:solidFill>
            <a:srgbClr val="446677"/>
          </a:solidFill>
          <a:ln w="12700">
            <a:solidFill>
              <a:srgbClr val="4466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886200"/>
            <a:ext cx="457200" cy="457200"/>
          </a:xfrm>
          <a:prstGeom prst="ellipse">
            <a:avLst/>
          </a:prstGeom>
          <a:solidFill>
            <a:srgbClr val="557A95"/>
          </a:solidFill>
          <a:ln w="12700">
            <a:solidFill>
              <a:srgbClr val="557A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8679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잡 없음 → HTTP 202 → 다시 폴링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9875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잡 생김 → RunnerJobRequest 수신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1463040"/>
            <a:ext cx="91440" cy="411480"/>
          </a:xfrm>
          <a:prstGeom prst="rect">
            <a:avLst/>
          </a:prstGeom>
          <a:solidFill>
            <a:srgbClr val="446677"/>
          </a:solidFill>
          <a:ln w="12700">
            <a:solidFill>
              <a:srgbClr val="4466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9659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19476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2분 내 잡 획득(Acquire) 완료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2423160"/>
            <a:ext cx="91440" cy="411480"/>
          </a:xfrm>
          <a:prstGeom prst="rect">
            <a:avLst/>
          </a:prstGeom>
          <a:solidFill>
            <a:srgbClr val="446677"/>
          </a:solidFill>
          <a:ln w="12700">
            <a:solidFill>
              <a:srgbClr val="4466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26080"/>
            <a:ext cx="457200" cy="45720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29077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60초마다 Lock 갱신 (하트비트)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3383280"/>
            <a:ext cx="91440" cy="411480"/>
          </a:xfrm>
          <a:prstGeom prst="rect">
            <a:avLst/>
          </a:prstGeom>
          <a:solidFill>
            <a:srgbClr val="446677"/>
          </a:solidFill>
          <a:ln w="12700">
            <a:solidFill>
              <a:srgbClr val="4466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886200"/>
            <a:ext cx="457200" cy="45720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38679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프로세스 생성 → 실제 실행!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D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server will hold the request open for up to 50 seconds waiting for a new job." — Depot, GitHub Actions Runner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GitHub-Hosted vs Self-Hosted Runner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36576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GitHub-Hosted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Self-Hosted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초기 설정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즉시 사용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직접 설치 필요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유지관리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GitHub 담당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직접 담당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비용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분당 과금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서버 고정비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내부망 접근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</a:rPr>
                        <a:t>불가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</a:rPr>
                        <a:t>가능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특수 하드웨어 (GPU 등)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</a:rPr>
                        <a:t>제한적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</a:rPr>
                        <a:t>자유롭게 가능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보안 격리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완벽 (잡마다 새 VM)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직접 관리 필요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3D5A"/>
                          </a:solidFill>
                        </a:rPr>
                        <a:t>빌드 시간 제한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</a:rPr>
                        <a:t>있음 (Free: 2,000분/월)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</a:rPr>
                        <a:t>없음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0A9396">
              <a:alpha val="9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권장: 소규모/초기 → GitHub-Hosted 시작  |  대용량/내부망/GPU → Self-Hosted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Runner Controller (ARC) — 쿠버네티스 자동 스케일링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D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쿠버네티스 위에서 GitHub Actions 러너를 자동으로 스케일링하는 오퍼레이터(Operator)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192024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075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Listener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롱폴링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유지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58568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16002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600200"/>
            <a:ext cx="19202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075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잡 감지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25786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API로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Pod 생성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07408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7720" y="16002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600200"/>
            <a:ext cx="192024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2075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잡 완료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25786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자동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삭제 &amp; 정리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56248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66560" y="16002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600200"/>
            <a:ext cx="192024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2075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유휴 상태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25786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러너 0개로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스케일다운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ARC의 핵심 장점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0040" y="4206240"/>
            <a:ext cx="182880" cy="1828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효율: 필요할 때만 러너 생성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0040" y="4480560"/>
            <a:ext cx="182880" cy="1828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청결: 잡마다 새 컨테이너 = 오염 없음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4754880"/>
            <a:ext cx="182880" cy="1828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736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자동화: Kubernetes 네이티브 관리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A9396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50292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도구 비교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D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2025~2026 시장 현황과 선택 기준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도구 시장 점유율 (2025 기준)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6868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68680"/>
            <a:ext cx="2971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868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086600" y="960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개발자가 CI/CD 정기 사용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2011680"/>
            <a:ext cx="2971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2011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08660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기업이 2개 이상 도구 병행 사용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3154680"/>
            <a:ext cx="2971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3154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708660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기업이 아직 CI/CD 미도입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7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JetBrains State of Developer Ecosystem Report 2025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도구가 나에게 맞는가?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411480"/>
          </a:xfrm>
          <a:prstGeom prst="rect">
            <a:avLst/>
          </a:prstGeom>
          <a:solidFill>
            <a:srgbClr val="24292E">
              <a:alpha val="95000"/>
            </a:srgbClr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57400" y="1371600"/>
            <a:ext cx="868680" cy="256032"/>
          </a:xfrm>
          <a:prstGeom prst="rect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371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선택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344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통합 • 10,000+ 마켓플레이스 액션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856232"/>
            <a:ext cx="2560320" cy="18288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47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GitHub 사용 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8686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68680"/>
            <a:ext cx="2743200" cy="411480"/>
          </a:xfrm>
          <a:prstGeom prst="rect">
            <a:avLst/>
          </a:prstGeom>
          <a:solidFill>
            <a:srgbClr val="FC6D26">
              <a:alpha val="95000"/>
            </a:srgbClr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868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CI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868680" cy="256032"/>
          </a:xfrm>
          <a:prstGeom prst="rect">
            <a:avLst/>
          </a:prstGeom>
          <a:solidFill>
            <a:srgbClr val="FC6D26">
              <a:alpha val="20000"/>
            </a:srgbClr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371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6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올인원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1344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레지스트리 내장 • 보안 스캔 • 프로젝트 관리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856232"/>
            <a:ext cx="2560320" cy="18288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947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6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GitLab 전체 사이클 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8686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868680"/>
            <a:ext cx="2743200" cy="411480"/>
          </a:xfrm>
          <a:prstGeom prst="rect">
            <a:avLst/>
          </a:prstGeom>
          <a:solidFill>
            <a:srgbClr val="335061">
              <a:alpha val="95000"/>
            </a:srgbClr>
          </a:solidFill>
          <a:ln w="12700">
            <a:solidFill>
              <a:srgbClr val="3350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868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18120" y="1371600"/>
            <a:ext cx="868680" cy="256032"/>
          </a:xfrm>
          <a:prstGeom prst="rect">
            <a:avLst/>
          </a:prstGeom>
          <a:solidFill>
            <a:srgbClr val="335061">
              <a:alpha val="20000"/>
            </a:srgbClr>
          </a:solidFill>
          <a:ln w="12700">
            <a:solidFill>
              <a:srgbClr val="3350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1371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5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커스터마이징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1344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오픈소스 • 수천 플러그인 • 레거시 통합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856232"/>
            <a:ext cx="2560320" cy="18288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947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5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복잡한 레거시 시스템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06324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063240"/>
            <a:ext cx="4069080" cy="411480"/>
          </a:xfrm>
          <a:prstGeom prst="rect">
            <a:avLst/>
          </a:prstGeom>
          <a:solidFill>
            <a:srgbClr val="343434">
              <a:alpha val="95000"/>
            </a:srgbClr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0632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CircleCI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83280" y="3566160"/>
            <a:ext cx="868680" cy="256032"/>
          </a:xfrm>
          <a:prstGeom prst="rect">
            <a:avLst/>
          </a:prstGeom>
          <a:solidFill>
            <a:srgbClr val="2A9D8F">
              <a:alpha val="20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5661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 집중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35387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Docker/VM/ARM • SSH 디버깅 지원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4050792"/>
            <a:ext cx="3886200" cy="18288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1422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멀티 플랫폼 혼용 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0" y="306324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063240"/>
            <a:ext cx="4069080" cy="411480"/>
          </a:xfrm>
          <a:prstGeom prst="rect">
            <a:avLst/>
          </a:prstGeom>
          <a:solidFill>
            <a:srgbClr val="14CC80">
              <a:alpha val="95000"/>
            </a:srgbClr>
          </a:solidFill>
          <a:ln w="12700">
            <a:solidFill>
              <a:srgbClr val="14CC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0632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Buildkite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635240" y="3566160"/>
            <a:ext cx="868680" cy="256032"/>
          </a:xfrm>
          <a:prstGeom prst="rect">
            <a:avLst/>
          </a:prstGeom>
          <a:solidFill>
            <a:srgbClr val="14CC80">
              <a:alpha val="20000"/>
            </a:srgbClr>
          </a:solidFill>
          <a:ln w="12700">
            <a:solidFill>
              <a:srgbClr val="14CC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35240" y="35661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C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대규모·보안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63440" y="35387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모델 • 10만 병렬 잡 처리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050792"/>
            <a:ext cx="3886200" cy="18288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1422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C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50인+ 대조직, 보안 우선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A9396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50292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예제와 모범 사례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D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워크플로 구성과 핵심 팁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YAML — 핵심 구조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937760" cy="4023360"/>
          </a:xfrm>
          <a:prstGeom prst="rect">
            <a:avLst/>
          </a:prstGeom>
          <a:solidFill>
            <a:srgbClr val="0F1117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.github/workflows/ci.yml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16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72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282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[push, pull_request]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523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build-test: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008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264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776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actions/checkout@v4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0325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2885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pytest tests/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40680" y="1316736"/>
            <a:ext cx="54864" cy="219456"/>
          </a:xfrm>
          <a:prstGeom prst="rect">
            <a:avLst/>
          </a:prstGeom>
          <a:solidFill>
            <a:srgbClr val="9CDCFE"/>
          </a:solidFill>
          <a:ln w="12700">
            <a:solidFill>
              <a:srgbClr val="9CDC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2984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2984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워크플로 이름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40680" y="2084832"/>
            <a:ext cx="54864" cy="21945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066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2066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트리거 이벤트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2596896"/>
            <a:ext cx="54864" cy="21945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578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2578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병렬 실행 단위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40680" y="2852928"/>
            <a:ext cx="54864" cy="21945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runs-on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2834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러너 선택 핵심!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3108960"/>
            <a:ext cx="54864" cy="2194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3090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순차 실행 단계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0680" y="3364992"/>
            <a:ext cx="54864" cy="219456"/>
          </a:xfrm>
          <a:prstGeom prst="rect">
            <a:avLst/>
          </a:prstGeom>
          <a:solidFill>
            <a:srgbClr val="9CDCFE"/>
          </a:solidFill>
          <a:ln w="12700">
            <a:solidFill>
              <a:srgbClr val="9CDC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3346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29400" y="3346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마켓플레이스 액션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40680" y="3621024"/>
            <a:ext cx="54864" cy="219456"/>
          </a:xfrm>
          <a:prstGeom prst="rect">
            <a:avLst/>
          </a:prstGeom>
          <a:solidFill>
            <a:srgbClr val="9CDCFE"/>
          </a:solidFill>
          <a:ln w="12700">
            <a:solidFill>
              <a:srgbClr val="9CDC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602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29400" y="3602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직접 명령 실행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매트릭스 빌드 — 설정 하나로 N×M 잡 자동 생성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978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matrix: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ubuntu-latest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macos-latest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python: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86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'3.10'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24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'3.11'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62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'3.12'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86868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2 OS × 3 Python = 6개 잡 동시 실행!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463040"/>
            <a:ext cx="1097280" cy="502920"/>
          </a:xfrm>
          <a:prstGeom prst="rect">
            <a:avLst/>
          </a:prstGeom>
          <a:solidFill>
            <a:srgbClr val="0A9396">
              <a:alpha val="8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1097280" cy="502920"/>
          </a:xfrm>
          <a:prstGeom prst="rect">
            <a:avLst/>
          </a:prstGeom>
          <a:solidFill>
            <a:srgbClr val="0A9396">
              <a:alpha val="8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1463040"/>
            <a:ext cx="1097280" cy="502920"/>
          </a:xfrm>
          <a:prstGeom prst="rect">
            <a:avLst/>
          </a:prstGeom>
          <a:solidFill>
            <a:srgbClr val="0A9396">
              <a:alpha val="8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148840"/>
            <a:ext cx="1097280" cy="502920"/>
          </a:xfrm>
          <a:prstGeom prst="rect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148840"/>
            <a:ext cx="1097280" cy="502920"/>
          </a:xfrm>
          <a:prstGeom prst="rect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69480" y="2148840"/>
            <a:ext cx="1097280" cy="502920"/>
          </a:xfrm>
          <a:prstGeom prst="rect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시나리오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" y="374904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OS 호환성 검증 (Windows / macOS / Linux)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언어·프레임워크 버전 지원 테스트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DB 버전 통합 테스트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fail-fast: false → 하나 실패해도 나머지 잡은 계속 실행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모범 사례 5가지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548640" cy="1600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캐싱 활용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90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pip/npm 캐시로 빌드 시간 50% 단축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9611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96112"/>
            <a:ext cx="548640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961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인증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490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Key 대신 임시 토큰 — 시크릿 노출 위험 제거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89611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96112"/>
            <a:ext cx="548640" cy="1600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8961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액션 버전 SHA 고정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1490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태그(@v4) 대신 커밋 SHA — 공급망 공격 방지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770632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70632"/>
            <a:ext cx="548640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706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게이트 분리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3649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→ (수동 승인) → production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770632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770632"/>
            <a:ext cx="548640" cy="16002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7706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테스트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33649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독립적 테스트를 병렬 잡으로 분리해 속도 향상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E76F51">
              <a:alpha val="8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보안 TIP: YAML 파일에 시크릿 직접 입력 절대 금지!  올바른 방법 → ${{ secrets.MY_KEY }}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전략 — 위험을 최소화하는 방법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605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블루-그린 배포 (Blue-Green)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463040"/>
            <a:ext cx="1097280" cy="411480"/>
          </a:xfrm>
          <a:prstGeom prst="rect">
            <a:avLst/>
          </a:prstGeom>
          <a:solidFill>
            <a:srgbClr val="38A3A5"/>
          </a:solidFill>
          <a:ln w="12700">
            <a:solidFill>
              <a:srgbClr val="38A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63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로드밸런서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097280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그린 v1.0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중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2194560"/>
            <a:ext cx="10972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 v1.1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대기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1874520"/>
            <a:ext cx="27432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1874520"/>
            <a:ext cx="27432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34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장점: </a:t>
            </a:r>
            <a:pPr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롤백, 단순 구조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단점: </a:t>
            </a:r>
            <a:pPr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비용 2배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7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트래픽 전환 → 문제 시 즉시 롤백 가능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86868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68680"/>
            <a:ext cx="4160520" cy="4572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68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카나리 배포 (Canary)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4630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30952" y="1517904"/>
            <a:ext cx="411480" cy="2286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463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7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 시작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9385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30952" y="1993392"/>
            <a:ext cx="822960" cy="2286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938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7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 확장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41401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30952" y="2468880"/>
            <a:ext cx="13716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4140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7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절반 전환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28895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30952" y="2944368"/>
            <a:ext cx="2468880" cy="228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28895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7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전환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4015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장점: </a:t>
            </a:r>
            <a:pPr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낮은 위험, 실사용자 검증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단점: </a:t>
            </a:r>
            <a:pPr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설정, 촘촘한 모니터링 필요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A9396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50292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2025~2026 최신 트렌드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D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보안, 그리고 CI/CD의 미래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CI/CD를 바꾸고 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우선순위 결정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ML이 과거 실패 패턴 학습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고위험 테스트만 선택 실행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효과: 빌드 시간 40% 단축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68680"/>
            <a:ext cx="2743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868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 치유 파이프라인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빌드 실패 자동 분석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원인 파악 → 수정 시도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개입 없이 복구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8686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68680"/>
            <a:ext cx="274320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868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예측적 리소스 할당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46304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빌드 부하 예측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러너 미리 스케일업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낭비 방지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20040" y="4251960"/>
          <a:ext cx="850392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소프트웨어 공급망 보안 — 2025년 핵심 이슈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1234440"/>
          </a:xfrm>
          <a:prstGeom prst="rect">
            <a:avLst/>
          </a:prstGeom>
          <a:solidFill>
            <a:srgbClr val="15203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 공격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전년 대비 증가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651760" cy="1234440"/>
          </a:xfrm>
          <a:prstGeom prst="rect">
            <a:avLst/>
          </a:prstGeom>
          <a:solidFill>
            <a:srgbClr val="152030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868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4612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기업이 서드파티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소프트웨어 사고 경험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868680"/>
            <a:ext cx="2651760" cy="1234440"/>
          </a:xfrm>
          <a:prstGeom prst="rect">
            <a:avLst/>
          </a:prstGeom>
          <a:solidFill>
            <a:srgbClr val="152030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868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7220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글로벌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피해 규모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2651760" cy="2514600"/>
          </a:xfrm>
          <a:prstGeom prst="rect">
            <a:avLst/>
          </a:prstGeom>
          <a:solidFill>
            <a:srgbClr val="0D1F2D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86000"/>
            <a:ext cx="91440" cy="25146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9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SLSA 프레임워크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90779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개발 • 빌드 무결성 보증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레벨 1~3 단계적 적용 (v1.1 안정)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286000"/>
            <a:ext cx="2651760" cy="2514600"/>
          </a:xfrm>
          <a:prstGeom prst="rect">
            <a:avLst/>
          </a:prstGeom>
          <a:solidFill>
            <a:srgbClr val="0D1F2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2286000"/>
            <a:ext cx="91440" cy="251460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4D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Sigstore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290779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Foundation 관리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Cosign · Fulcio · Rekor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없는 OIDC 기반 서명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2286000"/>
            <a:ext cx="2651760" cy="2514600"/>
          </a:xfrm>
          <a:prstGeom prst="rect">
            <a:avLst/>
          </a:prstGeom>
          <a:solidFill>
            <a:srgbClr val="0D1F2D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2286000"/>
            <a:ext cx="91440" cy="2514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 고정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90779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태그(@v4) → 커밋 SHA 고정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공급망 공격 방어 핵심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정리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9875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= 코드 → 프로덕션 자동화 파이프라인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57200" cy="457200"/>
          </a:xfrm>
          <a:prstGeom prst="ellipse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7190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러너 = 잡을 실행하는 에이전트 (롱폴링으로 잡 수신)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450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GitHub-Hosted = 쉬움 / Self-Hosted = 제어권·비용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1821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시작은 GitHub Actions + GitHub-Hosted Runner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457200" cy="45720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9136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최우선: OIDC + SHA 고정 + 시크릿 관리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D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단계: GitOps (ArgoCD / Flux)  |  Kubernetes 기반 CD  |  SLSA 프레임워크 도입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A9396">
              <a:alpha val="2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50292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4D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질문과 토론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2743200" cy="548640"/>
          </a:xfrm>
          <a:prstGeom prst="rect">
            <a:avLst/>
          </a:prstGeom>
          <a:solidFill>
            <a:srgbClr val="0A9396">
              <a:alpha val="9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Research Pipeline · 2026.06.13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완전 정복</dc:title>
  <dc:subject>PptxGenJS Presentation</dc:subject>
  <dc:creator>Auto Research Pipeline</dc:creator>
  <cp:lastModifiedBy>Auto Research Pipeline</cp:lastModifiedBy>
  <cp:revision>1</cp:revision>
  <dcterms:created xsi:type="dcterms:W3CDTF">2026-06-12T22:36:48Z</dcterms:created>
  <dcterms:modified xsi:type="dcterms:W3CDTF">2026-06-12T22:36:48Z</dcterms:modified>
</cp:coreProperties>
</file>