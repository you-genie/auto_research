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75569"/>
                </a:solidFill>
                <a:latin typeface="Arial"/>
              </a:rPr>
              <a:t>프런티어 모델 최고 점수 (%, 2025 기준)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점수 범위 (최고)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ARC-Easy</c:v>
                  </c:pt>
                  <c:pt idx="1">
                    <c:v>LAMBADA</c:v>
                  </c:pt>
                  <c:pt idx="2">
                    <c:v>HellaSwag</c:v>
                  </c:pt>
                  <c:pt idx="3">
                    <c:v>GSM8K</c:v>
                  </c:pt>
                  <c:pt idx="4">
                    <c:v>WinoGrande</c:v>
                  </c:pt>
                  <c:pt idx="5">
                    <c:v>MMLU</c:v>
                  </c:pt>
                  <c:pt idx="6">
                    <c:v>BBH</c:v>
                  </c:pt>
                  <c:pt idx="7">
                    <c:v>GPQA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</c:v>
                </c:pt>
                <c:pt idx="1">
                  <c:v>94</c:v>
                </c:pt>
                <c:pt idx="2">
                  <c:v>92</c:v>
                </c:pt>
                <c:pt idx="3">
                  <c:v>95</c:v>
                </c:pt>
                <c:pt idx="4">
                  <c:v>88</c:v>
                </c:pt>
                <c:pt idx="5">
                  <c:v>89</c:v>
                </c:pt>
                <c:pt idx="6">
                  <c:v>87</c:v>
                </c:pt>
                <c:pt idx="7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커버 슬라이드입니다. GPT-1부터 시작해 최신 DeepSeek-V3, Qwen2.5, Gemma 3까지 주요 PLM 논문들의 평가 방법론을 비교 분석합니다.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목차입니다. 평가 방법론의 역사적 흐름부터 각 모델별 구체적 평가 전략, 그리고 현재의 문제점과 실용적 가이드라인까지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1: 평가 방법론의 시대적 진화를 다루는 섹션입니다.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2018년 GPT-1부터 2024년 현재까지 PLM 평가 방식은 크게 4단계로 발전해왔습니다. 첫 번째는 perplexity와 fine-tuning 기반 평가, 두 번째는 GPT-3가 촉발한 in-context learning 패러다임, 세 번째는 MMLU 등 통합 벤치마크 표준화, 네 번째는 데이터 오염 문제에 대응하는 역동적 평가 흐름입니다.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GPT-1은 현재의 평가 방식과 근본적으로 다릅니다. Base model 자체를 평가하지 않고, 각 downstream task마다 별도로 fine-tuning한 뒤 성능을 측정합니다. GLUE 72.8점으로 ELMo 대비 크게 앞서며 전이학습의 효용성을 증명했습니다.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GPT-2의 핵심 기여는 fine-tuning 없는 zero-shot 평가를 처음으로 본격화한 점입니다. LAMBADA에서 정확도가 19%에서 52.66%로 치솟은 것이 당시 가장 큰 화제였습니다.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GPT-3 논문은 PLM 평가의 대전환점입니다. Zero-shot, 1-shot, few-shot 세 가지 설정으로 모든 벤치마크를 평가하는 방식이 이후 표준이 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InstructGPT는 PLM 평가 역사에서 특별합니다. 처음으로 base model 평가와 RLHF 모델 평가를 명시적으로 분리하고, human preference를 주요 지표로 삼았습니다. 1.3B 모델이 175B 모델보다 선호됐다는 결과는 크기가 전부가 아님을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Qwen은 Qwen2에서 평가를 크게 체계화했습니다. 4개 카테고리(언어이해·추론·코딩·수학)로 명확히 구분하고, 중국어 벤치마크 C-Eval, CMMLU는 시리즈 전체에서 일관되게 포함됩니다.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DeepSeek-V3는 base model 평가에서 가장 체계적인 접근을 보여줍니다. 특히 BPB(Bits-Per-Byte)를 Pile-test에서 직접 보고하는 점이 특징인데, 이는 사전학습 품질의 직접 지표입니다.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DeepSeek-V3 base model은 영어와 중국어 벤치마크 모두에서 동급 오픈소스 모델 최고 성능을 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3는 pre-trained 모델은 few-shot으로, instruction-tuned 모델은 zero-shot으로 평가하는 명확한 이원화 구조를 가집니다. LMSYS Chatbot Arena에서 27B IT 모델이 1338 Elo로 상위 10위권에 진입했습니다.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매트릭스는 각 모델이 어떤 벤치마크를 선택했는지 보여줍니다. MMLU, BBH, GSM8K, HumanEval은 최신 모델의 공통 필수 세트가 됐습니다. C-Eval과 CMMLU는 중국 팀만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중국 팀은 중국어 벤치마크와 언어 모델링 품질(BPB)을 상세히 보고하는 반면, 서구 팀은 인간 선호 평가와 안전성 평가에 더 집중합니다. 2024년 이후로는 두 진영 모두 오염 방지와 어려운 벤치마크(GPQA, MMLU-Pro) 쪽으로 수렴하고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많은 벤치마크가 프런티어 모델에서 포화 상태에 가까워지고 있습니다. 더 심각한 문제는 데이터 오염입니다.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커뮤니티는 기존 벤치마크의 한계에 대응해 두 방향으로 진화하고 있습니다. 더 어려운 문제와 오염을 원천 차단하는 동적 벤치마크입니다.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기준 새 PLM 평가 설계의 핵심은 세 가지입니다. MMLU·BBH·MATH·HumanEval의 Tier 1 필수 세트 포함, base와 IT 모델 분리 보고, 오염 검사 방법론 명시입니다.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한국어 PLM 평가의 핵심은 KMMLU입니다. 원본 한국어 시험 문제 35,030개로 구성돼 있어 실제 한국어 이해 능력을 측정합니다. 흥미롭게도 대형 다국어 모델이 소형 한국어 특화 모델보다 높은 점수를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PLM 평가는 2018년 fine-tuning 기반에서 시작해 zero-shot, few-shot ICL, 통합 벤치마크 표준화, 그리고 오염 방지와 어려운 벤치마크로 진화해왔습니다. Best practice는 Tier 1 세트 포함, base/IT 분리 보고, 오염 검사입니다.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슬라이드입니다. 참고 논문 목록도 포함되어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4389120"/>
            <a:ext cx="1097280" cy="7543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315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PLM 논문의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방법론 비교 분석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· InstructGPT · Qwen · DeepSeek · Gemma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5943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2026-05-06  |  사전학습 언어모델 평가 방법론 연구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052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방법론의 시대적 진화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73352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099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시리즈 평가 방법  (GPT-1 / GPT-2 / GPT-3)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478024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InstructGPT: Base vs. RLHF 분리 평가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82696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3192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시리즈 평가 전략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087368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1239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Base Model 평가 심층 분석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9052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시리즈 평가 방법론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673352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1709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매트릭스 &amp; 공통점·차이점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478024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포화 문제와 새로운 흐름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282696"/>
            <a:ext cx="502920" cy="502920"/>
          </a:xfrm>
          <a:prstGeom prst="rect">
            <a:avLst/>
          </a:prstGeom>
          <a:solidFill>
            <a:srgbClr val="6B7E9C"/>
          </a:solidFill>
          <a:ln w="12700">
            <a:solidFill>
              <a:srgbClr val="6B7E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33192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 시사점 &amp; 한국어 PLM 평가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2286000" cy="1485900"/>
          </a:xfrm>
          <a:prstGeom prst="rect">
            <a:avLst/>
          </a:prstGeom>
          <a:solidFill>
            <a:srgbClr val="0A5C5E"/>
          </a:solidFill>
          <a:ln w="12700">
            <a:solidFill>
              <a:srgbClr val="0A5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방법론의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시대적 진화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D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→ 2026  |  4 Phases of PLM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 평가 패러다임의 4단계 진화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2103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22960"/>
            <a:ext cx="2103120" cy="64008"/>
          </a:xfrm>
          <a:prstGeom prst="rect">
            <a:avLst/>
          </a:prstGeom>
          <a:solidFill>
            <a:srgbClr val="6B7E9C"/>
          </a:solidFill>
          <a:ln w="12700">
            <a:solidFill>
              <a:srgbClr val="6B7E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005840"/>
            <a:ext cx="585216" cy="585216"/>
          </a:xfrm>
          <a:prstGeom prst="ellipse">
            <a:avLst/>
          </a:prstGeom>
          <a:solidFill>
            <a:srgbClr val="6B7E9C"/>
          </a:solidFill>
          <a:ln w="12700">
            <a:solidFill>
              <a:srgbClr val="6B7E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05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" y="16916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2017~2019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993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+ Fine-tune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615184"/>
            <a:ext cx="1737360" cy="0"/>
          </a:xfrm>
          <a:prstGeom prst="line">
            <a:avLst/>
          </a:prstGeom>
          <a:noFill/>
          <a:ln w="6350">
            <a:solidFill>
              <a:srgbClr val="D1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GLUE, SQuAD, NLI 기반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Task별 fine-tuning 후 성능 측정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전이학습 효율 측정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95728" y="822960"/>
            <a:ext cx="2103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95728" y="822960"/>
            <a:ext cx="210312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005840"/>
            <a:ext cx="585216" cy="5852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005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87168" y="16916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2020~2022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87168" y="1993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Zero/Few-shot ICL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78608" y="2615184"/>
            <a:ext cx="1737360" cy="0"/>
          </a:xfrm>
          <a:prstGeom prst="line">
            <a:avLst/>
          </a:prstGeom>
          <a:noFill/>
          <a:ln w="6350">
            <a:solidFill>
              <a:srgbClr val="D1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32888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GPT-3의 혁명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0-shot / 1-shot / few-shot 비교 표준화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 부상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90288" y="822960"/>
            <a:ext cx="2103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0288" y="822960"/>
            <a:ext cx="21031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1005840"/>
            <a:ext cx="585216" cy="585216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005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81728" y="16916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2022~2023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81728" y="1993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벤치마크 표준화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73168" y="2615184"/>
            <a:ext cx="1737360" cy="0"/>
          </a:xfrm>
          <a:prstGeom prst="line">
            <a:avLst/>
          </a:prstGeom>
          <a:noFill/>
          <a:ln w="6350">
            <a:solidFill>
              <a:srgbClr val="D1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MMLU, BBH, GSM8K, HumanEval 공통화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중국어: C-Eval, CMMLU 추가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vs. IT 모델 분리 시작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84848" y="822960"/>
            <a:ext cx="2103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84848" y="822960"/>
            <a:ext cx="2103120" cy="64008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3800" y="1005840"/>
            <a:ext cx="585216" cy="585216"/>
          </a:xfrm>
          <a:prstGeom prst="ellipse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1005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76288" y="16916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2024~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76288" y="19933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 방지 + 역동적 평가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67728" y="2615184"/>
            <a:ext cx="1737360" cy="0"/>
          </a:xfrm>
          <a:prstGeom prst="line">
            <a:avLst/>
          </a:prstGeom>
          <a:noFill/>
          <a:ln w="6350">
            <a:solidFill>
              <a:srgbClr val="D1D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22008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LiveBench, Open LLM Leaderboard v2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MMLU-Pro, GPQA Diamond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등 실제 능력 측정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3200400" cy="19431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시리즈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  (2018)  ·  GPT-2  (2019)  ·  GPT-3  (2020)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 (2018) — Fine-tune 기반 평가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64008" cy="4114800"/>
          </a:xfrm>
          <a:prstGeom prst="rect">
            <a:avLst/>
          </a:prstGeom>
          <a:solidFill>
            <a:srgbClr val="6B7E9C"/>
          </a:solidFill>
          <a:ln w="12700">
            <a:solidFill>
              <a:srgbClr val="6B7E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86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전략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 → Task별 Fine-tuning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Base model 직접 평가 없음
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지표: 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MCC, F1
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종합 점수: 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72.8점 (당시 최고)
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개선:
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상식추론  +8.9%
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QA  +5.7%
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NLI  +1.5%
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GLUE  +5.5%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41248"/>
            <a:ext cx="64008" cy="4114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869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벤치마크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325880"/>
          <a:ext cx="3749040" cy="169164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카테고리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벤치마크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SNLI, MultiNLI, SciTail, 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RACE, Story Cloze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유사도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MRPC, QQP, STS-B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CoLA, SST-2, GLUE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92040" y="3218688"/>
            <a:ext cx="3749040" cy="1463040"/>
          </a:xfrm>
          <a:prstGeom prst="rect">
            <a:avLst/>
          </a:prstGeom>
          <a:solidFill>
            <a:srgbClr val="FFF3D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3291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3621024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GPT-1은 base model을 직접 측정하지 않는다. 모든 점수는 downstream task에 fine-tuning한 결과다. 이후 GPT-3의 few-shot 패러다임과 근본적으로 다른 접근.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(2019) — Zero-shot 혁명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주장: Fine-tuning 없이 zero-shot만으로 멀티태스크 수행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64208"/>
            <a:ext cx="27889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 Treebank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664208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664208"/>
            <a:ext cx="27889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WikiText-2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64408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664208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664208"/>
            <a:ext cx="278892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LAMBADA Acc.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52.66%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44768" y="2670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19%→52.66%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18688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18688"/>
            <a:ext cx="278892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3284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LAMBADA PPL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84048" y="4224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99.8→8.63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3218688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3218688"/>
            <a:ext cx="2788920" cy="54864"/>
          </a:xfrm>
          <a:prstGeom prst="rect">
            <a:avLst/>
          </a:prstGeom>
          <a:solidFill>
            <a:srgbClr val="6B7E9C"/>
          </a:solidFill>
          <a:ln w="12700">
            <a:solidFill>
              <a:srgbClr val="6B7E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33284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CBT-CN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264408" y="4224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218688"/>
            <a:ext cx="2788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3218688"/>
            <a:ext cx="2788920" cy="54864"/>
          </a:xfrm>
          <a:prstGeom prst="rect">
            <a:avLst/>
          </a:prstGeom>
          <a:solidFill>
            <a:srgbClr val="6B7E9C"/>
          </a:solidFill>
          <a:ln w="12700">
            <a:solidFill>
              <a:srgbClr val="6B7E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33284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44768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144768" y="4224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디코딩: Greedy decoding  |  평가 지표: Perplexity, Accuracy, F1  |  모두 Zero-shot (fine-tuning 없음)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(2020) — 3가지 설정 평가 표준화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88920" cy="685800"/>
          </a:xfrm>
          <a:prstGeom prst="rect">
            <a:avLst/>
          </a:prstGeom>
          <a:solidFill>
            <a:srgbClr val="6B7E9C"/>
          </a:solidFill>
          <a:ln w="12700">
            <a:solidFill>
              <a:srgbClr val="6B7E9C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태스크 설명만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8892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22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One-shot: 예제 1개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822960"/>
            <a:ext cx="2788920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8229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예제 10~100개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91640"/>
            <a:ext cx="64008" cy="3291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카테고리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모델링: LAMBADA, Penn Treebank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상식 추론: HellaSwag, WinoGrande, PIQA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QA: TriviaQA, NaturalQuestions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독해: CoQA, QuAC, DROP, SQuAD v2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번역: WMT En-Fr, En-De, En-Ro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산술: 2~5자리 계산 (자체 제작)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169164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691640"/>
            <a:ext cx="64008" cy="3291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결과 (TriviaQA)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64.3%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937760" y="2651760"/>
            <a:ext cx="3566160" cy="0"/>
          </a:xfrm>
          <a:prstGeom prst="line">
            <a:avLst/>
          </a:prstGeom>
          <a:noFill/>
          <a:ln w="6350">
            <a:solidFill>
              <a:srgbClr val="D1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68.0%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937760" y="3566160"/>
            <a:ext cx="3566160" cy="0"/>
          </a:xfrm>
          <a:prstGeom prst="line">
            <a:avLst/>
          </a:prstGeom>
          <a:noFill/>
          <a:ln w="6350">
            <a:solidFill>
              <a:srgbClr val="D1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71.2%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37760" y="4572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learning의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증거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파라미터  ·  24개+ NLP 데이터셋  ·  few-shot 설정: 10~100개 예제 (context window 내)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0F23"/>
          </a:solidFill>
          <a:ln w="12700">
            <a:solidFill>
              <a:srgbClr val="0F0F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vs. RLHF 분리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처음으로 human preference를 핵심 평가 지표로 삼은 논문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 (2022) — 3층 평가 체계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56032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labeler 선호율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(InstructGPT vs GPT-3)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1.3B &gt; 175B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822960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822960"/>
            <a:ext cx="64008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8961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Human Preference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26187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1,550개 held-out 프롬프트  ·  차원: Helpfulness / Harmlessness / Honesty  ·  Labeler preference 비교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2212848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2212848"/>
            <a:ext cx="64008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286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NLP Benchmarks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6517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SQuADv2, TriviaQA, HellaSwag, BoolQ  ·  WinoGrande, RTE, DROP  ·  Alignment tax 최소화 확인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602736"/>
            <a:ext cx="57607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08960" y="3602736"/>
            <a:ext cx="64008" cy="12801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6758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안전성 평가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404164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TruthfulQA: 사실성 향상  ·  RealToxicityPrompts: 독성 25% 감소  ·  BBQ: 편향 측정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시리즈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전략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언어 + 체계적 4-카테고리 평가  |  Alibaba, 2023~2024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시리즈 — 이중 언어 체계화 평가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22960"/>
            <a:ext cx="2834640" cy="475488"/>
          </a:xfrm>
          <a:prstGeom prst="rect">
            <a:avLst/>
          </a:prstGeom>
          <a:solidFill>
            <a:srgbClr val="6B7E9C"/>
          </a:solidFill>
          <a:ln w="12700">
            <a:solidFill>
              <a:srgbClr val="6B7E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229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 (2023)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" y="141732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MMLU (5), BBH (3)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84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GSM8K, MATH, HumanEval, MBPP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" y="235000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642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C-Eval (5-shot)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16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CMMLU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" y="328269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5753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영·중 동등 처리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849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Base vs. Chat 분리 보고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822960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822960"/>
            <a:ext cx="283464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8229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  (2024)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82696" y="141732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지식·추론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1709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MMLU(5), MMLU-Pro(5)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984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BBH(3), HellaSwag(10), ARC-C(25)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82696" y="235000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코드·수학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2642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HumanEval, MBPP (0)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916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GSM8K(5), MATH(4)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82696" y="328269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35753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MGSM(8-CoT), Flores-101(5)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849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C-Eval(5), CMMLU(5)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4768" y="822960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822960"/>
            <a:ext cx="2834640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8229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 (2024)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54496" y="141732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9360" y="1709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MMLU(5), MMLU-Pro(5)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1984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MMLU-redux(5), TruthfulQA(0)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235000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강화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2642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MultiPL-E 8개 언어 (0)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2916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HumanEval+, MBPP+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54496" y="328269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수학·과학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09360" y="35753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GSM8K(4), MATH(4)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3849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GPQA(5), TheoremQA(5)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91522"/>
          </a:solidFill>
          <a:ln w="12700">
            <a:solidFill>
              <a:srgbClr val="0915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평가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671B MoE · 14.8T 토큰 · HAI-LLM 내부 평가 프레임워크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 — 가장 상세한 Base Model 평가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4114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메트릭 &amp; Shot 설정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메트릭
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 (Exact Match): QA 태스크
· F1 score: DROP 등
· Pass@1: 코드
· BPB: 언어 모델링 품질
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설정
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0-shot: PIQA, WinoGrande, HumanEval
· 3-shot: BBH, TriviaQA, DROP
· 5-shot: MMLU, C-Eval, CMMLU, NQ
· 8-shot: GSM8K, MGSM
· 25-shot: ARC-Easy/Challenge
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
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HAI-LLM 프레임워크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822960"/>
            <a:ext cx="4434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822960"/>
            <a:ext cx="64008" cy="4114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결과 (DeepSeek-V3 Base)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61872"/>
          <a:ext cx="3977640" cy="3429000"/>
        </p:xfrm>
        <a:graphic>
          <a:graphicData uri="http://schemas.openxmlformats.org/drawingml/2006/table">
            <a:tbl>
              <a:tblPr/>
              <a:tblGrid>
                <a:gridCol w="2560320"/>
                <a:gridCol w="1417320"/>
              </a:tblGrid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벤치마크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MMLU (5-shot)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BBH (3-shot)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 (4-shot)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HumanEval (0-shot)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C-Eval (5-shot)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CMMLU (5-shot)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ARC-Challenge (25-sh)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HellaSwag (10-shot)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 Base vs. 경쟁 모델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3931920"/>
        </p:xfrm>
        <a:graphic>
          <a:graphicData uri="http://schemas.openxmlformats.org/drawingml/2006/table">
            <a:tbl>
              <a:tblPr/>
              <a:tblGrid>
                <a:gridCol w="2560320"/>
                <a:gridCol w="1920240"/>
                <a:gridCol w="1920240"/>
                <a:gridCol w="1828800"/>
              </a:tblGrid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벤치마크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LLaMA-3.1-405B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E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MMLU (5-shot)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BBH (3-shot)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 (4-shot)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C-Eval (5-shot)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CMMLU (5-shot)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수치는 DeepSeek-V3 Technical Report Table 3 기준 (arXiv:2412.19437)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시리즈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(few-shot) vs. IT (zero-shot)  |  Google DeepMind, 2024~2025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(2025) — Pre-trained vs. IT 모델 이원화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Pre-trained model = few-shot  ·  Instruction-tuned model = zero-shot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64008" cy="3383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 (few-shot)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37490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일반: HellaSwag, BoolQ, PIQA, SIQA (5-sh)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지식: TriviaQA, NQ, ARC-C/E, WinoGrande (5-sh)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STEM: MMLU, MMLU-Pro, MATH, GSM8K (3~5-sh)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코드: GPQA Diamond, MBPP, HumanEval (5-sh)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다국어: MGSM(8), Global-MMLU(5), WMT24++(5)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장문: RULER@32K/128K, MRCR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멀티모달: DocVQA, TextVQA, ChartQA (4-sh)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63040"/>
            <a:ext cx="64008" cy="338328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Instruction-tuned Model (0-shot)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920240"/>
            <a:ext cx="3566160" cy="100584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9202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1338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583680" y="19202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 Arena Elo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(27B IT, 상위 10위)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0632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벤치마크 0-shot 재평가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IFEval: instruction-following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human evaluation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영향 분석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매트릭스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공통점·차이점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벤치마크를, 어떤 모델이, 몇 shot으로 사용했나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벤치마크 × 모델 사용 현황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20624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371600"/>
                <a:gridCol w="1280160"/>
                <a:gridCol w="1508760"/>
                <a:gridCol w="128930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벤치마크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MMLU-Pro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HellaSwag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TruthfulQA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 LLM vs. 서구 LLM 평가 특징 비교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822960"/>
            <a:ext cx="2743200" cy="4114800"/>
          </a:xfrm>
          <a:prstGeom prst="rect">
            <a:avLst/>
          </a:prstGeom>
          <a:solidFill>
            <a:srgbClr val="FFF3DC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핵심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37560" y="12801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 (5-shot)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(3-shot)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/ MATH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 / MBPP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HellaSwag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3703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vs. 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분리 보고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22960"/>
            <a:ext cx="64008" cy="4114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8869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 LLM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(Qwen, DeepSeek)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55448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C-Eval, CMMLU 필수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BPB 직접 보고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50개+ 언어 다국어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체크 상세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HAI-LLM / OpenCompass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2,400 케이스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82296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822960"/>
            <a:ext cx="64008" cy="4114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8869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서구 LLM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(GPT, Gemma)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1554480"/>
            <a:ext cx="2286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 Arena 인간 평가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TruthfulQA, RealTox.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통합 평가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 128K 장문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IFEval instruction-following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접근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포화 문제와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흐름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Saturation · Data Contamination · Dynamic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포화되어 가는 벤치마크들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868680"/>
            <a:ext cx="3108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868680"/>
            <a:ext cx="64008" cy="18288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9326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문제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298448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MMLU는 프롬프트 형식에 민감 — 같은 모델이라도 설정에 따라 리더보드 순위가 크게 바뀜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Contamination-free MMLU-CF: 기존 MMLU 대비 대폭 점수 하락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2834640"/>
            <a:ext cx="3108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834640"/>
            <a:ext cx="64008" cy="20116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9077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기준 필요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3264408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Diamond: 대학원 수준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MMLU-Pro: 10지선다, 오류 제거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LiveBench: 매달 갱신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AIME: 수학 경시대회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이후 새로운 평가 패러다임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103120" cy="59436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어려운 벤치마크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Diamond: 대학원 수준 과학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MMLU-Pro: 10지선다, 오류 제거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MATH-500: 경시대회 수준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2024: 수학 올림피아드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22960"/>
            <a:ext cx="210312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822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4813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 방지 동적 평가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1031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LiveBench: 매달 새 문제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(arXiv·뉴스·IMDb 기반)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LiveCodeBench: 최신 코딩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갱신으로 train 불가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82296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822960"/>
            <a:ext cx="210312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822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4813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LLM Leaderboard v2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1031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IFEval: instruction-following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+ MATH Hard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MuSR + MMLU-Pro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82296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822960"/>
            <a:ext cx="210312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8229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14813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능력 측정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10312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SWE-bench: GitHub 이슈 해결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Aider: 코드 편집 능력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 Arena: 인간 선호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AgentBench: 에이전트 능력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 시사점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한국어 PLM 평가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PLM 만든다면  ·  한국어 특화 평가  ·  KMMLU · KoBEST · HAE-RAE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PLM 만든다면 — 평가 설계 가이드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2103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반드시 포함 (필수)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MMLU / MMLU-Pro (5-shot)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BBH (3-shot)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MATH (4-shot) + GSM8K (8-shot)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HumanEval + MBPP (0-shot)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HellaSwag (10-shot)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09067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090672"/>
            <a:ext cx="64008" cy="1828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455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강력 권장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11296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GPQA Diamond (5-shot)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LiveCodeBench (오염 방지)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AGIEval  ·  MMLU-Pro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22960"/>
            <a:ext cx="64008" cy="4114800"/>
          </a:xfrm>
          <a:prstGeom prst="rect">
            <a:avLst/>
          </a:prstGeom>
          <a:solidFill>
            <a:srgbClr val="6B7E9C"/>
          </a:solidFill>
          <a:ln w="12700">
            <a:solidFill>
              <a:srgbClr val="6B7E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 체크리스트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261872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Base vs. IT 결과 분리 보고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Shot 설정 명시 (0/1/3/5/8/10/25-shot)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디코딩 방식 명시 (greedy vs sampling)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오염 검사 수행 &amp; 방법 기술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BPB / Perplexity 보고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비교 모델 명시 (동일 규모)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내부 vs. 공개 프레임워크 명시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PLM 평가 — 추가 고려사항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2011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KMMLU (핵심)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371600" cy="1280160"/>
          </a:xfrm>
          <a:prstGeom prst="rect">
            <a:avLst/>
          </a:prstGeom>
          <a:solidFill>
            <a:srgbClr val="EFF4FB"/>
          </a:solidFill>
          <a:ln w="6350">
            <a:solidFill>
              <a:srgbClr val="D1D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45개 과목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26187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한국어 시험 (공무원·자격증·수능)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~60%  vs.  인간 전문가 80%+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대형 모델 &gt; 소형 한국어 특화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822960"/>
            <a:ext cx="3246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23560" y="822960"/>
            <a:ext cx="64008" cy="2011680"/>
          </a:xfrm>
          <a:prstGeom prst="rect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 한국어 벤치마크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1261872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KoBEST: 5개 추론 태스크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HAE-RAE: 문화·역사 특화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HRET: 자기진화 평가 toolkit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KMMLU-Pro: 전문직 시험 기반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9232"/>
            <a:ext cx="64008" cy="192024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5409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주의사항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번역 벤치마크 한계 — 원본 한국어 자료 사용 권장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형태소 분석기 선택에 따라 perplexity 값 달라짐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표준어 vs. 구어체 레지스터 확인 필요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동형이의어 WiC 타입 평가 시 주의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1645920"/>
          </a:xfrm>
          <a:prstGeom prst="rect">
            <a:avLst/>
          </a:prstGeom>
          <a:solidFill>
            <a:srgbClr val="1F3665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2344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627632"/>
            <a:ext cx="2377440" cy="0"/>
          </a:xfrm>
          <a:prstGeom prst="line">
            <a:avLst/>
          </a:prstGeom>
          <a:noFill/>
          <a:ln w="6350">
            <a:solidFill>
              <a:srgbClr val="3A5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1907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→ 전이학습 효율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1645920"/>
          </a:xfrm>
          <a:prstGeom prst="rect">
            <a:avLst/>
          </a:prstGeom>
          <a:solidFill>
            <a:srgbClr val="1F3665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2344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10128" y="1627632"/>
            <a:ext cx="2377440" cy="0"/>
          </a:xfrm>
          <a:prstGeom prst="line">
            <a:avLst/>
          </a:prstGeom>
          <a:noFill/>
          <a:ln w="6350">
            <a:solidFill>
              <a:srgbClr val="3A5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71907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→ 내재된 능력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822960"/>
            <a:ext cx="2743200" cy="1645920"/>
          </a:xfrm>
          <a:prstGeom prst="rect">
            <a:avLst/>
          </a:prstGeom>
          <a:solidFill>
            <a:srgbClr val="1F3665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914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0488" y="12344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0488" y="1627632"/>
            <a:ext cx="2377440" cy="0"/>
          </a:xfrm>
          <a:prstGeom prst="line">
            <a:avLst/>
          </a:prstGeom>
          <a:noFill/>
          <a:ln w="6350">
            <a:solidFill>
              <a:srgbClr val="3A5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71907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0/1/few-shot → 범용성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743200" cy="1645920"/>
          </a:xfrm>
          <a:prstGeom prst="rect">
            <a:avLst/>
          </a:prstGeom>
          <a:solidFill>
            <a:srgbClr val="1F3665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3200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" y="3593592"/>
            <a:ext cx="2377440" cy="0"/>
          </a:xfrm>
          <a:prstGeom prst="line">
            <a:avLst/>
          </a:prstGeom>
          <a:noFill/>
          <a:ln w="6350">
            <a:solidFill>
              <a:srgbClr val="3A5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68503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vs. RLHF 분리 → 정렬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788920"/>
            <a:ext cx="2743200" cy="1645920"/>
          </a:xfrm>
          <a:prstGeom prst="rect">
            <a:avLst/>
          </a:prstGeom>
          <a:solidFill>
            <a:srgbClr val="1F3665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2023~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3200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Qwen/DeepSeek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10128" y="3593592"/>
            <a:ext cx="2377440" cy="0"/>
          </a:xfrm>
          <a:prstGeom prst="line">
            <a:avLst/>
          </a:prstGeom>
          <a:noFill/>
          <a:ln w="6350">
            <a:solidFill>
              <a:srgbClr val="3A5A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68503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MMLU·BBH 표준화 → 종합 능력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788920"/>
            <a:ext cx="2743200" cy="1645920"/>
          </a:xfrm>
          <a:prstGeom prst="rect">
            <a:avLst/>
          </a:prstGeom>
          <a:solidFill>
            <a:srgbClr val="1F3665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2024~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0488" y="3200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V3/Gemma3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90488" y="3593592"/>
            <a:ext cx="2377440" cy="0"/>
          </a:xfrm>
          <a:prstGeom prst="line">
            <a:avLst/>
          </a:prstGeom>
          <a:noFill/>
          <a:ln w="6350">
            <a:solidFill>
              <a:srgbClr val="3A5A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368503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 방지·GPQA → 신뢰성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5C5E"/>
          </a:solidFill>
          <a:ln w="12700">
            <a:solidFill>
              <a:srgbClr val="0A5C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및 토론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0" y="548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0" y="10058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et al. 2020 (GPT-3) arXiv:2005.14165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Ouyang et al. 2022 (InstructGPT) arXiv:2203.02155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 et al. 2023 (Qwen) arXiv:2309.16609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DeepSeek-AI 2024 (V3) arXiv:2412.19437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DeepSeek-AI 2025 (R1) arXiv:2501.12948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Team 2025 (Gemma3) arXiv:2503.19786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et al. 2024 (KMMLU) arXiv:2402.11548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et al. 2024 (LiveBench) arXiv:2406.19314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주요 PLM 논문의 평가 방법론 비교 분석</dc:title>
  <dc:subject>PptxGenJS Presentation</dc:subject>
  <dc:creator>Research Producer</dc:creator>
  <cp:lastModifiedBy>Research Producer</cp:lastModifiedBy>
  <cp:revision>1</cp:revision>
  <dcterms:created xsi:type="dcterms:W3CDTF">2026-05-06T12:29:47Z</dcterms:created>
  <dcterms:modified xsi:type="dcterms:W3CDTF">2026-05-06T12:29:47Z</dcterms:modified>
</cp:coreProperties>
</file>