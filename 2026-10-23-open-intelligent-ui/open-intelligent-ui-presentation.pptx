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오늘은 OpenAI가 ChatGPT에 도입한 Intelligent UI를 오픈소스로 재현한 두 프로젝트, 즉 CopilotKit의 OpenIntelligentUI와 Thesys의 open-intelligent-ui를 비교하고, 그 아래에 놓인 생성형 UI 포맷의 트레이드오프를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세 부분으로 구성됩니다. 먼저 배경과 스펙트럼, 다음으로 두 구현의 내부 구조, 마지막으로 비교와 한계, 선택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섹션입니다. 왜 오픈 재현이 나왔는지와 생성형 UI의 지도를 먼저 그리겠습니다.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OpenAI는 2026년 10월 7일 GPT-6와 함께 Intelligent UI를 공개했습니다. 구성은 네이티브 스트리밍 컴포넌트 라이브러리와, 모델이 생성하는 동안 UI를 처리하는 컴파일러입니다. 다만 폐쇄형이고 외부에서 쓸 API가 확인되지 않아, 오픈 재현이 곧바로 등장했습니다. OpenAI 원문은 직접 열람하지 못해 검색 결과와 2차 보도를 근거로 했다는 점을 밝혀 둡니다.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이름을 쓰지만 서로 다른 두 저장소입니다. CopilotKit 쪽은 모델이 HTML과 CSS, JavaScript를 직접 스트리밍하고 격리 iframe에서 실행합니다. Thesys 쪽은 OpenUI Lang이라는 DSL을 스트리밍하고 컴포넌트 라이브러리로 렌더링합니다. 이후 비교에서는 각각 CK 구현, TS 구현이라 부르겠습니다.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CopilotKit의 분류에 따르면 생성형 UI는 에이전트가 쥐는 통제권의 스펙트럼입니다. 왼쪽 Controlled에서 오른쪽 Open으로 갈수록 표현력은 커지고 예측 가능성은 낮아집니다. 아래 층은 전송 프로토콜입니다. AG-UI는 UI 명세가 아니라 이벤트 전송 프로토콜이며, A2UI와 MCP Apps 같은 명세가 그 위나 옆에 놓입니다. OpenUI Lang과 json-render를 Declarative에 놓은 것은 본 연구의 분류입니다.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섹션입니다. 먼저 CopilotKit 구현의 구조와 요청 흐름, 그리고 Jev의 역할을 보겠습니다. 이어서 Thesys 구현과 OpenUI Lang을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CK 구현은 Turborepo 모노레포입니다. 프런트엔드는 Next.js이고, /api/copilotkit 런타임이 LangGraphHttpAgent로 FastAPI의 Deep Agent에 연결됩니다. 에이전트는 답변 모델 chat-latest와 라우터 Jev를 호출합니다. 선택적 MCP 서버는 assemble_document로 HTML을 텍스트로 반환할 뿐이고, 렌더링은 호스트의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요청 한 번의 흐름입니다. 사용자가 질문하면 Jev가 최근 메시지 최대 네 개를 보고 시각화 유형을 먼저 고릅니다. 그 선택에서 렌더러가 도출되고, 답변 모델에는 해당 렌더링 계약만 전달됩니다. 모델은 generateSandboxedUi를 스트리밍하고, 미들웨어가 이를 activity 이벤트로 바꿔 프런트에 보냅니다. 사용자가 버튼을 누르면 sendPrompt로 새로운 턴이 시작됩니다.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generateSandboxedUi의 인자 순서는 곧 사용자 경험 설계입니다. 높이와 플레이스홀더가 먼저 오고, CSS가 HTML보다 앞서야 스타일 없는 화면이 보이지 않습니다. 표현식은 마지막에 도착해 동작이 하나씩 붙는 모습을 사용자가 지켜보게 됩니다. html이 스트리밍되는 동안에는 Idiomorph로 프리뷰 iframe을 깜빡임 없이 갱신합니다.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Jev는 TypeSafe의 System One 모델입니다. 새 사용자 메시지마다 타입이 있는 시각화 선택 하나를 만듭니다. 선택에서 렌더러가 도출되므로 모순된 조합이 생기지 않습니다. 현재 선언형 경로는 기본 표뿐이고 나머지 시각화는 샌드박스 경로입니다. 인증 실패나 타임아웃은 턴 실패로 드러나며 조용한 폴백은 없습니다. Jev와 결정 모델 자체는 자매 글에서 자세히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 구현은 Next.js 단일 앱입니다. /api/chat이 컴포넌트 라이브러리에서 시스템 프롬프트를 만들어 세 가지 경로 중 하나로 보냅니다. OpenUI Gateway는 OpenUI Lang을 검증하고 자동 수정합니다. 직접 OpenAI 호환 엔드포인트나 Ollama를 쓰면 수정 단계가 없어 출력이 쓴 그대로 렌더링됩니다. 스레드는 브라우저 localStorage에 저장됩니다.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OpenUI Lang의 핵심은 생성과 실행의 분리입니다. 모델은 배선을 한 번 생성하고, 런타임이 Query와 Mutation, 반응형 변수를 실행합니다. 필터와 클릭은 모델 호출 없이 처리됩니다. 후속 요청에서는 바뀐 문장만 출력해 파서가 병합하며, 문서의 대략적 수치로 전체 약 400토큰 대 패치 약 60토큰입니다. 토큰 절감 비율은 제작사 자체 측정이므로 재측정을 권합니다.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섹션입니다. 두 구현을 비교하고, 포맷 간 트레이드오프와 한계, 선택 기준을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구현을 여덟 축으로 비교했습니다. CK 구현은 모델에게 화면을 통째로 맡기고 가두는 방식이고, TS 구현은 모델에게 화면을 기술하게 하고 런타임이 실행하는 방식입니다. 그래서 보안의 중심이 전자는 격리, 후자는 어휘 한정입니다. 상태 측면에서는 CK의 체크포인트가 프로세스 메모리이고 TS는 브라우저 localStorage라는 점이 모두 운영상의 제약입니다.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포맷을 비교한 표입니다. 선언형 세 가지는 카탈로그에 있는 것만 말할 수 있다는 점에서 같고, 원시 HTML은 무엇이든 말할 수 있어 격리가 필수입니다. 토큰 수치는 OpenUI 제작사의 자체 측정이며 경쟁 구현을 평가하는 비교표와 같은 문서에 있어 편향 가능성이 있습니다. 방향은 납득되지만 배율은 직접 재측정하시기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한계는 여섯 가지로 정리됩니다. 첫째 그럴듯한 환각, 둘째 비용, 셋째 샌드박스 탈출 표면, 넷째 상태, 다섯째 라우팅과 가용성, 여섯째 검증 공백입니다. 특히 sendPrompt는 생성된 코드가 에이전트에게 말을 거는 통로이므로 프롬프트 인젝션 관점의 검토가 필요하다고 판단합니다. 이는 본 연구의 분석이며 문서가 직접 위험으로 규정한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선택 기준입니다. 고정된 브랜드 화면은 Controlled로, 정형 UI가 많고 모델 없이 계산과 재조회가 필요하면 OpenUI Lang, 여러 클라이언트가 필요하면 A2UI, React 중심이면 json-render가 후보입니다. 3D나 게임 같은 자유 형식은 강한 격리를 전제로 한 샌드박스 HTML입니다. 가장 중요한 권고는 한 포맷으로 통일하지 말고 구간을 섞으라는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첫째, 두 구현은 스펙트럼의 반대편에 있습니다. 둘째, 포맷은 곧 신뢰 경계이므로 격리와 어휘 검증 중 무엇이 보안의 중심인지 먼저 정해야 합니다. 셋째, 두 프로젝트 모두 시연 수준의 상태 관리와 공개 벤치마크 부재라는 한계가 있습니다. Jev와 결정 모델은 자매 글에서 다룹니다.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463040" cy="73152"/>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914400"/>
          </a:xfrm>
          <a:prstGeom prst="rect">
            <a:avLst/>
          </a:prstGeom>
          <a:noFill/>
        </p:spPr>
        <p:txBody>
          <a:bodyPr wrap="square" lIns="45720" rIns="45720" tIns="27432" bIns="27432" anchor="t">
            <a:spAutoFit/>
          </a:bodyPr>
          <a:lstStyle/>
          <a:p>
            <a:pPr algn="l"/>
            <a:r>
              <a:rPr sz="4400" b="1">
                <a:solidFill>
                  <a:srgbClr val="FFFFFF"/>
                </a:solidFill>
                <a:latin typeface="Malgun Gothic"/>
              </a:rPr>
              <a:t>OpenIntelligentUI 서베이</a:t>
            </a:r>
          </a:p>
        </p:txBody>
      </p:sp>
      <p:sp>
        <p:nvSpPr>
          <p:cNvPr id="5" name="TextBox 4"/>
          <p:cNvSpPr txBox="1"/>
          <p:nvPr/>
        </p:nvSpPr>
        <p:spPr>
          <a:xfrm>
            <a:off x="731520" y="2423160"/>
            <a:ext cx="10515600" cy="731520"/>
          </a:xfrm>
          <a:prstGeom prst="rect">
            <a:avLst/>
          </a:prstGeom>
          <a:noFill/>
        </p:spPr>
        <p:txBody>
          <a:bodyPr wrap="square" lIns="45720" rIns="45720" tIns="27432" bIns="27432" anchor="t">
            <a:spAutoFit/>
          </a:bodyPr>
          <a:lstStyle/>
          <a:p>
            <a:pPr algn="l"/>
            <a:r>
              <a:rPr sz="2200" b="0">
                <a:solidFill>
                  <a:srgbClr val="DCE8F5"/>
                </a:solidFill>
                <a:latin typeface="Malgun Gothic"/>
              </a:rPr>
              <a:t>ChatGPT Intelligent UI의 오픈소스 재현과 생성형 UI 포맷</a:t>
            </a:r>
          </a:p>
        </p:txBody>
      </p:sp>
      <p:sp>
        <p:nvSpPr>
          <p:cNvPr id="6" name="TextBox 5"/>
          <p:cNvSpPr txBox="1"/>
          <p:nvPr/>
        </p:nvSpPr>
        <p:spPr>
          <a:xfrm>
            <a:off x="731520" y="3566160"/>
            <a:ext cx="10515600" cy="457200"/>
          </a:xfrm>
          <a:prstGeom prst="rect">
            <a:avLst/>
          </a:prstGeom>
          <a:noFill/>
        </p:spPr>
        <p:txBody>
          <a:bodyPr wrap="square" lIns="45720" rIns="45720" tIns="27432" bIns="27432" anchor="t">
            <a:spAutoFit/>
          </a:bodyPr>
          <a:lstStyle/>
          <a:p>
            <a:pPr algn="l"/>
            <a:r>
              <a:rPr sz="1600" b="0">
                <a:solidFill>
                  <a:srgbClr val="B8CCE4"/>
                </a:solidFill>
                <a:latin typeface="Malgun Gothic"/>
              </a:rPr>
              <a:t>CopilotKit 구현 · Thesys 구현 · OpenUI Lang · A2UI · json-render</a:t>
            </a:r>
          </a:p>
        </p:txBody>
      </p:sp>
      <p:sp>
        <p:nvSpPr>
          <p:cNvPr id="7" name="TextBox 6"/>
          <p:cNvSpPr txBox="1"/>
          <p:nvPr/>
        </p:nvSpPr>
        <p:spPr>
          <a:xfrm>
            <a:off x="731520" y="5760720"/>
            <a:ext cx="10515600" cy="365760"/>
          </a:xfrm>
          <a:prstGeom prst="rect">
            <a:avLst/>
          </a:prstGeom>
          <a:noFill/>
        </p:spPr>
        <p:txBody>
          <a:bodyPr wrap="square" lIns="45720" rIns="45720" tIns="27432" bIns="27432" anchor="t">
            <a:spAutoFit/>
          </a:bodyPr>
          <a:lstStyle/>
          <a:p>
            <a:pPr algn="l"/>
            <a:r>
              <a:rPr sz="1400" b="0">
                <a:solidFill>
                  <a:srgbClr val="B8CCE4"/>
                </a:solidFill>
                <a:latin typeface="Malgun Gothic"/>
              </a:rPr>
              <a:t>2026-10-23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아젠다</a:t>
            </a:r>
          </a:p>
        </p:txBody>
      </p:sp>
      <p:sp>
        <p:nvSpPr>
          <p:cNvPr id="4" name="TextBox 3"/>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2</a:t>
            </a:r>
          </a:p>
        </p:txBody>
      </p:sp>
      <p:sp>
        <p:nvSpPr>
          <p:cNvPr id="5" name="Rounded Rectangle 4"/>
          <p:cNvSpPr/>
          <p:nvPr/>
        </p:nvSpPr>
        <p:spPr>
          <a:xfrm>
            <a:off x="822960" y="1828800"/>
            <a:ext cx="3291840" cy="310896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6" name="TextBox 5"/>
          <p:cNvSpPr txBox="1"/>
          <p:nvPr/>
        </p:nvSpPr>
        <p:spPr>
          <a:xfrm>
            <a:off x="1097280" y="2103120"/>
            <a:ext cx="2743200" cy="822960"/>
          </a:xfrm>
          <a:prstGeom prst="rect">
            <a:avLst/>
          </a:prstGeom>
          <a:noFill/>
        </p:spPr>
        <p:txBody>
          <a:bodyPr wrap="square" lIns="45720" rIns="45720" tIns="27432" bIns="27432" anchor="t">
            <a:spAutoFit/>
          </a:bodyPr>
          <a:lstStyle/>
          <a:p>
            <a:pPr algn="l"/>
            <a:r>
              <a:rPr sz="4400" b="1">
                <a:solidFill>
                  <a:srgbClr val="D9822B"/>
                </a:solidFill>
                <a:latin typeface="Malgun Gothic"/>
              </a:rPr>
              <a:t>01</a:t>
            </a:r>
          </a:p>
        </p:txBody>
      </p:sp>
      <p:sp>
        <p:nvSpPr>
          <p:cNvPr id="7" name="TextBox 6"/>
          <p:cNvSpPr txBox="1"/>
          <p:nvPr/>
        </p:nvSpPr>
        <p:spPr>
          <a:xfrm>
            <a:off x="1097280" y="3108960"/>
            <a:ext cx="2743200" cy="548640"/>
          </a:xfrm>
          <a:prstGeom prst="rect">
            <a:avLst/>
          </a:prstGeom>
          <a:noFill/>
        </p:spPr>
        <p:txBody>
          <a:bodyPr wrap="square" lIns="45720" rIns="45720" tIns="27432" bIns="27432" anchor="t">
            <a:spAutoFit/>
          </a:bodyPr>
          <a:lstStyle/>
          <a:p>
            <a:pPr algn="l"/>
            <a:r>
              <a:rPr sz="2200" b="1">
                <a:solidFill>
                  <a:srgbClr val="1F3A5F"/>
                </a:solidFill>
                <a:latin typeface="Malgun Gothic"/>
              </a:rPr>
              <a:t>배경과 스펙트럼</a:t>
            </a:r>
          </a:p>
        </p:txBody>
      </p:sp>
      <p:sp>
        <p:nvSpPr>
          <p:cNvPr id="8" name="TextBox 7"/>
          <p:cNvSpPr txBox="1"/>
          <p:nvPr/>
        </p:nvSpPr>
        <p:spPr>
          <a:xfrm>
            <a:off x="1097280" y="3840480"/>
            <a:ext cx="2743200" cy="822960"/>
          </a:xfrm>
          <a:prstGeom prst="rect">
            <a:avLst/>
          </a:prstGeom>
          <a:noFill/>
        </p:spPr>
        <p:txBody>
          <a:bodyPr wrap="square" lIns="45720" rIns="45720" tIns="27432" bIns="27432" anchor="t">
            <a:spAutoFit/>
          </a:bodyPr>
          <a:lstStyle/>
          <a:p>
            <a:pPr algn="l"/>
            <a:r>
              <a:rPr sz="1400" b="0">
                <a:solidFill>
                  <a:srgbClr val="5A6470"/>
                </a:solidFill>
                <a:latin typeface="Malgun Gothic"/>
              </a:rPr>
              <a:t>원본 · 이름 충돌 · 프로토콜 스택</a:t>
            </a:r>
          </a:p>
        </p:txBody>
      </p:sp>
      <p:sp>
        <p:nvSpPr>
          <p:cNvPr id="9" name="Rounded Rectangle 8"/>
          <p:cNvSpPr/>
          <p:nvPr/>
        </p:nvSpPr>
        <p:spPr>
          <a:xfrm>
            <a:off x="4480560" y="1828800"/>
            <a:ext cx="3291840" cy="310896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10" name="TextBox 9"/>
          <p:cNvSpPr txBox="1"/>
          <p:nvPr/>
        </p:nvSpPr>
        <p:spPr>
          <a:xfrm>
            <a:off x="4754880" y="2103120"/>
            <a:ext cx="2743200" cy="822960"/>
          </a:xfrm>
          <a:prstGeom prst="rect">
            <a:avLst/>
          </a:prstGeom>
          <a:noFill/>
        </p:spPr>
        <p:txBody>
          <a:bodyPr wrap="square" lIns="45720" rIns="45720" tIns="27432" bIns="27432" anchor="t">
            <a:spAutoFit/>
          </a:bodyPr>
          <a:lstStyle/>
          <a:p>
            <a:pPr algn="l"/>
            <a:r>
              <a:rPr sz="4400" b="1">
                <a:solidFill>
                  <a:srgbClr val="D9822B"/>
                </a:solidFill>
                <a:latin typeface="Malgun Gothic"/>
              </a:rPr>
              <a:t>02</a:t>
            </a:r>
          </a:p>
        </p:txBody>
      </p:sp>
      <p:sp>
        <p:nvSpPr>
          <p:cNvPr id="11" name="TextBox 10"/>
          <p:cNvSpPr txBox="1"/>
          <p:nvPr/>
        </p:nvSpPr>
        <p:spPr>
          <a:xfrm>
            <a:off x="4754880" y="3108960"/>
            <a:ext cx="2743200" cy="548640"/>
          </a:xfrm>
          <a:prstGeom prst="rect">
            <a:avLst/>
          </a:prstGeom>
          <a:noFill/>
        </p:spPr>
        <p:txBody>
          <a:bodyPr wrap="square" lIns="45720" rIns="45720" tIns="27432" bIns="27432" anchor="t">
            <a:spAutoFit/>
          </a:bodyPr>
          <a:lstStyle/>
          <a:p>
            <a:pPr algn="l"/>
            <a:r>
              <a:rPr sz="2200" b="1">
                <a:solidFill>
                  <a:srgbClr val="1F3A5F"/>
                </a:solidFill>
                <a:latin typeface="Malgun Gothic"/>
              </a:rPr>
              <a:t>두 구현 해부</a:t>
            </a:r>
          </a:p>
        </p:txBody>
      </p:sp>
      <p:sp>
        <p:nvSpPr>
          <p:cNvPr id="12" name="TextBox 11"/>
          <p:cNvSpPr txBox="1"/>
          <p:nvPr/>
        </p:nvSpPr>
        <p:spPr>
          <a:xfrm>
            <a:off x="4754880" y="3840480"/>
            <a:ext cx="2743200" cy="822960"/>
          </a:xfrm>
          <a:prstGeom prst="rect">
            <a:avLst/>
          </a:prstGeom>
          <a:noFill/>
        </p:spPr>
        <p:txBody>
          <a:bodyPr wrap="square" lIns="45720" rIns="45720" tIns="27432" bIns="27432" anchor="t">
            <a:spAutoFit/>
          </a:bodyPr>
          <a:lstStyle/>
          <a:p>
            <a:pPr algn="l"/>
            <a:r>
              <a:rPr sz="1400" b="0">
                <a:solidFill>
                  <a:srgbClr val="5A6470"/>
                </a:solidFill>
                <a:latin typeface="Malgun Gothic"/>
              </a:rPr>
              <a:t>CopilotKit · Jev 라우터 · OpenUI Lang</a:t>
            </a:r>
          </a:p>
        </p:txBody>
      </p:sp>
      <p:sp>
        <p:nvSpPr>
          <p:cNvPr id="13" name="Rounded Rectangle 12"/>
          <p:cNvSpPr/>
          <p:nvPr/>
        </p:nvSpPr>
        <p:spPr>
          <a:xfrm>
            <a:off x="8138160" y="1828800"/>
            <a:ext cx="3291840" cy="310896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14" name="TextBox 13"/>
          <p:cNvSpPr txBox="1"/>
          <p:nvPr/>
        </p:nvSpPr>
        <p:spPr>
          <a:xfrm>
            <a:off x="8412480" y="2103120"/>
            <a:ext cx="2743200" cy="822960"/>
          </a:xfrm>
          <a:prstGeom prst="rect">
            <a:avLst/>
          </a:prstGeom>
          <a:noFill/>
        </p:spPr>
        <p:txBody>
          <a:bodyPr wrap="square" lIns="45720" rIns="45720" tIns="27432" bIns="27432" anchor="t">
            <a:spAutoFit/>
          </a:bodyPr>
          <a:lstStyle/>
          <a:p>
            <a:pPr algn="l"/>
            <a:r>
              <a:rPr sz="4400" b="1">
                <a:solidFill>
                  <a:srgbClr val="D9822B"/>
                </a:solidFill>
                <a:latin typeface="Malgun Gothic"/>
              </a:rPr>
              <a:t>03</a:t>
            </a:r>
          </a:p>
        </p:txBody>
      </p:sp>
      <p:sp>
        <p:nvSpPr>
          <p:cNvPr id="15" name="TextBox 14"/>
          <p:cNvSpPr txBox="1"/>
          <p:nvPr/>
        </p:nvSpPr>
        <p:spPr>
          <a:xfrm>
            <a:off x="8412480" y="3108960"/>
            <a:ext cx="2743200" cy="548640"/>
          </a:xfrm>
          <a:prstGeom prst="rect">
            <a:avLst/>
          </a:prstGeom>
          <a:noFill/>
        </p:spPr>
        <p:txBody>
          <a:bodyPr wrap="square" lIns="45720" rIns="45720" tIns="27432" bIns="27432" anchor="t">
            <a:spAutoFit/>
          </a:bodyPr>
          <a:lstStyle/>
          <a:p>
            <a:pPr algn="l"/>
            <a:r>
              <a:rPr sz="2200" b="1">
                <a:solidFill>
                  <a:srgbClr val="1F3A5F"/>
                </a:solidFill>
                <a:latin typeface="Malgun Gothic"/>
              </a:rPr>
              <a:t>비교와 선택</a:t>
            </a:r>
          </a:p>
        </p:txBody>
      </p:sp>
      <p:sp>
        <p:nvSpPr>
          <p:cNvPr id="16" name="TextBox 15"/>
          <p:cNvSpPr txBox="1"/>
          <p:nvPr/>
        </p:nvSpPr>
        <p:spPr>
          <a:xfrm>
            <a:off x="8412480" y="3840480"/>
            <a:ext cx="2743200" cy="822960"/>
          </a:xfrm>
          <a:prstGeom prst="rect">
            <a:avLst/>
          </a:prstGeom>
          <a:noFill/>
        </p:spPr>
        <p:txBody>
          <a:bodyPr wrap="square" lIns="45720" rIns="45720" tIns="27432" bIns="27432" anchor="t">
            <a:spAutoFit/>
          </a:bodyPr>
          <a:lstStyle/>
          <a:p>
            <a:pPr algn="l"/>
            <a:r>
              <a:rPr sz="1400" b="0">
                <a:solidFill>
                  <a:srgbClr val="5A6470"/>
                </a:solidFill>
                <a:latin typeface="Malgun Gothic"/>
              </a:rPr>
              <a:t>포맷 · 한계 · 선택 기준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2743200" cy="1371600"/>
          </a:xfrm>
          <a:prstGeom prst="rect">
            <a:avLst/>
          </a:prstGeom>
          <a:noFill/>
        </p:spPr>
        <p:txBody>
          <a:bodyPr wrap="square" lIns="45720" rIns="45720" tIns="27432" bIns="27432" anchor="t">
            <a:spAutoFit/>
          </a:bodyPr>
          <a:lstStyle/>
          <a:p>
            <a:pPr algn="l"/>
            <a:r>
              <a:rPr sz="8800" b="1">
                <a:solidFill>
                  <a:srgbClr val="D9822B"/>
                </a:solidFill>
                <a:latin typeface="Malgun Gothic"/>
              </a:rPr>
              <a:t>01</a:t>
            </a:r>
          </a:p>
        </p:txBody>
      </p:sp>
      <p:sp>
        <p:nvSpPr>
          <p:cNvPr id="4" name="TextBox 3"/>
          <p:cNvSpPr txBox="1"/>
          <p:nvPr/>
        </p:nvSpPr>
        <p:spPr>
          <a:xfrm>
            <a:off x="822960" y="3566160"/>
            <a:ext cx="10058400" cy="822960"/>
          </a:xfrm>
          <a:prstGeom prst="rect">
            <a:avLst/>
          </a:prstGeom>
          <a:noFill/>
        </p:spPr>
        <p:txBody>
          <a:bodyPr wrap="square" lIns="45720" rIns="45720" tIns="27432" bIns="27432" anchor="t">
            <a:spAutoFit/>
          </a:bodyPr>
          <a:lstStyle/>
          <a:p>
            <a:pPr algn="l"/>
            <a:r>
              <a:rPr sz="3600" b="1">
                <a:solidFill>
                  <a:srgbClr val="1F3A5F"/>
                </a:solidFill>
                <a:latin typeface="Malgun Gothic"/>
              </a:rPr>
              <a:t>배경과 스펙트럼</a:t>
            </a:r>
          </a:p>
        </p:txBody>
      </p:sp>
      <p:sp>
        <p:nvSpPr>
          <p:cNvPr id="5" name="TextBox 4"/>
          <p:cNvSpPr txBox="1"/>
          <p:nvPr/>
        </p:nvSpPr>
        <p:spPr>
          <a:xfrm>
            <a:off x="822960" y="4389120"/>
            <a:ext cx="10058400" cy="548640"/>
          </a:xfrm>
          <a:prstGeom prst="rect">
            <a:avLst/>
          </a:prstGeom>
          <a:noFill/>
        </p:spPr>
        <p:txBody>
          <a:bodyPr wrap="square" lIns="45720" rIns="45720" tIns="27432" bIns="27432" anchor="t">
            <a:spAutoFit/>
          </a:bodyPr>
          <a:lstStyle/>
          <a:p>
            <a:pPr algn="l"/>
            <a:r>
              <a:rPr sz="1800" b="0">
                <a:solidFill>
                  <a:srgbClr val="5A6470"/>
                </a:solidFill>
                <a:latin typeface="Malgun Gothic"/>
              </a:rPr>
              <a:t>원본 · 이름 충돌 · 프로토콜 스택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원본: ChatGPT Intelligent UI</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01 배경</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4</a:t>
            </a:r>
          </a:p>
        </p:txBody>
      </p:sp>
      <p:sp>
        <p:nvSpPr>
          <p:cNvPr id="6" name="Rounded Rectangle 5"/>
          <p:cNvSpPr/>
          <p:nvPr/>
        </p:nvSpPr>
        <p:spPr>
          <a:xfrm>
            <a:off x="731520" y="1737360"/>
            <a:ext cx="3108960" cy="146304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1F3A5F"/>
                </a:solidFill>
                <a:latin typeface="Malgun Gothic"/>
              </a:rPr>
              <a:t>네이티브 컴포넌트</a:t>
            </a:r>
          </a:p>
          <a:p>
            <a:pPr algn="ctr"/>
            <a:r>
              <a:rPr sz="1500" b="0">
                <a:solidFill>
                  <a:srgbClr val="1F3A5F"/>
                </a:solidFill>
                <a:latin typeface="Malgun Gothic"/>
              </a:rPr>
              <a:t>스트리밍 라이브러리</a:t>
            </a:r>
          </a:p>
        </p:txBody>
      </p:sp>
      <p:sp>
        <p:nvSpPr>
          <p:cNvPr id="7" name="Rounded Rectangle 6"/>
          <p:cNvSpPr/>
          <p:nvPr/>
        </p:nvSpPr>
        <p:spPr>
          <a:xfrm>
            <a:off x="4526280" y="1737360"/>
            <a:ext cx="3108960" cy="146304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1F3A5F"/>
                </a:solidFill>
                <a:latin typeface="Malgun Gothic"/>
              </a:rPr>
              <a:t>컴파일러</a:t>
            </a:r>
          </a:p>
          <a:p>
            <a:pPr algn="ctr"/>
            <a:r>
              <a:rPr sz="1500" b="0">
                <a:solidFill>
                  <a:srgbClr val="1F3A5F"/>
                </a:solidFill>
                <a:latin typeface="Malgun Gothic"/>
              </a:rPr>
              <a:t>생성 중 UI 처리</a:t>
            </a:r>
          </a:p>
        </p:txBody>
      </p:sp>
      <p:sp>
        <p:nvSpPr>
          <p:cNvPr id="8" name="Rounded Rectangle 7"/>
          <p:cNvSpPr/>
          <p:nvPr/>
        </p:nvSpPr>
        <p:spPr>
          <a:xfrm>
            <a:off x="8321040" y="1737360"/>
            <a:ext cx="3108960" cy="146304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1F3A5F"/>
                </a:solidFill>
                <a:latin typeface="Malgun Gothic"/>
              </a:rPr>
              <a:t>점진 렌더링</a:t>
            </a:r>
          </a:p>
          <a:p>
            <a:pPr algn="ctr"/>
            <a:r>
              <a:rPr sz="1500" b="0">
                <a:solidFill>
                  <a:srgbClr val="1F3A5F"/>
                </a:solidFill>
                <a:latin typeface="Malgun Gothic"/>
              </a:rPr>
              <a:t>차트 · 폼 · 도구</a:t>
            </a:r>
          </a:p>
        </p:txBody>
      </p:sp>
      <p:cxnSp>
        <p:nvCxnSpPr>
          <p:cNvPr id="9" name="Connector 8"/>
          <p:cNvCxnSpPr/>
          <p:nvPr/>
        </p:nvCxnSpPr>
        <p:spPr>
          <a:xfrm>
            <a:off x="3840480" y="2468880"/>
            <a:ext cx="68580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635240" y="2468880"/>
            <a:ext cx="68580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3429000"/>
            <a:ext cx="10698480" cy="365760"/>
          </a:xfrm>
          <a:prstGeom prst="rect">
            <a:avLst/>
          </a:prstGeom>
          <a:noFill/>
        </p:spPr>
        <p:txBody>
          <a:bodyPr wrap="square" lIns="45720" rIns="45720" tIns="27432" bIns="27432" anchor="t">
            <a:spAutoFit/>
          </a:bodyPr>
          <a:lstStyle/>
          <a:p>
            <a:pPr algn="ctr"/>
            <a:r>
              <a:rPr sz="1400" b="0">
                <a:solidFill>
                  <a:srgbClr val="5A6470"/>
                </a:solidFill>
                <a:latin typeface="Malgun Gothic"/>
              </a:rPr>
              <a:t>2026-10-07 · GPT-6와 함께 공개 · Chat 경험 한정</a:t>
            </a:r>
          </a:p>
        </p:txBody>
      </p:sp>
      <p:sp>
        <p:nvSpPr>
          <p:cNvPr id="12" name="Rounded Rectangle 11"/>
          <p:cNvSpPr/>
          <p:nvPr/>
        </p:nvSpPr>
        <p:spPr>
          <a:xfrm>
            <a:off x="731520" y="4206240"/>
            <a:ext cx="10698480" cy="914400"/>
          </a:xfrm>
          <a:prstGeom prst="roundRect">
            <a:avLst>
              <a:gd name="adj" fmla="val 12000"/>
            </a:avLst>
          </a:prstGeom>
          <a:solidFill>
            <a:srgbClr val="FDECEC"/>
          </a:solidFill>
          <a:ln w="15875">
            <a:solidFill>
              <a:srgbClr val="C7505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000" b="1">
                <a:solidFill>
                  <a:srgbClr val="C75050"/>
                </a:solidFill>
                <a:latin typeface="Malgun Gothic"/>
              </a:rPr>
              <a:t>폐쇄형 · 외부 API 미확인 · ChatGPT 안에서만 동작</a:t>
            </a:r>
          </a:p>
        </p:txBody>
      </p:sp>
      <p:cxnSp>
        <p:nvCxnSpPr>
          <p:cNvPr id="13" name="Connector 12"/>
          <p:cNvCxnSpPr/>
          <p:nvPr/>
        </p:nvCxnSpPr>
        <p:spPr>
          <a:xfrm>
            <a:off x="6080760" y="5120640"/>
            <a:ext cx="0" cy="548640"/>
          </a:xfrm>
          <a:prstGeom prst="line">
            <a:avLst/>
          </a:prstGeom>
          <a:ln w="38100">
            <a:solidFill>
              <a:srgbClr val="D9822B"/>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26080" y="5669280"/>
            <a:ext cx="6309360" cy="64008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1E252E"/>
                </a:solidFill>
                <a:latin typeface="Malgun Gothic"/>
              </a:rPr>
              <a:t>오픈 재현 프로젝트 등장 (2026-10-08, 10-09)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이름은 같고 설계는 다른 두 프로젝트</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01 배경</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5</a:t>
            </a:r>
          </a:p>
        </p:txBody>
      </p:sp>
      <p:sp>
        <p:nvSpPr>
          <p:cNvPr id="6" name="Rounded Rectangle 5"/>
          <p:cNvSpPr/>
          <p:nvPr/>
        </p:nvSpPr>
        <p:spPr>
          <a:xfrm>
            <a:off x="731520" y="1554480"/>
            <a:ext cx="5120640" cy="822960"/>
          </a:xfrm>
          <a:prstGeom prst="roundRect">
            <a:avLst>
              <a:gd name="adj" fmla="val 12000"/>
            </a:avLst>
          </a:prstGeom>
          <a:solidFill>
            <a:srgbClr val="D9822B"/>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000" b="1">
                <a:solidFill>
                  <a:srgbClr val="FFFFFF"/>
                </a:solidFill>
                <a:latin typeface="Malgun Gothic"/>
              </a:rPr>
              <a:t>CopilotKit / OpenIntelligentUI</a:t>
            </a:r>
          </a:p>
        </p:txBody>
      </p:sp>
      <p:sp>
        <p:nvSpPr>
          <p:cNvPr id="7" name="Rounded Rectangle 6"/>
          <p:cNvSpPr/>
          <p:nvPr/>
        </p:nvSpPr>
        <p:spPr>
          <a:xfrm>
            <a:off x="731520" y="2377440"/>
            <a:ext cx="5120640" cy="356616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8" name="TextBox 7"/>
          <p:cNvSpPr txBox="1"/>
          <p:nvPr/>
        </p:nvSpPr>
        <p:spPr>
          <a:xfrm>
            <a:off x="1051560" y="2606040"/>
            <a:ext cx="4572000" cy="548640"/>
          </a:xfrm>
          <a:prstGeom prst="rect">
            <a:avLst/>
          </a:prstGeom>
          <a:noFill/>
        </p:spPr>
        <p:txBody>
          <a:bodyPr wrap="square" lIns="45720" rIns="45720" tIns="27432" bIns="27432" anchor="t">
            <a:spAutoFit/>
          </a:bodyPr>
          <a:lstStyle/>
          <a:p>
            <a:pPr algn="l"/>
            <a:r>
              <a:rPr sz="1800" b="0">
                <a:solidFill>
                  <a:srgbClr val="1E252E"/>
                </a:solidFill>
                <a:latin typeface="Malgun Gothic"/>
              </a:rPr>
              <a:t>모델 산출물: HTML · CSS · JS</a:t>
            </a:r>
          </a:p>
        </p:txBody>
      </p:sp>
      <p:sp>
        <p:nvSpPr>
          <p:cNvPr id="9" name="TextBox 8"/>
          <p:cNvSpPr txBox="1"/>
          <p:nvPr/>
        </p:nvSpPr>
        <p:spPr>
          <a:xfrm>
            <a:off x="1051560" y="3264408"/>
            <a:ext cx="4572000" cy="548640"/>
          </a:xfrm>
          <a:prstGeom prst="rect">
            <a:avLst/>
          </a:prstGeom>
          <a:noFill/>
        </p:spPr>
        <p:txBody>
          <a:bodyPr wrap="square" lIns="45720" rIns="45720" tIns="27432" bIns="27432" anchor="t">
            <a:spAutoFit/>
          </a:bodyPr>
          <a:lstStyle/>
          <a:p>
            <a:pPr algn="l"/>
            <a:r>
              <a:rPr sz="1800" b="0">
                <a:solidFill>
                  <a:srgbClr val="1E252E"/>
                </a:solidFill>
                <a:latin typeface="Malgun Gothic"/>
              </a:rPr>
              <a:t>격리: iframe 샌드박스</a:t>
            </a:r>
          </a:p>
        </p:txBody>
      </p:sp>
      <p:sp>
        <p:nvSpPr>
          <p:cNvPr id="10" name="TextBox 9"/>
          <p:cNvSpPr txBox="1"/>
          <p:nvPr/>
        </p:nvSpPr>
        <p:spPr>
          <a:xfrm>
            <a:off x="1051560" y="3922776"/>
            <a:ext cx="4572000" cy="548640"/>
          </a:xfrm>
          <a:prstGeom prst="rect">
            <a:avLst/>
          </a:prstGeom>
          <a:noFill/>
        </p:spPr>
        <p:txBody>
          <a:bodyPr wrap="square" lIns="45720" rIns="45720" tIns="27432" bIns="27432" anchor="t">
            <a:spAutoFit/>
          </a:bodyPr>
          <a:lstStyle/>
          <a:p>
            <a:pPr algn="l"/>
            <a:r>
              <a:rPr sz="1800" b="0">
                <a:solidFill>
                  <a:srgbClr val="1E252E"/>
                </a:solidFill>
                <a:latin typeface="Malgun Gothic"/>
              </a:rPr>
              <a:t>스택: Next.js + FastAPI</a:t>
            </a:r>
          </a:p>
        </p:txBody>
      </p:sp>
      <p:sp>
        <p:nvSpPr>
          <p:cNvPr id="11" name="TextBox 10"/>
          <p:cNvSpPr txBox="1"/>
          <p:nvPr/>
        </p:nvSpPr>
        <p:spPr>
          <a:xfrm>
            <a:off x="1051560" y="4581144"/>
            <a:ext cx="4572000" cy="548640"/>
          </a:xfrm>
          <a:prstGeom prst="rect">
            <a:avLst/>
          </a:prstGeom>
          <a:noFill/>
        </p:spPr>
        <p:txBody>
          <a:bodyPr wrap="square" lIns="45720" rIns="45720" tIns="27432" bIns="27432" anchor="t">
            <a:spAutoFit/>
          </a:bodyPr>
          <a:lstStyle/>
          <a:p>
            <a:pPr algn="l"/>
            <a:r>
              <a:rPr sz="1800" b="0">
                <a:solidFill>
                  <a:srgbClr val="1E252E"/>
                </a:solidFill>
                <a:latin typeface="Malgun Gothic"/>
              </a:rPr>
              <a:t>라우터: Jev</a:t>
            </a:r>
          </a:p>
        </p:txBody>
      </p:sp>
      <p:sp>
        <p:nvSpPr>
          <p:cNvPr id="12" name="TextBox 11"/>
          <p:cNvSpPr txBox="1"/>
          <p:nvPr/>
        </p:nvSpPr>
        <p:spPr>
          <a:xfrm>
            <a:off x="1051560" y="5239512"/>
            <a:ext cx="4572000" cy="548640"/>
          </a:xfrm>
          <a:prstGeom prst="rect">
            <a:avLst/>
          </a:prstGeom>
          <a:noFill/>
        </p:spPr>
        <p:txBody>
          <a:bodyPr wrap="square" lIns="45720" rIns="45720" tIns="27432" bIns="27432" anchor="t">
            <a:spAutoFit/>
          </a:bodyPr>
          <a:lstStyle/>
          <a:p>
            <a:pPr algn="l"/>
            <a:r>
              <a:rPr sz="1800" b="0">
                <a:solidFill>
                  <a:srgbClr val="1E252E"/>
                </a:solidFill>
                <a:latin typeface="Malgun Gothic"/>
              </a:rPr>
              <a:t>MIT</a:t>
            </a:r>
          </a:p>
        </p:txBody>
      </p:sp>
      <p:sp>
        <p:nvSpPr>
          <p:cNvPr id="13" name="Rounded Rectangle 12"/>
          <p:cNvSpPr/>
          <p:nvPr/>
        </p:nvSpPr>
        <p:spPr>
          <a:xfrm>
            <a:off x="6217920" y="1554480"/>
            <a:ext cx="5120640" cy="822960"/>
          </a:xfrm>
          <a:prstGeom prst="roundRect">
            <a:avLst>
              <a:gd name="adj" fmla="val 12000"/>
            </a:avLst>
          </a:prstGeom>
          <a:solidFill>
            <a:srgbClr val="6A9A4A"/>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000" b="1">
                <a:solidFill>
                  <a:srgbClr val="FFFFFF"/>
                </a:solidFill>
                <a:latin typeface="Malgun Gothic"/>
              </a:rPr>
              <a:t>Thesys / open-intelligent-ui</a:t>
            </a:r>
          </a:p>
        </p:txBody>
      </p:sp>
      <p:sp>
        <p:nvSpPr>
          <p:cNvPr id="14" name="Rounded Rectangle 13"/>
          <p:cNvSpPr/>
          <p:nvPr/>
        </p:nvSpPr>
        <p:spPr>
          <a:xfrm>
            <a:off x="6217920" y="2377440"/>
            <a:ext cx="5120640" cy="356616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15" name="TextBox 14"/>
          <p:cNvSpPr txBox="1"/>
          <p:nvPr/>
        </p:nvSpPr>
        <p:spPr>
          <a:xfrm>
            <a:off x="6537959" y="2606040"/>
            <a:ext cx="4572000" cy="548640"/>
          </a:xfrm>
          <a:prstGeom prst="rect">
            <a:avLst/>
          </a:prstGeom>
          <a:noFill/>
        </p:spPr>
        <p:txBody>
          <a:bodyPr wrap="square" lIns="45720" rIns="45720" tIns="27432" bIns="27432" anchor="t">
            <a:spAutoFit/>
          </a:bodyPr>
          <a:lstStyle/>
          <a:p>
            <a:pPr algn="l"/>
            <a:r>
              <a:rPr sz="1800" b="0">
                <a:solidFill>
                  <a:srgbClr val="1E252E"/>
                </a:solidFill>
                <a:latin typeface="Malgun Gothic"/>
              </a:rPr>
              <a:t>모델 산출물: OpenUI Lang</a:t>
            </a:r>
          </a:p>
        </p:txBody>
      </p:sp>
      <p:sp>
        <p:nvSpPr>
          <p:cNvPr id="16" name="TextBox 15"/>
          <p:cNvSpPr txBox="1"/>
          <p:nvPr/>
        </p:nvSpPr>
        <p:spPr>
          <a:xfrm>
            <a:off x="6537959" y="3264408"/>
            <a:ext cx="4572000" cy="548640"/>
          </a:xfrm>
          <a:prstGeom prst="rect">
            <a:avLst/>
          </a:prstGeom>
          <a:noFill/>
        </p:spPr>
        <p:txBody>
          <a:bodyPr wrap="square" lIns="45720" rIns="45720" tIns="27432" bIns="27432" anchor="t">
            <a:spAutoFit/>
          </a:bodyPr>
          <a:lstStyle/>
          <a:p>
            <a:pPr algn="l"/>
            <a:r>
              <a:rPr sz="1800" b="0">
                <a:solidFill>
                  <a:srgbClr val="1E252E"/>
                </a:solidFill>
                <a:latin typeface="Malgun Gothic"/>
              </a:rPr>
              <a:t>격리: 어휘 한정 (선언형)</a:t>
            </a:r>
          </a:p>
        </p:txBody>
      </p:sp>
      <p:sp>
        <p:nvSpPr>
          <p:cNvPr id="17" name="TextBox 16"/>
          <p:cNvSpPr txBox="1"/>
          <p:nvPr/>
        </p:nvSpPr>
        <p:spPr>
          <a:xfrm>
            <a:off x="6537959" y="3922776"/>
            <a:ext cx="4572000" cy="548640"/>
          </a:xfrm>
          <a:prstGeom prst="rect">
            <a:avLst/>
          </a:prstGeom>
          <a:noFill/>
        </p:spPr>
        <p:txBody>
          <a:bodyPr wrap="square" lIns="45720" rIns="45720" tIns="27432" bIns="27432" anchor="t">
            <a:spAutoFit/>
          </a:bodyPr>
          <a:lstStyle/>
          <a:p>
            <a:pPr algn="l"/>
            <a:r>
              <a:rPr sz="1800" b="0">
                <a:solidFill>
                  <a:srgbClr val="1E252E"/>
                </a:solidFill>
                <a:latin typeface="Malgun Gothic"/>
              </a:rPr>
              <a:t>스택: Next.js 단일 앱</a:t>
            </a:r>
          </a:p>
        </p:txBody>
      </p:sp>
      <p:sp>
        <p:nvSpPr>
          <p:cNvPr id="18" name="TextBox 17"/>
          <p:cNvSpPr txBox="1"/>
          <p:nvPr/>
        </p:nvSpPr>
        <p:spPr>
          <a:xfrm>
            <a:off x="6537959" y="4581144"/>
            <a:ext cx="4572000" cy="548640"/>
          </a:xfrm>
          <a:prstGeom prst="rect">
            <a:avLst/>
          </a:prstGeom>
          <a:noFill/>
        </p:spPr>
        <p:txBody>
          <a:bodyPr wrap="square" lIns="45720" rIns="45720" tIns="27432" bIns="27432" anchor="t">
            <a:spAutoFit/>
          </a:bodyPr>
          <a:lstStyle/>
          <a:p>
            <a:pPr algn="l"/>
            <a:r>
              <a:rPr sz="1800" b="0">
                <a:solidFill>
                  <a:srgbClr val="1E252E"/>
                </a:solidFill>
                <a:latin typeface="Malgun Gothic"/>
              </a:rPr>
              <a:t>라우터: 없음 (문서상)</a:t>
            </a:r>
          </a:p>
        </p:txBody>
      </p:sp>
      <p:sp>
        <p:nvSpPr>
          <p:cNvPr id="19" name="TextBox 18"/>
          <p:cNvSpPr txBox="1"/>
          <p:nvPr/>
        </p:nvSpPr>
        <p:spPr>
          <a:xfrm>
            <a:off x="6537959" y="5239512"/>
            <a:ext cx="4572000" cy="548640"/>
          </a:xfrm>
          <a:prstGeom prst="rect">
            <a:avLst/>
          </a:prstGeom>
          <a:noFill/>
        </p:spPr>
        <p:txBody>
          <a:bodyPr wrap="square" lIns="45720" rIns="45720" tIns="27432" bIns="27432" anchor="t">
            <a:spAutoFit/>
          </a:bodyPr>
          <a:lstStyle/>
          <a:p>
            <a:pPr algn="l"/>
            <a:r>
              <a:rPr sz="1800" b="0">
                <a:solidFill>
                  <a:srgbClr val="1E252E"/>
                </a:solidFill>
                <a:latin typeface="Malgun Gothic"/>
              </a:rPr>
              <a:t>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생성형 UI 스펙트럼과 프로토콜 스택</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01 배경</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6</a:t>
            </a:r>
          </a:p>
        </p:txBody>
      </p:sp>
      <p:sp>
        <p:nvSpPr>
          <p:cNvPr id="6" name="Rounded Rectangle 5"/>
          <p:cNvSpPr/>
          <p:nvPr/>
        </p:nvSpPr>
        <p:spPr>
          <a:xfrm>
            <a:off x="731520" y="1554480"/>
            <a:ext cx="2560320" cy="137160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1F3A5F"/>
                </a:solidFill>
                <a:latin typeface="Malgun Gothic"/>
              </a:rPr>
              <a:t>Controlled</a:t>
            </a:r>
          </a:p>
          <a:p>
            <a:pPr algn="ctr"/>
            <a:r>
              <a:rPr sz="1500" b="0">
                <a:solidFill>
                  <a:srgbClr val="1F3A5F"/>
                </a:solidFill>
                <a:latin typeface="Malgun Gothic"/>
              </a:rPr>
              <a:t>등록 컴포넌트 선택</a:t>
            </a:r>
          </a:p>
        </p:txBody>
      </p:sp>
      <p:cxnSp>
        <p:nvCxnSpPr>
          <p:cNvPr id="7" name="Connector 6"/>
          <p:cNvCxnSpPr/>
          <p:nvPr/>
        </p:nvCxnSpPr>
        <p:spPr>
          <a:xfrm>
            <a:off x="3291839" y="2240280"/>
            <a:ext cx="274321"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566160" y="1554480"/>
            <a:ext cx="2560320" cy="137160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1F3A5F"/>
                </a:solidFill>
                <a:latin typeface="Malgun Gothic"/>
              </a:rPr>
              <a:t>Declarative</a:t>
            </a:r>
          </a:p>
          <a:p>
            <a:pPr algn="ctr"/>
            <a:r>
              <a:rPr sz="1500" b="0">
                <a:solidFill>
                  <a:srgbClr val="1F3A5F"/>
                </a:solidFill>
                <a:latin typeface="Malgun Gothic"/>
              </a:rPr>
              <a:t>A2UI · OpenUI Lang · json-render</a:t>
            </a:r>
          </a:p>
        </p:txBody>
      </p:sp>
      <p:cxnSp>
        <p:nvCxnSpPr>
          <p:cNvPr id="9" name="Connector 8"/>
          <p:cNvCxnSpPr/>
          <p:nvPr/>
        </p:nvCxnSpPr>
        <p:spPr>
          <a:xfrm>
            <a:off x="6126480" y="2240280"/>
            <a:ext cx="27432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00800" y="1554480"/>
            <a:ext cx="2560320" cy="137160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1F3A5F"/>
                </a:solidFill>
                <a:latin typeface="Malgun Gothic"/>
              </a:rPr>
              <a:t>MCP Apps</a:t>
            </a:r>
          </a:p>
          <a:p>
            <a:pPr algn="ctr"/>
            <a:r>
              <a:rPr sz="1500" b="0">
                <a:solidFill>
                  <a:srgbClr val="1F3A5F"/>
                </a:solidFill>
                <a:latin typeface="Malgun Gothic"/>
              </a:rPr>
              <a:t>서드파티 iframe</a:t>
            </a:r>
          </a:p>
        </p:txBody>
      </p:sp>
      <p:cxnSp>
        <p:nvCxnSpPr>
          <p:cNvPr id="11" name="Connector 10"/>
          <p:cNvCxnSpPr/>
          <p:nvPr/>
        </p:nvCxnSpPr>
        <p:spPr>
          <a:xfrm>
            <a:off x="8961120" y="2240280"/>
            <a:ext cx="27432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235440" y="1554480"/>
            <a:ext cx="2560320" cy="137160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1F3A5F"/>
                </a:solidFill>
                <a:latin typeface="Malgun Gothic"/>
              </a:rPr>
              <a:t>Open</a:t>
            </a:r>
          </a:p>
          <a:p>
            <a:pPr algn="ctr"/>
            <a:r>
              <a:rPr sz="1500" b="0">
                <a:solidFill>
                  <a:srgbClr val="1F3A5F"/>
                </a:solidFill>
                <a:latin typeface="Malgun Gothic"/>
              </a:rPr>
              <a:t>HTML/JS 샌드박스</a:t>
            </a:r>
          </a:p>
        </p:txBody>
      </p:sp>
      <p:sp>
        <p:nvSpPr>
          <p:cNvPr id="13" name="TextBox 12"/>
          <p:cNvSpPr txBox="1"/>
          <p:nvPr/>
        </p:nvSpPr>
        <p:spPr>
          <a:xfrm>
            <a:off x="731520" y="3017520"/>
            <a:ext cx="10972800" cy="365760"/>
          </a:xfrm>
          <a:prstGeom prst="rect">
            <a:avLst/>
          </a:prstGeom>
          <a:noFill/>
        </p:spPr>
        <p:txBody>
          <a:bodyPr wrap="square" lIns="45720" rIns="45720" tIns="27432" bIns="27432" anchor="t">
            <a:spAutoFit/>
          </a:bodyPr>
          <a:lstStyle/>
          <a:p>
            <a:pPr algn="ctr"/>
            <a:r>
              <a:rPr sz="1400" b="0">
                <a:solidFill>
                  <a:srgbClr val="5A6470"/>
                </a:solidFill>
                <a:latin typeface="Malgun Gothic"/>
              </a:rPr>
              <a:t>통제 ◀──────────────────────────▶ 표현력</a:t>
            </a:r>
          </a:p>
        </p:txBody>
      </p:sp>
      <p:sp>
        <p:nvSpPr>
          <p:cNvPr id="14" name="Rounded Rectangle 13"/>
          <p:cNvSpPr/>
          <p:nvPr/>
        </p:nvSpPr>
        <p:spPr>
          <a:xfrm>
            <a:off x="731520" y="3840480"/>
            <a:ext cx="5212080" cy="82296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A2UI · OpenUI Lang · json-render</a:t>
            </a:r>
          </a:p>
        </p:txBody>
      </p:sp>
      <p:sp>
        <p:nvSpPr>
          <p:cNvPr id="15" name="Rounded Rectangle 14"/>
          <p:cNvSpPr/>
          <p:nvPr/>
        </p:nvSpPr>
        <p:spPr>
          <a:xfrm>
            <a:off x="6126480" y="3840480"/>
            <a:ext cx="2560320" cy="82296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MCP Apps (ui://)</a:t>
            </a:r>
          </a:p>
        </p:txBody>
      </p:sp>
      <p:sp>
        <p:nvSpPr>
          <p:cNvPr id="16" name="Rounded Rectangle 15"/>
          <p:cNvSpPr/>
          <p:nvPr/>
        </p:nvSpPr>
        <p:spPr>
          <a:xfrm>
            <a:off x="8869680" y="3840480"/>
            <a:ext cx="2560320" cy="82296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원시 HTML/JS</a:t>
            </a:r>
          </a:p>
        </p:txBody>
      </p:sp>
      <p:sp>
        <p:nvSpPr>
          <p:cNvPr id="17" name="Rounded Rectangle 16"/>
          <p:cNvSpPr/>
          <p:nvPr/>
        </p:nvSpPr>
        <p:spPr>
          <a:xfrm>
            <a:off x="731520" y="5029200"/>
            <a:ext cx="7955279" cy="73152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AG-UI · 에이전트 ↔ 앱 이벤트 전송 (UI 명세 아님)</a:t>
            </a:r>
          </a:p>
        </p:txBody>
      </p:sp>
      <p:sp>
        <p:nvSpPr>
          <p:cNvPr id="18" name="Rounded Rectangle 17"/>
          <p:cNvSpPr/>
          <p:nvPr/>
        </p:nvSpPr>
        <p:spPr>
          <a:xfrm>
            <a:off x="8869680" y="5029200"/>
            <a:ext cx="2560320" cy="73152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MCP · 에이전트 ↔ 툴</a:t>
            </a:r>
          </a:p>
        </p:txBody>
      </p:sp>
      <p:sp>
        <p:nvSpPr>
          <p:cNvPr id="19" name="TextBox 18"/>
          <p:cNvSpPr txBox="1"/>
          <p:nvPr/>
        </p:nvSpPr>
        <p:spPr>
          <a:xfrm>
            <a:off x="731520" y="5852160"/>
            <a:ext cx="10972800" cy="365760"/>
          </a:xfrm>
          <a:prstGeom prst="rect">
            <a:avLst/>
          </a:prstGeom>
          <a:noFill/>
        </p:spPr>
        <p:txBody>
          <a:bodyPr wrap="square" lIns="45720" rIns="45720" tIns="27432" bIns="27432" anchor="t">
            <a:spAutoFit/>
          </a:bodyPr>
          <a:lstStyle/>
          <a:p>
            <a:pPr algn="ctr"/>
            <a:r>
              <a:rPr sz="1200" b="0">
                <a:solidFill>
                  <a:srgbClr val="5A6470"/>
                </a:solidFill>
                <a:latin typeface="Malgun Gothic"/>
              </a:rPr>
              <a:t>윗줄: 무엇을 그릴 것인가   /   아랫줄: 어떻게 나를 것인가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2743200" cy="1371600"/>
          </a:xfrm>
          <a:prstGeom prst="rect">
            <a:avLst/>
          </a:prstGeom>
          <a:noFill/>
        </p:spPr>
        <p:txBody>
          <a:bodyPr wrap="square" lIns="45720" rIns="45720" tIns="27432" bIns="27432" anchor="t">
            <a:spAutoFit/>
          </a:bodyPr>
          <a:lstStyle/>
          <a:p>
            <a:pPr algn="l"/>
            <a:r>
              <a:rPr sz="8800" b="1">
                <a:solidFill>
                  <a:srgbClr val="D9822B"/>
                </a:solidFill>
                <a:latin typeface="Malgun Gothic"/>
              </a:rPr>
              <a:t>02</a:t>
            </a:r>
          </a:p>
        </p:txBody>
      </p:sp>
      <p:sp>
        <p:nvSpPr>
          <p:cNvPr id="4" name="TextBox 3"/>
          <p:cNvSpPr txBox="1"/>
          <p:nvPr/>
        </p:nvSpPr>
        <p:spPr>
          <a:xfrm>
            <a:off x="822960" y="3566160"/>
            <a:ext cx="10058400" cy="822960"/>
          </a:xfrm>
          <a:prstGeom prst="rect">
            <a:avLst/>
          </a:prstGeom>
          <a:noFill/>
        </p:spPr>
        <p:txBody>
          <a:bodyPr wrap="square" lIns="45720" rIns="45720" tIns="27432" bIns="27432" anchor="t">
            <a:spAutoFit/>
          </a:bodyPr>
          <a:lstStyle/>
          <a:p>
            <a:pPr algn="l"/>
            <a:r>
              <a:rPr sz="3600" b="1">
                <a:solidFill>
                  <a:srgbClr val="1F3A5F"/>
                </a:solidFill>
                <a:latin typeface="Malgun Gothic"/>
              </a:rPr>
              <a:t>두 구현 해부</a:t>
            </a:r>
          </a:p>
        </p:txBody>
      </p:sp>
      <p:sp>
        <p:nvSpPr>
          <p:cNvPr id="5" name="TextBox 4"/>
          <p:cNvSpPr txBox="1"/>
          <p:nvPr/>
        </p:nvSpPr>
        <p:spPr>
          <a:xfrm>
            <a:off x="822960" y="4389120"/>
            <a:ext cx="10058400" cy="548640"/>
          </a:xfrm>
          <a:prstGeom prst="rect">
            <a:avLst/>
          </a:prstGeom>
          <a:noFill/>
        </p:spPr>
        <p:txBody>
          <a:bodyPr wrap="square" lIns="45720" rIns="45720" tIns="27432" bIns="27432" anchor="t">
            <a:spAutoFit/>
          </a:bodyPr>
          <a:lstStyle/>
          <a:p>
            <a:pPr algn="l"/>
            <a:r>
              <a:rPr sz="1800" b="0">
                <a:solidFill>
                  <a:srgbClr val="5A6470"/>
                </a:solidFill>
                <a:latin typeface="Malgun Gothic"/>
              </a:rPr>
              <a:t>CopilotKit · Jev 라우터 · OpenUI Lang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구현 A: CopilotKit 아키텍처</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02 구현</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8</a:t>
            </a:r>
          </a:p>
        </p:txBody>
      </p:sp>
      <p:sp>
        <p:nvSpPr>
          <p:cNvPr id="6" name="Rounded Rectangle 5"/>
          <p:cNvSpPr/>
          <p:nvPr/>
        </p:nvSpPr>
        <p:spPr>
          <a:xfrm>
            <a:off x="548640" y="1463040"/>
            <a:ext cx="3657600" cy="4206240"/>
          </a:xfrm>
          <a:prstGeom prst="roundRect">
            <a:avLst>
              <a:gd name="adj" fmla="val 12000"/>
            </a:avLst>
          </a:prstGeom>
          <a:no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7" name="TextBox 6"/>
          <p:cNvSpPr txBox="1"/>
          <p:nvPr/>
        </p:nvSpPr>
        <p:spPr>
          <a:xfrm>
            <a:off x="640080" y="1508760"/>
            <a:ext cx="3474720" cy="365760"/>
          </a:xfrm>
          <a:prstGeom prst="rect">
            <a:avLst/>
          </a:prstGeom>
          <a:noFill/>
        </p:spPr>
        <p:txBody>
          <a:bodyPr wrap="square" lIns="45720" rIns="45720" tIns="27432" bIns="27432" anchor="t">
            <a:spAutoFit/>
          </a:bodyPr>
          <a:lstStyle/>
          <a:p>
            <a:pPr algn="l"/>
            <a:r>
              <a:rPr sz="1300" b="1">
                <a:solidFill>
                  <a:srgbClr val="4A7FB5"/>
                </a:solidFill>
                <a:latin typeface="Malgun Gothic"/>
              </a:rPr>
              <a:t>브라우저 · Next.js</a:t>
            </a:r>
          </a:p>
        </p:txBody>
      </p:sp>
      <p:sp>
        <p:nvSpPr>
          <p:cNvPr id="8" name="Rounded Rectangle 7"/>
          <p:cNvSpPr/>
          <p:nvPr/>
        </p:nvSpPr>
        <p:spPr>
          <a:xfrm>
            <a:off x="822960" y="2011680"/>
            <a:ext cx="3108960" cy="82296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a:solidFill>
                  <a:srgbClr val="1F3A5F"/>
                </a:solidFill>
                <a:latin typeface="Malgun Gothic"/>
              </a:rPr>
              <a:t>CopilotKit 채팅</a:t>
            </a:r>
          </a:p>
        </p:txBody>
      </p:sp>
      <p:sp>
        <p:nvSpPr>
          <p:cNvPr id="9" name="Rounded Rectangle 8"/>
          <p:cNvSpPr/>
          <p:nvPr/>
        </p:nvSpPr>
        <p:spPr>
          <a:xfrm>
            <a:off x="822960" y="3063240"/>
            <a:ext cx="3108960" cy="100584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activity 렌더러</a:t>
            </a:r>
          </a:p>
          <a:p>
            <a:pPr algn="ctr"/>
            <a:r>
              <a:rPr sz="1200" b="0">
                <a:solidFill>
                  <a:srgbClr val="1F3A5F"/>
                </a:solidFill>
                <a:latin typeface="Malgun Gothic"/>
              </a:rPr>
              <a:t>Idiomorph → Websandbox</a:t>
            </a:r>
          </a:p>
        </p:txBody>
      </p:sp>
      <p:sp>
        <p:nvSpPr>
          <p:cNvPr id="10" name="Rounded Rectangle 9"/>
          <p:cNvSpPr/>
          <p:nvPr/>
        </p:nvSpPr>
        <p:spPr>
          <a:xfrm>
            <a:off x="822960" y="4297680"/>
            <a:ext cx="3108960" cy="91440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a:solidFill>
                  <a:srgbClr val="1F3A5F"/>
                </a:solidFill>
                <a:latin typeface="Malgun Gothic"/>
              </a:rPr>
              <a:t>A2UI Table</a:t>
            </a:r>
          </a:p>
          <a:p>
            <a:pPr algn="ctr"/>
            <a:r>
              <a:rPr sz="1200" b="0">
                <a:solidFill>
                  <a:srgbClr val="1F3A5F"/>
                </a:solidFill>
                <a:latin typeface="Malgun Gothic"/>
              </a:rPr>
              <a:t>카탈로그</a:t>
            </a:r>
          </a:p>
        </p:txBody>
      </p:sp>
      <p:sp>
        <p:nvSpPr>
          <p:cNvPr id="11" name="Rounded Rectangle 10"/>
          <p:cNvSpPr/>
          <p:nvPr/>
        </p:nvSpPr>
        <p:spPr>
          <a:xfrm>
            <a:off x="4754880" y="2743200"/>
            <a:ext cx="2103120" cy="137160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F3A5F"/>
                </a:solidFill>
                <a:latin typeface="Malgun Gothic"/>
              </a:rPr>
              <a:t>/api/copilotkit</a:t>
            </a:r>
          </a:p>
          <a:p>
            <a:pPr algn="ctr"/>
            <a:r>
              <a:rPr sz="1100" b="0">
                <a:solidFill>
                  <a:srgbClr val="1F3A5F"/>
                </a:solidFill>
                <a:latin typeface="Malgun Gothic"/>
              </a:rPr>
              <a:t>openGenerativeUI</a:t>
            </a:r>
          </a:p>
        </p:txBody>
      </p:sp>
      <p:sp>
        <p:nvSpPr>
          <p:cNvPr id="12" name="Rounded Rectangle 11"/>
          <p:cNvSpPr/>
          <p:nvPr/>
        </p:nvSpPr>
        <p:spPr>
          <a:xfrm>
            <a:off x="7315200" y="1463040"/>
            <a:ext cx="2194560" cy="182880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F3A5F"/>
                </a:solidFill>
                <a:latin typeface="Malgun Gothic"/>
              </a:rPr>
              <a:t>FastAPI :8123</a:t>
            </a:r>
          </a:p>
          <a:p>
            <a:pPr algn="ctr"/>
            <a:r>
              <a:rPr sz="1100" b="0">
                <a:solidFill>
                  <a:srgbClr val="1F3A5F"/>
                </a:solidFill>
                <a:latin typeface="Malgun Gothic"/>
              </a:rPr>
              <a:t>Deep Agent</a:t>
            </a:r>
          </a:p>
          <a:p>
            <a:pPr algn="ctr"/>
            <a:r>
              <a:rPr sz="1100" b="0">
                <a:solidFill>
                  <a:srgbClr val="1F3A5F"/>
                </a:solidFill>
                <a:latin typeface="Malgun Gothic"/>
              </a:rPr>
              <a:t>메모리 체크포인트</a:t>
            </a:r>
          </a:p>
        </p:txBody>
      </p:sp>
      <p:sp>
        <p:nvSpPr>
          <p:cNvPr id="13" name="Rounded Rectangle 12"/>
          <p:cNvSpPr/>
          <p:nvPr/>
        </p:nvSpPr>
        <p:spPr>
          <a:xfrm>
            <a:off x="9966960" y="1463040"/>
            <a:ext cx="1828800" cy="86868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Jev</a:t>
            </a:r>
          </a:p>
          <a:p>
            <a:pPr algn="ctr"/>
            <a:r>
              <a:rPr sz="1200" b="0">
                <a:solidFill>
                  <a:srgbClr val="1F3A5F"/>
                </a:solidFill>
                <a:latin typeface="Malgun Gothic"/>
              </a:rPr>
              <a:t>jev-latest</a:t>
            </a:r>
          </a:p>
        </p:txBody>
      </p:sp>
      <p:sp>
        <p:nvSpPr>
          <p:cNvPr id="14" name="Rounded Rectangle 13"/>
          <p:cNvSpPr/>
          <p:nvPr/>
        </p:nvSpPr>
        <p:spPr>
          <a:xfrm>
            <a:off x="9966960" y="2514600"/>
            <a:ext cx="1828800" cy="86868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chat-latest</a:t>
            </a:r>
          </a:p>
          <a:p>
            <a:pPr algn="ctr"/>
            <a:r>
              <a:rPr sz="1200" b="0">
                <a:solidFill>
                  <a:srgbClr val="1F3A5F"/>
                </a:solidFill>
                <a:latin typeface="Malgun Gothic"/>
              </a:rPr>
              <a:t>OpenAI</a:t>
            </a:r>
          </a:p>
        </p:txBody>
      </p:sp>
      <p:sp>
        <p:nvSpPr>
          <p:cNvPr id="15" name="Rounded Rectangle 14"/>
          <p:cNvSpPr/>
          <p:nvPr/>
        </p:nvSpPr>
        <p:spPr>
          <a:xfrm>
            <a:off x="7315200" y="3931920"/>
            <a:ext cx="2194560" cy="109728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3A5F"/>
                </a:solidFill>
                <a:latin typeface="Malgun Gothic"/>
              </a:rPr>
              <a:t>apps/mcp (선택)</a:t>
            </a:r>
          </a:p>
          <a:p>
            <a:pPr algn="ctr"/>
            <a:r>
              <a:rPr sz="1000" b="0">
                <a:solidFill>
                  <a:srgbClr val="1F3A5F"/>
                </a:solidFill>
                <a:latin typeface="Malgun Gothic"/>
              </a:rPr>
              <a:t>assemble_document</a:t>
            </a:r>
          </a:p>
        </p:txBody>
      </p:sp>
      <p:cxnSp>
        <p:nvCxnSpPr>
          <p:cNvPr id="16" name="Connector 15"/>
          <p:cNvCxnSpPr/>
          <p:nvPr/>
        </p:nvCxnSpPr>
        <p:spPr>
          <a:xfrm>
            <a:off x="3931920" y="2423160"/>
            <a:ext cx="822960" cy="77724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858000" y="2560320"/>
            <a:ext cx="457200" cy="64008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509760" y="1874519"/>
            <a:ext cx="457200" cy="0"/>
          </a:xfrm>
          <a:prstGeom prst="line">
            <a:avLst/>
          </a:prstGeom>
          <a:ln w="25400">
            <a:solidFill>
              <a:srgbClr val="D9822B"/>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509760" y="2926080"/>
            <a:ext cx="457200" cy="0"/>
          </a:xfrm>
          <a:prstGeom prst="line">
            <a:avLst/>
          </a:prstGeom>
          <a:ln w="25400">
            <a:solidFill>
              <a:srgbClr val="6A9A4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3931920" y="3566160"/>
            <a:ext cx="822960" cy="274320"/>
          </a:xfrm>
          <a:prstGeom prst="line">
            <a:avLst/>
          </a:prstGeom>
          <a:ln w="25400">
            <a:solidFill>
              <a:srgbClr val="4A7FB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5852160"/>
            <a:ext cx="10972800" cy="457200"/>
          </a:xfrm>
          <a:prstGeom prst="rect">
            <a:avLst/>
          </a:prstGeom>
          <a:noFill/>
        </p:spPr>
        <p:txBody>
          <a:bodyPr wrap="square" lIns="45720" rIns="45720" tIns="27432" bIns="27432" anchor="t">
            <a:spAutoFit/>
          </a:bodyPr>
          <a:lstStyle/>
          <a:p>
            <a:pPr algn="l"/>
            <a:r>
              <a:rPr sz="1300" b="0">
                <a:solidFill>
                  <a:srgbClr val="5A6470"/>
                </a:solidFill>
                <a:latin typeface="Malgun Gothic"/>
              </a:rPr>
              <a:t>Node 22+ · Python 3.12+ · uv · make setup → make dev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요청 한 번의 흐름</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02 구현</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9</a:t>
            </a:r>
          </a:p>
        </p:txBody>
      </p:sp>
      <p:sp>
        <p:nvSpPr>
          <p:cNvPr id="6" name="Rounded Rectangle 5"/>
          <p:cNvSpPr/>
          <p:nvPr/>
        </p:nvSpPr>
        <p:spPr>
          <a:xfrm>
            <a:off x="731520" y="1645920"/>
            <a:ext cx="3383280" cy="164592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7" name="TextBox 6"/>
          <p:cNvSpPr txBox="1"/>
          <p:nvPr/>
        </p:nvSpPr>
        <p:spPr>
          <a:xfrm>
            <a:off x="914400" y="1737360"/>
            <a:ext cx="731520" cy="731520"/>
          </a:xfrm>
          <a:prstGeom prst="rect">
            <a:avLst/>
          </a:prstGeom>
          <a:noFill/>
        </p:spPr>
        <p:txBody>
          <a:bodyPr wrap="square" lIns="45720" rIns="45720" tIns="27432" bIns="27432" anchor="t">
            <a:spAutoFit/>
          </a:bodyPr>
          <a:lstStyle/>
          <a:p>
            <a:pPr algn="l"/>
            <a:r>
              <a:rPr sz="3200" b="1">
                <a:solidFill>
                  <a:srgbClr val="D9822B"/>
                </a:solidFill>
                <a:latin typeface="Malgun Gothic"/>
              </a:rPr>
              <a:t>1</a:t>
            </a:r>
          </a:p>
        </p:txBody>
      </p:sp>
      <p:sp>
        <p:nvSpPr>
          <p:cNvPr id="8" name="TextBox 7"/>
          <p:cNvSpPr txBox="1"/>
          <p:nvPr/>
        </p:nvSpPr>
        <p:spPr>
          <a:xfrm>
            <a:off x="1645920" y="1874519"/>
            <a:ext cx="2377440" cy="457200"/>
          </a:xfrm>
          <a:prstGeom prst="rect">
            <a:avLst/>
          </a:prstGeom>
          <a:noFill/>
        </p:spPr>
        <p:txBody>
          <a:bodyPr wrap="square" lIns="45720" rIns="45720" tIns="27432" bIns="27432" anchor="t">
            <a:spAutoFit/>
          </a:bodyPr>
          <a:lstStyle/>
          <a:p>
            <a:pPr algn="l"/>
            <a:r>
              <a:rPr sz="1800" b="1">
                <a:solidFill>
                  <a:srgbClr val="1F3A5F"/>
                </a:solidFill>
                <a:latin typeface="Malgun Gothic"/>
              </a:rPr>
              <a:t>Jev 분류</a:t>
            </a:r>
          </a:p>
        </p:txBody>
      </p:sp>
      <p:sp>
        <p:nvSpPr>
          <p:cNvPr id="9" name="TextBox 8"/>
          <p:cNvSpPr txBox="1"/>
          <p:nvPr/>
        </p:nvSpPr>
        <p:spPr>
          <a:xfrm>
            <a:off x="1645920" y="2423160"/>
            <a:ext cx="2377440" cy="731520"/>
          </a:xfrm>
          <a:prstGeom prst="rect">
            <a:avLst/>
          </a:prstGeom>
          <a:noFill/>
        </p:spPr>
        <p:txBody>
          <a:bodyPr wrap="square" lIns="45720" rIns="45720" tIns="27432" bIns="27432" anchor="t">
            <a:spAutoFit/>
          </a:bodyPr>
          <a:lstStyle/>
          <a:p>
            <a:pPr algn="l"/>
            <a:r>
              <a:rPr sz="1300" b="0">
                <a:solidFill>
                  <a:srgbClr val="5A6470"/>
                </a:solidFill>
                <a:latin typeface="Malgun Gothic"/>
              </a:rPr>
              <a:t>최근 메시지 ≤4개</a:t>
            </a:r>
          </a:p>
        </p:txBody>
      </p:sp>
      <p:cxnSp>
        <p:nvCxnSpPr>
          <p:cNvPr id="10" name="Connector 9"/>
          <p:cNvCxnSpPr/>
          <p:nvPr/>
        </p:nvCxnSpPr>
        <p:spPr>
          <a:xfrm>
            <a:off x="4114800" y="2468880"/>
            <a:ext cx="365759"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480559" y="1645920"/>
            <a:ext cx="3383280" cy="164592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12" name="TextBox 11"/>
          <p:cNvSpPr txBox="1"/>
          <p:nvPr/>
        </p:nvSpPr>
        <p:spPr>
          <a:xfrm>
            <a:off x="4663440" y="1737360"/>
            <a:ext cx="731520" cy="731520"/>
          </a:xfrm>
          <a:prstGeom prst="rect">
            <a:avLst/>
          </a:prstGeom>
          <a:noFill/>
        </p:spPr>
        <p:txBody>
          <a:bodyPr wrap="square" lIns="45720" rIns="45720" tIns="27432" bIns="27432" anchor="t">
            <a:spAutoFit/>
          </a:bodyPr>
          <a:lstStyle/>
          <a:p>
            <a:pPr algn="l"/>
            <a:r>
              <a:rPr sz="3200" b="1">
                <a:solidFill>
                  <a:srgbClr val="D9822B"/>
                </a:solidFill>
                <a:latin typeface="Malgun Gothic"/>
              </a:rPr>
              <a:t>2</a:t>
            </a:r>
          </a:p>
        </p:txBody>
      </p:sp>
      <p:sp>
        <p:nvSpPr>
          <p:cNvPr id="13" name="TextBox 12"/>
          <p:cNvSpPr txBox="1"/>
          <p:nvPr/>
        </p:nvSpPr>
        <p:spPr>
          <a:xfrm>
            <a:off x="5394959" y="1874519"/>
            <a:ext cx="2377440" cy="457200"/>
          </a:xfrm>
          <a:prstGeom prst="rect">
            <a:avLst/>
          </a:prstGeom>
          <a:noFill/>
        </p:spPr>
        <p:txBody>
          <a:bodyPr wrap="square" lIns="45720" rIns="45720" tIns="27432" bIns="27432" anchor="t">
            <a:spAutoFit/>
          </a:bodyPr>
          <a:lstStyle/>
          <a:p>
            <a:pPr algn="l"/>
            <a:r>
              <a:rPr sz="1800" b="1">
                <a:solidFill>
                  <a:srgbClr val="1F3A5F"/>
                </a:solidFill>
                <a:latin typeface="Malgun Gothic"/>
              </a:rPr>
              <a:t>렌더러 도출</a:t>
            </a:r>
          </a:p>
        </p:txBody>
      </p:sp>
      <p:sp>
        <p:nvSpPr>
          <p:cNvPr id="14" name="TextBox 13"/>
          <p:cNvSpPr txBox="1"/>
          <p:nvPr/>
        </p:nvSpPr>
        <p:spPr>
          <a:xfrm>
            <a:off x="5394959" y="2423160"/>
            <a:ext cx="2377440" cy="731520"/>
          </a:xfrm>
          <a:prstGeom prst="rect">
            <a:avLst/>
          </a:prstGeom>
          <a:noFill/>
        </p:spPr>
        <p:txBody>
          <a:bodyPr wrap="square" lIns="45720" rIns="45720" tIns="27432" bIns="27432" anchor="t">
            <a:spAutoFit/>
          </a:bodyPr>
          <a:lstStyle/>
          <a:p>
            <a:pPr algn="l"/>
            <a:r>
              <a:rPr sz="1300" b="0">
                <a:solidFill>
                  <a:srgbClr val="5A6470"/>
                </a:solidFill>
                <a:latin typeface="Malgun Gothic"/>
              </a:rPr>
              <a:t>선택 → 렌더러</a:t>
            </a:r>
          </a:p>
        </p:txBody>
      </p:sp>
      <p:cxnSp>
        <p:nvCxnSpPr>
          <p:cNvPr id="15" name="Connector 14"/>
          <p:cNvCxnSpPr/>
          <p:nvPr/>
        </p:nvCxnSpPr>
        <p:spPr>
          <a:xfrm>
            <a:off x="7863840" y="2468880"/>
            <a:ext cx="36576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229600" y="1645920"/>
            <a:ext cx="3383280" cy="164592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17" name="TextBox 16"/>
          <p:cNvSpPr txBox="1"/>
          <p:nvPr/>
        </p:nvSpPr>
        <p:spPr>
          <a:xfrm>
            <a:off x="8412480" y="1737360"/>
            <a:ext cx="731520" cy="731520"/>
          </a:xfrm>
          <a:prstGeom prst="rect">
            <a:avLst/>
          </a:prstGeom>
          <a:noFill/>
        </p:spPr>
        <p:txBody>
          <a:bodyPr wrap="square" lIns="45720" rIns="45720" tIns="27432" bIns="27432" anchor="t">
            <a:spAutoFit/>
          </a:bodyPr>
          <a:lstStyle/>
          <a:p>
            <a:pPr algn="l"/>
            <a:r>
              <a:rPr sz="3200" b="1">
                <a:solidFill>
                  <a:srgbClr val="4A7FB5"/>
                </a:solidFill>
                <a:latin typeface="Malgun Gothic"/>
              </a:rPr>
              <a:t>3</a:t>
            </a:r>
          </a:p>
        </p:txBody>
      </p:sp>
      <p:sp>
        <p:nvSpPr>
          <p:cNvPr id="18" name="TextBox 17"/>
          <p:cNvSpPr txBox="1"/>
          <p:nvPr/>
        </p:nvSpPr>
        <p:spPr>
          <a:xfrm>
            <a:off x="9144000" y="1874519"/>
            <a:ext cx="2377440" cy="457200"/>
          </a:xfrm>
          <a:prstGeom prst="rect">
            <a:avLst/>
          </a:prstGeom>
          <a:noFill/>
        </p:spPr>
        <p:txBody>
          <a:bodyPr wrap="square" lIns="45720" rIns="45720" tIns="27432" bIns="27432" anchor="t">
            <a:spAutoFit/>
          </a:bodyPr>
          <a:lstStyle/>
          <a:p>
            <a:pPr algn="l"/>
            <a:r>
              <a:rPr sz="1800" b="1">
                <a:solidFill>
                  <a:srgbClr val="1F3A5F"/>
                </a:solidFill>
                <a:latin typeface="Malgun Gothic"/>
              </a:rPr>
              <a:t>모델 생성</a:t>
            </a:r>
          </a:p>
        </p:txBody>
      </p:sp>
      <p:sp>
        <p:nvSpPr>
          <p:cNvPr id="19" name="TextBox 18"/>
          <p:cNvSpPr txBox="1"/>
          <p:nvPr/>
        </p:nvSpPr>
        <p:spPr>
          <a:xfrm>
            <a:off x="9144000" y="2423160"/>
            <a:ext cx="2377440" cy="731520"/>
          </a:xfrm>
          <a:prstGeom prst="rect">
            <a:avLst/>
          </a:prstGeom>
          <a:noFill/>
        </p:spPr>
        <p:txBody>
          <a:bodyPr wrap="square" lIns="45720" rIns="45720" tIns="27432" bIns="27432" anchor="t">
            <a:spAutoFit/>
          </a:bodyPr>
          <a:lstStyle/>
          <a:p>
            <a:pPr algn="l"/>
            <a:r>
              <a:rPr sz="1300" b="0">
                <a:solidFill>
                  <a:srgbClr val="5A6470"/>
                </a:solidFill>
                <a:latin typeface="Malgun Gothic"/>
              </a:rPr>
              <a:t>계약만 전달</a:t>
            </a:r>
          </a:p>
        </p:txBody>
      </p:sp>
      <p:sp>
        <p:nvSpPr>
          <p:cNvPr id="20" name="Rounded Rectangle 19"/>
          <p:cNvSpPr/>
          <p:nvPr/>
        </p:nvSpPr>
        <p:spPr>
          <a:xfrm>
            <a:off x="731520" y="3840480"/>
            <a:ext cx="3383280" cy="164592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21" name="TextBox 20"/>
          <p:cNvSpPr txBox="1"/>
          <p:nvPr/>
        </p:nvSpPr>
        <p:spPr>
          <a:xfrm>
            <a:off x="914400" y="3931920"/>
            <a:ext cx="731520" cy="731520"/>
          </a:xfrm>
          <a:prstGeom prst="rect">
            <a:avLst/>
          </a:prstGeom>
          <a:noFill/>
        </p:spPr>
        <p:txBody>
          <a:bodyPr wrap="square" lIns="45720" rIns="45720" tIns="27432" bIns="27432" anchor="t">
            <a:spAutoFit/>
          </a:bodyPr>
          <a:lstStyle/>
          <a:p>
            <a:pPr algn="l"/>
            <a:r>
              <a:rPr sz="3200" b="1">
                <a:solidFill>
                  <a:srgbClr val="4A7FB5"/>
                </a:solidFill>
                <a:latin typeface="Malgun Gothic"/>
              </a:rPr>
              <a:t>4</a:t>
            </a:r>
          </a:p>
        </p:txBody>
      </p:sp>
      <p:sp>
        <p:nvSpPr>
          <p:cNvPr id="22" name="TextBox 21"/>
          <p:cNvSpPr txBox="1"/>
          <p:nvPr/>
        </p:nvSpPr>
        <p:spPr>
          <a:xfrm>
            <a:off x="1645920" y="4069080"/>
            <a:ext cx="2377440" cy="457200"/>
          </a:xfrm>
          <a:prstGeom prst="rect">
            <a:avLst/>
          </a:prstGeom>
          <a:noFill/>
        </p:spPr>
        <p:txBody>
          <a:bodyPr wrap="square" lIns="45720" rIns="45720" tIns="27432" bIns="27432" anchor="t">
            <a:spAutoFit/>
          </a:bodyPr>
          <a:lstStyle/>
          <a:p>
            <a:pPr algn="l"/>
            <a:r>
              <a:rPr sz="1800" b="1">
                <a:solidFill>
                  <a:srgbClr val="1F3A5F"/>
                </a:solidFill>
                <a:latin typeface="Malgun Gothic"/>
              </a:rPr>
              <a:t>툴 호출 스트림</a:t>
            </a:r>
          </a:p>
        </p:txBody>
      </p:sp>
      <p:sp>
        <p:nvSpPr>
          <p:cNvPr id="23" name="TextBox 22"/>
          <p:cNvSpPr txBox="1"/>
          <p:nvPr/>
        </p:nvSpPr>
        <p:spPr>
          <a:xfrm>
            <a:off x="1645920" y="4617720"/>
            <a:ext cx="2377440" cy="731520"/>
          </a:xfrm>
          <a:prstGeom prst="rect">
            <a:avLst/>
          </a:prstGeom>
          <a:noFill/>
        </p:spPr>
        <p:txBody>
          <a:bodyPr wrap="square" lIns="45720" rIns="45720" tIns="27432" bIns="27432" anchor="t">
            <a:spAutoFit/>
          </a:bodyPr>
          <a:lstStyle/>
          <a:p>
            <a:pPr algn="l"/>
            <a:r>
              <a:rPr sz="1300" b="0">
                <a:solidFill>
                  <a:srgbClr val="5A6470"/>
                </a:solidFill>
                <a:latin typeface="Malgun Gothic"/>
              </a:rPr>
              <a:t>generateSandboxedUi</a:t>
            </a:r>
          </a:p>
        </p:txBody>
      </p:sp>
      <p:cxnSp>
        <p:nvCxnSpPr>
          <p:cNvPr id="24" name="Connector 23"/>
          <p:cNvCxnSpPr/>
          <p:nvPr/>
        </p:nvCxnSpPr>
        <p:spPr>
          <a:xfrm>
            <a:off x="4114800" y="4663440"/>
            <a:ext cx="365759"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480559" y="3840480"/>
            <a:ext cx="3383280" cy="164592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26" name="TextBox 25"/>
          <p:cNvSpPr txBox="1"/>
          <p:nvPr/>
        </p:nvSpPr>
        <p:spPr>
          <a:xfrm>
            <a:off x="4663440" y="3931920"/>
            <a:ext cx="731520" cy="731520"/>
          </a:xfrm>
          <a:prstGeom prst="rect">
            <a:avLst/>
          </a:prstGeom>
          <a:noFill/>
        </p:spPr>
        <p:txBody>
          <a:bodyPr wrap="square" lIns="45720" rIns="45720" tIns="27432" bIns="27432" anchor="t">
            <a:spAutoFit/>
          </a:bodyPr>
          <a:lstStyle/>
          <a:p>
            <a:pPr algn="l"/>
            <a:r>
              <a:rPr sz="3200" b="1">
                <a:solidFill>
                  <a:srgbClr val="4A7FB5"/>
                </a:solidFill>
                <a:latin typeface="Malgun Gothic"/>
              </a:rPr>
              <a:t>5</a:t>
            </a:r>
          </a:p>
        </p:txBody>
      </p:sp>
      <p:sp>
        <p:nvSpPr>
          <p:cNvPr id="27" name="TextBox 26"/>
          <p:cNvSpPr txBox="1"/>
          <p:nvPr/>
        </p:nvSpPr>
        <p:spPr>
          <a:xfrm>
            <a:off x="5394959" y="4069080"/>
            <a:ext cx="2377440" cy="457200"/>
          </a:xfrm>
          <a:prstGeom prst="rect">
            <a:avLst/>
          </a:prstGeom>
          <a:noFill/>
        </p:spPr>
        <p:txBody>
          <a:bodyPr wrap="square" lIns="45720" rIns="45720" tIns="27432" bIns="27432" anchor="t">
            <a:spAutoFit/>
          </a:bodyPr>
          <a:lstStyle/>
          <a:p>
            <a:pPr algn="l"/>
            <a:r>
              <a:rPr sz="1800" b="1">
                <a:solidFill>
                  <a:srgbClr val="1F3A5F"/>
                </a:solidFill>
                <a:latin typeface="Malgun Gothic"/>
              </a:rPr>
              <a:t>점진 렌더링</a:t>
            </a:r>
          </a:p>
        </p:txBody>
      </p:sp>
      <p:sp>
        <p:nvSpPr>
          <p:cNvPr id="28" name="TextBox 27"/>
          <p:cNvSpPr txBox="1"/>
          <p:nvPr/>
        </p:nvSpPr>
        <p:spPr>
          <a:xfrm>
            <a:off x="5394959" y="4617720"/>
            <a:ext cx="2377440" cy="731520"/>
          </a:xfrm>
          <a:prstGeom prst="rect">
            <a:avLst/>
          </a:prstGeom>
          <a:noFill/>
        </p:spPr>
        <p:txBody>
          <a:bodyPr wrap="square" lIns="45720" rIns="45720" tIns="27432" bIns="27432" anchor="t">
            <a:spAutoFit/>
          </a:bodyPr>
          <a:lstStyle/>
          <a:p>
            <a:pPr algn="l"/>
            <a:r>
              <a:rPr sz="1300" b="0">
                <a:solidFill>
                  <a:srgbClr val="5A6470"/>
                </a:solidFill>
                <a:latin typeface="Malgun Gothic"/>
              </a:rPr>
              <a:t>프리뷰 → 샌드박스</a:t>
            </a:r>
          </a:p>
        </p:txBody>
      </p:sp>
      <p:cxnSp>
        <p:nvCxnSpPr>
          <p:cNvPr id="29" name="Connector 28"/>
          <p:cNvCxnSpPr/>
          <p:nvPr/>
        </p:nvCxnSpPr>
        <p:spPr>
          <a:xfrm>
            <a:off x="7863840" y="4663440"/>
            <a:ext cx="36576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229600" y="3840480"/>
            <a:ext cx="3383280" cy="164592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31" name="TextBox 30"/>
          <p:cNvSpPr txBox="1"/>
          <p:nvPr/>
        </p:nvSpPr>
        <p:spPr>
          <a:xfrm>
            <a:off x="8412480" y="3931920"/>
            <a:ext cx="731520" cy="731520"/>
          </a:xfrm>
          <a:prstGeom prst="rect">
            <a:avLst/>
          </a:prstGeom>
          <a:noFill/>
        </p:spPr>
        <p:txBody>
          <a:bodyPr wrap="square" lIns="45720" rIns="45720" tIns="27432" bIns="27432" anchor="t">
            <a:spAutoFit/>
          </a:bodyPr>
          <a:lstStyle/>
          <a:p>
            <a:pPr algn="l"/>
            <a:r>
              <a:rPr sz="3200" b="1">
                <a:solidFill>
                  <a:srgbClr val="4A7FB5"/>
                </a:solidFill>
                <a:latin typeface="Malgun Gothic"/>
              </a:rPr>
              <a:t>6</a:t>
            </a:r>
          </a:p>
        </p:txBody>
      </p:sp>
      <p:sp>
        <p:nvSpPr>
          <p:cNvPr id="32" name="TextBox 31"/>
          <p:cNvSpPr txBox="1"/>
          <p:nvPr/>
        </p:nvSpPr>
        <p:spPr>
          <a:xfrm>
            <a:off x="9144000" y="4069080"/>
            <a:ext cx="2377440" cy="457200"/>
          </a:xfrm>
          <a:prstGeom prst="rect">
            <a:avLst/>
          </a:prstGeom>
          <a:noFill/>
        </p:spPr>
        <p:txBody>
          <a:bodyPr wrap="square" lIns="45720" rIns="45720" tIns="27432" bIns="27432" anchor="t">
            <a:spAutoFit/>
          </a:bodyPr>
          <a:lstStyle/>
          <a:p>
            <a:pPr algn="l"/>
            <a:r>
              <a:rPr sz="1800" b="1">
                <a:solidFill>
                  <a:srgbClr val="1F3A5F"/>
                </a:solidFill>
                <a:latin typeface="Malgun Gothic"/>
              </a:rPr>
              <a:t>후속 질문</a:t>
            </a:r>
          </a:p>
        </p:txBody>
      </p:sp>
      <p:sp>
        <p:nvSpPr>
          <p:cNvPr id="33" name="TextBox 32"/>
          <p:cNvSpPr txBox="1"/>
          <p:nvPr/>
        </p:nvSpPr>
        <p:spPr>
          <a:xfrm>
            <a:off x="9144000" y="4617720"/>
            <a:ext cx="2377440" cy="731520"/>
          </a:xfrm>
          <a:prstGeom prst="rect">
            <a:avLst/>
          </a:prstGeom>
          <a:noFill/>
        </p:spPr>
        <p:txBody>
          <a:bodyPr wrap="square" lIns="45720" rIns="45720" tIns="27432" bIns="27432" anchor="t">
            <a:spAutoFit/>
          </a:bodyPr>
          <a:lstStyle/>
          <a:p>
            <a:pPr algn="l"/>
            <a:r>
              <a:rPr sz="1300" b="0">
                <a:solidFill>
                  <a:srgbClr val="5A6470"/>
                </a:solidFill>
                <a:latin typeface="Malgun Gothic"/>
              </a:rPr>
              <a:t>sendPrompt → 새 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스트리밍 순서가 곧 UX다</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02 구현</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10</a:t>
            </a:r>
          </a:p>
        </p:txBody>
      </p:sp>
      <p:sp>
        <p:nvSpPr>
          <p:cNvPr id="6" name="Rounded Rectangle 5"/>
          <p:cNvSpPr/>
          <p:nvPr/>
        </p:nvSpPr>
        <p:spPr>
          <a:xfrm>
            <a:off x="502920" y="2103120"/>
            <a:ext cx="1783080" cy="118872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F3A5F"/>
                </a:solidFill>
                <a:latin typeface="Malgun Gothic"/>
              </a:rPr>
              <a:t>initialHeight</a:t>
            </a:r>
          </a:p>
        </p:txBody>
      </p:sp>
      <p:sp>
        <p:nvSpPr>
          <p:cNvPr id="7" name="TextBox 6"/>
          <p:cNvSpPr txBox="1"/>
          <p:nvPr/>
        </p:nvSpPr>
        <p:spPr>
          <a:xfrm>
            <a:off x="502920" y="3429000"/>
            <a:ext cx="1783080" cy="457200"/>
          </a:xfrm>
          <a:prstGeom prst="rect">
            <a:avLst/>
          </a:prstGeom>
          <a:noFill/>
        </p:spPr>
        <p:txBody>
          <a:bodyPr wrap="square" lIns="45720" rIns="45720" tIns="27432" bIns="27432" anchor="t">
            <a:spAutoFit/>
          </a:bodyPr>
          <a:lstStyle/>
          <a:p>
            <a:pPr algn="ctr"/>
            <a:r>
              <a:rPr sz="1300" b="0">
                <a:solidFill>
                  <a:srgbClr val="5A6470"/>
                </a:solidFill>
                <a:latin typeface="Malgun Gothic"/>
              </a:rPr>
              <a:t>자리 확보</a:t>
            </a:r>
          </a:p>
        </p:txBody>
      </p:sp>
      <p:cxnSp>
        <p:nvCxnSpPr>
          <p:cNvPr id="8" name="Connector 7"/>
          <p:cNvCxnSpPr/>
          <p:nvPr/>
        </p:nvCxnSpPr>
        <p:spPr>
          <a:xfrm>
            <a:off x="2286000" y="2697480"/>
            <a:ext cx="13716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23160" y="2103120"/>
            <a:ext cx="1783080" cy="118872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F3A5F"/>
                </a:solidFill>
                <a:latin typeface="Malgun Gothic"/>
              </a:rPr>
              <a:t>placeholder</a:t>
            </a:r>
          </a:p>
          <a:p>
            <a:pPr algn="ctr"/>
            <a:r>
              <a:rPr sz="1100" b="0">
                <a:solidFill>
                  <a:srgbClr val="1F3A5F"/>
                </a:solidFill>
                <a:latin typeface="Malgun Gothic"/>
              </a:rPr>
              <a:t>Messages</a:t>
            </a:r>
          </a:p>
        </p:txBody>
      </p:sp>
      <p:sp>
        <p:nvSpPr>
          <p:cNvPr id="10" name="TextBox 9"/>
          <p:cNvSpPr txBox="1"/>
          <p:nvPr/>
        </p:nvSpPr>
        <p:spPr>
          <a:xfrm>
            <a:off x="2423160" y="3429000"/>
            <a:ext cx="1783080" cy="457200"/>
          </a:xfrm>
          <a:prstGeom prst="rect">
            <a:avLst/>
          </a:prstGeom>
          <a:noFill/>
        </p:spPr>
        <p:txBody>
          <a:bodyPr wrap="square" lIns="45720" rIns="45720" tIns="27432" bIns="27432" anchor="t">
            <a:spAutoFit/>
          </a:bodyPr>
          <a:lstStyle/>
          <a:p>
            <a:pPr algn="ctr"/>
            <a:r>
              <a:rPr sz="1300" b="0">
                <a:solidFill>
                  <a:srgbClr val="5A6470"/>
                </a:solidFill>
                <a:latin typeface="Malgun Gothic"/>
              </a:rPr>
              <a:t>대기 문구</a:t>
            </a:r>
          </a:p>
        </p:txBody>
      </p:sp>
      <p:cxnSp>
        <p:nvCxnSpPr>
          <p:cNvPr id="11" name="Connector 10"/>
          <p:cNvCxnSpPr/>
          <p:nvPr/>
        </p:nvCxnSpPr>
        <p:spPr>
          <a:xfrm>
            <a:off x="4206240" y="2697480"/>
            <a:ext cx="13716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43400" y="2103120"/>
            <a:ext cx="1783080" cy="118872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F3A5F"/>
                </a:solidFill>
                <a:latin typeface="Malgun Gothic"/>
              </a:rPr>
              <a:t>css</a:t>
            </a:r>
          </a:p>
        </p:txBody>
      </p:sp>
      <p:sp>
        <p:nvSpPr>
          <p:cNvPr id="13" name="TextBox 12"/>
          <p:cNvSpPr txBox="1"/>
          <p:nvPr/>
        </p:nvSpPr>
        <p:spPr>
          <a:xfrm>
            <a:off x="4343400" y="3429000"/>
            <a:ext cx="1783080" cy="457200"/>
          </a:xfrm>
          <a:prstGeom prst="rect">
            <a:avLst/>
          </a:prstGeom>
          <a:noFill/>
        </p:spPr>
        <p:txBody>
          <a:bodyPr wrap="square" lIns="45720" rIns="45720" tIns="27432" bIns="27432" anchor="t">
            <a:spAutoFit/>
          </a:bodyPr>
          <a:lstStyle/>
          <a:p>
            <a:pPr algn="ctr"/>
            <a:r>
              <a:rPr sz="1300" b="0">
                <a:solidFill>
                  <a:srgbClr val="5A6470"/>
                </a:solidFill>
                <a:latin typeface="Malgun Gothic"/>
              </a:rPr>
              <a:t>스타일 먼저</a:t>
            </a:r>
          </a:p>
        </p:txBody>
      </p:sp>
      <p:cxnSp>
        <p:nvCxnSpPr>
          <p:cNvPr id="14" name="Connector 13"/>
          <p:cNvCxnSpPr/>
          <p:nvPr/>
        </p:nvCxnSpPr>
        <p:spPr>
          <a:xfrm>
            <a:off x="6126480" y="2697480"/>
            <a:ext cx="13716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63640" y="2103120"/>
            <a:ext cx="1783080" cy="118872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F3A5F"/>
                </a:solidFill>
                <a:latin typeface="Malgun Gothic"/>
              </a:rPr>
              <a:t>html</a:t>
            </a:r>
          </a:p>
        </p:txBody>
      </p:sp>
      <p:sp>
        <p:nvSpPr>
          <p:cNvPr id="16" name="TextBox 15"/>
          <p:cNvSpPr txBox="1"/>
          <p:nvPr/>
        </p:nvSpPr>
        <p:spPr>
          <a:xfrm>
            <a:off x="6263640" y="3429000"/>
            <a:ext cx="1783080" cy="457200"/>
          </a:xfrm>
          <a:prstGeom prst="rect">
            <a:avLst/>
          </a:prstGeom>
          <a:noFill/>
        </p:spPr>
        <p:txBody>
          <a:bodyPr wrap="square" lIns="45720" rIns="45720" tIns="27432" bIns="27432" anchor="t">
            <a:spAutoFit/>
          </a:bodyPr>
          <a:lstStyle/>
          <a:p>
            <a:pPr algn="ctr"/>
            <a:r>
              <a:rPr sz="1300" b="0">
                <a:solidFill>
                  <a:srgbClr val="5A6470"/>
                </a:solidFill>
                <a:latin typeface="Malgun Gothic"/>
              </a:rPr>
              <a:t>morph 프리뷰</a:t>
            </a:r>
          </a:p>
        </p:txBody>
      </p:sp>
      <p:cxnSp>
        <p:nvCxnSpPr>
          <p:cNvPr id="17" name="Connector 16"/>
          <p:cNvCxnSpPr/>
          <p:nvPr/>
        </p:nvCxnSpPr>
        <p:spPr>
          <a:xfrm>
            <a:off x="8046720" y="2697480"/>
            <a:ext cx="13716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83880" y="2103120"/>
            <a:ext cx="1783080" cy="118872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F3A5F"/>
                </a:solidFill>
                <a:latin typeface="Malgun Gothic"/>
              </a:rPr>
              <a:t>jsFunctions</a:t>
            </a:r>
          </a:p>
        </p:txBody>
      </p:sp>
      <p:sp>
        <p:nvSpPr>
          <p:cNvPr id="19" name="TextBox 18"/>
          <p:cNvSpPr txBox="1"/>
          <p:nvPr/>
        </p:nvSpPr>
        <p:spPr>
          <a:xfrm>
            <a:off x="8183880" y="3429000"/>
            <a:ext cx="1783080" cy="457200"/>
          </a:xfrm>
          <a:prstGeom prst="rect">
            <a:avLst/>
          </a:prstGeom>
          <a:noFill/>
        </p:spPr>
        <p:txBody>
          <a:bodyPr wrap="square" lIns="45720" rIns="45720" tIns="27432" bIns="27432" anchor="t">
            <a:spAutoFit/>
          </a:bodyPr>
          <a:lstStyle/>
          <a:p>
            <a:pPr algn="ctr"/>
            <a:r>
              <a:rPr sz="1300" b="0">
                <a:solidFill>
                  <a:srgbClr val="5A6470"/>
                </a:solidFill>
                <a:latin typeface="Malgun Gothic"/>
              </a:rPr>
              <a:t>함수 정의</a:t>
            </a:r>
          </a:p>
        </p:txBody>
      </p:sp>
      <p:cxnSp>
        <p:nvCxnSpPr>
          <p:cNvPr id="20" name="Connector 19"/>
          <p:cNvCxnSpPr/>
          <p:nvPr/>
        </p:nvCxnSpPr>
        <p:spPr>
          <a:xfrm>
            <a:off x="9966960" y="2697480"/>
            <a:ext cx="13716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104120" y="2103120"/>
            <a:ext cx="1783080" cy="118872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F3A5F"/>
                </a:solidFill>
                <a:latin typeface="Malgun Gothic"/>
              </a:rPr>
              <a:t>jsExpressions</a:t>
            </a:r>
          </a:p>
        </p:txBody>
      </p:sp>
      <p:sp>
        <p:nvSpPr>
          <p:cNvPr id="22" name="TextBox 21"/>
          <p:cNvSpPr txBox="1"/>
          <p:nvPr/>
        </p:nvSpPr>
        <p:spPr>
          <a:xfrm>
            <a:off x="10104120" y="3429000"/>
            <a:ext cx="1783080" cy="457200"/>
          </a:xfrm>
          <a:prstGeom prst="rect">
            <a:avLst/>
          </a:prstGeom>
          <a:noFill/>
        </p:spPr>
        <p:txBody>
          <a:bodyPr wrap="square" lIns="45720" rIns="45720" tIns="27432" bIns="27432" anchor="t">
            <a:spAutoFit/>
          </a:bodyPr>
          <a:lstStyle/>
          <a:p>
            <a:pPr algn="ctr"/>
            <a:r>
              <a:rPr sz="1300" b="0">
                <a:solidFill>
                  <a:srgbClr val="5A6470"/>
                </a:solidFill>
                <a:latin typeface="Malgun Gothic"/>
              </a:rPr>
              <a:t>동작이 차례로</a:t>
            </a:r>
          </a:p>
        </p:txBody>
      </p:sp>
      <p:sp>
        <p:nvSpPr>
          <p:cNvPr id="23" name="Rounded Rectangle 22"/>
          <p:cNvSpPr/>
          <p:nvPr/>
        </p:nvSpPr>
        <p:spPr>
          <a:xfrm>
            <a:off x="731520" y="4572000"/>
            <a:ext cx="10698480" cy="118872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1E252E"/>
                </a:solidFill>
                <a:latin typeface="Malgun Gothic"/>
              </a:rPr>
              <a:t>CSS가 먼저 → 스타일 없는 UI 노출 방지</a:t>
            </a:r>
          </a:p>
          <a:p>
            <a:pPr algn="ctr"/>
            <a:r>
              <a:rPr sz="1500" b="0">
                <a:solidFill>
                  <a:srgbClr val="1E252E"/>
                </a:solidFill>
                <a:latin typeface="Malgun Gothic"/>
              </a:rPr>
              <a:t>표현식이 마지막 → 동작이 하나씩 붙는 모습 노출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Jev의 역할: 포맷을 먼저 고르는 라우터</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02 구현</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11</a:t>
            </a:r>
          </a:p>
        </p:txBody>
      </p:sp>
      <p:sp>
        <p:nvSpPr>
          <p:cNvPr id="6" name="Rounded Rectangle 5"/>
          <p:cNvSpPr/>
          <p:nvPr/>
        </p:nvSpPr>
        <p:spPr>
          <a:xfrm>
            <a:off x="548640" y="2377440"/>
            <a:ext cx="2560320" cy="146304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새 메시지</a:t>
            </a:r>
          </a:p>
          <a:p>
            <a:pPr algn="ctr"/>
            <a:r>
              <a:rPr sz="1200" b="0">
                <a:solidFill>
                  <a:srgbClr val="1F3A5F"/>
                </a:solidFill>
                <a:latin typeface="Malgun Gothic"/>
              </a:rPr>
              <a:t>+ 최근 텍스트 ≤4개</a:t>
            </a:r>
          </a:p>
        </p:txBody>
      </p:sp>
      <p:sp>
        <p:nvSpPr>
          <p:cNvPr id="7" name="Rounded Rectangle 6"/>
          <p:cNvSpPr/>
          <p:nvPr/>
        </p:nvSpPr>
        <p:spPr>
          <a:xfrm>
            <a:off x="3840480" y="2377440"/>
            <a:ext cx="2194560" cy="146304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000" b="1">
                <a:solidFill>
                  <a:srgbClr val="1F3A5F"/>
                </a:solidFill>
                <a:latin typeface="Malgun Gothic"/>
              </a:rPr>
              <a:t>Jev</a:t>
            </a:r>
          </a:p>
          <a:p>
            <a:pPr algn="ctr"/>
            <a:r>
              <a:rPr sz="1700" b="0">
                <a:solidFill>
                  <a:srgbClr val="1F3A5F"/>
                </a:solidFill>
                <a:latin typeface="Malgun Gothic"/>
              </a:rPr>
              <a:t>선택지 분류</a:t>
            </a:r>
          </a:p>
        </p:txBody>
      </p:sp>
      <p:cxnSp>
        <p:nvCxnSpPr>
          <p:cNvPr id="8" name="Connector 7"/>
          <p:cNvCxnSpPr/>
          <p:nvPr/>
        </p:nvCxnSpPr>
        <p:spPr>
          <a:xfrm>
            <a:off x="3108960" y="3108960"/>
            <a:ext cx="73152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75120" y="1051560"/>
            <a:ext cx="2103120" cy="82296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F3A5F"/>
                </a:solidFill>
                <a:latin typeface="Malgun Gothic"/>
              </a:rPr>
              <a:t>text</a:t>
            </a:r>
          </a:p>
        </p:txBody>
      </p:sp>
      <p:sp>
        <p:nvSpPr>
          <p:cNvPr id="10" name="Rounded Rectangle 9"/>
          <p:cNvSpPr/>
          <p:nvPr/>
        </p:nvSpPr>
        <p:spPr>
          <a:xfrm>
            <a:off x="9326880" y="1051560"/>
            <a:ext cx="2468880" cy="82296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F3A5F"/>
                </a:solidFill>
                <a:latin typeface="Malgun Gothic"/>
              </a:rPr>
              <a:t>일반 채팅 답변</a:t>
            </a:r>
          </a:p>
        </p:txBody>
      </p:sp>
      <p:cxnSp>
        <p:nvCxnSpPr>
          <p:cNvPr id="11" name="Connector 10"/>
          <p:cNvCxnSpPr/>
          <p:nvPr/>
        </p:nvCxnSpPr>
        <p:spPr>
          <a:xfrm flipV="1">
            <a:off x="6035040" y="1463040"/>
            <a:ext cx="640080" cy="164592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78240" y="1463040"/>
            <a:ext cx="54864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675120" y="2331720"/>
            <a:ext cx="2103120" cy="82296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F3A5F"/>
                </a:solidFill>
                <a:latin typeface="Malgun Gothic"/>
              </a:rPr>
              <a:t>table</a:t>
            </a:r>
          </a:p>
        </p:txBody>
      </p:sp>
      <p:sp>
        <p:nvSpPr>
          <p:cNvPr id="14" name="Rounded Rectangle 13"/>
          <p:cNvSpPr/>
          <p:nvPr/>
        </p:nvSpPr>
        <p:spPr>
          <a:xfrm>
            <a:off x="9326880" y="2331720"/>
            <a:ext cx="2468880" cy="82296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F3A5F"/>
                </a:solidFill>
                <a:latin typeface="Malgun Gothic"/>
              </a:rPr>
              <a:t>A2UI 표 (≤12열 · ≤200행)</a:t>
            </a:r>
          </a:p>
        </p:txBody>
      </p:sp>
      <p:cxnSp>
        <p:nvCxnSpPr>
          <p:cNvPr id="15" name="Connector 14"/>
          <p:cNvCxnSpPr/>
          <p:nvPr/>
        </p:nvCxnSpPr>
        <p:spPr>
          <a:xfrm flipV="1">
            <a:off x="6035040" y="2743200"/>
            <a:ext cx="640080" cy="36576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778240" y="2743200"/>
            <a:ext cx="54864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75120" y="3611880"/>
            <a:ext cx="2103120" cy="82296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F3A5F"/>
                </a:solidFill>
                <a:latin typeface="Malgun Gothic"/>
              </a:rPr>
              <a:t>chart · diagram</a:t>
            </a:r>
          </a:p>
          <a:p>
            <a:pPr algn="ctr"/>
            <a:r>
              <a:rPr sz="1000" b="0">
                <a:solidFill>
                  <a:srgbClr val="1F3A5F"/>
                </a:solidFill>
                <a:latin typeface="Malgun Gothic"/>
              </a:rPr>
              <a:t>calculator · map</a:t>
            </a:r>
          </a:p>
        </p:txBody>
      </p:sp>
      <p:sp>
        <p:nvSpPr>
          <p:cNvPr id="18" name="Rounded Rectangle 17"/>
          <p:cNvSpPr/>
          <p:nvPr/>
        </p:nvSpPr>
        <p:spPr>
          <a:xfrm>
            <a:off x="9326880" y="3611880"/>
            <a:ext cx="2468880" cy="82296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F3A5F"/>
                </a:solidFill>
                <a:latin typeface="Malgun Gothic"/>
              </a:rPr>
              <a:t>Open Generative UI</a:t>
            </a:r>
          </a:p>
        </p:txBody>
      </p:sp>
      <p:cxnSp>
        <p:nvCxnSpPr>
          <p:cNvPr id="19" name="Connector 18"/>
          <p:cNvCxnSpPr/>
          <p:nvPr/>
        </p:nvCxnSpPr>
        <p:spPr>
          <a:xfrm>
            <a:off x="6035040" y="3108960"/>
            <a:ext cx="640080" cy="91440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778240" y="4023360"/>
            <a:ext cx="54864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5029200"/>
            <a:ext cx="11247120" cy="822960"/>
          </a:xfrm>
          <a:prstGeom prst="roundRect">
            <a:avLst>
              <a:gd name="adj" fmla="val 12000"/>
            </a:avLst>
          </a:prstGeom>
          <a:solidFill>
            <a:srgbClr val="FDECEC"/>
          </a:solidFill>
          <a:ln w="15875">
            <a:solidFill>
              <a:srgbClr val="C7505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C75050"/>
                </a:solidFill>
                <a:latin typeface="Malgun Gothic"/>
              </a:rPr>
              <a:t>실패는 턴 실패로 노출 · 조용한 폴백 없음 · 라우팅은 판단이지 보증이 아님</a:t>
            </a:r>
          </a:p>
        </p:txBody>
      </p:sp>
      <p:sp>
        <p:nvSpPr>
          <p:cNvPr id="22" name="TextBox 21"/>
          <p:cNvSpPr txBox="1"/>
          <p:nvPr/>
        </p:nvSpPr>
        <p:spPr>
          <a:xfrm>
            <a:off x="548640" y="6080760"/>
            <a:ext cx="10972800" cy="320040"/>
          </a:xfrm>
          <a:prstGeom prst="rect">
            <a:avLst/>
          </a:prstGeom>
          <a:noFill/>
        </p:spPr>
        <p:txBody>
          <a:bodyPr wrap="square" lIns="45720" rIns="45720" tIns="27432" bIns="27432" anchor="t">
            <a:spAutoFit/>
          </a:bodyPr>
          <a:lstStyle/>
          <a:p>
            <a:pPr algn="l"/>
            <a:r>
              <a:rPr sz="1200" b="0">
                <a:solidFill>
                  <a:srgbClr val="5A6470"/>
                </a:solidFill>
                <a:latin typeface="Malgun Gothic"/>
              </a:rPr>
              <a:t>Jev 자체는 자매 글: jev-decision-models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구현 B: Thesys 아키텍처</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02 구현</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12</a:t>
            </a:r>
          </a:p>
        </p:txBody>
      </p:sp>
      <p:sp>
        <p:nvSpPr>
          <p:cNvPr id="6" name="Rounded Rectangle 5"/>
          <p:cNvSpPr/>
          <p:nvPr/>
        </p:nvSpPr>
        <p:spPr>
          <a:xfrm>
            <a:off x="548640" y="1645920"/>
            <a:ext cx="3474720" cy="3474720"/>
          </a:xfrm>
          <a:prstGeom prst="roundRect">
            <a:avLst>
              <a:gd name="adj" fmla="val 12000"/>
            </a:avLst>
          </a:prstGeom>
          <a:no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7" name="TextBox 6"/>
          <p:cNvSpPr txBox="1"/>
          <p:nvPr/>
        </p:nvSpPr>
        <p:spPr>
          <a:xfrm>
            <a:off x="640080" y="1691640"/>
            <a:ext cx="3291840" cy="365760"/>
          </a:xfrm>
          <a:prstGeom prst="rect">
            <a:avLst/>
          </a:prstGeom>
          <a:noFill/>
        </p:spPr>
        <p:txBody>
          <a:bodyPr wrap="square" lIns="45720" rIns="45720" tIns="27432" bIns="27432" anchor="t">
            <a:spAutoFit/>
          </a:bodyPr>
          <a:lstStyle/>
          <a:p>
            <a:pPr algn="l"/>
            <a:r>
              <a:rPr sz="1300" b="1">
                <a:solidFill>
                  <a:srgbClr val="4A7FB5"/>
                </a:solidFill>
                <a:latin typeface="Malgun Gothic"/>
              </a:rPr>
              <a:t>브라우저</a:t>
            </a:r>
          </a:p>
        </p:txBody>
      </p:sp>
      <p:sp>
        <p:nvSpPr>
          <p:cNvPr id="8" name="Rounded Rectangle 7"/>
          <p:cNvSpPr/>
          <p:nvPr/>
        </p:nvSpPr>
        <p:spPr>
          <a:xfrm>
            <a:off x="822960" y="2194560"/>
            <a:ext cx="2926080" cy="118872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OpenUI 렌더러</a:t>
            </a:r>
          </a:p>
          <a:p>
            <a:pPr algn="ctr"/>
            <a:r>
              <a:rPr sz="1200" b="0">
                <a:solidFill>
                  <a:srgbClr val="1F3A5F"/>
                </a:solidFill>
                <a:latin typeface="Malgun Gothic"/>
              </a:rPr>
              <a:t>라이브러리(Zod)</a:t>
            </a:r>
          </a:p>
        </p:txBody>
      </p:sp>
      <p:sp>
        <p:nvSpPr>
          <p:cNvPr id="9" name="Rounded Rectangle 8"/>
          <p:cNvSpPr/>
          <p:nvPr/>
        </p:nvSpPr>
        <p:spPr>
          <a:xfrm>
            <a:off x="822960" y="3611880"/>
            <a:ext cx="2926080" cy="118872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$variables · @functions</a:t>
            </a:r>
          </a:p>
          <a:p>
            <a:pPr algn="ctr"/>
            <a:r>
              <a:rPr sz="1100" b="0">
                <a:solidFill>
                  <a:srgbClr val="1F3A5F"/>
                </a:solidFill>
                <a:latin typeface="Malgun Gothic"/>
              </a:rPr>
              <a:t>스레드 localStorage</a:t>
            </a:r>
          </a:p>
        </p:txBody>
      </p:sp>
      <p:sp>
        <p:nvSpPr>
          <p:cNvPr id="10" name="Rounded Rectangle 9"/>
          <p:cNvSpPr/>
          <p:nvPr/>
        </p:nvSpPr>
        <p:spPr>
          <a:xfrm>
            <a:off x="4572000" y="2834640"/>
            <a:ext cx="2011680" cy="109728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/api/chat</a:t>
            </a:r>
          </a:p>
          <a:p>
            <a:pPr algn="ctr"/>
            <a:r>
              <a:rPr sz="1200" b="0">
                <a:solidFill>
                  <a:srgbClr val="1F3A5F"/>
                </a:solidFill>
                <a:latin typeface="Malgun Gothic"/>
              </a:rPr>
              <a:t>프롬프트 생성</a:t>
            </a:r>
          </a:p>
        </p:txBody>
      </p:sp>
      <p:cxnSp>
        <p:nvCxnSpPr>
          <p:cNvPr id="11" name="Connector 10"/>
          <p:cNvCxnSpPr/>
          <p:nvPr/>
        </p:nvCxnSpPr>
        <p:spPr>
          <a:xfrm>
            <a:off x="4023360" y="3383280"/>
            <a:ext cx="54864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15200" y="1645920"/>
            <a:ext cx="4297680" cy="109728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1F3A5F"/>
                </a:solidFill>
                <a:latin typeface="Malgun Gothic"/>
              </a:rPr>
              <a:t>OpenUI Gateway</a:t>
            </a:r>
          </a:p>
          <a:p>
            <a:pPr algn="ctr"/>
            <a:r>
              <a:rPr sz="1300" b="0">
                <a:solidFill>
                  <a:srgbClr val="1F3A5F"/>
                </a:solidFill>
                <a:latin typeface="Malgun Gothic"/>
              </a:rPr>
              <a:t>검증 + 자동 수정</a:t>
            </a:r>
          </a:p>
        </p:txBody>
      </p:sp>
      <p:sp>
        <p:nvSpPr>
          <p:cNvPr id="13" name="Rounded Rectangle 12"/>
          <p:cNvSpPr/>
          <p:nvPr/>
        </p:nvSpPr>
        <p:spPr>
          <a:xfrm>
            <a:off x="7315200" y="2926080"/>
            <a:ext cx="4297680" cy="91440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OpenAI 호환 엔드포인트</a:t>
            </a:r>
          </a:p>
          <a:p>
            <a:pPr algn="ctr"/>
            <a:r>
              <a:rPr sz="1200" b="0">
                <a:solidFill>
                  <a:srgbClr val="1F3A5F"/>
                </a:solidFill>
                <a:latin typeface="Malgun Gothic"/>
              </a:rPr>
              <a:t>수정 단계 없음</a:t>
            </a:r>
          </a:p>
        </p:txBody>
      </p:sp>
      <p:sp>
        <p:nvSpPr>
          <p:cNvPr id="14" name="Rounded Rectangle 13"/>
          <p:cNvSpPr/>
          <p:nvPr/>
        </p:nvSpPr>
        <p:spPr>
          <a:xfrm>
            <a:off x="7315200" y="4023360"/>
            <a:ext cx="4297680" cy="91440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1F3A5F"/>
                </a:solidFill>
                <a:latin typeface="Malgun Gothic"/>
              </a:rPr>
              <a:t>Ollama · LM Studio</a:t>
            </a:r>
          </a:p>
          <a:p>
            <a:pPr algn="ctr"/>
            <a:r>
              <a:rPr sz="1200" b="0">
                <a:solidFill>
                  <a:srgbClr val="1F3A5F"/>
                </a:solidFill>
                <a:latin typeface="Malgun Gothic"/>
              </a:rPr>
              <a:t>수정 단계 없음</a:t>
            </a:r>
          </a:p>
        </p:txBody>
      </p:sp>
      <p:cxnSp>
        <p:nvCxnSpPr>
          <p:cNvPr id="15" name="Connector 14"/>
          <p:cNvCxnSpPr/>
          <p:nvPr/>
        </p:nvCxnSpPr>
        <p:spPr>
          <a:xfrm flipV="1">
            <a:off x="6583680" y="2194560"/>
            <a:ext cx="731520" cy="100584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383280"/>
            <a:ext cx="731520" cy="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3680" y="3566160"/>
            <a:ext cx="731520" cy="91440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5349240"/>
            <a:ext cx="10972800" cy="365760"/>
          </a:xfrm>
          <a:prstGeom prst="rect">
            <a:avLst/>
          </a:prstGeom>
          <a:noFill/>
        </p:spPr>
        <p:txBody>
          <a:bodyPr wrap="square" lIns="45720" rIns="45720" tIns="27432" bIns="27432" anchor="t">
            <a:spAutoFit/>
          </a:bodyPr>
          <a:lstStyle/>
          <a:p>
            <a:pPr algn="l"/>
            <a:r>
              <a:rPr sz="1300" b="0">
                <a:solidFill>
                  <a:srgbClr val="5A6470"/>
                </a:solidFill>
                <a:latin typeface="Malgun Gothic"/>
              </a:rPr>
              <a:t>서버 엔드포인트: /api/street-route (OSRM) · /api/wiki · /api/image-search</a:t>
            </a:r>
          </a:p>
        </p:txBody>
      </p:sp>
      <p:sp>
        <p:nvSpPr>
          <p:cNvPr id="19" name="TextBox 18"/>
          <p:cNvSpPr txBox="1"/>
          <p:nvPr/>
        </p:nvSpPr>
        <p:spPr>
          <a:xfrm>
            <a:off x="548640" y="5760720"/>
            <a:ext cx="10972800" cy="365760"/>
          </a:xfrm>
          <a:prstGeom prst="rect">
            <a:avLst/>
          </a:prstGeom>
          <a:noFill/>
        </p:spPr>
        <p:txBody>
          <a:bodyPr wrap="square" lIns="45720" rIns="45720" tIns="27432" bIns="27432" anchor="t">
            <a:spAutoFit/>
          </a:bodyPr>
          <a:lstStyle/>
          <a:p>
            <a:pPr algn="l"/>
            <a:r>
              <a:rPr sz="1300" b="0">
                <a:solidFill>
                  <a:srgbClr val="5A6470"/>
                </a:solidFill>
                <a:latin typeface="Malgun Gothic"/>
              </a:rPr>
              <a:t>기본 모델 openai/gpt-6.1-sol · Node 24 · 채팅은 라이트 테마 전용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OpenUI Lang: 생성은 한 번, 실행은 런타임</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02 구현</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13</a:t>
            </a:r>
          </a:p>
        </p:txBody>
      </p:sp>
      <p:sp>
        <p:nvSpPr>
          <p:cNvPr id="6" name="Rounded Rectangle 5"/>
          <p:cNvSpPr/>
          <p:nvPr/>
        </p:nvSpPr>
        <p:spPr>
          <a:xfrm>
            <a:off x="548640" y="1463040"/>
            <a:ext cx="6035040" cy="2377440"/>
          </a:xfrm>
          <a:prstGeom prst="roundRect">
            <a:avLst>
              <a:gd name="adj" fmla="val 5000"/>
            </a:avLst>
          </a:prstGeom>
          <a:solidFill>
            <a:srgbClr val="1E25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00200"/>
            <a:ext cx="5760720" cy="2194560"/>
          </a:xfrm>
          <a:prstGeom prst="rect">
            <a:avLst/>
          </a:prstGeom>
          <a:noFill/>
        </p:spPr>
        <p:txBody>
          <a:bodyPr wrap="square" lIns="45720" rIns="45720" tIns="27432" bIns="27432" anchor="t">
            <a:spAutoFit/>
          </a:bodyPr>
          <a:lstStyle/>
          <a:p>
            <a:pPr algn="l"/>
            <a:r>
              <a:rPr sz="1300" b="0">
                <a:solidFill>
                  <a:srgbClr val="E6EEF7"/>
                </a:solidFill>
                <a:latin typeface="Menlo"/>
              </a:rPr>
              <a:t>$title = ""</a:t>
            </a:r>
          </a:p>
          <a:p>
            <a:pPr algn="l"/>
            <a:r>
              <a:rPr sz="1300" b="0">
                <a:solidFill>
                  <a:srgbClr val="E6EEF7"/>
                </a:solidFill>
                <a:latin typeface="Menlo"/>
              </a:rPr>
              <a:t>$priority = "medium"</a:t>
            </a:r>
          </a:p>
          <a:p>
            <a:pPr algn="l"/>
            <a:r>
              <a:rPr sz="1300" b="0">
                <a:solidFill>
                  <a:srgbClr val="E6EEF7"/>
                </a:solidFill>
                <a:latin typeface="Menlo"/>
              </a:rPr>
              <a:t>tickets = Query("list_tickets", {}, {rows: []})</a:t>
            </a:r>
          </a:p>
          <a:p>
            <a:pPr algn="l"/>
            <a:r>
              <a:rPr sz="1300" b="0">
                <a:solidFill>
                  <a:srgbClr val="E6EEF7"/>
                </a:solidFill>
                <a:latin typeface="Menlo"/>
              </a:rPr>
              <a:t>createResult = Mutation("create_ticket", {title: $title, priority: $priority})</a:t>
            </a:r>
          </a:p>
          <a:p>
            <a:pPr algn="l"/>
            <a:r>
              <a:rPr sz="1300" b="0">
                <a:solidFill>
                  <a:srgbClr val="E6EEF7"/>
                </a:solidFill>
                <a:latin typeface="Menlo"/>
              </a:rPr>
              <a:t>submitBtn = Button("Create", Action([@Run(createResult), @Run(tickets)]), "primary")</a:t>
            </a:r>
          </a:p>
        </p:txBody>
      </p:sp>
      <p:sp>
        <p:nvSpPr>
          <p:cNvPr id="8" name="Rounded Rectangle 7"/>
          <p:cNvSpPr/>
          <p:nvPr/>
        </p:nvSpPr>
        <p:spPr>
          <a:xfrm>
            <a:off x="548640" y="4114800"/>
            <a:ext cx="2926080" cy="118872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1F3A5F"/>
                </a:solidFill>
                <a:latin typeface="Malgun Gothic"/>
              </a:rPr>
              <a:t>생성 (LLM)</a:t>
            </a:r>
          </a:p>
          <a:p>
            <a:pPr algn="ctr"/>
            <a:r>
              <a:rPr sz="1300" b="0">
                <a:solidFill>
                  <a:srgbClr val="1F3A5F"/>
                </a:solidFill>
                <a:latin typeface="Malgun Gothic"/>
              </a:rPr>
              <a:t>프로그램 1회</a:t>
            </a:r>
          </a:p>
        </p:txBody>
      </p:sp>
      <p:sp>
        <p:nvSpPr>
          <p:cNvPr id="9" name="Rounded Rectangle 8"/>
          <p:cNvSpPr/>
          <p:nvPr/>
        </p:nvSpPr>
        <p:spPr>
          <a:xfrm>
            <a:off x="3657600" y="4114800"/>
            <a:ext cx="2926080" cy="118872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1F3A5F"/>
                </a:solidFill>
                <a:latin typeface="Malgun Gothic"/>
              </a:rPr>
              <a:t>실행 (런타임)</a:t>
            </a:r>
          </a:p>
          <a:p>
            <a:pPr algn="ctr"/>
            <a:r>
              <a:rPr sz="1300" b="0">
                <a:solidFill>
                  <a:srgbClr val="1F3A5F"/>
                </a:solidFill>
                <a:latin typeface="Malgun Gothic"/>
              </a:rPr>
              <a:t>모델 호출 0회</a:t>
            </a:r>
          </a:p>
        </p:txBody>
      </p:sp>
      <p:sp>
        <p:nvSpPr>
          <p:cNvPr id="10" name="TextBox 9"/>
          <p:cNvSpPr txBox="1"/>
          <p:nvPr/>
        </p:nvSpPr>
        <p:spPr>
          <a:xfrm>
            <a:off x="6949440" y="1463040"/>
            <a:ext cx="4754880" cy="457200"/>
          </a:xfrm>
          <a:prstGeom prst="rect">
            <a:avLst/>
          </a:prstGeom>
          <a:noFill/>
        </p:spPr>
        <p:txBody>
          <a:bodyPr wrap="square" lIns="45720" rIns="45720" tIns="27432" bIns="27432" anchor="t">
            <a:spAutoFit/>
          </a:bodyPr>
          <a:lstStyle/>
          <a:p>
            <a:pPr algn="l"/>
            <a:r>
              <a:rPr sz="1600" b="1">
                <a:solidFill>
                  <a:srgbClr val="1F3A5F"/>
                </a:solidFill>
                <a:latin typeface="Malgun Gothic"/>
              </a:rPr>
              <a:t>증분 편집 (문서 기준 대략치)</a:t>
            </a:r>
          </a:p>
        </p:txBody>
      </p:sp>
      <p:sp>
        <p:nvSpPr>
          <p:cNvPr id="11" name="TextBox 10"/>
          <p:cNvSpPr txBox="1"/>
          <p:nvPr/>
        </p:nvSpPr>
        <p:spPr>
          <a:xfrm>
            <a:off x="6949440" y="2103120"/>
            <a:ext cx="1828800" cy="365760"/>
          </a:xfrm>
          <a:prstGeom prst="rect">
            <a:avLst/>
          </a:prstGeom>
          <a:noFill/>
        </p:spPr>
        <p:txBody>
          <a:bodyPr wrap="square" lIns="45720" rIns="45720" tIns="27432" bIns="27432" anchor="t">
            <a:spAutoFit/>
          </a:bodyPr>
          <a:lstStyle/>
          <a:p>
            <a:pPr algn="l"/>
            <a:r>
              <a:rPr sz="1300" b="0">
                <a:solidFill>
                  <a:srgbClr val="5A6470"/>
                </a:solidFill>
                <a:latin typeface="Malgun Gothic"/>
              </a:rPr>
              <a:t>전체 20줄</a:t>
            </a:r>
          </a:p>
        </p:txBody>
      </p:sp>
      <p:sp>
        <p:nvSpPr>
          <p:cNvPr id="12" name="Rectangle 11"/>
          <p:cNvSpPr/>
          <p:nvPr/>
        </p:nvSpPr>
        <p:spPr>
          <a:xfrm>
            <a:off x="6949440" y="2468880"/>
            <a:ext cx="4572000" cy="457200"/>
          </a:xfrm>
          <a:prstGeom prst="rect">
            <a:avLst/>
          </a:prstGeom>
          <a:solidFill>
            <a:srgbClr val="4A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2487168"/>
            <a:ext cx="4572000" cy="420624"/>
          </a:xfrm>
          <a:prstGeom prst="rect">
            <a:avLst/>
          </a:prstGeom>
          <a:noFill/>
        </p:spPr>
        <p:txBody>
          <a:bodyPr wrap="square" lIns="45720" rIns="45720" tIns="27432" bIns="27432" anchor="ctr">
            <a:spAutoFit/>
          </a:bodyPr>
          <a:lstStyle/>
          <a:p>
            <a:pPr algn="ctr"/>
            <a:r>
              <a:rPr sz="1400" b="1">
                <a:solidFill>
                  <a:srgbClr val="FFFFFF"/>
                </a:solidFill>
                <a:latin typeface="Malgun Gothic"/>
              </a:rPr>
              <a:t>≈ 400 토큰</a:t>
            </a:r>
          </a:p>
        </p:txBody>
      </p:sp>
      <p:sp>
        <p:nvSpPr>
          <p:cNvPr id="14" name="TextBox 13"/>
          <p:cNvSpPr txBox="1"/>
          <p:nvPr/>
        </p:nvSpPr>
        <p:spPr>
          <a:xfrm>
            <a:off x="6949440" y="3108960"/>
            <a:ext cx="1828800" cy="365760"/>
          </a:xfrm>
          <a:prstGeom prst="rect">
            <a:avLst/>
          </a:prstGeom>
          <a:noFill/>
        </p:spPr>
        <p:txBody>
          <a:bodyPr wrap="square" lIns="45720" rIns="45720" tIns="27432" bIns="27432" anchor="t">
            <a:spAutoFit/>
          </a:bodyPr>
          <a:lstStyle/>
          <a:p>
            <a:pPr algn="l"/>
            <a:r>
              <a:rPr sz="1300" b="0">
                <a:solidFill>
                  <a:srgbClr val="5A6470"/>
                </a:solidFill>
                <a:latin typeface="Malgun Gothic"/>
              </a:rPr>
              <a:t>패치 2~3줄</a:t>
            </a:r>
          </a:p>
        </p:txBody>
      </p:sp>
      <p:sp>
        <p:nvSpPr>
          <p:cNvPr id="15" name="Rectangle 14"/>
          <p:cNvSpPr/>
          <p:nvPr/>
        </p:nvSpPr>
        <p:spPr>
          <a:xfrm>
            <a:off x="6949440" y="3474720"/>
            <a:ext cx="685800" cy="45720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3493008"/>
            <a:ext cx="2286000" cy="420624"/>
          </a:xfrm>
          <a:prstGeom prst="rect">
            <a:avLst/>
          </a:prstGeom>
          <a:noFill/>
        </p:spPr>
        <p:txBody>
          <a:bodyPr wrap="square" lIns="45720" rIns="45720" tIns="27432" bIns="27432" anchor="ctr">
            <a:spAutoFit/>
          </a:bodyPr>
          <a:lstStyle/>
          <a:p>
            <a:pPr algn="l"/>
            <a:r>
              <a:rPr sz="1400" b="1">
                <a:solidFill>
                  <a:srgbClr val="D9822B"/>
                </a:solidFill>
                <a:latin typeface="Malgun Gothic"/>
              </a:rPr>
              <a:t>≈ 60 토큰</a:t>
            </a:r>
          </a:p>
        </p:txBody>
      </p:sp>
      <p:sp>
        <p:nvSpPr>
          <p:cNvPr id="17" name="Rounded Rectangle 16"/>
          <p:cNvSpPr/>
          <p:nvPr/>
        </p:nvSpPr>
        <p:spPr>
          <a:xfrm>
            <a:off x="6949440" y="4297680"/>
            <a:ext cx="4572000" cy="1005840"/>
          </a:xfrm>
          <a:prstGeom prst="roundRect">
            <a:avLst>
              <a:gd name="adj" fmla="val 12000"/>
            </a:avLst>
          </a:prstGeom>
          <a:solidFill>
            <a:srgbClr val="FDECEC"/>
          </a:solidFill>
          <a:ln w="15875">
            <a:solidFill>
              <a:srgbClr val="C7505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C75050"/>
                </a:solidFill>
                <a:latin typeface="Malgun Gothic"/>
              </a:rPr>
              <a:t>JSON 대비 합산 52% 적음 (제작사 측정)</a:t>
            </a:r>
          </a:p>
          <a:p>
            <a:pPr algn="ctr"/>
            <a:r>
              <a:rPr sz="1100" b="0">
                <a:solidFill>
                  <a:srgbClr val="C75050"/>
                </a:solidFill>
                <a:latin typeface="Malgun Gothic"/>
              </a:rPr>
              <a:t>7개 시나리오: 4,800 vs 10,180</a:t>
            </a:r>
          </a:p>
        </p:txBody>
      </p:sp>
      <p:sp>
        <p:nvSpPr>
          <p:cNvPr id="18" name="TextBox 17"/>
          <p:cNvSpPr txBox="1"/>
          <p:nvPr/>
        </p:nvSpPr>
        <p:spPr>
          <a:xfrm>
            <a:off x="548640" y="5577840"/>
            <a:ext cx="10972800" cy="457200"/>
          </a:xfrm>
          <a:prstGeom prst="rect">
            <a:avLst/>
          </a:prstGeom>
          <a:noFill/>
        </p:spPr>
        <p:txBody>
          <a:bodyPr wrap="square" lIns="45720" rIns="45720" tIns="27432" bIns="27432" anchor="t">
            <a:spAutoFit/>
          </a:bodyPr>
          <a:lstStyle/>
          <a:p>
            <a:pPr algn="l"/>
            <a:r>
              <a:rPr sz="1500" b="1">
                <a:solidFill>
                  <a:srgbClr val="1F3A5F"/>
                </a:solidFill>
                <a:latin typeface="Malgun Gothic"/>
              </a:rPr>
              <a:t>$variables 변경 → 의존 쿼리 재실행 → 모델 없이 화면 갱신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2743200" cy="1371600"/>
          </a:xfrm>
          <a:prstGeom prst="rect">
            <a:avLst/>
          </a:prstGeom>
          <a:noFill/>
        </p:spPr>
        <p:txBody>
          <a:bodyPr wrap="square" lIns="45720" rIns="45720" tIns="27432" bIns="27432" anchor="t">
            <a:spAutoFit/>
          </a:bodyPr>
          <a:lstStyle/>
          <a:p>
            <a:pPr algn="l"/>
            <a:r>
              <a:rPr sz="8800" b="1">
                <a:solidFill>
                  <a:srgbClr val="D9822B"/>
                </a:solidFill>
                <a:latin typeface="Malgun Gothic"/>
              </a:rPr>
              <a:t>03</a:t>
            </a:r>
          </a:p>
        </p:txBody>
      </p:sp>
      <p:sp>
        <p:nvSpPr>
          <p:cNvPr id="4" name="TextBox 3"/>
          <p:cNvSpPr txBox="1"/>
          <p:nvPr/>
        </p:nvSpPr>
        <p:spPr>
          <a:xfrm>
            <a:off x="822960" y="3566160"/>
            <a:ext cx="10058400" cy="822960"/>
          </a:xfrm>
          <a:prstGeom prst="rect">
            <a:avLst/>
          </a:prstGeom>
          <a:noFill/>
        </p:spPr>
        <p:txBody>
          <a:bodyPr wrap="square" lIns="45720" rIns="45720" tIns="27432" bIns="27432" anchor="t">
            <a:spAutoFit/>
          </a:bodyPr>
          <a:lstStyle/>
          <a:p>
            <a:pPr algn="l"/>
            <a:r>
              <a:rPr sz="3600" b="1">
                <a:solidFill>
                  <a:srgbClr val="1F3A5F"/>
                </a:solidFill>
                <a:latin typeface="Malgun Gothic"/>
              </a:rPr>
              <a:t>비교와 선택</a:t>
            </a:r>
          </a:p>
        </p:txBody>
      </p:sp>
      <p:sp>
        <p:nvSpPr>
          <p:cNvPr id="5" name="TextBox 4"/>
          <p:cNvSpPr txBox="1"/>
          <p:nvPr/>
        </p:nvSpPr>
        <p:spPr>
          <a:xfrm>
            <a:off x="822960" y="4389120"/>
            <a:ext cx="10058400" cy="548640"/>
          </a:xfrm>
          <a:prstGeom prst="rect">
            <a:avLst/>
          </a:prstGeom>
          <a:noFill/>
        </p:spPr>
        <p:txBody>
          <a:bodyPr wrap="square" lIns="45720" rIns="45720" tIns="27432" bIns="27432" anchor="t">
            <a:spAutoFit/>
          </a:bodyPr>
          <a:lstStyle/>
          <a:p>
            <a:pPr algn="l"/>
            <a:r>
              <a:rPr sz="1800" b="0">
                <a:solidFill>
                  <a:srgbClr val="5A6470"/>
                </a:solidFill>
                <a:latin typeface="Malgun Gothic"/>
              </a:rPr>
              <a:t>포맷 · 한계 · 선택 기준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두 구현 비교</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03 비교</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15</a:t>
            </a:r>
          </a:p>
        </p:txBody>
      </p:sp>
      <p:graphicFrame>
        <p:nvGraphicFramePr>
          <p:cNvPr id="6" name="Table 5"/>
          <p:cNvGraphicFramePr>
            <a:graphicFrameLocks noGrp="1"/>
          </p:cNvGraphicFramePr>
          <p:nvPr/>
        </p:nvGraphicFramePr>
        <p:xfrm>
          <a:off x="548640" y="1371600"/>
          <a:ext cx="11064240" cy="4754880"/>
        </p:xfrm>
        <a:graphic>
          <a:graphicData uri="http://schemas.openxmlformats.org/drawingml/2006/table">
            <a:tbl>
              <a:tblPr firstRow="0" bandRow="0">
                <a:tableStyleId>{5C22544A-7EE6-4342-B048-85BDC9FD1C3A}</a:tableStyleId>
              </a:tblPr>
              <a:tblGrid>
                <a:gridCol w="1920240"/>
                <a:gridCol w="4572000"/>
                <a:gridCol w="4572000"/>
              </a:tblGrid>
              <a:tr h="528320">
                <a:tc>
                  <a:txBody>
                    <a:bodyPr wrap="square"/>
                    <a:lstStyle/>
                    <a:p>
                      <a:pPr algn="l"/>
                      <a:r>
                        <a:rPr sz="1300" b="1">
                          <a:solidFill>
                            <a:srgbClr val="FFFFFF"/>
                          </a:solidFill>
                          <a:latin typeface="Malgun Gothic"/>
                        </a:rPr>
                        <a:t>축</a:t>
                      </a:r>
                    </a:p>
                  </a:txBody>
                  <a:tcPr marL="64008" marR="64008" marT="27432" marB="27432" anchor="ctr">
                    <a:solidFill>
                      <a:srgbClr val="1F3A5F"/>
                    </a:solidFill>
                  </a:tcPr>
                </a:tc>
                <a:tc>
                  <a:txBody>
                    <a:bodyPr wrap="square"/>
                    <a:lstStyle/>
                    <a:p>
                      <a:pPr algn="l"/>
                      <a:r>
                        <a:rPr sz="1300" b="1">
                          <a:solidFill>
                            <a:srgbClr val="FFFFFF"/>
                          </a:solidFill>
                          <a:latin typeface="Malgun Gothic"/>
                        </a:rPr>
                        <a:t>CK 구현 (CopilotKit)</a:t>
                      </a:r>
                    </a:p>
                  </a:txBody>
                  <a:tcPr marL="64008" marR="64008" marT="27432" marB="27432" anchor="ctr">
                    <a:solidFill>
                      <a:srgbClr val="1F3A5F"/>
                    </a:solidFill>
                  </a:tcPr>
                </a:tc>
                <a:tc>
                  <a:txBody>
                    <a:bodyPr wrap="square"/>
                    <a:lstStyle/>
                    <a:p>
                      <a:pPr algn="l"/>
                      <a:r>
                        <a:rPr sz="1300" b="1">
                          <a:solidFill>
                            <a:srgbClr val="FFFFFF"/>
                          </a:solidFill>
                          <a:latin typeface="Malgun Gothic"/>
                        </a:rPr>
                        <a:t>TS 구현 (Thesys)</a:t>
                      </a:r>
                    </a:p>
                  </a:txBody>
                  <a:tcPr marL="64008" marR="64008" marT="27432" marB="27432" anchor="ctr">
                    <a:solidFill>
                      <a:srgbClr val="1F3A5F"/>
                    </a:solidFill>
                  </a:tcPr>
                </a:tc>
              </a:tr>
              <a:tr h="528320">
                <a:tc>
                  <a:txBody>
                    <a:bodyPr wrap="square"/>
                    <a:lstStyle/>
                    <a:p>
                      <a:pPr algn="l"/>
                      <a:r>
                        <a:rPr sz="1300" b="1">
                          <a:solidFill>
                            <a:srgbClr val="1F3A5F"/>
                          </a:solidFill>
                          <a:latin typeface="Malgun Gothic"/>
                        </a:rPr>
                        <a:t>렌더링 포맷</a:t>
                      </a:r>
                    </a:p>
                  </a:txBody>
                  <a:tcPr marL="64008" marR="64008" marT="27432" marB="27432" anchor="ctr">
                    <a:solidFill>
                      <a:srgbClr val="EEF4FB"/>
                    </a:solidFill>
                  </a:tcPr>
                </a:tc>
                <a:tc>
                  <a:txBody>
                    <a:bodyPr wrap="square"/>
                    <a:lstStyle/>
                    <a:p>
                      <a:pPr algn="l"/>
                      <a:r>
                        <a:rPr sz="1300" b="0">
                          <a:solidFill>
                            <a:srgbClr val="1E252E"/>
                          </a:solidFill>
                          <a:latin typeface="Malgun Gothic"/>
                        </a:rPr>
                        <a:t>HTML·CSS·JS + A2UI 표</a:t>
                      </a:r>
                    </a:p>
                  </a:txBody>
                  <a:tcPr marL="64008" marR="64008" marT="27432" marB="27432" anchor="ctr">
                    <a:solidFill>
                      <a:srgbClr val="EEF4FB"/>
                    </a:solidFill>
                  </a:tcPr>
                </a:tc>
                <a:tc>
                  <a:txBody>
                    <a:bodyPr wrap="square"/>
                    <a:lstStyle/>
                    <a:p>
                      <a:pPr algn="l"/>
                      <a:r>
                        <a:rPr sz="1300" b="0">
                          <a:solidFill>
                            <a:srgbClr val="1E252E"/>
                          </a:solidFill>
                          <a:latin typeface="Malgun Gothic"/>
                        </a:rPr>
                        <a:t>OpenUI Lang 1.0 (+HtmlView)</a:t>
                      </a:r>
                    </a:p>
                  </a:txBody>
                  <a:tcPr marL="64008" marR="64008" marT="27432" marB="27432" anchor="ctr">
                    <a:solidFill>
                      <a:srgbClr val="EEF4FB"/>
                    </a:solidFill>
                  </a:tcPr>
                </a:tc>
              </a:tr>
              <a:tr h="528320">
                <a:tc>
                  <a:txBody>
                    <a:bodyPr wrap="square"/>
                    <a:lstStyle/>
                    <a:p>
                      <a:pPr algn="l"/>
                      <a:r>
                        <a:rPr sz="1300" b="1">
                          <a:solidFill>
                            <a:srgbClr val="1F3A5F"/>
                          </a:solidFill>
                          <a:latin typeface="Malgun Gothic"/>
                        </a:rPr>
                        <a:t>검증</a:t>
                      </a:r>
                    </a:p>
                  </a:txBody>
                  <a:tcPr marL="64008" marR="64008" marT="27432" marB="27432" anchor="ctr">
                    <a:solidFill>
                      <a:srgbClr val="FFFFFF"/>
                    </a:solidFill>
                  </a:tcPr>
                </a:tc>
                <a:tc>
                  <a:txBody>
                    <a:bodyPr wrap="square"/>
                    <a:lstStyle/>
                    <a:p>
                      <a:pPr algn="l"/>
                      <a:r>
                        <a:rPr sz="1300" b="0">
                          <a:solidFill>
                            <a:srgbClr val="1E252E"/>
                          </a:solidFill>
                          <a:latin typeface="Malgun Gothic"/>
                        </a:rPr>
                        <a:t>iframe 격리 + Zod 브리지</a:t>
                      </a:r>
                    </a:p>
                  </a:txBody>
                  <a:tcPr marL="64008" marR="64008" marT="27432" marB="27432" anchor="ctr">
                    <a:solidFill>
                      <a:srgbClr val="FFFFFF"/>
                    </a:solidFill>
                  </a:tcPr>
                </a:tc>
                <a:tc>
                  <a:txBody>
                    <a:bodyPr wrap="square"/>
                    <a:lstStyle/>
                    <a:p>
                      <a:pPr algn="l"/>
                      <a:r>
                        <a:rPr sz="1300" b="0">
                          <a:solidFill>
                            <a:srgbClr val="1E252E"/>
                          </a:solidFill>
                          <a:latin typeface="Malgun Gothic"/>
                        </a:rPr>
                        <a:t>Gateway 검증·자동 수정</a:t>
                      </a:r>
                    </a:p>
                  </a:txBody>
                  <a:tcPr marL="64008" marR="64008" marT="27432" marB="27432" anchor="ctr">
                    <a:solidFill>
                      <a:srgbClr val="FFFFFF"/>
                    </a:solidFill>
                  </a:tcPr>
                </a:tc>
              </a:tr>
              <a:tr h="528320">
                <a:tc>
                  <a:txBody>
                    <a:bodyPr wrap="square"/>
                    <a:lstStyle/>
                    <a:p>
                      <a:pPr algn="l"/>
                      <a:r>
                        <a:rPr sz="1300" b="1">
                          <a:solidFill>
                            <a:srgbClr val="1F3A5F"/>
                          </a:solidFill>
                          <a:latin typeface="Malgun Gothic"/>
                        </a:rPr>
                        <a:t>답변 모델</a:t>
                      </a:r>
                    </a:p>
                  </a:txBody>
                  <a:tcPr marL="64008" marR="64008" marT="27432" marB="27432" anchor="ctr">
                    <a:solidFill>
                      <a:srgbClr val="EEF4FB"/>
                    </a:solidFill>
                  </a:tcPr>
                </a:tc>
                <a:tc>
                  <a:txBody>
                    <a:bodyPr wrap="square"/>
                    <a:lstStyle/>
                    <a:p>
                      <a:pPr algn="l"/>
                      <a:r>
                        <a:rPr sz="1300" b="0">
                          <a:solidFill>
                            <a:srgbClr val="1E252E"/>
                          </a:solidFill>
                          <a:latin typeface="Malgun Gothic"/>
                        </a:rPr>
                        <a:t>chat-latest (교체 가능)</a:t>
                      </a:r>
                    </a:p>
                  </a:txBody>
                  <a:tcPr marL="64008" marR="64008" marT="27432" marB="27432" anchor="ctr">
                    <a:solidFill>
                      <a:srgbClr val="EEF4FB"/>
                    </a:solidFill>
                  </a:tcPr>
                </a:tc>
                <a:tc>
                  <a:txBody>
                    <a:bodyPr wrap="square"/>
                    <a:lstStyle/>
                    <a:p>
                      <a:pPr algn="l"/>
                      <a:r>
                        <a:rPr sz="1300" b="0">
                          <a:solidFill>
                            <a:srgbClr val="1E252E"/>
                          </a:solidFill>
                          <a:latin typeface="Malgun Gothic"/>
                        </a:rPr>
                        <a:t>gpt-6.1-sol · OpenAI 호환 · Ollama</a:t>
                      </a:r>
                    </a:p>
                  </a:txBody>
                  <a:tcPr marL="64008" marR="64008" marT="27432" marB="27432" anchor="ctr">
                    <a:solidFill>
                      <a:srgbClr val="EEF4FB"/>
                    </a:solidFill>
                  </a:tcPr>
                </a:tc>
              </a:tr>
              <a:tr h="528320">
                <a:tc>
                  <a:txBody>
                    <a:bodyPr wrap="square"/>
                    <a:lstStyle/>
                    <a:p>
                      <a:pPr algn="l"/>
                      <a:r>
                        <a:rPr sz="1300" b="1">
                          <a:solidFill>
                            <a:srgbClr val="1F3A5F"/>
                          </a:solidFill>
                          <a:latin typeface="Malgun Gothic"/>
                        </a:rPr>
                        <a:t>라우터</a:t>
                      </a:r>
                    </a:p>
                  </a:txBody>
                  <a:tcPr marL="64008" marR="64008" marT="27432" marB="27432" anchor="ctr">
                    <a:solidFill>
                      <a:srgbClr val="FFFFFF"/>
                    </a:solidFill>
                  </a:tcPr>
                </a:tc>
                <a:tc>
                  <a:txBody>
                    <a:bodyPr wrap="square"/>
                    <a:lstStyle/>
                    <a:p>
                      <a:pPr algn="l"/>
                      <a:r>
                        <a:rPr sz="1300" b="0">
                          <a:solidFill>
                            <a:srgbClr val="1E252E"/>
                          </a:solidFill>
                          <a:latin typeface="Malgun Gothic"/>
                        </a:rPr>
                        <a:t>Jev (턴마다)</a:t>
                      </a:r>
                    </a:p>
                  </a:txBody>
                  <a:tcPr marL="64008" marR="64008" marT="27432" marB="27432" anchor="ctr">
                    <a:solidFill>
                      <a:srgbClr val="FFFFFF"/>
                    </a:solidFill>
                  </a:tcPr>
                </a:tc>
                <a:tc>
                  <a:txBody>
                    <a:bodyPr wrap="square"/>
                    <a:lstStyle/>
                    <a:p>
                      <a:pPr algn="l"/>
                      <a:r>
                        <a:rPr sz="1300" b="0">
                          <a:solidFill>
                            <a:srgbClr val="1E252E"/>
                          </a:solidFill>
                          <a:latin typeface="Malgun Gothic"/>
                        </a:rPr>
                        <a:t>문서상 없음</a:t>
                      </a:r>
                    </a:p>
                  </a:txBody>
                  <a:tcPr marL="64008" marR="64008" marT="27432" marB="27432" anchor="ctr">
                    <a:solidFill>
                      <a:srgbClr val="FFFFFF"/>
                    </a:solidFill>
                  </a:tcPr>
                </a:tc>
              </a:tr>
              <a:tr h="528320">
                <a:tc>
                  <a:txBody>
                    <a:bodyPr wrap="square"/>
                    <a:lstStyle/>
                    <a:p>
                      <a:pPr algn="l"/>
                      <a:r>
                        <a:rPr sz="1300" b="1">
                          <a:solidFill>
                            <a:srgbClr val="1F3A5F"/>
                          </a:solidFill>
                          <a:latin typeface="Malgun Gothic"/>
                        </a:rPr>
                        <a:t>상호작용</a:t>
                      </a:r>
                    </a:p>
                  </a:txBody>
                  <a:tcPr marL="64008" marR="64008" marT="27432" marB="27432" anchor="ctr">
                    <a:solidFill>
                      <a:srgbClr val="EEF4FB"/>
                    </a:solidFill>
                  </a:tcPr>
                </a:tc>
                <a:tc>
                  <a:txBody>
                    <a:bodyPr wrap="square"/>
                    <a:lstStyle/>
                    <a:p>
                      <a:pPr algn="l"/>
                      <a:r>
                        <a:rPr sz="1300" b="0">
                          <a:solidFill>
                            <a:srgbClr val="1E252E"/>
                          </a:solidFill>
                          <a:latin typeface="Malgun Gothic"/>
                        </a:rPr>
                        <a:t>iframe 내부 JS · sendPrompt=새 턴</a:t>
                      </a:r>
                    </a:p>
                  </a:txBody>
                  <a:tcPr marL="64008" marR="64008" marT="27432" marB="27432" anchor="ctr">
                    <a:solidFill>
                      <a:srgbClr val="EEF4FB"/>
                    </a:solidFill>
                  </a:tcPr>
                </a:tc>
                <a:tc>
                  <a:txBody>
                    <a:bodyPr wrap="square"/>
                    <a:lstStyle/>
                    <a:p>
                      <a:pPr algn="l"/>
                      <a:r>
                        <a:rPr sz="1300" b="0">
                          <a:solidFill>
                            <a:srgbClr val="1E252E"/>
                          </a:solidFill>
                          <a:latin typeface="Malgun Gothic"/>
                        </a:rPr>
                        <a:t>$variables · @functions · Query</a:t>
                      </a:r>
                    </a:p>
                  </a:txBody>
                  <a:tcPr marL="64008" marR="64008" marT="27432" marB="27432" anchor="ctr">
                    <a:solidFill>
                      <a:srgbClr val="EEF4FB"/>
                    </a:solidFill>
                  </a:tcPr>
                </a:tc>
              </a:tr>
              <a:tr h="528320">
                <a:tc>
                  <a:txBody>
                    <a:bodyPr wrap="square"/>
                    <a:lstStyle/>
                    <a:p>
                      <a:pPr algn="l"/>
                      <a:r>
                        <a:rPr sz="1300" b="1">
                          <a:solidFill>
                            <a:srgbClr val="1F3A5F"/>
                          </a:solidFill>
                          <a:latin typeface="Malgun Gothic"/>
                        </a:rPr>
                        <a:t>상태</a:t>
                      </a:r>
                    </a:p>
                  </a:txBody>
                  <a:tcPr marL="64008" marR="64008" marT="27432" marB="27432" anchor="ctr">
                    <a:solidFill>
                      <a:srgbClr val="FFFFFF"/>
                    </a:solidFill>
                  </a:tcPr>
                </a:tc>
                <a:tc>
                  <a:txBody>
                    <a:bodyPr wrap="square"/>
                    <a:lstStyle/>
                    <a:p>
                      <a:pPr algn="l"/>
                      <a:r>
                        <a:rPr sz="1300" b="0">
                          <a:solidFill>
                            <a:srgbClr val="1E252E"/>
                          </a:solidFill>
                          <a:latin typeface="Malgun Gothic"/>
                        </a:rPr>
                        <a:t>프로세스 메모리 체크포인트</a:t>
                      </a:r>
                    </a:p>
                  </a:txBody>
                  <a:tcPr marL="64008" marR="64008" marT="27432" marB="27432" anchor="ctr">
                    <a:solidFill>
                      <a:srgbClr val="FFFFFF"/>
                    </a:solidFill>
                  </a:tcPr>
                </a:tc>
                <a:tc>
                  <a:txBody>
                    <a:bodyPr wrap="square"/>
                    <a:lstStyle/>
                    <a:p>
                      <a:pPr algn="l"/>
                      <a:r>
                        <a:rPr sz="1300" b="0">
                          <a:solidFill>
                            <a:srgbClr val="1E252E"/>
                          </a:solidFill>
                          <a:latin typeface="Malgun Gothic"/>
                        </a:rPr>
                        <a:t>localStorage 스레드</a:t>
                      </a:r>
                    </a:p>
                  </a:txBody>
                  <a:tcPr marL="64008" marR="64008" marT="27432" marB="27432" anchor="ctr">
                    <a:solidFill>
                      <a:srgbClr val="FFFFFF"/>
                    </a:solidFill>
                  </a:tcPr>
                </a:tc>
              </a:tr>
              <a:tr h="528320">
                <a:tc>
                  <a:txBody>
                    <a:bodyPr wrap="square"/>
                    <a:lstStyle/>
                    <a:p>
                      <a:pPr algn="l"/>
                      <a:r>
                        <a:rPr sz="1300" b="1">
                          <a:solidFill>
                            <a:srgbClr val="1F3A5F"/>
                          </a:solidFill>
                          <a:latin typeface="Malgun Gothic"/>
                        </a:rPr>
                        <a:t>샌드박싱</a:t>
                      </a:r>
                    </a:p>
                  </a:txBody>
                  <a:tcPr marL="64008" marR="64008" marT="27432" marB="27432" anchor="ctr">
                    <a:solidFill>
                      <a:srgbClr val="EEF4FB"/>
                    </a:solidFill>
                  </a:tcPr>
                </a:tc>
                <a:tc>
                  <a:txBody>
                    <a:bodyPr wrap="square"/>
                    <a:lstStyle/>
                    <a:p>
                      <a:pPr algn="l"/>
                      <a:r>
                        <a:rPr sz="1300" b="0">
                          <a:solidFill>
                            <a:srgbClr val="1E252E"/>
                          </a:solidFill>
                          <a:latin typeface="Malgun Gothic"/>
                        </a:rPr>
                        <a:t>모든 Open 출력</a:t>
                      </a:r>
                    </a:p>
                  </a:txBody>
                  <a:tcPr marL="64008" marR="64008" marT="27432" marB="27432" anchor="ctr">
                    <a:solidFill>
                      <a:srgbClr val="EEF4FB"/>
                    </a:solidFill>
                  </a:tcPr>
                </a:tc>
                <a:tc>
                  <a:txBody>
                    <a:bodyPr wrap="square"/>
                    <a:lstStyle/>
                    <a:p>
                      <a:pPr algn="l"/>
                      <a:r>
                        <a:rPr sz="1300" b="0">
                          <a:solidFill>
                            <a:srgbClr val="1E252E"/>
                          </a:solidFill>
                          <a:latin typeface="Malgun Gothic"/>
                        </a:rPr>
                        <a:t>HtmlView만</a:t>
                      </a:r>
                    </a:p>
                  </a:txBody>
                  <a:tcPr marL="64008" marR="64008" marT="27432" marB="27432" anchor="ctr">
                    <a:solidFill>
                      <a:srgbClr val="EEF4FB"/>
                    </a:solidFill>
                  </a:tcPr>
                </a:tc>
              </a:tr>
              <a:tr h="528320">
                <a:tc>
                  <a:txBody>
                    <a:bodyPr wrap="square"/>
                    <a:lstStyle/>
                    <a:p>
                      <a:pPr algn="l"/>
                      <a:r>
                        <a:rPr sz="1300" b="1">
                          <a:solidFill>
                            <a:srgbClr val="1F3A5F"/>
                          </a:solidFill>
                          <a:latin typeface="Malgun Gothic"/>
                        </a:rPr>
                        <a:t>키</a:t>
                      </a:r>
                    </a:p>
                  </a:txBody>
                  <a:tcPr marL="64008" marR="64008" marT="27432" marB="27432" anchor="ctr">
                    <a:solidFill>
                      <a:srgbClr val="FFFFFF"/>
                    </a:solidFill>
                  </a:tcPr>
                </a:tc>
                <a:tc>
                  <a:txBody>
                    <a:bodyPr wrap="square"/>
                    <a:lstStyle/>
                    <a:p>
                      <a:pPr algn="l"/>
                      <a:r>
                        <a:rPr sz="1300" b="0">
                          <a:solidFill>
                            <a:srgbClr val="1E252E"/>
                          </a:solidFill>
                          <a:latin typeface="Malgun Gothic"/>
                        </a:rPr>
                        <a:t>서버 또는 BYOK 헤더</a:t>
                      </a:r>
                    </a:p>
                  </a:txBody>
                  <a:tcPr marL="64008" marR="64008" marT="27432" marB="27432" anchor="ctr">
                    <a:solidFill>
                      <a:srgbClr val="FFFFFF"/>
                    </a:solidFill>
                  </a:tcPr>
                </a:tc>
                <a:tc>
                  <a:txBody>
                    <a:bodyPr wrap="square"/>
                    <a:lstStyle/>
                    <a:p>
                      <a:pPr algn="l"/>
                      <a:r>
                        <a:rPr sz="1300" b="0">
                          <a:solidFill>
                            <a:srgbClr val="1E252E"/>
                          </a:solidFill>
                          <a:latin typeface="Malgun Gothic"/>
                        </a:rPr>
                        <a:t>서버 환경 변수</a:t>
                      </a:r>
                    </a:p>
                  </a:txBody>
                  <a:tcPr marL="64008" marR="64008" marT="27432" marB="27432"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포맷 트레이드오프</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03 비교</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16</a:t>
            </a:r>
          </a:p>
        </p:txBody>
      </p:sp>
      <p:graphicFrame>
        <p:nvGraphicFramePr>
          <p:cNvPr id="6" name="Table 5"/>
          <p:cNvGraphicFramePr>
            <a:graphicFrameLocks noGrp="1"/>
          </p:cNvGraphicFramePr>
          <p:nvPr/>
        </p:nvGraphicFramePr>
        <p:xfrm>
          <a:off x="548640" y="1371600"/>
          <a:ext cx="11064240" cy="3931920"/>
        </p:xfrm>
        <a:graphic>
          <a:graphicData uri="http://schemas.openxmlformats.org/drawingml/2006/table">
            <a:tbl>
              <a:tblPr firstRow="0" bandRow="0">
                <a:tableStyleId>{5C22544A-7EE6-4342-B048-85BDC9FD1C3A}</a:tableStyleId>
              </a:tblPr>
              <a:tblGrid>
                <a:gridCol w="2286000"/>
                <a:gridCol w="2194560"/>
                <a:gridCol w="2194560"/>
                <a:gridCol w="2194560"/>
                <a:gridCol w="2194560"/>
              </a:tblGrid>
              <a:tr h="561702">
                <a:tc>
                  <a:txBody>
                    <a:bodyPr wrap="square"/>
                    <a:lstStyle/>
                    <a:p>
                      <a:pPr algn="l"/>
                      <a:r>
                        <a:rPr sz="1300" b="1">
                          <a:solidFill>
                            <a:srgbClr val="FFFFFF"/>
                          </a:solidFill>
                          <a:latin typeface="Malgun Gothic"/>
                        </a:rPr>
                        <a:t/>
                      </a:r>
                    </a:p>
                  </a:txBody>
                  <a:tcPr marL="64008" marR="64008" marT="27432" marB="27432" anchor="ctr">
                    <a:solidFill>
                      <a:srgbClr val="1F3A5F"/>
                    </a:solidFill>
                  </a:tcPr>
                </a:tc>
                <a:tc>
                  <a:txBody>
                    <a:bodyPr wrap="square"/>
                    <a:lstStyle/>
                    <a:p>
                      <a:pPr algn="l"/>
                      <a:r>
                        <a:rPr sz="1300" b="1">
                          <a:solidFill>
                            <a:srgbClr val="FFFFFF"/>
                          </a:solidFill>
                          <a:latin typeface="Malgun Gothic"/>
                        </a:rPr>
                        <a:t>OpenUI Lang</a:t>
                      </a:r>
                    </a:p>
                  </a:txBody>
                  <a:tcPr marL="64008" marR="64008" marT="27432" marB="27432" anchor="ctr">
                    <a:solidFill>
                      <a:srgbClr val="1F3A5F"/>
                    </a:solidFill>
                  </a:tcPr>
                </a:tc>
                <a:tc>
                  <a:txBody>
                    <a:bodyPr wrap="square"/>
                    <a:lstStyle/>
                    <a:p>
                      <a:pPr algn="l"/>
                      <a:r>
                        <a:rPr sz="1300" b="1">
                          <a:solidFill>
                            <a:srgbClr val="FFFFFF"/>
                          </a:solidFill>
                          <a:latin typeface="Malgun Gothic"/>
                        </a:rPr>
                        <a:t>A2UI</a:t>
                      </a:r>
                    </a:p>
                  </a:txBody>
                  <a:tcPr marL="64008" marR="64008" marT="27432" marB="27432" anchor="ctr">
                    <a:solidFill>
                      <a:srgbClr val="1F3A5F"/>
                    </a:solidFill>
                  </a:tcPr>
                </a:tc>
                <a:tc>
                  <a:txBody>
                    <a:bodyPr wrap="square"/>
                    <a:lstStyle/>
                    <a:p>
                      <a:pPr algn="l"/>
                      <a:r>
                        <a:rPr sz="1300" b="1">
                          <a:solidFill>
                            <a:srgbClr val="FFFFFF"/>
                          </a:solidFill>
                          <a:latin typeface="Malgun Gothic"/>
                        </a:rPr>
                        <a:t>json-render</a:t>
                      </a:r>
                    </a:p>
                  </a:txBody>
                  <a:tcPr marL="64008" marR="64008" marT="27432" marB="27432" anchor="ctr">
                    <a:solidFill>
                      <a:srgbClr val="1F3A5F"/>
                    </a:solidFill>
                  </a:tcPr>
                </a:tc>
                <a:tc>
                  <a:txBody>
                    <a:bodyPr wrap="square"/>
                    <a:lstStyle/>
                    <a:p>
                      <a:pPr algn="l"/>
                      <a:r>
                        <a:rPr sz="1300" b="1">
                          <a:solidFill>
                            <a:srgbClr val="FFFFFF"/>
                          </a:solidFill>
                          <a:latin typeface="Malgun Gothic"/>
                        </a:rPr>
                        <a:t>원시 HTML</a:t>
                      </a:r>
                    </a:p>
                  </a:txBody>
                  <a:tcPr marL="64008" marR="64008" marT="27432" marB="27432" anchor="ctr">
                    <a:solidFill>
                      <a:srgbClr val="1F3A5F"/>
                    </a:solidFill>
                  </a:tcPr>
                </a:tc>
              </a:tr>
              <a:tr h="561702">
                <a:tc>
                  <a:txBody>
                    <a:bodyPr wrap="square"/>
                    <a:lstStyle/>
                    <a:p>
                      <a:pPr algn="l"/>
                      <a:r>
                        <a:rPr sz="1300" b="1">
                          <a:solidFill>
                            <a:srgbClr val="1F3A5F"/>
                          </a:solidFill>
                          <a:latin typeface="Malgun Gothic"/>
                        </a:rPr>
                        <a:t>표현</a:t>
                      </a:r>
                    </a:p>
                  </a:txBody>
                  <a:tcPr marL="64008" marR="64008" marT="27432" marB="27432" anchor="ctr">
                    <a:solidFill>
                      <a:srgbClr val="EEF4FB"/>
                    </a:solidFill>
                  </a:tcPr>
                </a:tc>
                <a:tc>
                  <a:txBody>
                    <a:bodyPr wrap="square"/>
                    <a:lstStyle/>
                    <a:p>
                      <a:pPr algn="l"/>
                      <a:r>
                        <a:rPr sz="1300" b="0">
                          <a:solidFill>
                            <a:srgbClr val="1E252E"/>
                          </a:solidFill>
                          <a:latin typeface="Malgun Gothic"/>
                        </a:rPr>
                        <a:t>줄 지향 DSL</a:t>
                      </a:r>
                    </a:p>
                  </a:txBody>
                  <a:tcPr marL="64008" marR="64008" marT="27432" marB="27432" anchor="ctr">
                    <a:solidFill>
                      <a:srgbClr val="EEF4FB"/>
                    </a:solidFill>
                  </a:tcPr>
                </a:tc>
                <a:tc>
                  <a:txBody>
                    <a:bodyPr wrap="square"/>
                    <a:lstStyle/>
                    <a:p>
                      <a:pPr algn="l"/>
                      <a:r>
                        <a:rPr sz="1300" b="0">
                          <a:solidFill>
                            <a:srgbClr val="1E252E"/>
                          </a:solidFill>
                          <a:latin typeface="Malgun Gothic"/>
                        </a:rPr>
                        <a:t>ID 참조 평면 JSON</a:t>
                      </a:r>
                    </a:p>
                  </a:txBody>
                  <a:tcPr marL="64008" marR="64008" marT="27432" marB="27432" anchor="ctr">
                    <a:solidFill>
                      <a:srgbClr val="EEF4FB"/>
                    </a:solidFill>
                  </a:tcPr>
                </a:tc>
                <a:tc>
                  <a:txBody>
                    <a:bodyPr wrap="square"/>
                    <a:lstStyle/>
                    <a:p>
                      <a:pPr algn="l"/>
                      <a:r>
                        <a:rPr sz="1300" b="0">
                          <a:solidFill>
                            <a:srgbClr val="1E252E"/>
                          </a:solidFill>
                          <a:latin typeface="Malgun Gothic"/>
                        </a:rPr>
                        <a:t>root + elements JSON</a:t>
                      </a:r>
                    </a:p>
                  </a:txBody>
                  <a:tcPr marL="64008" marR="64008" marT="27432" marB="27432" anchor="ctr">
                    <a:solidFill>
                      <a:srgbClr val="EEF4FB"/>
                    </a:solidFill>
                  </a:tcPr>
                </a:tc>
                <a:tc>
                  <a:txBody>
                    <a:bodyPr wrap="square"/>
                    <a:lstStyle/>
                    <a:p>
                      <a:pPr algn="l"/>
                      <a:r>
                        <a:rPr sz="1300" b="0">
                          <a:solidFill>
                            <a:srgbClr val="1E252E"/>
                          </a:solidFill>
                          <a:latin typeface="Malgun Gothic"/>
                        </a:rPr>
                        <a:t>완결 프로그램</a:t>
                      </a:r>
                    </a:p>
                  </a:txBody>
                  <a:tcPr marL="64008" marR="64008" marT="27432" marB="27432" anchor="ctr">
                    <a:solidFill>
                      <a:srgbClr val="EEF4FB"/>
                    </a:solidFill>
                  </a:tcPr>
                </a:tc>
              </a:tr>
              <a:tr h="561702">
                <a:tc>
                  <a:txBody>
                    <a:bodyPr wrap="square"/>
                    <a:lstStyle/>
                    <a:p>
                      <a:pPr algn="l"/>
                      <a:r>
                        <a:rPr sz="1300" b="1">
                          <a:solidFill>
                            <a:srgbClr val="1F3A5F"/>
                          </a:solidFill>
                          <a:latin typeface="Malgun Gothic"/>
                        </a:rPr>
                        <a:t>토큰*</a:t>
                      </a:r>
                    </a:p>
                  </a:txBody>
                  <a:tcPr marL="64008" marR="64008" marT="27432" marB="27432" anchor="ctr">
                    <a:solidFill>
                      <a:srgbClr val="FFFFFF"/>
                    </a:solidFill>
                  </a:tcPr>
                </a:tc>
                <a:tc>
                  <a:txBody>
                    <a:bodyPr wrap="square"/>
                    <a:lstStyle/>
                    <a:p>
                      <a:pPr algn="l"/>
                      <a:r>
                        <a:rPr sz="1300" b="0">
                          <a:solidFill>
                            <a:srgbClr val="1E252E"/>
                          </a:solidFill>
                          <a:latin typeface="Malgun Gothic"/>
                        </a:rPr>
                        <a:t>1x (4,800)</a:t>
                      </a:r>
                    </a:p>
                  </a:txBody>
                  <a:tcPr marL="64008" marR="64008" marT="27432" marB="27432" anchor="ctr">
                    <a:solidFill>
                      <a:srgbClr val="FFFFFF"/>
                    </a:solidFill>
                  </a:tcPr>
                </a:tc>
                <a:tc>
                  <a:txBody>
                    <a:bodyPr wrap="square"/>
                    <a:lstStyle/>
                    <a:p>
                      <a:pPr algn="l"/>
                      <a:r>
                        <a:rPr sz="1300" b="0">
                          <a:solidFill>
                            <a:srgbClr val="1E252E"/>
                          </a:solidFill>
                          <a:latin typeface="Malgun Gothic"/>
                        </a:rPr>
                        <a:t>3x</a:t>
                      </a:r>
                    </a:p>
                  </a:txBody>
                  <a:tcPr marL="64008" marR="64008" marT="27432" marB="27432" anchor="ctr">
                    <a:solidFill>
                      <a:srgbClr val="FFFFFF"/>
                    </a:solidFill>
                  </a:tcPr>
                </a:tc>
                <a:tc>
                  <a:txBody>
                    <a:bodyPr wrap="square"/>
                    <a:lstStyle/>
                    <a:p>
                      <a:pPr algn="l"/>
                      <a:r>
                        <a:rPr sz="1300" b="0">
                          <a:solidFill>
                            <a:srgbClr val="1E252E"/>
                          </a:solidFill>
                          <a:latin typeface="Malgun Gothic"/>
                        </a:rPr>
                        <a:t>3x (10,180)</a:t>
                      </a:r>
                    </a:p>
                  </a:txBody>
                  <a:tcPr marL="64008" marR="64008" marT="27432" marB="27432" anchor="ctr">
                    <a:solidFill>
                      <a:srgbClr val="FFFFFF"/>
                    </a:solidFill>
                  </a:tcPr>
                </a:tc>
                <a:tc>
                  <a:txBody>
                    <a:bodyPr wrap="square"/>
                    <a:lstStyle/>
                    <a:p>
                      <a:pPr algn="l"/>
                      <a:r>
                        <a:rPr sz="1300" b="0">
                          <a:solidFill>
                            <a:srgbClr val="1E252E"/>
                          </a:solidFill>
                          <a:latin typeface="Malgun Gothic"/>
                        </a:rPr>
                        <a:t>4x</a:t>
                      </a:r>
                    </a:p>
                  </a:txBody>
                  <a:tcPr marL="64008" marR="64008" marT="27432" marB="27432" anchor="ctr">
                    <a:solidFill>
                      <a:srgbClr val="FFFFFF"/>
                    </a:solidFill>
                  </a:tcPr>
                </a:tc>
              </a:tr>
              <a:tr h="561702">
                <a:tc>
                  <a:txBody>
                    <a:bodyPr wrap="square"/>
                    <a:lstStyle/>
                    <a:p>
                      <a:pPr algn="l"/>
                      <a:r>
                        <a:rPr sz="1300" b="1">
                          <a:solidFill>
                            <a:srgbClr val="1F3A5F"/>
                          </a:solidFill>
                          <a:latin typeface="Malgun Gothic"/>
                        </a:rPr>
                        <a:t>안전 모델</a:t>
                      </a:r>
                    </a:p>
                  </a:txBody>
                  <a:tcPr marL="64008" marR="64008" marT="27432" marB="27432" anchor="ctr">
                    <a:solidFill>
                      <a:srgbClr val="EEF4FB"/>
                    </a:solidFill>
                  </a:tcPr>
                </a:tc>
                <a:tc>
                  <a:txBody>
                    <a:bodyPr wrap="square"/>
                    <a:lstStyle/>
                    <a:p>
                      <a:pPr algn="l"/>
                      <a:r>
                        <a:rPr sz="1300" b="0">
                          <a:solidFill>
                            <a:srgbClr val="1E252E"/>
                          </a:solidFill>
                          <a:latin typeface="Malgun Gothic"/>
                        </a:rPr>
                        <a:t>어휘 한정</a:t>
                      </a:r>
                    </a:p>
                  </a:txBody>
                  <a:tcPr marL="64008" marR="64008" marT="27432" marB="27432" anchor="ctr">
                    <a:solidFill>
                      <a:srgbClr val="EEF4FB"/>
                    </a:solidFill>
                  </a:tcPr>
                </a:tc>
                <a:tc>
                  <a:txBody>
                    <a:bodyPr wrap="square"/>
                    <a:lstStyle/>
                    <a:p>
                      <a:pPr algn="l"/>
                      <a:r>
                        <a:rPr sz="1300" b="0">
                          <a:solidFill>
                            <a:srgbClr val="1E252E"/>
                          </a:solidFill>
                          <a:latin typeface="Malgun Gothic"/>
                        </a:rPr>
                        <a:t>데이터, 코드 아님</a:t>
                      </a:r>
                    </a:p>
                  </a:txBody>
                  <a:tcPr marL="64008" marR="64008" marT="27432" marB="27432" anchor="ctr">
                    <a:solidFill>
                      <a:srgbClr val="EEF4FB"/>
                    </a:solidFill>
                  </a:tcPr>
                </a:tc>
                <a:tc>
                  <a:txBody>
                    <a:bodyPr wrap="square"/>
                    <a:lstStyle/>
                    <a:p>
                      <a:pPr algn="l"/>
                      <a:r>
                        <a:rPr sz="1300" b="0">
                          <a:solidFill>
                            <a:srgbClr val="1E252E"/>
                          </a:solidFill>
                          <a:latin typeface="Malgun Gothic"/>
                        </a:rPr>
                        <a:t>카탈로그·액션 한정</a:t>
                      </a:r>
                    </a:p>
                  </a:txBody>
                  <a:tcPr marL="64008" marR="64008" marT="27432" marB="27432" anchor="ctr">
                    <a:solidFill>
                      <a:srgbClr val="EEF4FB"/>
                    </a:solidFill>
                  </a:tcPr>
                </a:tc>
                <a:tc>
                  <a:txBody>
                    <a:bodyPr wrap="square"/>
                    <a:lstStyle/>
                    <a:p>
                      <a:pPr algn="l"/>
                      <a:r>
                        <a:rPr sz="1300" b="0">
                          <a:solidFill>
                            <a:srgbClr val="1E252E"/>
                          </a:solidFill>
                          <a:latin typeface="Malgun Gothic"/>
                        </a:rPr>
                        <a:t>임의 코드 → 격리</a:t>
                      </a:r>
                    </a:p>
                  </a:txBody>
                  <a:tcPr marL="64008" marR="64008" marT="27432" marB="27432" anchor="ctr">
                    <a:solidFill>
                      <a:srgbClr val="EEF4FB"/>
                    </a:solidFill>
                  </a:tcPr>
                </a:tc>
              </a:tr>
              <a:tr h="561702">
                <a:tc>
                  <a:txBody>
                    <a:bodyPr wrap="square"/>
                    <a:lstStyle/>
                    <a:p>
                      <a:pPr algn="l"/>
                      <a:r>
                        <a:rPr sz="1300" b="1">
                          <a:solidFill>
                            <a:srgbClr val="1F3A5F"/>
                          </a:solidFill>
                          <a:latin typeface="Malgun Gothic"/>
                        </a:rPr>
                        <a:t>디자인 일치</a:t>
                      </a:r>
                    </a:p>
                  </a:txBody>
                  <a:tcPr marL="64008" marR="64008" marT="27432" marB="27432" anchor="ctr">
                    <a:solidFill>
                      <a:srgbClr val="FFFFFF"/>
                    </a:solidFill>
                  </a:tcPr>
                </a:tc>
                <a:tc>
                  <a:txBody>
                    <a:bodyPr wrap="square"/>
                    <a:lstStyle/>
                    <a:p>
                      <a:pPr algn="l"/>
                      <a:r>
                        <a:rPr sz="1300" b="0">
                          <a:solidFill>
                            <a:srgbClr val="1E252E"/>
                          </a:solidFill>
                          <a:latin typeface="Malgun Gothic"/>
                        </a:rPr>
                        <a:t>높음</a:t>
                      </a:r>
                    </a:p>
                  </a:txBody>
                  <a:tcPr marL="64008" marR="64008" marT="27432" marB="27432" anchor="ctr">
                    <a:solidFill>
                      <a:srgbClr val="FFFFFF"/>
                    </a:solidFill>
                  </a:tcPr>
                </a:tc>
                <a:tc>
                  <a:txBody>
                    <a:bodyPr wrap="square"/>
                    <a:lstStyle/>
                    <a:p>
                      <a:pPr algn="l"/>
                      <a:r>
                        <a:rPr sz="1300" b="0">
                          <a:solidFill>
                            <a:srgbClr val="1E252E"/>
                          </a:solidFill>
                          <a:latin typeface="Malgun Gothic"/>
                        </a:rPr>
                        <a:t>높음</a:t>
                      </a:r>
                    </a:p>
                  </a:txBody>
                  <a:tcPr marL="64008" marR="64008" marT="27432" marB="27432" anchor="ctr">
                    <a:solidFill>
                      <a:srgbClr val="FFFFFF"/>
                    </a:solidFill>
                  </a:tcPr>
                </a:tc>
                <a:tc>
                  <a:txBody>
                    <a:bodyPr wrap="square"/>
                    <a:lstStyle/>
                    <a:p>
                      <a:pPr algn="l"/>
                      <a:r>
                        <a:rPr sz="1300" b="0">
                          <a:solidFill>
                            <a:srgbClr val="1E252E"/>
                          </a:solidFill>
                          <a:latin typeface="Malgun Gothic"/>
                        </a:rPr>
                        <a:t>높음</a:t>
                      </a:r>
                    </a:p>
                  </a:txBody>
                  <a:tcPr marL="64008" marR="64008" marT="27432" marB="27432" anchor="ctr">
                    <a:solidFill>
                      <a:srgbClr val="FFFFFF"/>
                    </a:solidFill>
                  </a:tcPr>
                </a:tc>
                <a:tc>
                  <a:txBody>
                    <a:bodyPr wrap="square"/>
                    <a:lstStyle/>
                    <a:p>
                      <a:pPr algn="l"/>
                      <a:r>
                        <a:rPr sz="1300" b="0">
                          <a:solidFill>
                            <a:srgbClr val="1E252E"/>
                          </a:solidFill>
                          <a:latin typeface="Malgun Gothic"/>
                        </a:rPr>
                        <a:t>낮음 (유도)</a:t>
                      </a:r>
                    </a:p>
                  </a:txBody>
                  <a:tcPr marL="64008" marR="64008" marT="27432" marB="27432" anchor="ctr">
                    <a:solidFill>
                      <a:srgbClr val="FFFFFF"/>
                    </a:solidFill>
                  </a:tcPr>
                </a:tc>
              </a:tr>
              <a:tr h="561702">
                <a:tc>
                  <a:txBody>
                    <a:bodyPr wrap="square"/>
                    <a:lstStyle/>
                    <a:p>
                      <a:pPr algn="l"/>
                      <a:r>
                        <a:rPr sz="1300" b="1">
                          <a:solidFill>
                            <a:srgbClr val="1F3A5F"/>
                          </a:solidFill>
                          <a:latin typeface="Malgun Gothic"/>
                        </a:rPr>
                        <a:t>모델 없는 상호작용</a:t>
                      </a:r>
                    </a:p>
                  </a:txBody>
                  <a:tcPr marL="64008" marR="64008" marT="27432" marB="27432" anchor="ctr">
                    <a:solidFill>
                      <a:srgbClr val="EEF4FB"/>
                    </a:solidFill>
                  </a:tcPr>
                </a:tc>
                <a:tc>
                  <a:txBody>
                    <a:bodyPr wrap="square"/>
                    <a:lstStyle/>
                    <a:p>
                      <a:pPr algn="l"/>
                      <a:r>
                        <a:rPr sz="1300" b="0">
                          <a:solidFill>
                            <a:srgbClr val="1E252E"/>
                          </a:solidFill>
                          <a:latin typeface="Malgun Gothic"/>
                        </a:rPr>
                        <a:t>$variables · Query</a:t>
                      </a:r>
                    </a:p>
                  </a:txBody>
                  <a:tcPr marL="64008" marR="64008" marT="27432" marB="27432" anchor="ctr">
                    <a:solidFill>
                      <a:srgbClr val="EEF4FB"/>
                    </a:solidFill>
                  </a:tcPr>
                </a:tc>
                <a:tc>
                  <a:txBody>
                    <a:bodyPr wrap="square"/>
                    <a:lstStyle/>
                    <a:p>
                      <a:pPr algn="l"/>
                      <a:r>
                        <a:rPr sz="1300" b="0">
                          <a:solidFill>
                            <a:srgbClr val="1E252E"/>
                          </a:solidFill>
                          <a:latin typeface="Malgun Gothic"/>
                        </a:rPr>
                        <a:t>클라이언트 함수</a:t>
                      </a:r>
                    </a:p>
                  </a:txBody>
                  <a:tcPr marL="64008" marR="64008" marT="27432" marB="27432" anchor="ctr">
                    <a:solidFill>
                      <a:srgbClr val="EEF4FB"/>
                    </a:solidFill>
                  </a:tcPr>
                </a:tc>
                <a:tc>
                  <a:txBody>
                    <a:bodyPr wrap="square"/>
                    <a:lstStyle/>
                    <a:p>
                      <a:pPr algn="l"/>
                      <a:r>
                        <a:rPr sz="1300" b="0">
                          <a:solidFill>
                            <a:srgbClr val="1E252E"/>
                          </a:solidFill>
                          <a:latin typeface="Malgun Gothic"/>
                        </a:rPr>
                        <a:t>선언된 액션</a:t>
                      </a:r>
                    </a:p>
                  </a:txBody>
                  <a:tcPr marL="64008" marR="64008" marT="27432" marB="27432" anchor="ctr">
                    <a:solidFill>
                      <a:srgbClr val="EEF4FB"/>
                    </a:solidFill>
                  </a:tcPr>
                </a:tc>
                <a:tc>
                  <a:txBody>
                    <a:bodyPr wrap="square"/>
                    <a:lstStyle/>
                    <a:p>
                      <a:pPr algn="l"/>
                      <a:r>
                        <a:rPr sz="1300" b="0">
                          <a:solidFill>
                            <a:srgbClr val="1E252E"/>
                          </a:solidFill>
                          <a:latin typeface="Malgun Gothic"/>
                        </a:rPr>
                        <a:t>내부 JS</a:t>
                      </a:r>
                    </a:p>
                  </a:txBody>
                  <a:tcPr marL="64008" marR="64008" marT="27432" marB="27432" anchor="ctr">
                    <a:solidFill>
                      <a:srgbClr val="EEF4FB"/>
                    </a:solidFill>
                  </a:tcPr>
                </a:tc>
              </a:tr>
              <a:tr h="561708">
                <a:tc>
                  <a:txBody>
                    <a:bodyPr wrap="square"/>
                    <a:lstStyle/>
                    <a:p>
                      <a:pPr algn="l"/>
                      <a:r>
                        <a:rPr sz="1300" b="1">
                          <a:solidFill>
                            <a:srgbClr val="1F3A5F"/>
                          </a:solidFill>
                          <a:latin typeface="Malgun Gothic"/>
                        </a:rPr>
                        <a:t>표현 한계</a:t>
                      </a:r>
                    </a:p>
                  </a:txBody>
                  <a:tcPr marL="64008" marR="64008" marT="27432" marB="27432" anchor="ctr">
                    <a:solidFill>
                      <a:srgbClr val="FFFFFF"/>
                    </a:solidFill>
                  </a:tcPr>
                </a:tc>
                <a:tc>
                  <a:txBody>
                    <a:bodyPr wrap="square"/>
                    <a:lstStyle/>
                    <a:p>
                      <a:pPr algn="l"/>
                      <a:r>
                        <a:rPr sz="1300" b="0">
                          <a:solidFill>
                            <a:srgbClr val="1E252E"/>
                          </a:solidFill>
                          <a:latin typeface="Malgun Gothic"/>
                        </a:rPr>
                        <a:t>라이브러리+HtmlView</a:t>
                      </a:r>
                    </a:p>
                  </a:txBody>
                  <a:tcPr marL="64008" marR="64008" marT="27432" marB="27432" anchor="ctr">
                    <a:solidFill>
                      <a:srgbClr val="FFFFFF"/>
                    </a:solidFill>
                  </a:tcPr>
                </a:tc>
                <a:tc>
                  <a:txBody>
                    <a:bodyPr wrap="square"/>
                    <a:lstStyle/>
                    <a:p>
                      <a:pPr algn="l"/>
                      <a:r>
                        <a:rPr sz="1300" b="0">
                          <a:solidFill>
                            <a:srgbClr val="1E252E"/>
                          </a:solidFill>
                          <a:latin typeface="Malgun Gothic"/>
                        </a:rPr>
                        <a:t>카탈로그</a:t>
                      </a:r>
                    </a:p>
                  </a:txBody>
                  <a:tcPr marL="64008" marR="64008" marT="27432" marB="27432" anchor="ctr">
                    <a:solidFill>
                      <a:srgbClr val="FFFFFF"/>
                    </a:solidFill>
                  </a:tcPr>
                </a:tc>
                <a:tc>
                  <a:txBody>
                    <a:bodyPr wrap="square"/>
                    <a:lstStyle/>
                    <a:p>
                      <a:pPr algn="l"/>
                      <a:r>
                        <a:rPr sz="1300" b="0">
                          <a:solidFill>
                            <a:srgbClr val="1E252E"/>
                          </a:solidFill>
                          <a:latin typeface="Malgun Gothic"/>
                        </a:rPr>
                        <a:t>카탈로그</a:t>
                      </a:r>
                    </a:p>
                  </a:txBody>
                  <a:tcPr marL="64008" marR="64008" marT="27432" marB="27432" anchor="ctr">
                    <a:solidFill>
                      <a:srgbClr val="FFFFFF"/>
                    </a:solidFill>
                  </a:tcPr>
                </a:tc>
                <a:tc>
                  <a:txBody>
                    <a:bodyPr wrap="square"/>
                    <a:lstStyle/>
                    <a:p>
                      <a:pPr algn="l"/>
                      <a:r>
                        <a:rPr sz="1300" b="0">
                          <a:solidFill>
                            <a:srgbClr val="1E252E"/>
                          </a:solidFill>
                          <a:latin typeface="Malgun Gothic"/>
                        </a:rPr>
                        <a:t>사실상 없음</a:t>
                      </a:r>
                    </a:p>
                  </a:txBody>
                  <a:tcPr marL="64008" marR="64008" marT="27432" marB="27432" anchor="ctr">
                    <a:solidFill>
                      <a:srgbClr val="FFFFFF"/>
                    </a:solidFill>
                  </a:tcPr>
                </a:tc>
              </a:tr>
            </a:tbl>
          </a:graphicData>
        </a:graphic>
      </p:graphicFrame>
      <p:sp>
        <p:nvSpPr>
          <p:cNvPr id="7" name="TextBox 6"/>
          <p:cNvSpPr txBox="1"/>
          <p:nvPr/>
        </p:nvSpPr>
        <p:spPr>
          <a:xfrm>
            <a:off x="548640" y="5486400"/>
            <a:ext cx="11064240" cy="548640"/>
          </a:xfrm>
          <a:prstGeom prst="rect">
            <a:avLst/>
          </a:prstGeom>
          <a:noFill/>
        </p:spPr>
        <p:txBody>
          <a:bodyPr wrap="square" lIns="45720" rIns="45720" tIns="27432" bIns="27432" anchor="t">
            <a:spAutoFit/>
          </a:bodyPr>
          <a:lstStyle/>
          <a:p>
            <a:pPr algn="l"/>
            <a:r>
              <a:rPr sz="1300" b="1">
                <a:solidFill>
                  <a:srgbClr val="C75050"/>
                </a:solidFill>
                <a:latin typeface="Malgun Gothic"/>
              </a:rPr>
              <a:t>* OpenUI 제작사의 자체 측정 · 경쟁 구현 평가 포함. 배율은 직접 재측정 필요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한계와 리스크</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03 비교</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17</a:t>
            </a:r>
          </a:p>
        </p:txBody>
      </p:sp>
      <p:sp>
        <p:nvSpPr>
          <p:cNvPr id="6" name="Rounded Rectangle 5"/>
          <p:cNvSpPr/>
          <p:nvPr/>
        </p:nvSpPr>
        <p:spPr>
          <a:xfrm>
            <a:off x="731520" y="1554480"/>
            <a:ext cx="3474720" cy="2011680"/>
          </a:xfrm>
          <a:prstGeom prst="roundRect">
            <a:avLst>
              <a:gd name="adj" fmla="val 12000"/>
            </a:avLst>
          </a:prstGeom>
          <a:solidFill>
            <a:srgbClr val="FDECEC"/>
          </a:solidFill>
          <a:ln w="15875">
            <a:solidFill>
              <a:srgbClr val="C7505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7" name="TextBox 6"/>
          <p:cNvSpPr txBox="1"/>
          <p:nvPr/>
        </p:nvSpPr>
        <p:spPr>
          <a:xfrm>
            <a:off x="960120" y="1874519"/>
            <a:ext cx="3017520" cy="548640"/>
          </a:xfrm>
          <a:prstGeom prst="rect">
            <a:avLst/>
          </a:prstGeom>
          <a:noFill/>
        </p:spPr>
        <p:txBody>
          <a:bodyPr wrap="square" lIns="45720" rIns="45720" tIns="27432" bIns="27432" anchor="t">
            <a:spAutoFit/>
          </a:bodyPr>
          <a:lstStyle/>
          <a:p>
            <a:pPr algn="l"/>
            <a:r>
              <a:rPr sz="2000" b="1">
                <a:solidFill>
                  <a:srgbClr val="1F3A5F"/>
                </a:solidFill>
                <a:latin typeface="Malgun Gothic"/>
              </a:rPr>
              <a:t>① 그럴듯한 환각</a:t>
            </a:r>
          </a:p>
        </p:txBody>
      </p:sp>
      <p:sp>
        <p:nvSpPr>
          <p:cNvPr id="8" name="TextBox 7"/>
          <p:cNvSpPr txBox="1"/>
          <p:nvPr/>
        </p:nvSpPr>
        <p:spPr>
          <a:xfrm>
            <a:off x="960120" y="2606039"/>
            <a:ext cx="3017520" cy="822960"/>
          </a:xfrm>
          <a:prstGeom prst="rect">
            <a:avLst/>
          </a:prstGeom>
          <a:noFill/>
        </p:spPr>
        <p:txBody>
          <a:bodyPr wrap="square" lIns="45720" rIns="45720" tIns="27432" bIns="27432" anchor="t">
            <a:spAutoFit/>
          </a:bodyPr>
          <a:lstStyle/>
          <a:p>
            <a:pPr algn="l"/>
            <a:r>
              <a:rPr sz="1400" b="0">
                <a:solidFill>
                  <a:srgbClr val="5A6470"/>
                </a:solidFill>
                <a:latin typeface="Malgun Gothic"/>
              </a:rPr>
              <a:t>숫자가 차트의 외형을 입음</a:t>
            </a:r>
          </a:p>
        </p:txBody>
      </p:sp>
      <p:sp>
        <p:nvSpPr>
          <p:cNvPr id="9" name="Rounded Rectangle 8"/>
          <p:cNvSpPr/>
          <p:nvPr/>
        </p:nvSpPr>
        <p:spPr>
          <a:xfrm>
            <a:off x="4480559" y="1554480"/>
            <a:ext cx="3474720" cy="201168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10" name="TextBox 9"/>
          <p:cNvSpPr txBox="1"/>
          <p:nvPr/>
        </p:nvSpPr>
        <p:spPr>
          <a:xfrm>
            <a:off x="4709159" y="1874519"/>
            <a:ext cx="3017520" cy="548640"/>
          </a:xfrm>
          <a:prstGeom prst="rect">
            <a:avLst/>
          </a:prstGeom>
          <a:noFill/>
        </p:spPr>
        <p:txBody>
          <a:bodyPr wrap="square" lIns="45720" rIns="45720" tIns="27432" bIns="27432" anchor="t">
            <a:spAutoFit/>
          </a:bodyPr>
          <a:lstStyle/>
          <a:p>
            <a:pPr algn="l"/>
            <a:r>
              <a:rPr sz="2000" b="1">
                <a:solidFill>
                  <a:srgbClr val="1F3A5F"/>
                </a:solidFill>
                <a:latin typeface="Malgun Gothic"/>
              </a:rPr>
              <a:t>② 비용</a:t>
            </a:r>
          </a:p>
        </p:txBody>
      </p:sp>
      <p:sp>
        <p:nvSpPr>
          <p:cNvPr id="11" name="TextBox 10"/>
          <p:cNvSpPr txBox="1"/>
          <p:nvPr/>
        </p:nvSpPr>
        <p:spPr>
          <a:xfrm>
            <a:off x="4709159" y="2606039"/>
            <a:ext cx="3017520" cy="822960"/>
          </a:xfrm>
          <a:prstGeom prst="rect">
            <a:avLst/>
          </a:prstGeom>
          <a:noFill/>
        </p:spPr>
        <p:txBody>
          <a:bodyPr wrap="square" lIns="45720" rIns="45720" tIns="27432" bIns="27432" anchor="t">
            <a:spAutoFit/>
          </a:bodyPr>
          <a:lstStyle/>
          <a:p>
            <a:pPr algn="l"/>
            <a:r>
              <a:rPr sz="1400" b="0">
                <a:solidFill>
                  <a:srgbClr val="5A6470"/>
                </a:solidFill>
                <a:latin typeface="Malgun Gothic"/>
              </a:rPr>
              <a:t>Open 경로 토큰 · 고정 프롬프트 ≈8,000</a:t>
            </a:r>
          </a:p>
        </p:txBody>
      </p:sp>
      <p:sp>
        <p:nvSpPr>
          <p:cNvPr id="12" name="Rounded Rectangle 11"/>
          <p:cNvSpPr/>
          <p:nvPr/>
        </p:nvSpPr>
        <p:spPr>
          <a:xfrm>
            <a:off x="8229600" y="1554480"/>
            <a:ext cx="3474720" cy="2011680"/>
          </a:xfrm>
          <a:prstGeom prst="roundRect">
            <a:avLst>
              <a:gd name="adj" fmla="val 12000"/>
            </a:avLst>
          </a:prstGeom>
          <a:solidFill>
            <a:srgbClr val="FDECEC"/>
          </a:solidFill>
          <a:ln w="15875">
            <a:solidFill>
              <a:srgbClr val="C7505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13" name="TextBox 12"/>
          <p:cNvSpPr txBox="1"/>
          <p:nvPr/>
        </p:nvSpPr>
        <p:spPr>
          <a:xfrm>
            <a:off x="8458200" y="1874519"/>
            <a:ext cx="3017520" cy="548640"/>
          </a:xfrm>
          <a:prstGeom prst="rect">
            <a:avLst/>
          </a:prstGeom>
          <a:noFill/>
        </p:spPr>
        <p:txBody>
          <a:bodyPr wrap="square" lIns="45720" rIns="45720" tIns="27432" bIns="27432" anchor="t">
            <a:spAutoFit/>
          </a:bodyPr>
          <a:lstStyle/>
          <a:p>
            <a:pPr algn="l"/>
            <a:r>
              <a:rPr sz="2000" b="1">
                <a:solidFill>
                  <a:srgbClr val="1F3A5F"/>
                </a:solidFill>
                <a:latin typeface="Malgun Gothic"/>
              </a:rPr>
              <a:t>③ 탈출 표면</a:t>
            </a:r>
          </a:p>
        </p:txBody>
      </p:sp>
      <p:sp>
        <p:nvSpPr>
          <p:cNvPr id="14" name="TextBox 13"/>
          <p:cNvSpPr txBox="1"/>
          <p:nvPr/>
        </p:nvSpPr>
        <p:spPr>
          <a:xfrm>
            <a:off x="8458200" y="2606039"/>
            <a:ext cx="3017520" cy="822960"/>
          </a:xfrm>
          <a:prstGeom prst="rect">
            <a:avLst/>
          </a:prstGeom>
          <a:noFill/>
        </p:spPr>
        <p:txBody>
          <a:bodyPr wrap="square" lIns="45720" rIns="45720" tIns="27432" bIns="27432" anchor="t">
            <a:spAutoFit/>
          </a:bodyPr>
          <a:lstStyle/>
          <a:p>
            <a:pPr algn="l"/>
            <a:r>
              <a:rPr sz="1400" b="0">
                <a:solidFill>
                  <a:srgbClr val="5A6470"/>
                </a:solidFill>
                <a:latin typeface="Malgun Gothic"/>
              </a:rPr>
              <a:t>브리지 · CDN · sendPrompt</a:t>
            </a:r>
          </a:p>
        </p:txBody>
      </p:sp>
      <p:sp>
        <p:nvSpPr>
          <p:cNvPr id="15" name="Rounded Rectangle 14"/>
          <p:cNvSpPr/>
          <p:nvPr/>
        </p:nvSpPr>
        <p:spPr>
          <a:xfrm>
            <a:off x="731520" y="3840480"/>
            <a:ext cx="3474720" cy="201168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16" name="TextBox 15"/>
          <p:cNvSpPr txBox="1"/>
          <p:nvPr/>
        </p:nvSpPr>
        <p:spPr>
          <a:xfrm>
            <a:off x="960120" y="4160520"/>
            <a:ext cx="3017520" cy="548640"/>
          </a:xfrm>
          <a:prstGeom prst="rect">
            <a:avLst/>
          </a:prstGeom>
          <a:noFill/>
        </p:spPr>
        <p:txBody>
          <a:bodyPr wrap="square" lIns="45720" rIns="45720" tIns="27432" bIns="27432" anchor="t">
            <a:spAutoFit/>
          </a:bodyPr>
          <a:lstStyle/>
          <a:p>
            <a:pPr algn="l"/>
            <a:r>
              <a:rPr sz="2000" b="1">
                <a:solidFill>
                  <a:srgbClr val="1F3A5F"/>
                </a:solidFill>
                <a:latin typeface="Malgun Gothic"/>
              </a:rPr>
              <a:t>④ 상태</a:t>
            </a:r>
          </a:p>
        </p:txBody>
      </p:sp>
      <p:sp>
        <p:nvSpPr>
          <p:cNvPr id="17" name="TextBox 16"/>
          <p:cNvSpPr txBox="1"/>
          <p:nvPr/>
        </p:nvSpPr>
        <p:spPr>
          <a:xfrm>
            <a:off x="960120" y="4892040"/>
            <a:ext cx="3017520" cy="822960"/>
          </a:xfrm>
          <a:prstGeom prst="rect">
            <a:avLst/>
          </a:prstGeom>
          <a:noFill/>
        </p:spPr>
        <p:txBody>
          <a:bodyPr wrap="square" lIns="45720" rIns="45720" tIns="27432" bIns="27432" anchor="t">
            <a:spAutoFit/>
          </a:bodyPr>
          <a:lstStyle/>
          <a:p>
            <a:pPr algn="l"/>
            <a:r>
              <a:rPr sz="1400" b="0">
                <a:solidFill>
                  <a:srgbClr val="5A6470"/>
                </a:solidFill>
                <a:latin typeface="Malgun Gothic"/>
              </a:rPr>
              <a:t>프로세스 메모리 · localStorage</a:t>
            </a:r>
          </a:p>
        </p:txBody>
      </p:sp>
      <p:sp>
        <p:nvSpPr>
          <p:cNvPr id="18" name="Rounded Rectangle 17"/>
          <p:cNvSpPr/>
          <p:nvPr/>
        </p:nvSpPr>
        <p:spPr>
          <a:xfrm>
            <a:off x="4480559" y="3840480"/>
            <a:ext cx="3474720" cy="201168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19" name="TextBox 18"/>
          <p:cNvSpPr txBox="1"/>
          <p:nvPr/>
        </p:nvSpPr>
        <p:spPr>
          <a:xfrm>
            <a:off x="4709159" y="4160520"/>
            <a:ext cx="3017520" cy="548640"/>
          </a:xfrm>
          <a:prstGeom prst="rect">
            <a:avLst/>
          </a:prstGeom>
          <a:noFill/>
        </p:spPr>
        <p:txBody>
          <a:bodyPr wrap="square" lIns="45720" rIns="45720" tIns="27432" bIns="27432" anchor="t">
            <a:spAutoFit/>
          </a:bodyPr>
          <a:lstStyle/>
          <a:p>
            <a:pPr algn="l"/>
            <a:r>
              <a:rPr sz="2000" b="1">
                <a:solidFill>
                  <a:srgbClr val="1F3A5F"/>
                </a:solidFill>
                <a:latin typeface="Malgun Gothic"/>
              </a:rPr>
              <a:t>⑤ 라우팅 의존</a:t>
            </a:r>
          </a:p>
        </p:txBody>
      </p:sp>
      <p:sp>
        <p:nvSpPr>
          <p:cNvPr id="20" name="TextBox 19"/>
          <p:cNvSpPr txBox="1"/>
          <p:nvPr/>
        </p:nvSpPr>
        <p:spPr>
          <a:xfrm>
            <a:off x="4709159" y="4892040"/>
            <a:ext cx="3017520" cy="822960"/>
          </a:xfrm>
          <a:prstGeom prst="rect">
            <a:avLst/>
          </a:prstGeom>
          <a:noFill/>
        </p:spPr>
        <p:txBody>
          <a:bodyPr wrap="square" lIns="45720" rIns="45720" tIns="27432" bIns="27432" anchor="t">
            <a:spAutoFit/>
          </a:bodyPr>
          <a:lstStyle/>
          <a:p>
            <a:pPr algn="l"/>
            <a:r>
              <a:rPr sz="1400" b="0">
                <a:solidFill>
                  <a:srgbClr val="5A6470"/>
                </a:solidFill>
                <a:latin typeface="Malgun Gothic"/>
              </a:rPr>
              <a:t>Jev 판단 오류 · 외부 가용성</a:t>
            </a:r>
          </a:p>
        </p:txBody>
      </p:sp>
      <p:sp>
        <p:nvSpPr>
          <p:cNvPr id="21" name="Rounded Rectangle 20"/>
          <p:cNvSpPr/>
          <p:nvPr/>
        </p:nvSpPr>
        <p:spPr>
          <a:xfrm>
            <a:off x="8229600" y="3840480"/>
            <a:ext cx="3474720" cy="201168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22" name="TextBox 21"/>
          <p:cNvSpPr txBox="1"/>
          <p:nvPr/>
        </p:nvSpPr>
        <p:spPr>
          <a:xfrm>
            <a:off x="8458200" y="4160520"/>
            <a:ext cx="3017520" cy="548640"/>
          </a:xfrm>
          <a:prstGeom prst="rect">
            <a:avLst/>
          </a:prstGeom>
          <a:noFill/>
        </p:spPr>
        <p:txBody>
          <a:bodyPr wrap="square" lIns="45720" rIns="45720" tIns="27432" bIns="27432" anchor="t">
            <a:spAutoFit/>
          </a:bodyPr>
          <a:lstStyle/>
          <a:p>
            <a:pPr algn="l"/>
            <a:r>
              <a:rPr sz="2000" b="1">
                <a:solidFill>
                  <a:srgbClr val="1F3A5F"/>
                </a:solidFill>
                <a:latin typeface="Malgun Gothic"/>
              </a:rPr>
              <a:t>⑥ 검증 공백</a:t>
            </a:r>
          </a:p>
        </p:txBody>
      </p:sp>
      <p:sp>
        <p:nvSpPr>
          <p:cNvPr id="23" name="TextBox 22"/>
          <p:cNvSpPr txBox="1"/>
          <p:nvPr/>
        </p:nvSpPr>
        <p:spPr>
          <a:xfrm>
            <a:off x="8458200" y="4892040"/>
            <a:ext cx="3017520" cy="822960"/>
          </a:xfrm>
          <a:prstGeom prst="rect">
            <a:avLst/>
          </a:prstGeom>
          <a:noFill/>
        </p:spPr>
        <p:txBody>
          <a:bodyPr wrap="square" lIns="45720" rIns="45720" tIns="27432" bIns="27432" anchor="t">
            <a:spAutoFit/>
          </a:bodyPr>
          <a:lstStyle/>
          <a:p>
            <a:pPr algn="l"/>
            <a:r>
              <a:rPr sz="1400" b="0">
                <a:solidFill>
                  <a:srgbClr val="5A6470"/>
                </a:solidFill>
                <a:latin typeface="Malgun Gothic"/>
              </a:rPr>
              <a:t>벤치마크·비용 수치 미공개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무엇을 고를 것인가</a:t>
            </a:r>
          </a:p>
        </p:txBody>
      </p:sp>
      <p:sp>
        <p:nvSpPr>
          <p:cNvPr id="4" name="TextBox 3"/>
          <p:cNvSpPr txBox="1"/>
          <p:nvPr/>
        </p:nvSpPr>
        <p:spPr>
          <a:xfrm>
            <a:off x="8961120" y="6419088"/>
            <a:ext cx="2743200" cy="274320"/>
          </a:xfrm>
          <a:prstGeom prst="rect">
            <a:avLst/>
          </a:prstGeom>
          <a:noFill/>
        </p:spPr>
        <p:txBody>
          <a:bodyPr wrap="square" lIns="45720" rIns="45720" tIns="27432" bIns="27432" anchor="t">
            <a:spAutoFit/>
          </a:bodyPr>
          <a:lstStyle/>
          <a:p>
            <a:pPr algn="r"/>
            <a:r>
              <a:rPr sz="1000" b="0">
                <a:solidFill>
                  <a:srgbClr val="5A6470"/>
                </a:solidFill>
                <a:latin typeface="Malgun Gothic"/>
              </a:rPr>
              <a:t>03 비교</a:t>
            </a:r>
          </a:p>
        </p:txBody>
      </p:sp>
      <p:sp>
        <p:nvSpPr>
          <p:cNvPr id="5" name="TextBox 4"/>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18</a:t>
            </a:r>
          </a:p>
        </p:txBody>
      </p:sp>
      <p:sp>
        <p:nvSpPr>
          <p:cNvPr id="6" name="Rounded Rectangle 5"/>
          <p:cNvSpPr/>
          <p:nvPr/>
        </p:nvSpPr>
        <p:spPr>
          <a:xfrm>
            <a:off x="4480560" y="1371600"/>
            <a:ext cx="3200400" cy="822960"/>
          </a:xfrm>
          <a:prstGeom prst="roundRect">
            <a:avLst>
              <a:gd name="adj" fmla="val 12000"/>
            </a:avLst>
          </a:prstGeom>
          <a:solidFill>
            <a:srgbClr val="1F3A5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Malgun Gothic"/>
              </a:rPr>
              <a:t>무엇을 만드는가</a:t>
            </a:r>
          </a:p>
        </p:txBody>
      </p:sp>
      <p:sp>
        <p:nvSpPr>
          <p:cNvPr id="7" name="Rounded Rectangle 6"/>
          <p:cNvSpPr/>
          <p:nvPr/>
        </p:nvSpPr>
        <p:spPr>
          <a:xfrm>
            <a:off x="457200" y="2743200"/>
            <a:ext cx="2743200" cy="1097280"/>
          </a:xfrm>
          <a:prstGeom prst="roundRect">
            <a:avLst>
              <a:gd name="adj" fmla="val 12000"/>
            </a:avLst>
          </a:prstGeom>
          <a:solidFill>
            <a:srgbClr val="FFFFFF"/>
          </a:solidFill>
          <a:ln w="15875">
            <a:solidFill>
              <a:srgbClr val="5A647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E252E"/>
                </a:solidFill>
                <a:latin typeface="Malgun Gothic"/>
              </a:rPr>
              <a:t>고정 브랜드 화면</a:t>
            </a:r>
          </a:p>
        </p:txBody>
      </p:sp>
      <p:cxnSp>
        <p:nvCxnSpPr>
          <p:cNvPr id="8" name="Connector 7"/>
          <p:cNvCxnSpPr/>
          <p:nvPr/>
        </p:nvCxnSpPr>
        <p:spPr>
          <a:xfrm flipH="1">
            <a:off x="1828800" y="2194560"/>
            <a:ext cx="4251960" cy="548640"/>
          </a:xfrm>
          <a:prstGeom prst="line">
            <a:avLst/>
          </a:prstGeom>
          <a:ln w="25400">
            <a:solidFill>
              <a:srgbClr val="5A6470"/>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828800" y="3840480"/>
            <a:ext cx="0" cy="640080"/>
          </a:xfrm>
          <a:prstGeom prst="line">
            <a:avLst/>
          </a:prstGeom>
          <a:ln w="25400">
            <a:solidFill>
              <a:srgbClr val="4A7FB5"/>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57200" y="4480560"/>
            <a:ext cx="2743200" cy="91440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1F3A5F"/>
                </a:solidFill>
                <a:latin typeface="Malgun Gothic"/>
              </a:rPr>
              <a:t>Controlled</a:t>
            </a:r>
          </a:p>
        </p:txBody>
      </p:sp>
      <p:sp>
        <p:nvSpPr>
          <p:cNvPr id="11" name="Rounded Rectangle 10"/>
          <p:cNvSpPr/>
          <p:nvPr/>
        </p:nvSpPr>
        <p:spPr>
          <a:xfrm>
            <a:off x="3291840" y="2743200"/>
            <a:ext cx="2743200" cy="1097280"/>
          </a:xfrm>
          <a:prstGeom prst="roundRect">
            <a:avLst>
              <a:gd name="adj" fmla="val 12000"/>
            </a:avLst>
          </a:prstGeom>
          <a:solidFill>
            <a:srgbClr val="FFFFFF"/>
          </a:solidFill>
          <a:ln w="15875">
            <a:solidFill>
              <a:srgbClr val="5A647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E252E"/>
                </a:solidFill>
                <a:latin typeface="Malgun Gothic"/>
              </a:rPr>
              <a:t>정형 UI + 모델 없는 계산·재조회</a:t>
            </a:r>
          </a:p>
        </p:txBody>
      </p:sp>
      <p:cxnSp>
        <p:nvCxnSpPr>
          <p:cNvPr id="12" name="Connector 11"/>
          <p:cNvCxnSpPr/>
          <p:nvPr/>
        </p:nvCxnSpPr>
        <p:spPr>
          <a:xfrm flipH="1">
            <a:off x="4663440" y="2194560"/>
            <a:ext cx="1417320" cy="548640"/>
          </a:xfrm>
          <a:prstGeom prst="line">
            <a:avLst/>
          </a:prstGeom>
          <a:ln w="25400">
            <a:solidFill>
              <a:srgbClr val="5A647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663440" y="3840480"/>
            <a:ext cx="0" cy="640080"/>
          </a:xfrm>
          <a:prstGeom prst="line">
            <a:avLst/>
          </a:prstGeom>
          <a:ln w="25400">
            <a:solidFill>
              <a:srgbClr val="6A9A4A"/>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291840" y="4480560"/>
            <a:ext cx="2743200" cy="91440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1F3A5F"/>
                </a:solidFill>
                <a:latin typeface="Malgun Gothic"/>
              </a:rPr>
              <a:t>OpenUI Lang</a:t>
            </a:r>
          </a:p>
        </p:txBody>
      </p:sp>
      <p:sp>
        <p:nvSpPr>
          <p:cNvPr id="15" name="Rounded Rectangle 14"/>
          <p:cNvSpPr/>
          <p:nvPr/>
        </p:nvSpPr>
        <p:spPr>
          <a:xfrm>
            <a:off x="6126480" y="2743200"/>
            <a:ext cx="2743200" cy="1097280"/>
          </a:xfrm>
          <a:prstGeom prst="roundRect">
            <a:avLst>
              <a:gd name="adj" fmla="val 12000"/>
            </a:avLst>
          </a:prstGeom>
          <a:solidFill>
            <a:srgbClr val="FFFFFF"/>
          </a:solidFill>
          <a:ln w="15875">
            <a:solidFill>
              <a:srgbClr val="5A647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E252E"/>
                </a:solidFill>
                <a:latin typeface="Malgun Gothic"/>
              </a:rPr>
              <a:t>멀티 클라이언트 (Flutter 등)</a:t>
            </a:r>
          </a:p>
        </p:txBody>
      </p:sp>
      <p:cxnSp>
        <p:nvCxnSpPr>
          <p:cNvPr id="16" name="Connector 15"/>
          <p:cNvCxnSpPr/>
          <p:nvPr/>
        </p:nvCxnSpPr>
        <p:spPr>
          <a:xfrm>
            <a:off x="6080760" y="2194560"/>
            <a:ext cx="1417319" cy="548640"/>
          </a:xfrm>
          <a:prstGeom prst="line">
            <a:avLst/>
          </a:prstGeom>
          <a:ln w="25400">
            <a:solidFill>
              <a:srgbClr val="5A647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98079" y="3840480"/>
            <a:ext cx="0" cy="640080"/>
          </a:xfrm>
          <a:prstGeom prst="line">
            <a:avLst/>
          </a:prstGeom>
          <a:ln w="25400">
            <a:solidFill>
              <a:srgbClr val="6A9A4A"/>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26480" y="4480560"/>
            <a:ext cx="2743200" cy="914400"/>
          </a:xfrm>
          <a:prstGeom prst="roundRect">
            <a:avLst>
              <a:gd name="adj" fmla="val 12000"/>
            </a:avLst>
          </a:prstGeom>
          <a:solidFill>
            <a:srgbClr val="F3F8EE"/>
          </a:solidFill>
          <a:ln w="15875">
            <a:solidFill>
              <a:srgbClr val="6A9A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1F3A5F"/>
                </a:solidFill>
                <a:latin typeface="Malgun Gothic"/>
              </a:rPr>
              <a:t>A2UI</a:t>
            </a:r>
          </a:p>
        </p:txBody>
      </p:sp>
      <p:sp>
        <p:nvSpPr>
          <p:cNvPr id="19" name="Rounded Rectangle 18"/>
          <p:cNvSpPr/>
          <p:nvPr/>
        </p:nvSpPr>
        <p:spPr>
          <a:xfrm>
            <a:off x="8961120" y="2743200"/>
            <a:ext cx="2743200" cy="1097280"/>
          </a:xfrm>
          <a:prstGeom prst="roundRect">
            <a:avLst>
              <a:gd name="adj" fmla="val 12000"/>
            </a:avLst>
          </a:prstGeom>
          <a:solidFill>
            <a:srgbClr val="FFFFFF"/>
          </a:solidFill>
          <a:ln w="15875">
            <a:solidFill>
              <a:srgbClr val="5A647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E252E"/>
                </a:solidFill>
                <a:latin typeface="Malgun Gothic"/>
              </a:rPr>
              <a:t>자유 형식 (3D·게임)</a:t>
            </a:r>
          </a:p>
        </p:txBody>
      </p:sp>
      <p:cxnSp>
        <p:nvCxnSpPr>
          <p:cNvPr id="20" name="Connector 19"/>
          <p:cNvCxnSpPr/>
          <p:nvPr/>
        </p:nvCxnSpPr>
        <p:spPr>
          <a:xfrm>
            <a:off x="6080760" y="2194560"/>
            <a:ext cx="4251960" cy="548640"/>
          </a:xfrm>
          <a:prstGeom prst="line">
            <a:avLst/>
          </a:prstGeom>
          <a:ln w="25400">
            <a:solidFill>
              <a:srgbClr val="5A647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332720" y="3840480"/>
            <a:ext cx="0" cy="640080"/>
          </a:xfrm>
          <a:prstGeom prst="line">
            <a:avLst/>
          </a:prstGeom>
          <a:ln w="25400">
            <a:solidFill>
              <a:srgbClr val="D9822B"/>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61120" y="4480560"/>
            <a:ext cx="2743200" cy="914400"/>
          </a:xfrm>
          <a:prstGeom prst="roundRect">
            <a:avLst>
              <a:gd name="adj" fmla="val 12000"/>
            </a:avLst>
          </a:prstGeom>
          <a:solidFill>
            <a:srgbClr val="FFF4E6"/>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1F3A5F"/>
                </a:solidFill>
                <a:latin typeface="Malgun Gothic"/>
              </a:rPr>
              <a:t>Open + 강한 격리</a:t>
            </a:r>
          </a:p>
        </p:txBody>
      </p:sp>
      <p:sp>
        <p:nvSpPr>
          <p:cNvPr id="23" name="TextBox 22"/>
          <p:cNvSpPr txBox="1"/>
          <p:nvPr/>
        </p:nvSpPr>
        <p:spPr>
          <a:xfrm>
            <a:off x="457200" y="5669280"/>
            <a:ext cx="11247120" cy="548640"/>
          </a:xfrm>
          <a:prstGeom prst="rect">
            <a:avLst/>
          </a:prstGeom>
          <a:noFill/>
        </p:spPr>
        <p:txBody>
          <a:bodyPr wrap="square" lIns="45720" rIns="45720" tIns="27432" bIns="27432" anchor="t">
            <a:spAutoFit/>
          </a:bodyPr>
          <a:lstStyle/>
          <a:p>
            <a:pPr algn="ctr"/>
            <a:r>
              <a:rPr sz="1400" b="0">
                <a:solidFill>
                  <a:srgbClr val="5A6470"/>
                </a:solidFill>
                <a:latin typeface="Malgun Gothic"/>
              </a:rPr>
              <a:t>React 중심 · Zod 카탈로그 → json-render   /   구간을 섞어 쓰는 것이 기본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731520"/>
          </a:xfrm>
          <a:prstGeom prst="rect">
            <a:avLst/>
          </a:prstGeom>
          <a:noFill/>
        </p:spPr>
        <p:txBody>
          <a:bodyPr wrap="square" lIns="45720" rIns="45720" tIns="27432" bIns="27432" anchor="ctr">
            <a:spAutoFit/>
          </a:bodyPr>
          <a:lstStyle/>
          <a:p>
            <a:pPr algn="l"/>
            <a:r>
              <a:rPr sz="2800" b="1">
                <a:solidFill>
                  <a:srgbClr val="1F3A5F"/>
                </a:solidFill>
                <a:latin typeface="Malgun Gothic"/>
              </a:rPr>
              <a:t>결론 / Q&amp;A</a:t>
            </a:r>
          </a:p>
        </p:txBody>
      </p:sp>
      <p:sp>
        <p:nvSpPr>
          <p:cNvPr id="4" name="TextBox 3"/>
          <p:cNvSpPr txBox="1"/>
          <p:nvPr/>
        </p:nvSpPr>
        <p:spPr>
          <a:xfrm>
            <a:off x="548640" y="6419088"/>
            <a:ext cx="914400" cy="274320"/>
          </a:xfrm>
          <a:prstGeom prst="rect">
            <a:avLst/>
          </a:prstGeom>
          <a:noFill/>
        </p:spPr>
        <p:txBody>
          <a:bodyPr wrap="square" lIns="45720" rIns="45720" tIns="27432" bIns="27432" anchor="t">
            <a:spAutoFit/>
          </a:bodyPr>
          <a:lstStyle/>
          <a:p>
            <a:pPr algn="l"/>
            <a:r>
              <a:rPr sz="1000" b="0">
                <a:solidFill>
                  <a:srgbClr val="5A6470"/>
                </a:solidFill>
                <a:latin typeface="Malgun Gothic"/>
              </a:rPr>
              <a:t>19</a:t>
            </a:r>
          </a:p>
        </p:txBody>
      </p:sp>
      <p:sp>
        <p:nvSpPr>
          <p:cNvPr id="5" name="Rounded Rectangle 4"/>
          <p:cNvSpPr/>
          <p:nvPr/>
        </p:nvSpPr>
        <p:spPr>
          <a:xfrm>
            <a:off x="731520" y="1463040"/>
            <a:ext cx="10698480" cy="114300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6" name="TextBox 5"/>
          <p:cNvSpPr txBox="1"/>
          <p:nvPr/>
        </p:nvSpPr>
        <p:spPr>
          <a:xfrm>
            <a:off x="914400" y="1600200"/>
            <a:ext cx="822960" cy="822960"/>
          </a:xfrm>
          <a:prstGeom prst="rect">
            <a:avLst/>
          </a:prstGeom>
          <a:noFill/>
        </p:spPr>
        <p:txBody>
          <a:bodyPr wrap="square" lIns="45720" rIns="45720" tIns="27432" bIns="27432" anchor="t">
            <a:spAutoFit/>
          </a:bodyPr>
          <a:lstStyle/>
          <a:p>
            <a:pPr algn="l"/>
            <a:r>
              <a:rPr sz="3600" b="1">
                <a:solidFill>
                  <a:srgbClr val="D9822B"/>
                </a:solidFill>
                <a:latin typeface="Malgun Gothic"/>
              </a:rPr>
              <a:t>1</a:t>
            </a:r>
          </a:p>
        </p:txBody>
      </p:sp>
      <p:sp>
        <p:nvSpPr>
          <p:cNvPr id="7" name="TextBox 6"/>
          <p:cNvSpPr txBox="1"/>
          <p:nvPr/>
        </p:nvSpPr>
        <p:spPr>
          <a:xfrm>
            <a:off x="1828800" y="1572768"/>
            <a:ext cx="9144000" cy="457200"/>
          </a:xfrm>
          <a:prstGeom prst="rect">
            <a:avLst/>
          </a:prstGeom>
          <a:noFill/>
        </p:spPr>
        <p:txBody>
          <a:bodyPr wrap="square" lIns="45720" rIns="45720" tIns="27432" bIns="27432" anchor="t">
            <a:spAutoFit/>
          </a:bodyPr>
          <a:lstStyle/>
          <a:p>
            <a:pPr algn="l"/>
            <a:r>
              <a:rPr sz="2000" b="1">
                <a:solidFill>
                  <a:srgbClr val="1F3A5F"/>
                </a:solidFill>
                <a:latin typeface="Malgun Gothic"/>
              </a:rPr>
              <a:t>스펙트럼의 양 끝</a:t>
            </a:r>
          </a:p>
        </p:txBody>
      </p:sp>
      <p:sp>
        <p:nvSpPr>
          <p:cNvPr id="8" name="TextBox 7"/>
          <p:cNvSpPr txBox="1"/>
          <p:nvPr/>
        </p:nvSpPr>
        <p:spPr>
          <a:xfrm>
            <a:off x="1828800" y="2057400"/>
            <a:ext cx="9144000" cy="457200"/>
          </a:xfrm>
          <a:prstGeom prst="rect">
            <a:avLst/>
          </a:prstGeom>
          <a:noFill/>
        </p:spPr>
        <p:txBody>
          <a:bodyPr wrap="square" lIns="45720" rIns="45720" tIns="27432" bIns="27432" anchor="t">
            <a:spAutoFit/>
          </a:bodyPr>
          <a:lstStyle/>
          <a:p>
            <a:pPr algn="l"/>
            <a:r>
              <a:rPr sz="1500" b="0">
                <a:solidFill>
                  <a:srgbClr val="5A6470"/>
                </a:solidFill>
                <a:latin typeface="Malgun Gothic"/>
              </a:rPr>
              <a:t>CK = Open(격리), TS = Declarative(어휘 한정)</a:t>
            </a:r>
          </a:p>
        </p:txBody>
      </p:sp>
      <p:sp>
        <p:nvSpPr>
          <p:cNvPr id="9" name="Rounded Rectangle 8"/>
          <p:cNvSpPr/>
          <p:nvPr/>
        </p:nvSpPr>
        <p:spPr>
          <a:xfrm>
            <a:off x="731520" y="2834640"/>
            <a:ext cx="10698480" cy="114300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10" name="TextBox 9"/>
          <p:cNvSpPr txBox="1"/>
          <p:nvPr/>
        </p:nvSpPr>
        <p:spPr>
          <a:xfrm>
            <a:off x="914400" y="2971800"/>
            <a:ext cx="822960" cy="822960"/>
          </a:xfrm>
          <a:prstGeom prst="rect">
            <a:avLst/>
          </a:prstGeom>
          <a:noFill/>
        </p:spPr>
        <p:txBody>
          <a:bodyPr wrap="square" lIns="45720" rIns="45720" tIns="27432" bIns="27432" anchor="t">
            <a:spAutoFit/>
          </a:bodyPr>
          <a:lstStyle/>
          <a:p>
            <a:pPr algn="l"/>
            <a:r>
              <a:rPr sz="3600" b="1">
                <a:solidFill>
                  <a:srgbClr val="D9822B"/>
                </a:solidFill>
                <a:latin typeface="Malgun Gothic"/>
              </a:rPr>
              <a:t>2</a:t>
            </a:r>
          </a:p>
        </p:txBody>
      </p:sp>
      <p:sp>
        <p:nvSpPr>
          <p:cNvPr id="11" name="TextBox 10"/>
          <p:cNvSpPr txBox="1"/>
          <p:nvPr/>
        </p:nvSpPr>
        <p:spPr>
          <a:xfrm>
            <a:off x="1828800" y="2944368"/>
            <a:ext cx="9144000" cy="457200"/>
          </a:xfrm>
          <a:prstGeom prst="rect">
            <a:avLst/>
          </a:prstGeom>
          <a:noFill/>
        </p:spPr>
        <p:txBody>
          <a:bodyPr wrap="square" lIns="45720" rIns="45720" tIns="27432" bIns="27432" anchor="t">
            <a:spAutoFit/>
          </a:bodyPr>
          <a:lstStyle/>
          <a:p>
            <a:pPr algn="l"/>
            <a:r>
              <a:rPr sz="2000" b="1">
                <a:solidFill>
                  <a:srgbClr val="1F3A5F"/>
                </a:solidFill>
                <a:latin typeface="Malgun Gothic"/>
              </a:rPr>
              <a:t>포맷 = 신뢰 경계</a:t>
            </a:r>
          </a:p>
        </p:txBody>
      </p:sp>
      <p:sp>
        <p:nvSpPr>
          <p:cNvPr id="12" name="TextBox 11"/>
          <p:cNvSpPr txBox="1"/>
          <p:nvPr/>
        </p:nvSpPr>
        <p:spPr>
          <a:xfrm>
            <a:off x="1828800" y="3429000"/>
            <a:ext cx="9144000" cy="457200"/>
          </a:xfrm>
          <a:prstGeom prst="rect">
            <a:avLst/>
          </a:prstGeom>
          <a:noFill/>
        </p:spPr>
        <p:txBody>
          <a:bodyPr wrap="square" lIns="45720" rIns="45720" tIns="27432" bIns="27432" anchor="t">
            <a:spAutoFit/>
          </a:bodyPr>
          <a:lstStyle/>
          <a:p>
            <a:pPr algn="l"/>
            <a:r>
              <a:rPr sz="1500" b="0">
                <a:solidFill>
                  <a:srgbClr val="5A6470"/>
                </a:solidFill>
                <a:latin typeface="Malgun Gothic"/>
              </a:rPr>
              <a:t>보안의 중심을 먼저 정하고 포맷을 고른다</a:t>
            </a:r>
          </a:p>
        </p:txBody>
      </p:sp>
      <p:sp>
        <p:nvSpPr>
          <p:cNvPr id="13" name="Rounded Rectangle 12"/>
          <p:cNvSpPr/>
          <p:nvPr/>
        </p:nvSpPr>
        <p:spPr>
          <a:xfrm>
            <a:off x="731520" y="4206240"/>
            <a:ext cx="10698480" cy="1143000"/>
          </a:xfrm>
          <a:prstGeom prst="roundRect">
            <a:avLst>
              <a:gd name="adj" fmla="val 12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a:solidFill>
                  <a:srgbClr val="1F3A5F"/>
                </a:solidFill>
                <a:latin typeface="Malgun Gothic"/>
              </a:rPr>
              <a:t/>
            </a:r>
          </a:p>
        </p:txBody>
      </p:sp>
      <p:sp>
        <p:nvSpPr>
          <p:cNvPr id="14" name="TextBox 13"/>
          <p:cNvSpPr txBox="1"/>
          <p:nvPr/>
        </p:nvSpPr>
        <p:spPr>
          <a:xfrm>
            <a:off x="914400" y="4343400"/>
            <a:ext cx="822960" cy="822960"/>
          </a:xfrm>
          <a:prstGeom prst="rect">
            <a:avLst/>
          </a:prstGeom>
          <a:noFill/>
        </p:spPr>
        <p:txBody>
          <a:bodyPr wrap="square" lIns="45720" rIns="45720" tIns="27432" bIns="27432" anchor="t">
            <a:spAutoFit/>
          </a:bodyPr>
          <a:lstStyle/>
          <a:p>
            <a:pPr algn="l"/>
            <a:r>
              <a:rPr sz="3600" b="1">
                <a:solidFill>
                  <a:srgbClr val="D9822B"/>
                </a:solidFill>
                <a:latin typeface="Malgun Gothic"/>
              </a:rPr>
              <a:t>3</a:t>
            </a:r>
          </a:p>
        </p:txBody>
      </p:sp>
      <p:sp>
        <p:nvSpPr>
          <p:cNvPr id="15" name="TextBox 14"/>
          <p:cNvSpPr txBox="1"/>
          <p:nvPr/>
        </p:nvSpPr>
        <p:spPr>
          <a:xfrm>
            <a:off x="1828800" y="4315968"/>
            <a:ext cx="9144000" cy="457200"/>
          </a:xfrm>
          <a:prstGeom prst="rect">
            <a:avLst/>
          </a:prstGeom>
          <a:noFill/>
        </p:spPr>
        <p:txBody>
          <a:bodyPr wrap="square" lIns="45720" rIns="45720" tIns="27432" bIns="27432" anchor="t">
            <a:spAutoFit/>
          </a:bodyPr>
          <a:lstStyle/>
          <a:p>
            <a:pPr algn="l"/>
            <a:r>
              <a:rPr sz="2000" b="1">
                <a:solidFill>
                  <a:srgbClr val="1F3A5F"/>
                </a:solidFill>
                <a:latin typeface="Malgun Gothic"/>
              </a:rPr>
              <a:t>시연 수준 레퍼런스</a:t>
            </a:r>
          </a:p>
        </p:txBody>
      </p:sp>
      <p:sp>
        <p:nvSpPr>
          <p:cNvPr id="16" name="TextBox 15"/>
          <p:cNvSpPr txBox="1"/>
          <p:nvPr/>
        </p:nvSpPr>
        <p:spPr>
          <a:xfrm>
            <a:off x="1828800" y="4800600"/>
            <a:ext cx="9144000" cy="457200"/>
          </a:xfrm>
          <a:prstGeom prst="rect">
            <a:avLst/>
          </a:prstGeom>
          <a:noFill/>
        </p:spPr>
        <p:txBody>
          <a:bodyPr wrap="square" lIns="45720" rIns="45720" tIns="27432" bIns="27432" anchor="t">
            <a:spAutoFit/>
          </a:bodyPr>
          <a:lstStyle/>
          <a:p>
            <a:pPr algn="l"/>
            <a:r>
              <a:rPr sz="1500" b="0">
                <a:solidFill>
                  <a:srgbClr val="5A6470"/>
                </a:solidFill>
                <a:latin typeface="Malgun Gothic"/>
              </a:rPr>
              <a:t>상태·벤치마크·비용 수치 공백. 직접 측정 필요</a:t>
            </a:r>
          </a:p>
        </p:txBody>
      </p:sp>
      <p:sp>
        <p:nvSpPr>
          <p:cNvPr id="17" name="Rounded Rectangle 16"/>
          <p:cNvSpPr/>
          <p:nvPr/>
        </p:nvSpPr>
        <p:spPr>
          <a:xfrm>
            <a:off x="4023360" y="5669280"/>
            <a:ext cx="4114800" cy="640080"/>
          </a:xfrm>
          <a:prstGeom prst="roundRect">
            <a:avLst>
              <a:gd name="adj" fmla="val 12000"/>
            </a:avLst>
          </a:prstGeom>
          <a:solidFill>
            <a:srgbClr val="1F3A5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a:solidFill>
                  <a:srgbClr val="FFFFFF"/>
                </a:solidFill>
                <a:latin typeface="Malgun Gothic"/>
              </a:rP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